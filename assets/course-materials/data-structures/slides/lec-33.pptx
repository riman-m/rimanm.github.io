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82" r:id="rId3"/>
    <p:sldId id="297" r:id="rId4"/>
    <p:sldId id="292" r:id="rId5"/>
    <p:sldId id="293" r:id="rId6"/>
    <p:sldId id="290" r:id="rId7"/>
    <p:sldId id="294" r:id="rId8"/>
    <p:sldId id="260" r:id="rId9"/>
    <p:sldId id="317" r:id="rId10"/>
    <p:sldId id="318" r:id="rId11"/>
    <p:sldId id="308" r:id="rId12"/>
    <p:sldId id="313" r:id="rId13"/>
    <p:sldId id="319" r:id="rId14"/>
    <p:sldId id="316" r:id="rId15"/>
    <p:sldId id="288" r:id="rId16"/>
    <p:sldId id="299" r:id="rId17"/>
    <p:sldId id="310" r:id="rId18"/>
    <p:sldId id="301" r:id="rId19"/>
    <p:sldId id="30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545" autoAdjust="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sorterViewPr>
    <p:cViewPr>
      <p:scale>
        <a:sx n="100" d="100"/>
        <a:sy n="100" d="100"/>
      </p:scale>
      <p:origin x="0" y="1962"/>
    </p:cViewPr>
  </p:sorterViewPr>
  <p:notesViewPr>
    <p:cSldViewPr snapToGrid="0">
      <p:cViewPr varScale="1">
        <p:scale>
          <a:sx n="55" d="100"/>
          <a:sy n="55" d="100"/>
        </p:scale>
        <p:origin x="-2808"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nupam Kumar Sharma" userId="550e56936179f404" providerId="LiveId" clId="{A3230177-DABA-49D4-AB5C-04BB74AFD6EE}"/>
    <pc:docChg chg="modSld">
      <pc:chgData name="Dr. Anupam Kumar Sharma" userId="550e56936179f404" providerId="LiveId" clId="{A3230177-DABA-49D4-AB5C-04BB74AFD6EE}" dt="2025-02-08T06:24:43.247" v="62" actId="20577"/>
      <pc:docMkLst>
        <pc:docMk/>
      </pc:docMkLst>
      <pc:sldChg chg="modSp mod">
        <pc:chgData name="Dr. Anupam Kumar Sharma" userId="550e56936179f404" providerId="LiveId" clId="{A3230177-DABA-49D4-AB5C-04BB74AFD6EE}" dt="2025-02-08T06:23:49.386" v="0" actId="20577"/>
        <pc:sldMkLst>
          <pc:docMk/>
          <pc:sldMk cId="2766167463" sldId="262"/>
        </pc:sldMkLst>
        <pc:spChg chg="mod">
          <ac:chgData name="Dr. Anupam Kumar Sharma" userId="550e56936179f404" providerId="LiveId" clId="{A3230177-DABA-49D4-AB5C-04BB74AFD6EE}" dt="2025-02-08T06:23:49.386" v="0" actId="20577"/>
          <ac:spMkLst>
            <pc:docMk/>
            <pc:sldMk cId="2766167463" sldId="262"/>
            <ac:spMk id="4" creationId="{C97E1C1E-F10A-E4F4-6797-225812D669BF}"/>
          </ac:spMkLst>
        </pc:spChg>
      </pc:sldChg>
      <pc:sldChg chg="modSp mod">
        <pc:chgData name="Dr. Anupam Kumar Sharma" userId="550e56936179f404" providerId="LiveId" clId="{A3230177-DABA-49D4-AB5C-04BB74AFD6EE}" dt="2025-02-08T06:24:43.247" v="62" actId="20577"/>
        <pc:sldMkLst>
          <pc:docMk/>
          <pc:sldMk cId="1311328748" sldId="284"/>
        </pc:sldMkLst>
        <pc:spChg chg="mod">
          <ac:chgData name="Dr. Anupam Kumar Sharma" userId="550e56936179f404" providerId="LiveId" clId="{A3230177-DABA-49D4-AB5C-04BB74AFD6EE}" dt="2025-02-08T06:24:43.247" v="62" actId="20577"/>
          <ac:spMkLst>
            <pc:docMk/>
            <pc:sldMk cId="1311328748" sldId="284"/>
            <ac:spMk id="10" creationId="{A92BCC8A-DA75-739D-5118-196EB9E2238A}"/>
          </ac:spMkLst>
        </pc:spChg>
      </pc:sldChg>
    </pc:docChg>
  </pc:docChgLst>
  <pc:docChgLst>
    <pc:chgData name="Deepak Gupta" userId="f4ce486c0feb88f7" providerId="LiveId" clId="{677CE2BF-E837-4849-B11C-0944C199F6A4}"/>
    <pc:docChg chg="undo custSel addSld delSld modSld sldOrd">
      <pc:chgData name="Deepak Gupta" userId="f4ce486c0feb88f7" providerId="LiveId" clId="{677CE2BF-E837-4849-B11C-0944C199F6A4}" dt="2024-09-19T16:05:47.471" v="1042" actId="20577"/>
      <pc:docMkLst>
        <pc:docMk/>
      </pc:docMkLst>
      <pc:sldChg chg="addSp delSp modSp mod">
        <pc:chgData name="Deepak Gupta" userId="f4ce486c0feb88f7" providerId="LiveId" clId="{677CE2BF-E837-4849-B11C-0944C199F6A4}" dt="2024-09-19T10:54:48.137" v="896" actId="14100"/>
        <pc:sldMkLst>
          <pc:docMk/>
          <pc:sldMk cId="2827898987" sldId="256"/>
        </pc:sldMkLst>
      </pc:sldChg>
      <pc:sldChg chg="addSp delSp modSp mod">
        <pc:chgData name="Deepak Gupta" userId="f4ce486c0feb88f7" providerId="LiveId" clId="{677CE2BF-E837-4849-B11C-0944C199F6A4}" dt="2024-09-19T13:17:37.213" v="905" actId="20577"/>
        <pc:sldMkLst>
          <pc:docMk/>
          <pc:sldMk cId="2304652768" sldId="257"/>
        </pc:sldMkLst>
      </pc:sldChg>
      <pc:sldChg chg="addSp delSp modSp del mod">
        <pc:chgData name="Deepak Gupta" userId="f4ce486c0feb88f7" providerId="LiveId" clId="{677CE2BF-E837-4849-B11C-0944C199F6A4}" dt="2024-09-19T10:28:20.262" v="603" actId="47"/>
        <pc:sldMkLst>
          <pc:docMk/>
          <pc:sldMk cId="2082919323" sldId="258"/>
        </pc:sldMkLst>
      </pc:sldChg>
      <pc:sldChg chg="addSp delSp modSp mod">
        <pc:chgData name="Deepak Gupta" userId="f4ce486c0feb88f7" providerId="LiveId" clId="{677CE2BF-E837-4849-B11C-0944C199F6A4}" dt="2024-09-19T16:05:37.951" v="1041" actId="20577"/>
        <pc:sldMkLst>
          <pc:docMk/>
          <pc:sldMk cId="2838591685" sldId="259"/>
        </pc:sldMkLst>
      </pc:sldChg>
      <pc:sldChg chg="addSp delSp modSp mod ord">
        <pc:chgData name="Deepak Gupta" userId="f4ce486c0feb88f7" providerId="LiveId" clId="{677CE2BF-E837-4849-B11C-0944C199F6A4}" dt="2024-09-19T13:19:05.241" v="971" actId="20577"/>
        <pc:sldMkLst>
          <pc:docMk/>
          <pc:sldMk cId="3872618460" sldId="260"/>
        </pc:sldMkLst>
      </pc:sldChg>
      <pc:sldChg chg="addSp delSp modSp mod">
        <pc:chgData name="Deepak Gupta" userId="f4ce486c0feb88f7" providerId="LiveId" clId="{677CE2BF-E837-4849-B11C-0944C199F6A4}" dt="2024-09-19T10:49:45.066" v="860" actId="1076"/>
        <pc:sldMkLst>
          <pc:docMk/>
          <pc:sldMk cId="3459659325" sldId="261"/>
        </pc:sldMkLst>
      </pc:sldChg>
      <pc:sldChg chg="addSp delSp modSp mod ord modAnim">
        <pc:chgData name="Deepak Gupta" userId="f4ce486c0feb88f7" providerId="LiveId" clId="{677CE2BF-E837-4849-B11C-0944C199F6A4}" dt="2024-09-19T10:42:32.396" v="827" actId="20577"/>
        <pc:sldMkLst>
          <pc:docMk/>
          <pc:sldMk cId="2766167463" sldId="262"/>
        </pc:sldMkLst>
      </pc:sldChg>
      <pc:sldChg chg="addSp delSp modSp add del mod ord">
        <pc:chgData name="Deepak Gupta" userId="f4ce486c0feb88f7" providerId="LiveId" clId="{677CE2BF-E837-4849-B11C-0944C199F6A4}" dt="2024-09-19T10:49:48.904" v="861" actId="1076"/>
        <pc:sldMkLst>
          <pc:docMk/>
          <pc:sldMk cId="910051450" sldId="263"/>
        </pc:sldMkLst>
      </pc:sldChg>
      <pc:sldChg chg="addSp modSp del">
        <pc:chgData name="Deepak Gupta" userId="f4ce486c0feb88f7" providerId="LiveId" clId="{677CE2BF-E837-4849-B11C-0944C199F6A4}" dt="2024-09-19T09:07:04.651" v="356" actId="47"/>
        <pc:sldMkLst>
          <pc:docMk/>
          <pc:sldMk cId="451014338" sldId="264"/>
        </pc:sldMkLst>
      </pc:sldChg>
      <pc:sldChg chg="addSp delSp modSp del mod modShow">
        <pc:chgData name="Deepak Gupta" userId="f4ce486c0feb88f7" providerId="LiveId" clId="{677CE2BF-E837-4849-B11C-0944C199F6A4}" dt="2024-09-19T10:43:05.663" v="830" actId="47"/>
        <pc:sldMkLst>
          <pc:docMk/>
          <pc:sldMk cId="2876040498" sldId="265"/>
        </pc:sldMkLst>
      </pc:sldChg>
      <pc:sldChg chg="del">
        <pc:chgData name="Deepak Gupta" userId="f4ce486c0feb88f7" providerId="LiveId" clId="{677CE2BF-E837-4849-B11C-0944C199F6A4}" dt="2024-09-19T10:43:05.663" v="830" actId="47"/>
        <pc:sldMkLst>
          <pc:docMk/>
          <pc:sldMk cId="4107507446" sldId="266"/>
        </pc:sldMkLst>
      </pc:sldChg>
      <pc:sldChg chg="del">
        <pc:chgData name="Deepak Gupta" userId="f4ce486c0feb88f7" providerId="LiveId" clId="{677CE2BF-E837-4849-B11C-0944C199F6A4}" dt="2024-09-19T10:43:05.663" v="830" actId="47"/>
        <pc:sldMkLst>
          <pc:docMk/>
          <pc:sldMk cId="4213006857" sldId="267"/>
        </pc:sldMkLst>
      </pc:sldChg>
      <pc:sldChg chg="del">
        <pc:chgData name="Deepak Gupta" userId="f4ce486c0feb88f7" providerId="LiveId" clId="{677CE2BF-E837-4849-B11C-0944C199F6A4}" dt="2024-09-19T10:43:05.663" v="830" actId="47"/>
        <pc:sldMkLst>
          <pc:docMk/>
          <pc:sldMk cId="1424160661" sldId="268"/>
        </pc:sldMkLst>
      </pc:sldChg>
      <pc:sldChg chg="del">
        <pc:chgData name="Deepak Gupta" userId="f4ce486c0feb88f7" providerId="LiveId" clId="{677CE2BF-E837-4849-B11C-0944C199F6A4}" dt="2024-09-19T10:43:05.663" v="830" actId="47"/>
        <pc:sldMkLst>
          <pc:docMk/>
          <pc:sldMk cId="4137767190" sldId="269"/>
        </pc:sldMkLst>
      </pc:sldChg>
      <pc:sldChg chg="del">
        <pc:chgData name="Deepak Gupta" userId="f4ce486c0feb88f7" providerId="LiveId" clId="{677CE2BF-E837-4849-B11C-0944C199F6A4}" dt="2024-09-19T10:43:05.663" v="830" actId="47"/>
        <pc:sldMkLst>
          <pc:docMk/>
          <pc:sldMk cId="2876323008" sldId="270"/>
        </pc:sldMkLst>
      </pc:sldChg>
      <pc:sldChg chg="del">
        <pc:chgData name="Deepak Gupta" userId="f4ce486c0feb88f7" providerId="LiveId" clId="{677CE2BF-E837-4849-B11C-0944C199F6A4}" dt="2024-09-19T10:43:05.663" v="830" actId="47"/>
        <pc:sldMkLst>
          <pc:docMk/>
          <pc:sldMk cId="1915059173" sldId="271"/>
        </pc:sldMkLst>
      </pc:sldChg>
      <pc:sldChg chg="del">
        <pc:chgData name="Deepak Gupta" userId="f4ce486c0feb88f7" providerId="LiveId" clId="{677CE2BF-E837-4849-B11C-0944C199F6A4}" dt="2024-09-19T10:43:05.663" v="830" actId="47"/>
        <pc:sldMkLst>
          <pc:docMk/>
          <pc:sldMk cId="1361921725" sldId="272"/>
        </pc:sldMkLst>
      </pc:sldChg>
      <pc:sldChg chg="delSp del mod">
        <pc:chgData name="Deepak Gupta" userId="f4ce486c0feb88f7" providerId="LiveId" clId="{677CE2BF-E837-4849-B11C-0944C199F6A4}" dt="2024-09-19T10:43:05.663" v="830" actId="47"/>
        <pc:sldMkLst>
          <pc:docMk/>
          <pc:sldMk cId="1087418707" sldId="273"/>
        </pc:sldMkLst>
      </pc:sldChg>
      <pc:sldChg chg="delSp del mod">
        <pc:chgData name="Deepak Gupta" userId="f4ce486c0feb88f7" providerId="LiveId" clId="{677CE2BF-E837-4849-B11C-0944C199F6A4}" dt="2024-09-19T10:43:05.663" v="830" actId="47"/>
        <pc:sldMkLst>
          <pc:docMk/>
          <pc:sldMk cId="556051784" sldId="274"/>
        </pc:sldMkLst>
      </pc:sldChg>
      <pc:sldChg chg="delSp del mod">
        <pc:chgData name="Deepak Gupta" userId="f4ce486c0feb88f7" providerId="LiveId" clId="{677CE2BF-E837-4849-B11C-0944C199F6A4}" dt="2024-09-19T10:43:05.663" v="830" actId="47"/>
        <pc:sldMkLst>
          <pc:docMk/>
          <pc:sldMk cId="1956341652" sldId="275"/>
        </pc:sldMkLst>
      </pc:sldChg>
      <pc:sldChg chg="addSp delSp modSp mod">
        <pc:chgData name="Deepak Gupta" userId="f4ce486c0feb88f7" providerId="LiveId" clId="{677CE2BF-E837-4849-B11C-0944C199F6A4}" dt="2024-09-19T16:02:44.941" v="1020" actId="20577"/>
        <pc:sldMkLst>
          <pc:docMk/>
          <pc:sldMk cId="3038196460" sldId="276"/>
        </pc:sldMkLst>
      </pc:sldChg>
      <pc:sldChg chg="addSp delSp modSp mod ord">
        <pc:chgData name="Deepak Gupta" userId="f4ce486c0feb88f7" providerId="LiveId" clId="{677CE2BF-E837-4849-B11C-0944C199F6A4}" dt="2024-09-19T16:05:12.490" v="1039" actId="122"/>
        <pc:sldMkLst>
          <pc:docMk/>
          <pc:sldMk cId="571638906" sldId="277"/>
        </pc:sldMkLst>
      </pc:sldChg>
      <pc:sldChg chg="delSp del mod modShow">
        <pc:chgData name="Deepak Gupta" userId="f4ce486c0feb88f7" providerId="LiveId" clId="{677CE2BF-E837-4849-B11C-0944C199F6A4}" dt="2024-09-19T10:43:09.124" v="831" actId="47"/>
        <pc:sldMkLst>
          <pc:docMk/>
          <pc:sldMk cId="2898612680" sldId="279"/>
        </pc:sldMkLst>
      </pc:sldChg>
      <pc:sldChg chg="modSp del mod">
        <pc:chgData name="Deepak Gupta" userId="f4ce486c0feb88f7" providerId="LiveId" clId="{677CE2BF-E837-4849-B11C-0944C199F6A4}" dt="2024-09-19T09:07:48.008" v="370" actId="47"/>
        <pc:sldMkLst>
          <pc:docMk/>
          <pc:sldMk cId="2971570162" sldId="280"/>
        </pc:sldMkLst>
      </pc:sldChg>
      <pc:sldChg chg="addSp delSp modSp mod">
        <pc:chgData name="Deepak Gupta" userId="f4ce486c0feb88f7" providerId="LiveId" clId="{677CE2BF-E837-4849-B11C-0944C199F6A4}" dt="2024-09-19T16:04:53.675" v="1036" actId="1076"/>
        <pc:sldMkLst>
          <pc:docMk/>
          <pc:sldMk cId="504224323" sldId="281"/>
        </pc:sldMkLst>
      </pc:sldChg>
      <pc:sldChg chg="addSp delSp modSp mod">
        <pc:chgData name="Deepak Gupta" userId="f4ce486c0feb88f7" providerId="LiveId" clId="{677CE2BF-E837-4849-B11C-0944C199F6A4}" dt="2024-09-19T13:17:44.328" v="912" actId="20577"/>
        <pc:sldMkLst>
          <pc:docMk/>
          <pc:sldMk cId="2767214766" sldId="282"/>
        </pc:sldMkLst>
      </pc:sldChg>
      <pc:sldChg chg="addSp delSp modSp mod">
        <pc:chgData name="Deepak Gupta" userId="f4ce486c0feb88f7" providerId="LiveId" clId="{677CE2BF-E837-4849-B11C-0944C199F6A4}" dt="2024-09-19T09:15:18.724" v="428"/>
        <pc:sldMkLst>
          <pc:docMk/>
          <pc:sldMk cId="2892535565" sldId="283"/>
        </pc:sldMkLst>
      </pc:sldChg>
      <pc:sldChg chg="modSp del mod">
        <pc:chgData name="Deepak Gupta" userId="f4ce486c0feb88f7" providerId="LiveId" clId="{677CE2BF-E837-4849-B11C-0944C199F6A4}" dt="2024-09-19T08:51:09.163" v="57" actId="47"/>
        <pc:sldMkLst>
          <pc:docMk/>
          <pc:sldMk cId="194486472" sldId="284"/>
        </pc:sldMkLst>
      </pc:sldChg>
      <pc:sldChg chg="addSp delSp modSp add mod ord">
        <pc:chgData name="Deepak Gupta" userId="f4ce486c0feb88f7" providerId="LiveId" clId="{677CE2BF-E837-4849-B11C-0944C199F6A4}" dt="2024-09-19T09:16:49.650" v="447"/>
        <pc:sldMkLst>
          <pc:docMk/>
          <pc:sldMk cId="1311328748" sldId="284"/>
        </pc:sldMkLst>
      </pc:sldChg>
      <pc:sldChg chg="addSp delSp modSp new mod setBg">
        <pc:chgData name="Deepak Gupta" userId="f4ce486c0feb88f7" providerId="LiveId" clId="{677CE2BF-E837-4849-B11C-0944C199F6A4}" dt="2024-09-19T16:05:47.471" v="1042" actId="20577"/>
        <pc:sldMkLst>
          <pc:docMk/>
          <pc:sldMk cId="1142559352" sldId="285"/>
        </pc:sldMkLst>
      </pc:sldChg>
      <pc:sldChg chg="addSp delSp modSp add mod setBg delDesignElem">
        <pc:chgData name="Deepak Gupta" userId="f4ce486c0feb88f7" providerId="LiveId" clId="{677CE2BF-E837-4849-B11C-0944C199F6A4}" dt="2024-09-19T10:38:39.066" v="792" actId="20577"/>
        <pc:sldMkLst>
          <pc:docMk/>
          <pc:sldMk cId="2450607305" sldId="286"/>
        </pc:sldMkLst>
      </pc:sldChg>
      <pc:sldChg chg="delSp modSp add del mod setBg delDesignElem">
        <pc:chgData name="Deepak Gupta" userId="f4ce486c0feb88f7" providerId="LiveId" clId="{677CE2BF-E837-4849-B11C-0944C199F6A4}" dt="2024-09-19T09:06:57.341" v="354" actId="47"/>
        <pc:sldMkLst>
          <pc:docMk/>
          <pc:sldMk cId="1874929756" sldId="287"/>
        </pc:sldMkLst>
      </pc:sldChg>
      <pc:sldChg chg="addSp delSp modSp add mod setBg modAnim delDesignElem">
        <pc:chgData name="Deepak Gupta" userId="f4ce486c0feb88f7" providerId="LiveId" clId="{677CE2BF-E837-4849-B11C-0944C199F6A4}" dt="2024-09-19T10:42:45.558" v="829" actId="20577"/>
        <pc:sldMkLst>
          <pc:docMk/>
          <pc:sldMk cId="1420671087" sldId="288"/>
        </pc:sldMkLst>
      </pc:sldChg>
      <pc:sldChg chg="addSp delSp modSp add mod setBg delDesignElem">
        <pc:chgData name="Deepak Gupta" userId="f4ce486c0feb88f7" providerId="LiveId" clId="{677CE2BF-E837-4849-B11C-0944C199F6A4}" dt="2024-09-19T16:03:56.052" v="1030" actId="20577"/>
        <pc:sldMkLst>
          <pc:docMk/>
          <pc:sldMk cId="3874097403" sldId="289"/>
        </pc:sldMkLst>
      </pc:sldChg>
      <pc:sldChg chg="modSp add mod ord">
        <pc:chgData name="Deepak Gupta" userId="f4ce486c0feb88f7" providerId="LiveId" clId="{677CE2BF-E837-4849-B11C-0944C199F6A4}" dt="2024-09-19T16:04:30.742" v="1032" actId="404"/>
        <pc:sldMkLst>
          <pc:docMk/>
          <pc:sldMk cId="398271834" sldId="29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3600" dirty="0"/>
            <a:t>Implement  Binary Tree using Array and Linked List.</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dirty="0"/>
            <a:t>Differentiate between Strict  and Complete Binary Trees.</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7186EF2C-C889-49EC-A156-5A68AD0A3CF6}" type="presOf" srcId="{DFBD6BAB-0140-48B9-9073-E08FDCB01885}" destId="{0E541A4F-E68B-477F-BCA6-83AC868DBBCC}" srcOrd="0" destOrd="0" presId="urn:microsoft.com/office/officeart/2005/8/layout/process4"/>
    <dgm:cxn modelId="{BFCB0464-37EB-4B41-A633-D832506204D5}" type="presOf" srcId="{A3B4F848-7886-4B10-8E34-39E0B844A474}" destId="{9F756ADD-FC73-43E2-8907-B49F92DEF8EA}" srcOrd="0" destOrd="0" presId="urn:microsoft.com/office/officeart/2005/8/layout/process4"/>
    <dgm:cxn modelId="{602ADD9D-D77C-4864-85DE-6F786E0BA06C}" type="presOf" srcId="{B7ED251F-A7A3-4D25-B004-4241BE03EDC3}" destId="{BCA40D55-9F97-4CA4-8859-68C842EAE88F}"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9860929F-5D96-4F82-A2F6-03F0C13F45CA}" type="presParOf" srcId="{BCA40D55-9F97-4CA4-8859-68C842EAE88F}" destId="{3450E454-19DE-4E8A-ADE0-3AFF41C6C69B}" srcOrd="0" destOrd="0" presId="urn:microsoft.com/office/officeart/2005/8/layout/process4"/>
    <dgm:cxn modelId="{81075B5D-B3C8-4153-A2C9-6C4D6353CB34}" type="presParOf" srcId="{3450E454-19DE-4E8A-ADE0-3AFF41C6C69B}" destId="{9F756ADD-FC73-43E2-8907-B49F92DEF8EA}" srcOrd="0" destOrd="0" presId="urn:microsoft.com/office/officeart/2005/8/layout/process4"/>
    <dgm:cxn modelId="{8914EA88-2853-4546-98B8-ABA4ED7CAF84}" type="presParOf" srcId="{BCA40D55-9F97-4CA4-8859-68C842EAE88F}" destId="{33B2812D-626E-40CB-8956-89B965634A15}" srcOrd="1" destOrd="0" presId="urn:microsoft.com/office/officeart/2005/8/layout/process4"/>
    <dgm:cxn modelId="{205F827C-DA08-4001-BBA3-EAB63BA21781}" type="presParOf" srcId="{BCA40D55-9F97-4CA4-8859-68C842EAE88F}" destId="{14438BF2-0C50-4C1B-A99E-B1909E184016}" srcOrd="2" destOrd="0" presId="urn:microsoft.com/office/officeart/2005/8/layout/process4"/>
    <dgm:cxn modelId="{A6891BF9-7CFD-4CF1-B514-10FEBA6D9D6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3600" dirty="0"/>
            <a:t>Implement  Binary Tree using Array and Linked List.</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b="1" dirty="0"/>
            <a:t>To </a:t>
          </a:r>
          <a:r>
            <a:rPr lang="en-US" sz="3600" dirty="0"/>
            <a:t>Differentiate between Strict  and Complete Binary Trees.</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7186EF2C-C889-49EC-A156-5A68AD0A3CF6}" type="presOf" srcId="{DFBD6BAB-0140-48B9-9073-E08FDCB01885}" destId="{0E541A4F-E68B-477F-BCA6-83AC868DBBCC}" srcOrd="0" destOrd="0" presId="urn:microsoft.com/office/officeart/2005/8/layout/process4"/>
    <dgm:cxn modelId="{BFCB0464-37EB-4B41-A633-D832506204D5}" type="presOf" srcId="{A3B4F848-7886-4B10-8E34-39E0B844A474}" destId="{9F756ADD-FC73-43E2-8907-B49F92DEF8EA}" srcOrd="0" destOrd="0" presId="urn:microsoft.com/office/officeart/2005/8/layout/process4"/>
    <dgm:cxn modelId="{602ADD9D-D77C-4864-85DE-6F786E0BA06C}" type="presOf" srcId="{B7ED251F-A7A3-4D25-B004-4241BE03EDC3}" destId="{BCA40D55-9F97-4CA4-8859-68C842EAE88F}"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9860929F-5D96-4F82-A2F6-03F0C13F45CA}" type="presParOf" srcId="{BCA40D55-9F97-4CA4-8859-68C842EAE88F}" destId="{3450E454-19DE-4E8A-ADE0-3AFF41C6C69B}" srcOrd="0" destOrd="0" presId="urn:microsoft.com/office/officeart/2005/8/layout/process4"/>
    <dgm:cxn modelId="{81075B5D-B3C8-4153-A2C9-6C4D6353CB34}" type="presParOf" srcId="{3450E454-19DE-4E8A-ADE0-3AFF41C6C69B}" destId="{9F756ADD-FC73-43E2-8907-B49F92DEF8EA}" srcOrd="0" destOrd="0" presId="urn:microsoft.com/office/officeart/2005/8/layout/process4"/>
    <dgm:cxn modelId="{8914EA88-2853-4546-98B8-ABA4ED7CAF84}" type="presParOf" srcId="{BCA40D55-9F97-4CA4-8859-68C842EAE88F}" destId="{33B2812D-626E-40CB-8956-89B965634A15}" srcOrd="1" destOrd="0" presId="urn:microsoft.com/office/officeart/2005/8/layout/process4"/>
    <dgm:cxn modelId="{205F827C-DA08-4001-BBA3-EAB63BA21781}" type="presParOf" srcId="{BCA40D55-9F97-4CA4-8859-68C842EAE88F}" destId="{14438BF2-0C50-4C1B-A99E-B1909E184016}" srcOrd="2" destOrd="0" presId="urn:microsoft.com/office/officeart/2005/8/layout/process4"/>
    <dgm:cxn modelId="{A6891BF9-7CFD-4CF1-B514-10FEBA6D9D6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kern="1200" dirty="0"/>
            <a:t>Differentiate between Strict  and Complete Binary Trees.</a:t>
          </a: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a:t>Implement  Binary Tree using Array and Linked List.</a:t>
          </a:r>
        </a:p>
      </dsp:txBody>
      <dsp:txXfrm rot="10800000">
        <a:off x="0" y="1663"/>
        <a:ext cx="10927829" cy="1460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b="1" kern="1200" dirty="0"/>
            <a:t>To </a:t>
          </a:r>
          <a:r>
            <a:rPr lang="en-US" sz="3600" kern="1200" dirty="0"/>
            <a:t>Differentiate between Strict  and Complete Binary Trees.</a:t>
          </a: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a:t>Implement  Binary Tree using Array and Linked List.</a:t>
          </a:r>
        </a:p>
      </dsp:txBody>
      <dsp:txXfrm rot="10800000">
        <a:off x="0" y="1663"/>
        <a:ext cx="10927829" cy="14600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13-12-2025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1</a:t>
            </a:fld>
            <a:endParaRPr lang="en-IN"/>
          </a:p>
        </p:txBody>
      </p:sp>
    </p:spTree>
    <p:extLst>
      <p:ext uri="{BB962C8B-B14F-4D97-AF65-F5344CB8AC3E}">
        <p14:creationId xmlns:p14="http://schemas.microsoft.com/office/powerpoint/2010/main" val="2654527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8</a:t>
            </a:fld>
            <a:endParaRPr lang="en-IN"/>
          </a:p>
        </p:txBody>
      </p:sp>
    </p:spTree>
    <p:extLst>
      <p:ext uri="{BB962C8B-B14F-4D97-AF65-F5344CB8AC3E}">
        <p14:creationId xmlns:p14="http://schemas.microsoft.com/office/powerpoint/2010/main" val="8272879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9</a:t>
            </a:fld>
            <a:endParaRPr lang="en-IN"/>
          </a:p>
        </p:txBody>
      </p:sp>
    </p:spTree>
    <p:extLst>
      <p:ext uri="{BB962C8B-B14F-4D97-AF65-F5344CB8AC3E}">
        <p14:creationId xmlns:p14="http://schemas.microsoft.com/office/powerpoint/2010/main" val="827287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10</a:t>
            </a:fld>
            <a:endParaRPr lang="en-IN"/>
          </a:p>
        </p:txBody>
      </p:sp>
    </p:spTree>
    <p:extLst>
      <p:ext uri="{BB962C8B-B14F-4D97-AF65-F5344CB8AC3E}">
        <p14:creationId xmlns:p14="http://schemas.microsoft.com/office/powerpoint/2010/main" val="827287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ADA65-C0BF-315C-F293-BFD0FCE73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6C31F-886D-8E46-5C5C-3D302F3B4C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FF963-8CA0-9BB7-7DD7-677E3ACD27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16D6ED-727B-BDE1-4AEC-47266E04D4A1}"/>
              </a:ext>
            </a:extLst>
          </p:cNvPr>
          <p:cNvSpPr>
            <a:spLocks noGrp="1"/>
          </p:cNvSpPr>
          <p:nvPr>
            <p:ph type="sldNum" sz="quarter" idx="5"/>
          </p:nvPr>
        </p:nvSpPr>
        <p:spPr/>
        <p:txBody>
          <a:bodyPr/>
          <a:lstStyle/>
          <a:p>
            <a:fld id="{AE9FE326-85E6-4395-8F28-A8F972B7BB4E}" type="slidenum">
              <a:rPr lang="en-IN" smtClean="0"/>
              <a:t>11</a:t>
            </a:fld>
            <a:endParaRPr lang="en-IN"/>
          </a:p>
        </p:txBody>
      </p:sp>
    </p:spTree>
    <p:extLst>
      <p:ext uri="{BB962C8B-B14F-4D97-AF65-F5344CB8AC3E}">
        <p14:creationId xmlns:p14="http://schemas.microsoft.com/office/powerpoint/2010/main" val="16108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ADA65-C0BF-315C-F293-BFD0FCE73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6C31F-886D-8E46-5C5C-3D302F3B4C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FF963-8CA0-9BB7-7DD7-677E3ACD27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16D6ED-727B-BDE1-4AEC-47266E04D4A1}"/>
              </a:ext>
            </a:extLst>
          </p:cNvPr>
          <p:cNvSpPr>
            <a:spLocks noGrp="1"/>
          </p:cNvSpPr>
          <p:nvPr>
            <p:ph type="sldNum" sz="quarter" idx="5"/>
          </p:nvPr>
        </p:nvSpPr>
        <p:spPr/>
        <p:txBody>
          <a:bodyPr/>
          <a:lstStyle/>
          <a:p>
            <a:fld id="{AE9FE326-85E6-4395-8F28-A8F972B7BB4E}" type="slidenum">
              <a:rPr lang="en-IN" smtClean="0"/>
              <a:t>12</a:t>
            </a:fld>
            <a:endParaRPr lang="en-IN"/>
          </a:p>
        </p:txBody>
      </p:sp>
    </p:spTree>
    <p:extLst>
      <p:ext uri="{BB962C8B-B14F-4D97-AF65-F5344CB8AC3E}">
        <p14:creationId xmlns:p14="http://schemas.microsoft.com/office/powerpoint/2010/main" val="16108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ADA65-C0BF-315C-F293-BFD0FCE73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6C31F-886D-8E46-5C5C-3D302F3B4C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FF963-8CA0-9BB7-7DD7-677E3ACD27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16D6ED-727B-BDE1-4AEC-47266E04D4A1}"/>
              </a:ext>
            </a:extLst>
          </p:cNvPr>
          <p:cNvSpPr>
            <a:spLocks noGrp="1"/>
          </p:cNvSpPr>
          <p:nvPr>
            <p:ph type="sldNum" sz="quarter" idx="5"/>
          </p:nvPr>
        </p:nvSpPr>
        <p:spPr/>
        <p:txBody>
          <a:bodyPr/>
          <a:lstStyle/>
          <a:p>
            <a:fld id="{AE9FE326-85E6-4395-8F28-A8F972B7BB4E}" type="slidenum">
              <a:rPr lang="en-IN" smtClean="0"/>
              <a:t>13</a:t>
            </a:fld>
            <a:endParaRPr lang="en-IN"/>
          </a:p>
        </p:txBody>
      </p:sp>
    </p:spTree>
    <p:extLst>
      <p:ext uri="{BB962C8B-B14F-4D97-AF65-F5344CB8AC3E}">
        <p14:creationId xmlns:p14="http://schemas.microsoft.com/office/powerpoint/2010/main" val="16108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3EDBC-57D9-C6A6-6869-371DC35FAC4A}"/>
              </a:ext>
            </a:extLst>
          </p:cNvPr>
          <p:cNvSpPr>
            <a:spLocks noGrp="1"/>
          </p:cNvSpPr>
          <p:nvPr>
            <p:ph type="dt" sz="half" idx="10"/>
          </p:nvPr>
        </p:nvSpPr>
        <p:spPr/>
        <p:txBody>
          <a:bodyPr/>
          <a:lstStyle/>
          <a:p>
            <a:fld id="{CAB0B00A-0031-4EDD-BEBB-B131E3F68B8B}" type="datetime1">
              <a:rPr lang="en-IN" smtClean="0"/>
              <a:t>13-12-2025</a:t>
            </a:fld>
            <a:endParaRPr lang="en-IN"/>
          </a:p>
        </p:txBody>
      </p:sp>
      <p:sp>
        <p:nvSpPr>
          <p:cNvPr id="5" name="Footer Placeholder 4">
            <a:extLst>
              <a:ext uri="{FF2B5EF4-FFF2-40B4-BE49-F238E27FC236}">
                <a16:creationId xmlns:a16="http://schemas.microsoft.com/office/drawing/2014/main" id="{A8B1DC6D-FB05-89AF-D06E-2A214B26AC5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6B5C3-B400-8ED2-C857-CC6B3B6EB6B7}"/>
              </a:ext>
            </a:extLst>
          </p:cNvPr>
          <p:cNvSpPr>
            <a:spLocks noGrp="1"/>
          </p:cNvSpPr>
          <p:nvPr>
            <p:ph type="dt" sz="half" idx="10"/>
          </p:nvPr>
        </p:nvSpPr>
        <p:spPr/>
        <p:txBody>
          <a:bodyPr/>
          <a:lstStyle/>
          <a:p>
            <a:fld id="{218D233B-F1E7-4818-B22D-9EDEAA6025FD}" type="datetime1">
              <a:rPr lang="en-IN" smtClean="0"/>
              <a:t>13-12-2025</a:t>
            </a:fld>
            <a:endParaRPr lang="en-IN"/>
          </a:p>
        </p:txBody>
      </p:sp>
      <p:sp>
        <p:nvSpPr>
          <p:cNvPr id="5" name="Footer Placeholder 4">
            <a:extLst>
              <a:ext uri="{FF2B5EF4-FFF2-40B4-BE49-F238E27FC236}">
                <a16:creationId xmlns:a16="http://schemas.microsoft.com/office/drawing/2014/main" id="{77C63E68-219E-B6BD-06FF-D09E8B6D7CE6}"/>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5ACC9-6839-7636-07F4-E47B104A0B91}"/>
              </a:ext>
            </a:extLst>
          </p:cNvPr>
          <p:cNvSpPr>
            <a:spLocks noGrp="1"/>
          </p:cNvSpPr>
          <p:nvPr>
            <p:ph type="dt" sz="half" idx="10"/>
          </p:nvPr>
        </p:nvSpPr>
        <p:spPr/>
        <p:txBody>
          <a:bodyPr/>
          <a:lstStyle/>
          <a:p>
            <a:fld id="{2A543A29-4BB0-4075-8E30-7986497052F0}" type="datetime1">
              <a:rPr lang="en-IN" smtClean="0"/>
              <a:t>13-12-2025</a:t>
            </a:fld>
            <a:endParaRPr lang="en-IN"/>
          </a:p>
        </p:txBody>
      </p:sp>
      <p:sp>
        <p:nvSpPr>
          <p:cNvPr id="5" name="Footer Placeholder 4">
            <a:extLst>
              <a:ext uri="{FF2B5EF4-FFF2-40B4-BE49-F238E27FC236}">
                <a16:creationId xmlns:a16="http://schemas.microsoft.com/office/drawing/2014/main" id="{331B4601-E63D-A03B-1DD8-CFB63233DA5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D099-6445-5C93-00AE-432EFD0706EB}"/>
              </a:ext>
            </a:extLst>
          </p:cNvPr>
          <p:cNvSpPr>
            <a:spLocks noGrp="1"/>
          </p:cNvSpPr>
          <p:nvPr>
            <p:ph type="dt" sz="half" idx="10"/>
          </p:nvPr>
        </p:nvSpPr>
        <p:spPr/>
        <p:txBody>
          <a:bodyPr/>
          <a:lstStyle/>
          <a:p>
            <a:fld id="{C1228DEB-068D-4137-AD7C-2A99AB9732F4}" type="datetime1">
              <a:rPr lang="en-IN" smtClean="0"/>
              <a:t>13-12-2025</a:t>
            </a:fld>
            <a:endParaRPr lang="en-IN"/>
          </a:p>
        </p:txBody>
      </p:sp>
      <p:sp>
        <p:nvSpPr>
          <p:cNvPr id="6" name="Footer Placeholder 5">
            <a:extLst>
              <a:ext uri="{FF2B5EF4-FFF2-40B4-BE49-F238E27FC236}">
                <a16:creationId xmlns:a16="http://schemas.microsoft.com/office/drawing/2014/main" id="{6C5B21F9-91D3-7C2A-79CF-2138303F1B9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ADDEEA-4DF4-410A-B65E-F750E83FBB36}"/>
              </a:ext>
            </a:extLst>
          </p:cNvPr>
          <p:cNvSpPr>
            <a:spLocks noGrp="1"/>
          </p:cNvSpPr>
          <p:nvPr>
            <p:ph type="dt" sz="half" idx="10"/>
          </p:nvPr>
        </p:nvSpPr>
        <p:spPr/>
        <p:txBody>
          <a:bodyPr/>
          <a:lstStyle/>
          <a:p>
            <a:fld id="{040CC2F0-EA24-4949-874F-5F13F434AA44}" type="datetime1">
              <a:rPr lang="en-IN" smtClean="0"/>
              <a:t>13-12-2025</a:t>
            </a:fld>
            <a:endParaRPr lang="en-IN"/>
          </a:p>
        </p:txBody>
      </p:sp>
      <p:sp>
        <p:nvSpPr>
          <p:cNvPr id="8" name="Footer Placeholder 7">
            <a:extLst>
              <a:ext uri="{FF2B5EF4-FFF2-40B4-BE49-F238E27FC236}">
                <a16:creationId xmlns:a16="http://schemas.microsoft.com/office/drawing/2014/main" id="{90F839C7-3F7C-98F3-A612-DE6079BE9163}"/>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FDE9-0DB9-E2EC-9EDB-3F7928924032}"/>
              </a:ext>
            </a:extLst>
          </p:cNvPr>
          <p:cNvSpPr>
            <a:spLocks noGrp="1"/>
          </p:cNvSpPr>
          <p:nvPr>
            <p:ph type="dt" sz="half" idx="10"/>
          </p:nvPr>
        </p:nvSpPr>
        <p:spPr/>
        <p:txBody>
          <a:bodyPr/>
          <a:lstStyle/>
          <a:p>
            <a:fld id="{D9FCA4BE-841D-4DBA-BF59-98160D016E95}" type="datetime1">
              <a:rPr lang="en-IN" smtClean="0"/>
              <a:t>13-12-2025</a:t>
            </a:fld>
            <a:endParaRPr lang="en-IN"/>
          </a:p>
        </p:txBody>
      </p:sp>
      <p:sp>
        <p:nvSpPr>
          <p:cNvPr id="4" name="Footer Placeholder 3">
            <a:extLst>
              <a:ext uri="{FF2B5EF4-FFF2-40B4-BE49-F238E27FC236}">
                <a16:creationId xmlns:a16="http://schemas.microsoft.com/office/drawing/2014/main" id="{B76EA0CC-2F72-01A7-0018-794D2889580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68AA3-F340-1EBC-A758-E63E971B3C45}"/>
              </a:ext>
            </a:extLst>
          </p:cNvPr>
          <p:cNvSpPr>
            <a:spLocks noGrp="1"/>
          </p:cNvSpPr>
          <p:nvPr>
            <p:ph type="dt" sz="half" idx="10"/>
          </p:nvPr>
        </p:nvSpPr>
        <p:spPr/>
        <p:txBody>
          <a:bodyPr/>
          <a:lstStyle/>
          <a:p>
            <a:fld id="{2EA9DE3D-92F0-4B90-9BC3-DF561ACCB514}" type="datetime1">
              <a:rPr lang="en-IN" smtClean="0"/>
              <a:t>13-12-2025</a:t>
            </a:fld>
            <a:endParaRPr lang="en-IN"/>
          </a:p>
        </p:txBody>
      </p:sp>
      <p:sp>
        <p:nvSpPr>
          <p:cNvPr id="3" name="Footer Placeholder 2">
            <a:extLst>
              <a:ext uri="{FF2B5EF4-FFF2-40B4-BE49-F238E27FC236}">
                <a16:creationId xmlns:a16="http://schemas.microsoft.com/office/drawing/2014/main" id="{15C5A41D-81C9-E2BD-E9AF-3AA5DB41DC6F}"/>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5EB5-72B0-9141-EA99-820C022CC386}"/>
              </a:ext>
            </a:extLst>
          </p:cNvPr>
          <p:cNvSpPr>
            <a:spLocks noGrp="1"/>
          </p:cNvSpPr>
          <p:nvPr>
            <p:ph type="dt" sz="half" idx="10"/>
          </p:nvPr>
        </p:nvSpPr>
        <p:spPr/>
        <p:txBody>
          <a:bodyPr/>
          <a:lstStyle/>
          <a:p>
            <a:fld id="{44A4D748-5313-48F5-9420-28CC4F9D5D65}" type="datetime1">
              <a:rPr lang="en-IN" smtClean="0"/>
              <a:t>13-12-2025</a:t>
            </a:fld>
            <a:endParaRPr lang="en-IN"/>
          </a:p>
        </p:txBody>
      </p:sp>
      <p:sp>
        <p:nvSpPr>
          <p:cNvPr id="6" name="Footer Placeholder 5">
            <a:extLst>
              <a:ext uri="{FF2B5EF4-FFF2-40B4-BE49-F238E27FC236}">
                <a16:creationId xmlns:a16="http://schemas.microsoft.com/office/drawing/2014/main" id="{A273D456-31B6-1D53-751D-AC82FEAB700D}"/>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80F9-07CE-6F7A-6038-870977B023CB}"/>
              </a:ext>
            </a:extLst>
          </p:cNvPr>
          <p:cNvSpPr>
            <a:spLocks noGrp="1"/>
          </p:cNvSpPr>
          <p:nvPr>
            <p:ph type="dt" sz="half" idx="10"/>
          </p:nvPr>
        </p:nvSpPr>
        <p:spPr/>
        <p:txBody>
          <a:bodyPr/>
          <a:lstStyle/>
          <a:p>
            <a:fld id="{8E259F97-4389-4CF0-A3AF-539E1666475E}" type="datetime1">
              <a:rPr lang="en-IN" smtClean="0"/>
              <a:t>13-12-2025</a:t>
            </a:fld>
            <a:endParaRPr lang="en-IN"/>
          </a:p>
        </p:txBody>
      </p:sp>
      <p:sp>
        <p:nvSpPr>
          <p:cNvPr id="6" name="Footer Placeholder 5">
            <a:extLst>
              <a:ext uri="{FF2B5EF4-FFF2-40B4-BE49-F238E27FC236}">
                <a16:creationId xmlns:a16="http://schemas.microsoft.com/office/drawing/2014/main" id="{3B35F0A5-FF26-EF42-9F4E-7B487ABBDC60}"/>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6E1C-2039-6998-16BF-892E575CFF2A}"/>
              </a:ext>
            </a:extLst>
          </p:cNvPr>
          <p:cNvSpPr>
            <a:spLocks noGrp="1"/>
          </p:cNvSpPr>
          <p:nvPr>
            <p:ph type="dt" sz="half" idx="10"/>
          </p:nvPr>
        </p:nvSpPr>
        <p:spPr/>
        <p:txBody>
          <a:bodyPr/>
          <a:lstStyle/>
          <a:p>
            <a:fld id="{C911ADB8-9CB7-40E6-87C8-C7EB8EBBAF06}" type="datetime1">
              <a:rPr lang="en-IN" smtClean="0"/>
              <a:t>13-12-2025</a:t>
            </a:fld>
            <a:endParaRPr lang="en-IN"/>
          </a:p>
        </p:txBody>
      </p:sp>
      <p:sp>
        <p:nvSpPr>
          <p:cNvPr id="5" name="Footer Placeholder 4">
            <a:extLst>
              <a:ext uri="{FF2B5EF4-FFF2-40B4-BE49-F238E27FC236}">
                <a16:creationId xmlns:a16="http://schemas.microsoft.com/office/drawing/2014/main" id="{BA389FC5-03A9-A2BE-8045-500B370839C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3D39A2-CFE5-7E4C-6E1A-FABC5CF177F3}"/>
              </a:ext>
            </a:extLst>
          </p:cNvPr>
          <p:cNvSpPr>
            <a:spLocks noGrp="1"/>
          </p:cNvSpPr>
          <p:nvPr>
            <p:ph type="dt" sz="half" idx="10"/>
          </p:nvPr>
        </p:nvSpPr>
        <p:spPr/>
        <p:txBody>
          <a:bodyPr/>
          <a:lstStyle/>
          <a:p>
            <a:fld id="{6903956E-FF61-4FBC-8614-5AF891B621A7}" type="datetime1">
              <a:rPr lang="en-IN" smtClean="0"/>
              <a:t>13-12-2025</a:t>
            </a:fld>
            <a:endParaRPr lang="en-IN"/>
          </a:p>
        </p:txBody>
      </p:sp>
      <p:sp>
        <p:nvSpPr>
          <p:cNvPr id="5" name="Footer Placeholder 4">
            <a:extLst>
              <a:ext uri="{FF2B5EF4-FFF2-40B4-BE49-F238E27FC236}">
                <a16:creationId xmlns:a16="http://schemas.microsoft.com/office/drawing/2014/main" id="{A758CE03-A02D-B61D-500E-33B067F58A15}"/>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1F908-E6B3-4617-92D9-99814B0B813F}" type="datetime1">
              <a:rPr lang="en-IN" smtClean="0"/>
              <a:t>13-12-2025</a:t>
            </a:fld>
            <a:endParaRPr lang="en-IN"/>
          </a:p>
        </p:txBody>
      </p:sp>
      <p:sp>
        <p:nvSpPr>
          <p:cNvPr id="5" name="Footer Placeholder 4">
            <a:extLst>
              <a:ext uri="{FF2B5EF4-FFF2-40B4-BE49-F238E27FC236}">
                <a16:creationId xmlns:a16="http://schemas.microsoft.com/office/drawing/2014/main"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Galgotias University</a:t>
            </a:r>
          </a:p>
        </p:txBody>
      </p:sp>
      <p:sp>
        <p:nvSpPr>
          <p:cNvPr id="6" name="Slide Number Placeholder 5">
            <a:extLst>
              <a:ext uri="{FF2B5EF4-FFF2-40B4-BE49-F238E27FC236}">
                <a16:creationId xmlns:a16="http://schemas.microsoft.com/office/drawing/2014/main"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purple dots&#10;&#10;Description automatically generated">
            <a:extLst>
              <a:ext uri="{FF2B5EF4-FFF2-40B4-BE49-F238E27FC236}">
                <a16:creationId xmlns:a16="http://schemas.microsoft.com/office/drawing/2014/main" id="{B854E15F-5609-7D3B-3655-6DE3E5980655}"/>
              </a:ext>
            </a:extLst>
          </p:cNvPr>
          <p:cNvPicPr>
            <a:picLocks noChangeAspect="1"/>
          </p:cNvPicPr>
          <p:nvPr/>
        </p:nvPicPr>
        <p:blipFill>
          <a:blip r:embed="rId3"/>
          <a:srcRect l="52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477981" y="1122362"/>
            <a:ext cx="8366216" cy="4909225"/>
          </a:xfrm>
        </p:spPr>
        <p:txBody>
          <a:bodyPr anchor="b">
            <a:normAutofit fontScale="90000"/>
          </a:bodyPr>
          <a:lstStyle/>
          <a:p>
            <a:pPr algn="l"/>
            <a:br>
              <a:rPr lang="en-US" sz="3600" b="1" dirty="0">
                <a:solidFill>
                  <a:schemeClr val="bg1"/>
                </a:solidFill>
                <a:latin typeface="Georgia" panose="02040502050405020303" pitchFamily="18" charset="0"/>
                <a:cs typeface="Arial" panose="020B0604020202020204" pitchFamily="34" charset="0"/>
              </a:rPr>
            </a:br>
            <a:r>
              <a:rPr lang="en-US" sz="3600" b="1" dirty="0">
                <a:solidFill>
                  <a:schemeClr val="bg1"/>
                </a:solidFill>
                <a:latin typeface="Georgia" panose="02040502050405020303" pitchFamily="18" charset="0"/>
                <a:cs typeface="Arial" panose="020B0604020202020204" pitchFamily="34" charset="0"/>
              </a:rPr>
              <a:t>Binary Tree and Its array and linked list representation, Strict Binary Tree, Complete Binary Tree</a:t>
            </a:r>
            <a:br>
              <a:rPr lang="en-IN" sz="54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Session No.: 32</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Name: Data </a:t>
            </a:r>
            <a:r>
              <a:rPr lang="en-IN" sz="1800" b="1" dirty="0" err="1">
                <a:solidFill>
                  <a:schemeClr val="bg1"/>
                </a:solidFill>
                <a:latin typeface="Georgia" panose="02040502050405020303" pitchFamily="18" charset="0"/>
                <a:cs typeface="Arial" panose="020B0604020202020204" pitchFamily="34" charset="0"/>
              </a:rPr>
              <a:t>Strucutres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Code: </a:t>
            </a:r>
            <a:r>
              <a:rPr lang="en-IN" sz="1800" b="1" i="0" u="none" strike="noStrike" baseline="0" dirty="0">
                <a:solidFill>
                  <a:schemeClr val="bg1"/>
                </a:solidFill>
                <a:latin typeface="Times New Roman" panose="02020603050405020304" pitchFamily="18" charset="0"/>
              </a:rPr>
              <a:t>R1UC308B </a:t>
            </a:r>
            <a:r>
              <a:rPr lang="en-IN" sz="1800" b="0" i="0" u="none" strike="noStrike" baseline="0" dirty="0">
                <a:solidFill>
                  <a:schemeClr val="bg1"/>
                </a:solidFill>
                <a:latin typeface="Times New Roman" panose="02020603050405020304" pitchFamily="18" charset="0"/>
              </a:rPr>
              <a:t>	</a:t>
            </a:r>
            <a:br>
              <a:rPr lang="en-IN" sz="1800" b="0" i="0" u="none" strike="noStrike" baseline="0" dirty="0">
                <a:solidFill>
                  <a:schemeClr val="bg1"/>
                </a:solidFill>
                <a:latin typeface="Times New Roman" panose="02020603050405020304" pitchFamily="18" charset="0"/>
              </a:rPr>
            </a:br>
            <a:r>
              <a:rPr lang="en-IN" sz="1800" b="1" dirty="0">
                <a:solidFill>
                  <a:schemeClr val="bg1"/>
                </a:solidFill>
                <a:latin typeface="Georgia" panose="02040502050405020303" pitchFamily="18" charset="0"/>
                <a:cs typeface="Arial" panose="020B0604020202020204" pitchFamily="34" charset="0"/>
              </a:rPr>
              <a:t>Instructor Name: Sachin </a:t>
            </a:r>
            <a:r>
              <a:rPr lang="en-IN" sz="1800" b="1" dirty="0" err="1">
                <a:solidFill>
                  <a:schemeClr val="bg1"/>
                </a:solidFill>
                <a:latin typeface="Georgia" panose="02040502050405020303" pitchFamily="18" charset="0"/>
                <a:cs typeface="Arial" panose="020B0604020202020204" pitchFamily="34" charset="0"/>
              </a:rPr>
              <a:t>Tyagi</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Duration: 50 mins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Date of Conduction of Class:</a:t>
            </a:r>
            <a:endParaRPr lang="en-IN" sz="4800" b="1" dirty="0">
              <a:solidFill>
                <a:schemeClr val="bg1"/>
              </a:solidFill>
              <a:latin typeface="Georgia" panose="02040502050405020303" pitchFamily="18" charset="0"/>
              <a:cs typeface="Arial" panose="020B0604020202020204" pitchFamily="34" charset="0"/>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4D4B0897-FD56-B45E-C539-435F743AAB4C}"/>
              </a:ext>
            </a:extLst>
          </p:cNvPr>
          <p:cNvSpPr>
            <a:spLocks noGrp="1"/>
          </p:cNvSpPr>
          <p:nvPr>
            <p:ph type="sldNum" sz="quarter" idx="12"/>
          </p:nvPr>
        </p:nvSpPr>
        <p:spPr/>
        <p:txBody>
          <a:bodyPr/>
          <a:lstStyle/>
          <a:p>
            <a:fld id="{26510230-8DD5-4BA5-AB2D-CA30FC08F9D7}" type="slidenum">
              <a:rPr lang="en-IN" smtClean="0"/>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12" name="Picture 11">
            <a:extLst>
              <a:ext uri="{FF2B5EF4-FFF2-40B4-BE49-F238E27FC236}">
                <a16:creationId xmlns:a16="http://schemas.microsoft.com/office/drawing/2014/main" id="{E28D1CBC-4D12-D9B9-CD23-7747F5D3D7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932" y="317402"/>
            <a:ext cx="3795634" cy="740238"/>
          </a:xfrm>
          <a:prstGeom prst="rect">
            <a:avLst/>
          </a:prstGeom>
        </p:spPr>
      </p:pic>
    </p:spTree>
    <p:extLst>
      <p:ext uri="{BB962C8B-B14F-4D97-AF65-F5344CB8AC3E}">
        <p14:creationId xmlns:p14="http://schemas.microsoft.com/office/powerpoint/2010/main"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1354784"/>
            <a:ext cx="10810559" cy="2677656"/>
          </a:xfrm>
          <a:prstGeom prst="rect">
            <a:avLst/>
          </a:prstGeom>
          <a:noFill/>
        </p:spPr>
        <p:txBody>
          <a:bodyPr wrap="square">
            <a:spAutoFit/>
          </a:bodyPr>
          <a:lstStyle/>
          <a:p>
            <a:pPr algn="ctr"/>
            <a:r>
              <a:rPr lang="en-US" sz="2800" b="1" dirty="0"/>
              <a:t>Review</a:t>
            </a:r>
          </a:p>
          <a:p>
            <a:pPr algn="ctr"/>
            <a:endParaRPr lang="en-US" sz="2800" dirty="0"/>
          </a:p>
          <a:p>
            <a:r>
              <a:rPr lang="en-US" sz="2800" b="1" dirty="0"/>
              <a:t>Pre-Requisite : </a:t>
            </a:r>
          </a:p>
          <a:p>
            <a:endParaRPr lang="en-US" sz="2800" b="1" dirty="0"/>
          </a:p>
          <a:p>
            <a:r>
              <a:rPr lang="en-US" sz="2800" b="1" dirty="0"/>
              <a:t>Students must have knowledge about non linear data structure ,array and linked list and basic concept about tree.</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767214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Pre-Class Assessment</a:t>
            </a:r>
          </a:p>
        </p:txBody>
      </p:sp>
      <p:sp>
        <p:nvSpPr>
          <p:cNvPr id="2" name="Rectangle 1"/>
          <p:cNvSpPr/>
          <p:nvPr/>
        </p:nvSpPr>
        <p:spPr>
          <a:xfrm>
            <a:off x="10648330" y="1095420"/>
            <a:ext cx="1176692" cy="369332"/>
          </a:xfrm>
          <a:prstGeom prst="rect">
            <a:avLst/>
          </a:prstGeom>
        </p:spPr>
        <p:txBody>
          <a:bodyPr wrap="square">
            <a:spAutoFit/>
          </a:bodyPr>
          <a:lstStyle/>
          <a:p>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endParaRPr lang="en-US"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90402"/>
            <a:ext cx="3795634" cy="740238"/>
          </a:xfrm>
          <a:prstGeom prst="rect">
            <a:avLst/>
          </a:prstGeom>
        </p:spPr>
      </p:pic>
      <p:pic>
        <p:nvPicPr>
          <p:cNvPr id="6" name="Picture 5" descr="A screenshot of a web page&#10;&#10;AI-generated content may be incorrect.">
            <a:extLst>
              <a:ext uri="{FF2B5EF4-FFF2-40B4-BE49-F238E27FC236}">
                <a16:creationId xmlns:a16="http://schemas.microsoft.com/office/drawing/2014/main" id="{E2E8C1AE-EEB1-97D3-F5F5-D0E5D8355C83}"/>
              </a:ext>
            </a:extLst>
          </p:cNvPr>
          <p:cNvPicPr>
            <a:picLocks noChangeAspect="1"/>
          </p:cNvPicPr>
          <p:nvPr/>
        </p:nvPicPr>
        <p:blipFill>
          <a:blip r:embed="rId4"/>
          <a:stretch>
            <a:fillRect/>
          </a:stretch>
        </p:blipFill>
        <p:spPr>
          <a:xfrm>
            <a:off x="704573" y="2028753"/>
            <a:ext cx="10782854" cy="2800494"/>
          </a:xfrm>
          <a:prstGeom prst="rect">
            <a:avLst/>
          </a:prstGeom>
        </p:spPr>
      </p:pic>
    </p:spTree>
    <p:extLst>
      <p:ext uri="{BB962C8B-B14F-4D97-AF65-F5344CB8AC3E}">
        <p14:creationId xmlns:p14="http://schemas.microsoft.com/office/powerpoint/2010/main" val="1671380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4</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4762213" y="10514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638332" y="3566830"/>
            <a:ext cx="10994966" cy="2246314"/>
            <a:chOff x="0" y="1991651"/>
            <a:chExt cx="5239339" cy="224631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0639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endParaRPr lang="en-US" sz="3600" dirty="0"/>
            </a:p>
            <a:p>
              <a:pPr algn="ctr"/>
              <a:r>
                <a:rPr lang="en-US" sz="3600" dirty="0"/>
                <a:t>How can represent  binary tree with the help of array and linked list ?</a:t>
              </a:r>
            </a:p>
          </p:txBody>
        </p:sp>
      </p:grpSp>
    </p:spTree>
    <p:extLst>
      <p:ext uri="{BB962C8B-B14F-4D97-AF65-F5344CB8AC3E}">
        <p14:creationId xmlns:p14="http://schemas.microsoft.com/office/powerpoint/2010/main" val="278236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590906B-7B28-4168-875C-2821760FE6B8}"/>
              </a:ext>
            </a:extLst>
          </p:cNvPr>
          <p:cNvSpPr>
            <a:spLocks noGrp="1"/>
          </p:cNvSpPr>
          <p:nvPr>
            <p:ph type="title"/>
          </p:nvPr>
        </p:nvSpPr>
        <p:spPr>
          <a:xfrm>
            <a:off x="3890330" y="483460"/>
            <a:ext cx="5017695" cy="1136052"/>
          </a:xfrm>
        </p:spPr>
        <p:txBody>
          <a:bodyPr>
            <a:normAutofit/>
          </a:bodyPr>
          <a:lstStyle/>
          <a:p>
            <a:r>
              <a:rPr lang="en-IN" sz="3600" dirty="0">
                <a:latin typeface="Tahoma" panose="020B0604030504040204" pitchFamily="34" charset="0"/>
                <a:ea typeface="Tahoma" panose="020B0604030504040204" pitchFamily="34" charset="0"/>
                <a:cs typeface="Tahoma" panose="020B0604030504040204" pitchFamily="34" charset="0"/>
              </a:rPr>
              <a:t>Learning Outcomes</a:t>
            </a:r>
          </a:p>
        </p:txBody>
      </p:sp>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5</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435255"/>
            <a:ext cx="10820400" cy="4351338"/>
          </a:xfrm>
        </p:spPr>
        <p:txBody>
          <a:bodyPr/>
          <a:lstStyle/>
          <a:p>
            <a:pPr marL="0" indent="0" algn="just">
              <a:buNone/>
            </a:pPr>
            <a:r>
              <a:rPr lang="en-US" sz="3200" b="1" u="sng" dirty="0">
                <a:latin typeface="Tahoma" panose="020B0604030504040204" pitchFamily="34" charset="0"/>
                <a:ea typeface="Tahoma" panose="020B0604030504040204" pitchFamily="34" charset="0"/>
                <a:cs typeface="Tahoma" panose="020B0604030504040204" pitchFamily="34" charset="0"/>
              </a:rPr>
              <a:t>By the end of this session, You will be able to:</a:t>
            </a: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3693652706"/>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4380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727756" y="1219889"/>
            <a:ext cx="10468176" cy="6063198"/>
          </a:xfrm>
          <a:prstGeom prst="rect">
            <a:avLst/>
          </a:prstGeom>
          <a:noFill/>
        </p:spPr>
        <p:txBody>
          <a:bodyPr wrap="square">
            <a:spAutoFit/>
          </a:bodyPr>
          <a:lstStyle/>
          <a:p>
            <a:pPr algn="ctr"/>
            <a:r>
              <a:rPr lang="en-US" sz="4000" b="1" dirty="0"/>
              <a:t>Session Outline</a:t>
            </a:r>
          </a:p>
          <a:p>
            <a:pPr algn="ctr"/>
            <a:endParaRPr lang="en-US" sz="2800" dirty="0"/>
          </a:p>
          <a:p>
            <a:pPr marL="571500" indent="-571500">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Binary Tree Basics</a:t>
            </a:r>
          </a:p>
          <a:p>
            <a:pPr marL="571500" indent="-571500">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Array Representation</a:t>
            </a:r>
          </a:p>
          <a:p>
            <a:pPr marL="571500" indent="-571500">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Linked List Representation</a:t>
            </a:r>
          </a:p>
          <a:p>
            <a:pPr marL="571500" indent="-571500">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Strict Binary Tree</a:t>
            </a:r>
          </a:p>
          <a:p>
            <a:pPr marL="571500" indent="-571500">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Complete Binary Tree</a:t>
            </a:r>
          </a:p>
          <a:p>
            <a:pPr marL="571500" indent="-571500">
              <a:buFont typeface="Arial" panose="020B0604020202020204" pitchFamily="34" charset="0"/>
              <a:buChar char="•"/>
            </a:pPr>
            <a:endParaRPr lang="en-US" sz="4400" dirty="0">
              <a:latin typeface="Times New Roman" panose="02020603050405020304" pitchFamily="18" charset="0"/>
              <a:cs typeface="Times New Roman" panose="02020603050405020304" pitchFamily="18" charset="0"/>
            </a:endParaRPr>
          </a:p>
          <a:p>
            <a:pPr algn="ctr"/>
            <a:endParaRPr lang="en-US" sz="2800" dirty="0"/>
          </a:p>
          <a:p>
            <a:pPr marL="342900" indent="-342900">
              <a:buFont typeface="Arial" pitchFamily="34" charset="0"/>
              <a:buChar char="•"/>
            </a:pPr>
            <a:endParaRPr lang="en-US" sz="2800"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Tree>
    <p:extLst>
      <p:ext uri="{BB962C8B-B14F-4D97-AF65-F5344CB8AC3E}">
        <p14:creationId xmlns:p14="http://schemas.microsoft.com/office/powerpoint/2010/main" val="3560614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7</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[5-mins]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2002748" y="12800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3" name="Rectangle 12" descr="Puzzle Pieces"/>
          <p:cNvSpPr/>
          <p:nvPr/>
        </p:nvSpPr>
        <p:spPr>
          <a:xfrm>
            <a:off x="7663508" y="1256657"/>
            <a:ext cx="2793098" cy="2135471"/>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104932" y="3581578"/>
            <a:ext cx="6015649" cy="2246314"/>
            <a:chOff x="0" y="1991651"/>
            <a:chExt cx="5239339" cy="224631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0639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endParaRPr lang="en-US" sz="320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17" name="Group 16"/>
          <p:cNvGrpSpPr/>
          <p:nvPr/>
        </p:nvGrpSpPr>
        <p:grpSpPr>
          <a:xfrm>
            <a:off x="6415549" y="3581578"/>
            <a:ext cx="5217750" cy="2231566"/>
            <a:chOff x="5758250" y="2062546"/>
            <a:chExt cx="4320000" cy="1753990"/>
          </a:xfrm>
        </p:grpSpPr>
        <p:sp>
          <p:nvSpPr>
            <p:cNvPr id="18" name="Rectangle 17"/>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sp>
        <p:sp>
          <p:nvSpPr>
            <p:cNvPr id="19" name="Rectangle 18"/>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spcFirstLastPara="0" vert="horz" wrap="square" lIns="0" tIns="0" rIns="0" bIns="0" numCol="1" spcCol="1270" anchor="t" anchorCtr="0">
              <a:noAutofit/>
            </a:bodyPr>
            <a:lstStyle/>
            <a:p>
              <a:pPr algn="ctr" defTabSz="1333500">
                <a:spcBef>
                  <a:spcPct val="0"/>
                </a:spcBef>
                <a:spcAft>
                  <a:spcPct val="35000"/>
                </a:spcAft>
              </a:pPr>
              <a:endParaRPr lang="en-US" sz="3200" dirty="0"/>
            </a:p>
          </p:txBody>
        </p:sp>
      </p:grpSp>
      <p:sp>
        <p:nvSpPr>
          <p:cNvPr id="20" name="TextBox 19"/>
          <p:cNvSpPr txBox="1"/>
          <p:nvPr/>
        </p:nvSpPr>
        <p:spPr>
          <a:xfrm>
            <a:off x="3761668" y="760220"/>
            <a:ext cx="6680173" cy="584775"/>
          </a:xfrm>
          <a:prstGeom prst="rect">
            <a:avLst/>
          </a:prstGeom>
          <a:noFill/>
        </p:spPr>
        <p:txBody>
          <a:bodyPr wrap="square" rtlCol="0">
            <a:spAutoFit/>
          </a:bodyPr>
          <a:lstStyle/>
          <a:p>
            <a:r>
              <a:rPr lang="en-US" sz="3200" b="1" dirty="0"/>
              <a:t>Activity-1 (Think – Pair – Share)</a:t>
            </a:r>
          </a:p>
        </p:txBody>
      </p:sp>
      <p:sp>
        <p:nvSpPr>
          <p:cNvPr id="3" name="Rectangle 2"/>
          <p:cNvSpPr/>
          <p:nvPr/>
        </p:nvSpPr>
        <p:spPr>
          <a:xfrm>
            <a:off x="6522475" y="3771900"/>
            <a:ext cx="5003898" cy="584775"/>
          </a:xfrm>
          <a:prstGeom prst="rect">
            <a:avLst/>
          </a:prstGeom>
        </p:spPr>
        <p:txBody>
          <a:bodyPr wrap="square">
            <a:spAutoFit/>
          </a:bodyPr>
          <a:lstStyle/>
          <a:p>
            <a:pPr algn="ctr"/>
            <a:endParaRPr lang="en-US" sz="3200" b="1" dirty="0">
              <a:solidFill>
                <a:schemeClr val="bg1"/>
              </a:solidFill>
            </a:endParaRPr>
          </a:p>
        </p:txBody>
      </p:sp>
      <p:sp>
        <p:nvSpPr>
          <p:cNvPr id="5" name="Rectangle 4"/>
          <p:cNvSpPr/>
          <p:nvPr/>
        </p:nvSpPr>
        <p:spPr>
          <a:xfrm>
            <a:off x="167962" y="4031012"/>
            <a:ext cx="6270172" cy="923330"/>
          </a:xfrm>
          <a:prstGeom prst="rect">
            <a:avLst/>
          </a:prstGeom>
        </p:spPr>
        <p:txBody>
          <a:bodyPr wrap="square">
            <a:spAutoFit/>
          </a:bodyPr>
          <a:lstStyle/>
          <a:p>
            <a:r>
              <a:rPr lang="en-US" dirty="0"/>
              <a:t>Why do we need different representations (array vs linked list) for binary trees? Which one would you prefer for sparse trees and why?</a:t>
            </a:r>
          </a:p>
        </p:txBody>
      </p:sp>
      <p:sp>
        <p:nvSpPr>
          <p:cNvPr id="8" name="Rectangle 7"/>
          <p:cNvSpPr/>
          <p:nvPr/>
        </p:nvSpPr>
        <p:spPr>
          <a:xfrm rot="10800000" flipV="1">
            <a:off x="6662057" y="3960837"/>
            <a:ext cx="4864315" cy="646331"/>
          </a:xfrm>
          <a:prstGeom prst="rect">
            <a:avLst/>
          </a:prstGeom>
        </p:spPr>
        <p:txBody>
          <a:bodyPr wrap="square">
            <a:spAutoFit/>
          </a:bodyPr>
          <a:lstStyle/>
          <a:p>
            <a:r>
              <a:rPr lang="en-US" dirty="0"/>
              <a:t>Differentiate between Strict and Complete Binary Trees.</a:t>
            </a:r>
          </a:p>
        </p:txBody>
      </p:sp>
    </p:spTree>
    <p:extLst>
      <p:ext uri="{BB962C8B-B14F-4D97-AF65-F5344CB8AC3E}">
        <p14:creationId xmlns:p14="http://schemas.microsoft.com/office/powerpoint/2010/main" val="2461999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8</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065690"/>
            <a:ext cx="10795098" cy="369332"/>
          </a:xfrm>
          <a:prstGeom prst="rect">
            <a:avLst/>
          </a:prstGeom>
          <a:noFill/>
        </p:spPr>
        <p:txBody>
          <a:bodyPr wrap="square">
            <a:spAutoFit/>
          </a:bodyPr>
          <a:lstStyle/>
          <a:p>
            <a:r>
              <a:rPr lang="en-IN" dirty="0"/>
              <a:t>    </a:t>
            </a:r>
            <a:endParaRPr lang="en-US" sz="2800" dirty="0"/>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653143" y="1250357"/>
            <a:ext cx="10980155" cy="4585871"/>
          </a:xfrm>
          <a:prstGeom prst="rect">
            <a:avLst/>
          </a:prstGeom>
          <a:noFill/>
        </p:spPr>
        <p:txBody>
          <a:bodyPr wrap="square" rtlCol="0">
            <a:spAutoFit/>
          </a:bodyPr>
          <a:lstStyle/>
          <a:p>
            <a:r>
              <a:rPr lang="en-US" sz="3600" b="1" dirty="0"/>
              <a:t>Binary tree</a:t>
            </a:r>
            <a:r>
              <a:rPr lang="en-US" sz="3600" dirty="0"/>
              <a:t> is a </a:t>
            </a:r>
            <a:r>
              <a:rPr lang="en-US" sz="3600" b="1" dirty="0"/>
              <a:t>tree data structure (non-linear) </a:t>
            </a:r>
            <a:r>
              <a:rPr lang="en-US" sz="3600" dirty="0"/>
              <a:t>in which each node can have at most two children which are referred to as the </a:t>
            </a:r>
            <a:r>
              <a:rPr lang="en-US" sz="3600" b="1" dirty="0"/>
              <a:t>left </a:t>
            </a:r>
            <a:r>
              <a:rPr lang="en-US" sz="3600" dirty="0"/>
              <a:t>child and </a:t>
            </a:r>
            <a:r>
              <a:rPr lang="en-US" sz="4000" dirty="0"/>
              <a:t>the</a:t>
            </a:r>
            <a:r>
              <a:rPr lang="en-US" sz="3600" dirty="0"/>
              <a:t> </a:t>
            </a:r>
            <a:r>
              <a:rPr lang="en-US" sz="3600" b="1" dirty="0"/>
              <a:t>right </a:t>
            </a:r>
            <a:r>
              <a:rPr lang="en-US" sz="3600" dirty="0"/>
              <a:t>child. The topmost node in a binary tree is called the </a:t>
            </a:r>
            <a:r>
              <a:rPr lang="en-US" sz="3600" b="1" dirty="0"/>
              <a:t>root</a:t>
            </a:r>
            <a:r>
              <a:rPr lang="en-US" sz="3600" dirty="0"/>
              <a:t>, and the bottom-most nodes are called </a:t>
            </a:r>
            <a:r>
              <a:rPr lang="en-US" sz="3600" b="1" dirty="0"/>
              <a:t>leaves</a:t>
            </a:r>
            <a:r>
              <a:rPr lang="en-US" sz="3600" dirty="0"/>
              <a:t>. A binary tree can be visualized as a hierarchical structure with the root at the top and the leaves at the bottom.</a:t>
            </a:r>
          </a:p>
        </p:txBody>
      </p:sp>
    </p:spTree>
    <p:extLst>
      <p:ext uri="{BB962C8B-B14F-4D97-AF65-F5344CB8AC3E}">
        <p14:creationId xmlns:p14="http://schemas.microsoft.com/office/powerpoint/2010/main" val="3872618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9</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065690"/>
            <a:ext cx="10795098" cy="369332"/>
          </a:xfrm>
          <a:prstGeom prst="rect">
            <a:avLst/>
          </a:prstGeom>
          <a:noFill/>
        </p:spPr>
        <p:txBody>
          <a:bodyPr wrap="square">
            <a:spAutoFit/>
          </a:bodyPr>
          <a:lstStyle/>
          <a:p>
            <a:r>
              <a:rPr lang="en-IN" dirty="0"/>
              <a:t>    </a:t>
            </a:r>
            <a:endParaRPr lang="en-US" sz="2800" dirty="0"/>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578499" y="1065691"/>
            <a:ext cx="10450286" cy="523220"/>
          </a:xfrm>
          <a:prstGeom prst="rect">
            <a:avLst/>
          </a:prstGeom>
          <a:noFill/>
        </p:spPr>
        <p:txBody>
          <a:bodyPr wrap="square" rtlCol="0">
            <a:spAutoFit/>
          </a:bodyPr>
          <a:lstStyle/>
          <a:p>
            <a:r>
              <a:rPr lang="en-US" sz="2800" dirty="0"/>
              <a:t> </a:t>
            </a:r>
            <a:endParaRPr lang="en-US" sz="3200" b="1" dirty="0"/>
          </a:p>
        </p:txBody>
      </p:sp>
      <p:graphicFrame>
        <p:nvGraphicFramePr>
          <p:cNvPr id="2" name="Table 1"/>
          <p:cNvGraphicFramePr>
            <a:graphicFrameLocks noGrp="1"/>
          </p:cNvGraphicFramePr>
          <p:nvPr>
            <p:extLst>
              <p:ext uri="{D42A27DB-BD31-4B8C-83A1-F6EECF244321}">
                <p14:modId xmlns:p14="http://schemas.microsoft.com/office/powerpoint/2010/main" val="83389937"/>
              </p:ext>
            </p:extLst>
          </p:nvPr>
        </p:nvGraphicFramePr>
        <p:xfrm>
          <a:off x="2032000" y="1324946"/>
          <a:ext cx="8128000" cy="91440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0000"/>
                    </a:ext>
                  </a:extLst>
                </a:gridCol>
              </a:tblGrid>
              <a:tr h="7464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600" b="1" i="0" kern="1200" dirty="0">
                          <a:solidFill>
                            <a:schemeClr val="lt1"/>
                          </a:solidFill>
                          <a:effectLst/>
                          <a:latin typeface="+mn-lt"/>
                          <a:ea typeface="+mn-ea"/>
                          <a:cs typeface="+mn-cs"/>
                        </a:rPr>
                        <a:t>Representation of Binary Trees</a:t>
                      </a:r>
                    </a:p>
                    <a:p>
                      <a:endParaRPr lang="en-US" dirty="0"/>
                    </a:p>
                  </a:txBody>
                  <a:tcPr/>
                </a:tc>
                <a:extLst>
                  <a:ext uri="{0D108BD9-81ED-4DB2-BD59-A6C34878D82A}">
                    <a16:rowId xmlns:a16="http://schemas.microsoft.com/office/drawing/2014/main" val="10000"/>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085994153"/>
              </p:ext>
            </p:extLst>
          </p:nvPr>
        </p:nvGraphicFramePr>
        <p:xfrm>
          <a:off x="838201" y="3191069"/>
          <a:ext cx="10795098" cy="2220686"/>
        </p:xfrm>
        <a:graphic>
          <a:graphicData uri="http://schemas.openxmlformats.org/drawingml/2006/table">
            <a:tbl>
              <a:tblPr/>
              <a:tblGrid>
                <a:gridCol w="10795098">
                  <a:extLst>
                    <a:ext uri="{9D8B030D-6E8A-4147-A177-3AD203B41FA5}">
                      <a16:colId xmlns:a16="http://schemas.microsoft.com/office/drawing/2014/main" val="20000"/>
                    </a:ext>
                  </a:extLst>
                </a:gridCol>
              </a:tblGrid>
              <a:tr h="2220686">
                <a:tc>
                  <a:txBody>
                    <a:bodyPr/>
                    <a:lstStyle/>
                    <a:p>
                      <a:pPr fontAlgn="base"/>
                      <a:r>
                        <a:rPr lang="en-US" sz="4800" b="1" i="0" kern="1200" dirty="0">
                          <a:solidFill>
                            <a:schemeClr val="tx1"/>
                          </a:solidFill>
                          <a:effectLst/>
                          <a:latin typeface="+mn-lt"/>
                          <a:ea typeface="+mn-ea"/>
                          <a:cs typeface="+mn-cs"/>
                        </a:rPr>
                        <a:t>1) Linked Node Representation</a:t>
                      </a:r>
                    </a:p>
                    <a:p>
                      <a:pPr fontAlgn="base"/>
                      <a:r>
                        <a:rPr lang="en-US" sz="4800" b="1" i="0" kern="1200" dirty="0">
                          <a:solidFill>
                            <a:schemeClr val="tx1"/>
                          </a:solidFill>
                          <a:effectLst/>
                          <a:latin typeface="+mn-lt"/>
                          <a:ea typeface="+mn-ea"/>
                          <a:cs typeface="+mn-cs"/>
                        </a:rPr>
                        <a:t>2) Array Representation</a:t>
                      </a:r>
                    </a:p>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22007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10</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065690"/>
            <a:ext cx="10795098" cy="369332"/>
          </a:xfrm>
          <a:prstGeom prst="rect">
            <a:avLst/>
          </a:prstGeom>
          <a:noFill/>
        </p:spPr>
        <p:txBody>
          <a:bodyPr wrap="square">
            <a:spAutoFit/>
          </a:bodyPr>
          <a:lstStyle/>
          <a:p>
            <a:r>
              <a:rPr lang="en-IN" dirty="0"/>
              <a:t>    </a:t>
            </a:r>
            <a:endParaRPr lang="en-US" sz="2800" dirty="0"/>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1098525" y="2052735"/>
            <a:ext cx="9797143" cy="523220"/>
          </a:xfrm>
          <a:prstGeom prst="rect">
            <a:avLst/>
          </a:prstGeom>
          <a:noFill/>
        </p:spPr>
        <p:txBody>
          <a:bodyPr wrap="square" rtlCol="0">
            <a:spAutoFit/>
          </a:bodyPr>
          <a:lstStyle/>
          <a:p>
            <a:r>
              <a:rPr lang="en-US" sz="2800" dirty="0"/>
              <a:t> </a:t>
            </a:r>
            <a:endParaRPr lang="en-US" sz="3600" b="1" dirty="0"/>
          </a:p>
        </p:txBody>
      </p:sp>
      <p:graphicFrame>
        <p:nvGraphicFramePr>
          <p:cNvPr id="2" name="Table 1"/>
          <p:cNvGraphicFramePr>
            <a:graphicFrameLocks noGrp="1"/>
          </p:cNvGraphicFramePr>
          <p:nvPr>
            <p:extLst>
              <p:ext uri="{D42A27DB-BD31-4B8C-83A1-F6EECF244321}">
                <p14:modId xmlns:p14="http://schemas.microsoft.com/office/powerpoint/2010/main" val="4152637894"/>
              </p:ext>
            </p:extLst>
          </p:nvPr>
        </p:nvGraphicFramePr>
        <p:xfrm>
          <a:off x="104931" y="956040"/>
          <a:ext cx="12086764" cy="5882640"/>
        </p:xfrm>
        <a:graphic>
          <a:graphicData uri="http://schemas.openxmlformats.org/drawingml/2006/table">
            <a:tbl>
              <a:tblPr firstRow="1" bandRow="1">
                <a:tableStyleId>{5C22544A-7EE6-4342-B048-85BDC9FD1C3A}</a:tableStyleId>
              </a:tblPr>
              <a:tblGrid>
                <a:gridCol w="6043382">
                  <a:extLst>
                    <a:ext uri="{9D8B030D-6E8A-4147-A177-3AD203B41FA5}">
                      <a16:colId xmlns:a16="http://schemas.microsoft.com/office/drawing/2014/main" val="20000"/>
                    </a:ext>
                  </a:extLst>
                </a:gridCol>
                <a:gridCol w="6043382">
                  <a:extLst>
                    <a:ext uri="{9D8B030D-6E8A-4147-A177-3AD203B41FA5}">
                      <a16:colId xmlns:a16="http://schemas.microsoft.com/office/drawing/2014/main" val="20001"/>
                    </a:ext>
                  </a:extLst>
                </a:gridCol>
              </a:tblGrid>
              <a:tr h="5706875">
                <a:tc>
                  <a:txBody>
                    <a:bodyPr/>
                    <a:lstStyle/>
                    <a:p>
                      <a:pPr fontAlgn="base"/>
                      <a:r>
                        <a:rPr lang="en-US" sz="2400" b="1" i="0" kern="1200" dirty="0">
                          <a:solidFill>
                            <a:schemeClr val="lt1"/>
                          </a:solidFill>
                          <a:effectLst/>
                          <a:latin typeface="+mn-lt"/>
                          <a:ea typeface="+mn-ea"/>
                          <a:cs typeface="+mn-cs"/>
                        </a:rPr>
                        <a:t>1. Linked Node Representation</a:t>
                      </a:r>
                    </a:p>
                    <a:p>
                      <a:pPr rtl="0" fontAlgn="base"/>
                      <a:r>
                        <a:rPr lang="en-US" sz="2400" b="0" i="0" kern="1200" dirty="0">
                          <a:solidFill>
                            <a:schemeClr val="lt1"/>
                          </a:solidFill>
                          <a:effectLst/>
                          <a:latin typeface="+mn-lt"/>
                          <a:ea typeface="+mn-ea"/>
                          <a:cs typeface="+mn-cs"/>
                        </a:rPr>
                        <a:t>This is the simplest way to represent a binary tree. Each node contains </a:t>
                      </a:r>
                      <a:r>
                        <a:rPr lang="en-US" sz="2400" b="1" i="0" kern="1200" dirty="0">
                          <a:solidFill>
                            <a:schemeClr val="lt1"/>
                          </a:solidFill>
                          <a:effectLst/>
                          <a:latin typeface="+mn-lt"/>
                          <a:ea typeface="+mn-ea"/>
                          <a:cs typeface="+mn-cs"/>
                        </a:rPr>
                        <a:t>data </a:t>
                      </a:r>
                      <a:r>
                        <a:rPr lang="en-US" sz="2400" b="0" i="0" kern="1200" dirty="0">
                          <a:solidFill>
                            <a:schemeClr val="lt1"/>
                          </a:solidFill>
                          <a:effectLst/>
                          <a:latin typeface="+mn-lt"/>
                          <a:ea typeface="+mn-ea"/>
                          <a:cs typeface="+mn-cs"/>
                        </a:rPr>
                        <a:t>and pointers to its </a:t>
                      </a:r>
                      <a:r>
                        <a:rPr lang="en-US" sz="2400" b="1" i="0" kern="1200" dirty="0">
                          <a:solidFill>
                            <a:schemeClr val="lt1"/>
                          </a:solidFill>
                          <a:effectLst/>
                          <a:latin typeface="+mn-lt"/>
                          <a:ea typeface="+mn-ea"/>
                          <a:cs typeface="+mn-cs"/>
                        </a:rPr>
                        <a:t>left </a:t>
                      </a:r>
                      <a:r>
                        <a:rPr lang="en-US" sz="2400" b="0" i="0" kern="1200" dirty="0">
                          <a:solidFill>
                            <a:schemeClr val="lt1"/>
                          </a:solidFill>
                          <a:effectLst/>
                          <a:latin typeface="+mn-lt"/>
                          <a:ea typeface="+mn-ea"/>
                          <a:cs typeface="+mn-cs"/>
                        </a:rPr>
                        <a:t>and </a:t>
                      </a:r>
                      <a:r>
                        <a:rPr lang="en-US" sz="2400" b="1" i="0" kern="1200" dirty="0">
                          <a:solidFill>
                            <a:schemeClr val="lt1"/>
                          </a:solidFill>
                          <a:effectLst/>
                          <a:latin typeface="+mn-lt"/>
                          <a:ea typeface="+mn-ea"/>
                          <a:cs typeface="+mn-cs"/>
                        </a:rPr>
                        <a:t>right </a:t>
                      </a:r>
                      <a:r>
                        <a:rPr lang="en-US" sz="2400" b="0" i="0" kern="1200" dirty="0">
                          <a:solidFill>
                            <a:schemeClr val="lt1"/>
                          </a:solidFill>
                          <a:effectLst/>
                          <a:latin typeface="+mn-lt"/>
                          <a:ea typeface="+mn-ea"/>
                          <a:cs typeface="+mn-cs"/>
                        </a:rPr>
                        <a:t>children.</a:t>
                      </a:r>
                    </a:p>
                    <a:p>
                      <a:pPr rtl="0" fontAlgn="base"/>
                      <a:r>
                        <a:rPr lang="en-US" sz="2800" b="1" i="0" kern="1200" dirty="0">
                          <a:solidFill>
                            <a:schemeClr val="lt1"/>
                          </a:solidFill>
                          <a:effectLst/>
                          <a:latin typeface="+mn-lt"/>
                          <a:ea typeface="+mn-ea"/>
                          <a:cs typeface="+mn-cs"/>
                        </a:rPr>
                        <a:t>Advantages:</a:t>
                      </a:r>
                    </a:p>
                    <a:p>
                      <a:pPr fontAlgn="base"/>
                      <a:r>
                        <a:rPr lang="en-US" sz="2400" b="0" i="0" kern="1200" dirty="0">
                          <a:solidFill>
                            <a:schemeClr val="lt1"/>
                          </a:solidFill>
                          <a:effectLst/>
                          <a:latin typeface="+mn-lt"/>
                          <a:ea typeface="+mn-ea"/>
                          <a:cs typeface="+mn-cs"/>
                        </a:rPr>
                        <a:t>1)It can easily grow or shrink as needed, so it uses only the memory it needs.</a:t>
                      </a:r>
                    </a:p>
                    <a:p>
                      <a:pPr fontAlgn="base"/>
                      <a:r>
                        <a:rPr lang="en-US" sz="2400" b="0" i="0" kern="1200" dirty="0">
                          <a:solidFill>
                            <a:schemeClr val="lt1"/>
                          </a:solidFill>
                          <a:effectLst/>
                          <a:latin typeface="+mn-lt"/>
                          <a:ea typeface="+mn-ea"/>
                          <a:cs typeface="+mn-cs"/>
                        </a:rPr>
                        <a:t>2) Only uses memory for the nodes that exist, making it efficient for sparse trees.</a:t>
                      </a:r>
                    </a:p>
                    <a:p>
                      <a:pPr rtl="0" fontAlgn="base"/>
                      <a:r>
                        <a:rPr lang="en-US" sz="2800" b="1" i="0" kern="1200" dirty="0">
                          <a:solidFill>
                            <a:schemeClr val="lt1"/>
                          </a:solidFill>
                          <a:effectLst/>
                          <a:latin typeface="+mn-lt"/>
                          <a:ea typeface="+mn-ea"/>
                          <a:cs typeface="+mn-cs"/>
                        </a:rPr>
                        <a:t>Disadvantages:</a:t>
                      </a:r>
                      <a:endParaRPr lang="en-US" sz="2800" b="0" i="0" kern="1200" dirty="0">
                        <a:solidFill>
                          <a:schemeClr val="lt1"/>
                        </a:solidFill>
                        <a:effectLst/>
                        <a:latin typeface="+mn-lt"/>
                        <a:ea typeface="+mn-ea"/>
                        <a:cs typeface="+mn-cs"/>
                      </a:endParaRPr>
                    </a:p>
                    <a:p>
                      <a:pPr fontAlgn="base"/>
                      <a:r>
                        <a:rPr lang="en-US" sz="2400" b="0" i="0" kern="1200" dirty="0">
                          <a:solidFill>
                            <a:schemeClr val="lt1"/>
                          </a:solidFill>
                          <a:effectLst/>
                          <a:latin typeface="+mn-lt"/>
                          <a:ea typeface="+mn-ea"/>
                          <a:cs typeface="+mn-cs"/>
                        </a:rPr>
                        <a:t>1)Needs extra memory for pointers.</a:t>
                      </a:r>
                    </a:p>
                    <a:p>
                      <a:pPr fontAlgn="base"/>
                      <a:r>
                        <a:rPr lang="en-US" sz="2400" b="0" i="0" kern="1200" dirty="0">
                          <a:solidFill>
                            <a:schemeClr val="lt1"/>
                          </a:solidFill>
                          <a:effectLst/>
                          <a:latin typeface="+mn-lt"/>
                          <a:ea typeface="+mn-ea"/>
                          <a:cs typeface="+mn-cs"/>
                        </a:rPr>
                        <a:t>2) Finding a node can take longer because you have to start from the root and follow pointers.</a:t>
                      </a:r>
                    </a:p>
                    <a:p>
                      <a:pPr rtl="0" fontAlgn="base"/>
                      <a:endParaRPr lang="en-US" sz="1800" b="0" i="0" kern="1200" dirty="0">
                        <a:solidFill>
                          <a:schemeClr val="lt1"/>
                        </a:solidFill>
                        <a:effectLst/>
                        <a:latin typeface="+mn-lt"/>
                        <a:ea typeface="+mn-ea"/>
                        <a:cs typeface="+mn-cs"/>
                      </a:endParaRPr>
                    </a:p>
                    <a:p>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5749" y="1066476"/>
            <a:ext cx="5397549" cy="5651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38233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2C2617-F3D3-DB72-F9BA-0D63EA196D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981D794-83DF-2485-37EB-08AA39E2F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0125E28-5DD4-9D3E-FEDA-7A1B905D46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A1A81A86-B11C-30BD-14B0-355036E251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1F877B39-0000-F5DA-3E3E-CFD52819A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5D3BD95F-7131-9436-E5A7-9EAACAA909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D7290D5A-0C00-4AA1-9112-BCDE7DC2F6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D7782F5B-2C9E-15A9-90AD-0442654D5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59CCD707-AFB2-F98B-8F40-C91AE9B90E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3EBAD5F1-F0CF-A880-A60A-01FBF9BBB790}"/>
              </a:ext>
            </a:extLst>
          </p:cNvPr>
          <p:cNvSpPr>
            <a:spLocks noGrp="1"/>
          </p:cNvSpPr>
          <p:nvPr>
            <p:ph type="sldNum" sz="quarter" idx="12"/>
          </p:nvPr>
        </p:nvSpPr>
        <p:spPr/>
        <p:txBody>
          <a:bodyPr/>
          <a:lstStyle/>
          <a:p>
            <a:fld id="{26510230-8DD5-4BA5-AB2D-CA30FC08F9D7}" type="slidenum">
              <a:rPr lang="en-IN" smtClean="0"/>
              <a:t>11</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93CABA1B-DCE6-923C-062D-2EF83B2ED0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20015444-7029-6B15-BE29-972760972A0B}"/>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a:t>
            </a: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latin typeface="Tahoma" panose="020B0604030504040204" pitchFamily="34" charset="0"/>
                <a:ea typeface="Tahoma" panose="020B0604030504040204" pitchFamily="34" charset="0"/>
                <a:cs typeface="Tahoma" panose="020B0604030504040204" pitchFamily="34" charset="0"/>
              </a:rPr>
              <a:t>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F17E0C1A-55D7-603F-9723-7F169AD03F96}"/>
              </a:ext>
            </a:extLst>
          </p:cNvPr>
          <p:cNvSpPr txBox="1"/>
          <p:nvPr/>
        </p:nvSpPr>
        <p:spPr>
          <a:xfrm>
            <a:off x="838200" y="1065690"/>
            <a:ext cx="10795098" cy="369332"/>
          </a:xfrm>
          <a:prstGeom prst="rect">
            <a:avLst/>
          </a:prstGeom>
          <a:noFill/>
        </p:spPr>
        <p:txBody>
          <a:bodyPr wrap="square">
            <a:spAutoFit/>
          </a:bodyPr>
          <a:lstStyle/>
          <a:p>
            <a:r>
              <a:rPr lang="en-IN" dirty="0"/>
              <a:t>    </a:t>
            </a:r>
            <a:endParaRPr lang="en-US" sz="2800" dirty="0"/>
          </a:p>
        </p:txBody>
      </p:sp>
      <p:pic>
        <p:nvPicPr>
          <p:cNvPr id="17" name="Picture 16">
            <a:extLst>
              <a:ext uri="{FF2B5EF4-FFF2-40B4-BE49-F238E27FC236}">
                <a16:creationId xmlns:a16="http://schemas.microsoft.com/office/drawing/2014/main" id="{93C7D6C9-28A1-8AB9-0AA3-A6003AC026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653142" y="1138346"/>
            <a:ext cx="11290041" cy="738664"/>
          </a:xfrm>
          <a:prstGeom prst="rect">
            <a:avLst/>
          </a:prstGeom>
          <a:noFill/>
        </p:spPr>
        <p:txBody>
          <a:bodyPr wrap="square" rtlCol="0">
            <a:spAutoFit/>
          </a:bodyPr>
          <a:lstStyle/>
          <a:p>
            <a:r>
              <a:rPr lang="en-US" sz="2400" dirty="0"/>
              <a: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895972848"/>
              </p:ext>
            </p:extLst>
          </p:nvPr>
        </p:nvGraphicFramePr>
        <p:xfrm>
          <a:off x="653142" y="1151636"/>
          <a:ext cx="11122091" cy="5195942"/>
        </p:xfrm>
        <a:graphic>
          <a:graphicData uri="http://schemas.openxmlformats.org/drawingml/2006/table">
            <a:tbl>
              <a:tblPr firstRow="1" bandRow="1">
                <a:tableStyleId>{5C22544A-7EE6-4342-B048-85BDC9FD1C3A}</a:tableStyleId>
              </a:tblPr>
              <a:tblGrid>
                <a:gridCol w="4675819">
                  <a:extLst>
                    <a:ext uri="{9D8B030D-6E8A-4147-A177-3AD203B41FA5}">
                      <a16:colId xmlns:a16="http://schemas.microsoft.com/office/drawing/2014/main" val="20000"/>
                    </a:ext>
                  </a:extLst>
                </a:gridCol>
                <a:gridCol w="6446272">
                  <a:extLst>
                    <a:ext uri="{9D8B030D-6E8A-4147-A177-3AD203B41FA5}">
                      <a16:colId xmlns:a16="http://schemas.microsoft.com/office/drawing/2014/main" val="20001"/>
                    </a:ext>
                  </a:extLst>
                </a:gridCol>
              </a:tblGrid>
              <a:tr h="5195942">
                <a:tc>
                  <a:txBody>
                    <a:bodyPr/>
                    <a:lstStyle/>
                    <a:p>
                      <a:r>
                        <a:rPr lang="en-US" sz="3200" b="1" i="0" kern="1200" dirty="0">
                          <a:solidFill>
                            <a:schemeClr val="lt1"/>
                          </a:solidFill>
                          <a:effectLst/>
                          <a:latin typeface="+mn-lt"/>
                          <a:ea typeface="+mn-ea"/>
                          <a:cs typeface="+mn-cs"/>
                        </a:rPr>
                        <a:t>Create/Declare a Node of a Binary Tree:</a:t>
                      </a:r>
                      <a:endParaRPr lang="en-US" sz="3200"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62464" y="1250356"/>
            <a:ext cx="6531429" cy="28834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62464" y="4189328"/>
            <a:ext cx="6531429" cy="21928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7636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2C2617-F3D3-DB72-F9BA-0D63EA196D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981D794-83DF-2485-37EB-08AA39E2F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0125E28-5DD4-9D3E-FEDA-7A1B905D46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A1A81A86-B11C-30BD-14B0-355036E251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1F877B39-0000-F5DA-3E3E-CFD52819A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5D3BD95F-7131-9436-E5A7-9EAACAA909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D7290D5A-0C00-4AA1-9112-BCDE7DC2F6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D7782F5B-2C9E-15A9-90AD-0442654D5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59CCD707-AFB2-F98B-8F40-C91AE9B90E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3EBAD5F1-F0CF-A880-A60A-01FBF9BBB790}"/>
              </a:ext>
            </a:extLst>
          </p:cNvPr>
          <p:cNvSpPr>
            <a:spLocks noGrp="1"/>
          </p:cNvSpPr>
          <p:nvPr>
            <p:ph type="sldNum" sz="quarter" idx="12"/>
          </p:nvPr>
        </p:nvSpPr>
        <p:spPr/>
        <p:txBody>
          <a:bodyPr/>
          <a:lstStyle/>
          <a:p>
            <a:fld id="{26510230-8DD5-4BA5-AB2D-CA30FC08F9D7}" type="slidenum">
              <a:rPr lang="en-IN" smtClean="0"/>
              <a:t>12</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93CABA1B-DCE6-923C-062D-2EF83B2ED0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20015444-7029-6B15-BE29-972760972A0B}"/>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a:t>
            </a: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latin typeface="Tahoma" panose="020B0604030504040204" pitchFamily="34" charset="0"/>
                <a:ea typeface="Tahoma" panose="020B0604030504040204" pitchFamily="34" charset="0"/>
                <a:cs typeface="Tahoma" panose="020B0604030504040204" pitchFamily="34" charset="0"/>
              </a:rPr>
              <a:t>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F17E0C1A-55D7-603F-9723-7F169AD03F96}"/>
              </a:ext>
            </a:extLst>
          </p:cNvPr>
          <p:cNvSpPr txBox="1"/>
          <p:nvPr/>
        </p:nvSpPr>
        <p:spPr>
          <a:xfrm>
            <a:off x="838200" y="1065690"/>
            <a:ext cx="10795098" cy="369332"/>
          </a:xfrm>
          <a:prstGeom prst="rect">
            <a:avLst/>
          </a:prstGeom>
          <a:noFill/>
        </p:spPr>
        <p:txBody>
          <a:bodyPr wrap="square">
            <a:spAutoFit/>
          </a:bodyPr>
          <a:lstStyle/>
          <a:p>
            <a:r>
              <a:rPr lang="en-IN" dirty="0"/>
              <a:t>    </a:t>
            </a:r>
            <a:endParaRPr lang="en-US" sz="2800" dirty="0"/>
          </a:p>
        </p:txBody>
      </p:sp>
      <p:pic>
        <p:nvPicPr>
          <p:cNvPr id="17" name="Picture 16">
            <a:extLst>
              <a:ext uri="{FF2B5EF4-FFF2-40B4-BE49-F238E27FC236}">
                <a16:creationId xmlns:a16="http://schemas.microsoft.com/office/drawing/2014/main" id="{93C7D6C9-28A1-8AB9-0AA3-A6003AC026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3084221761"/>
              </p:ext>
            </p:extLst>
          </p:nvPr>
        </p:nvGraphicFramePr>
        <p:xfrm>
          <a:off x="104933" y="1065689"/>
          <a:ext cx="12086762" cy="6949440"/>
        </p:xfrm>
        <a:graphic>
          <a:graphicData uri="http://schemas.openxmlformats.org/drawingml/2006/table">
            <a:tbl>
              <a:tblPr firstRow="1" bandRow="1">
                <a:tableStyleId>{5C22544A-7EE6-4342-B048-85BDC9FD1C3A}</a:tableStyleId>
              </a:tblPr>
              <a:tblGrid>
                <a:gridCol w="5802879">
                  <a:extLst>
                    <a:ext uri="{9D8B030D-6E8A-4147-A177-3AD203B41FA5}">
                      <a16:colId xmlns:a16="http://schemas.microsoft.com/office/drawing/2014/main" val="20000"/>
                    </a:ext>
                  </a:extLst>
                </a:gridCol>
                <a:gridCol w="6283883">
                  <a:extLst>
                    <a:ext uri="{9D8B030D-6E8A-4147-A177-3AD203B41FA5}">
                      <a16:colId xmlns:a16="http://schemas.microsoft.com/office/drawing/2014/main" val="20001"/>
                    </a:ext>
                  </a:extLst>
                </a:gridCol>
              </a:tblGrid>
              <a:tr h="53537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3200" b="1" i="0" kern="1200" dirty="0">
                          <a:solidFill>
                            <a:schemeClr val="lt1"/>
                          </a:solidFill>
                          <a:effectLst/>
                          <a:latin typeface="+mn-lt"/>
                          <a:ea typeface="+mn-ea"/>
                          <a:cs typeface="+mn-cs"/>
                        </a:rPr>
                        <a:t>Array Representation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3200" b="1" i="0" kern="1200" dirty="0">
                        <a:solidFill>
                          <a:schemeClr val="lt1"/>
                        </a:solidFill>
                        <a:effectLst/>
                        <a:latin typeface="+mn-lt"/>
                        <a:ea typeface="+mn-ea"/>
                        <a:cs typeface="+mn-cs"/>
                      </a:endParaRPr>
                    </a:p>
                    <a:p>
                      <a:pPr rtl="0" fontAlgn="base"/>
                      <a:r>
                        <a:rPr lang="en-US" sz="2800" b="0" i="0" kern="1200" dirty="0">
                          <a:solidFill>
                            <a:schemeClr val="lt1"/>
                          </a:solidFill>
                          <a:effectLst/>
                          <a:latin typeface="+mn-lt"/>
                          <a:ea typeface="+mn-ea"/>
                          <a:cs typeface="+mn-cs"/>
                        </a:rPr>
                        <a:t>Array Representation is another way to represent binary trees, especially useful when the tree is complete (all levels are fully filled except possibly the last, which is filled from left to right). In this method:</a:t>
                      </a:r>
                    </a:p>
                    <a:p>
                      <a:pPr fontAlgn="base"/>
                      <a:r>
                        <a:rPr lang="en-US" sz="2800" b="0" i="0" kern="1200" dirty="0">
                          <a:solidFill>
                            <a:schemeClr val="lt1"/>
                          </a:solidFill>
                          <a:effectLst/>
                          <a:latin typeface="+mn-lt"/>
                          <a:ea typeface="+mn-ea"/>
                          <a:cs typeface="+mn-cs"/>
                        </a:rPr>
                        <a:t>The tree is stored in an array.</a:t>
                      </a:r>
                    </a:p>
                    <a:p>
                      <a:pPr fontAlgn="base"/>
                      <a:r>
                        <a:rPr lang="en-US" sz="2800" b="0" i="0" kern="1200" dirty="0">
                          <a:solidFill>
                            <a:schemeClr val="lt1"/>
                          </a:solidFill>
                          <a:effectLst/>
                          <a:latin typeface="+mn-lt"/>
                          <a:ea typeface="+mn-ea"/>
                          <a:cs typeface="+mn-cs"/>
                        </a:rPr>
                        <a:t>For any node at index </a:t>
                      </a:r>
                      <a:r>
                        <a:rPr lang="en-US" sz="2800" b="1" i="0" kern="1200" dirty="0">
                          <a:solidFill>
                            <a:schemeClr val="lt1"/>
                          </a:solidFill>
                          <a:effectLst/>
                          <a:latin typeface="+mn-lt"/>
                          <a:ea typeface="+mn-ea"/>
                          <a:cs typeface="+mn-cs"/>
                        </a:rPr>
                        <a:t>i</a:t>
                      </a:r>
                      <a:r>
                        <a:rPr lang="en-US" sz="2800" b="0" i="0" kern="1200" dirty="0">
                          <a:solidFill>
                            <a:schemeClr val="lt1"/>
                          </a:solidFill>
                          <a:effectLst/>
                          <a:latin typeface="+mn-lt"/>
                          <a:ea typeface="+mn-ea"/>
                          <a:cs typeface="+mn-cs"/>
                        </a:rPr>
                        <a:t>:</a:t>
                      </a:r>
                    </a:p>
                    <a:p>
                      <a:pPr lvl="1" fontAlgn="base"/>
                      <a:r>
                        <a:rPr lang="en-US" sz="2800" b="0" i="0" kern="1200" dirty="0">
                          <a:solidFill>
                            <a:schemeClr val="lt1"/>
                          </a:solidFill>
                          <a:effectLst/>
                          <a:latin typeface="+mn-lt"/>
                          <a:ea typeface="+mn-ea"/>
                          <a:cs typeface="+mn-cs"/>
                        </a:rPr>
                        <a:t>Left Child: Located at </a:t>
                      </a:r>
                      <a:r>
                        <a:rPr lang="en-US" sz="2800" b="1" i="0" kern="1200" dirty="0">
                          <a:solidFill>
                            <a:schemeClr val="lt1"/>
                          </a:solidFill>
                          <a:effectLst/>
                          <a:latin typeface="+mn-lt"/>
                          <a:ea typeface="+mn-ea"/>
                          <a:cs typeface="+mn-cs"/>
                        </a:rPr>
                        <a:t>2 * </a:t>
                      </a:r>
                      <a:r>
                        <a:rPr lang="en-US" sz="2800" b="1" i="0" kern="1200" dirty="0" err="1">
                          <a:solidFill>
                            <a:schemeClr val="lt1"/>
                          </a:solidFill>
                          <a:effectLst/>
                          <a:latin typeface="+mn-lt"/>
                          <a:ea typeface="+mn-ea"/>
                          <a:cs typeface="+mn-cs"/>
                        </a:rPr>
                        <a:t>i</a:t>
                      </a:r>
                      <a:r>
                        <a:rPr lang="en-US" sz="2800" b="1" i="0" kern="1200" dirty="0">
                          <a:solidFill>
                            <a:schemeClr val="lt1"/>
                          </a:solidFill>
                          <a:effectLst/>
                          <a:latin typeface="+mn-lt"/>
                          <a:ea typeface="+mn-ea"/>
                          <a:cs typeface="+mn-cs"/>
                        </a:rPr>
                        <a:t> + 1</a:t>
                      </a:r>
                      <a:endParaRPr lang="en-US" sz="2800" b="0" i="0" kern="1200" dirty="0">
                        <a:solidFill>
                          <a:schemeClr val="lt1"/>
                        </a:solidFill>
                        <a:effectLst/>
                        <a:latin typeface="+mn-lt"/>
                        <a:ea typeface="+mn-ea"/>
                        <a:cs typeface="+mn-cs"/>
                      </a:endParaRPr>
                    </a:p>
                    <a:p>
                      <a:pPr lvl="1" fontAlgn="base"/>
                      <a:r>
                        <a:rPr lang="en-US" sz="2800" b="0" i="0" kern="1200" dirty="0">
                          <a:solidFill>
                            <a:schemeClr val="lt1"/>
                          </a:solidFill>
                          <a:effectLst/>
                          <a:latin typeface="+mn-lt"/>
                          <a:ea typeface="+mn-ea"/>
                          <a:cs typeface="+mn-cs"/>
                        </a:rPr>
                        <a:t>Right Child: Located at </a:t>
                      </a:r>
                      <a:r>
                        <a:rPr lang="en-US" sz="2800" b="1" i="0" kern="1200" dirty="0">
                          <a:solidFill>
                            <a:schemeClr val="lt1"/>
                          </a:solidFill>
                          <a:effectLst/>
                          <a:latin typeface="+mn-lt"/>
                          <a:ea typeface="+mn-ea"/>
                          <a:cs typeface="+mn-cs"/>
                        </a:rPr>
                        <a:t>2 * </a:t>
                      </a:r>
                      <a:r>
                        <a:rPr lang="en-US" sz="2800" b="1" i="0" kern="1200" dirty="0" err="1">
                          <a:solidFill>
                            <a:schemeClr val="lt1"/>
                          </a:solidFill>
                          <a:effectLst/>
                          <a:latin typeface="+mn-lt"/>
                          <a:ea typeface="+mn-ea"/>
                          <a:cs typeface="+mn-cs"/>
                        </a:rPr>
                        <a:t>i</a:t>
                      </a:r>
                      <a:r>
                        <a:rPr lang="en-US" sz="2800" b="1" i="0" kern="1200" dirty="0">
                          <a:solidFill>
                            <a:schemeClr val="lt1"/>
                          </a:solidFill>
                          <a:effectLst/>
                          <a:latin typeface="+mn-lt"/>
                          <a:ea typeface="+mn-ea"/>
                          <a:cs typeface="+mn-cs"/>
                        </a:rPr>
                        <a:t> + 2</a:t>
                      </a:r>
                      <a:endParaRPr lang="en-US" sz="2800" b="0" i="0" kern="1200" dirty="0">
                        <a:solidFill>
                          <a:schemeClr val="lt1"/>
                        </a:solidFill>
                        <a:effectLst/>
                        <a:latin typeface="+mn-lt"/>
                        <a:ea typeface="+mn-ea"/>
                        <a:cs typeface="+mn-cs"/>
                      </a:endParaRPr>
                    </a:p>
                    <a:p>
                      <a:pPr fontAlgn="base"/>
                      <a:r>
                        <a:rPr lang="en-US" sz="2800" b="0" i="0" kern="1200" dirty="0">
                          <a:solidFill>
                            <a:schemeClr val="lt1"/>
                          </a:solidFill>
                          <a:effectLst/>
                          <a:latin typeface="+mn-lt"/>
                          <a:ea typeface="+mn-ea"/>
                          <a:cs typeface="+mn-cs"/>
                        </a:rPr>
                        <a:t>Root Node: Stored at index </a:t>
                      </a:r>
                      <a:r>
                        <a:rPr lang="en-US" sz="2800" b="1" i="0" kern="1200" dirty="0">
                          <a:solidFill>
                            <a:schemeClr val="lt1"/>
                          </a:solidFill>
                          <a:effectLst/>
                          <a:latin typeface="+mn-lt"/>
                          <a:ea typeface="+mn-ea"/>
                          <a:cs typeface="+mn-cs"/>
                        </a:rPr>
                        <a:t>0</a:t>
                      </a:r>
                      <a:endParaRPr lang="en-US" sz="2800" b="0" i="0" kern="1200" dirty="0">
                        <a:solidFill>
                          <a:schemeClr val="lt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3200" b="1" i="0" kern="1200" dirty="0">
                        <a:solidFill>
                          <a:schemeClr val="lt1"/>
                        </a:solidFill>
                        <a:effectLst/>
                        <a:latin typeface="+mn-lt"/>
                        <a:ea typeface="+mn-ea"/>
                        <a:cs typeface="+mn-cs"/>
                      </a:endParaRPr>
                    </a:p>
                    <a:p>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7097" y="1250356"/>
            <a:ext cx="5198835" cy="3588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8960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2C2617-F3D3-DB72-F9BA-0D63EA196D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981D794-83DF-2485-37EB-08AA39E2F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0125E28-5DD4-9D3E-FEDA-7A1B905D46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A1A81A86-B11C-30BD-14B0-355036E251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1F877B39-0000-F5DA-3E3E-CFD52819A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5D3BD95F-7131-9436-E5A7-9EAACAA909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D7290D5A-0C00-4AA1-9112-BCDE7DC2F6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D7782F5B-2C9E-15A9-90AD-0442654D5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59CCD707-AFB2-F98B-8F40-C91AE9B90E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3EBAD5F1-F0CF-A880-A60A-01FBF9BBB790}"/>
              </a:ext>
            </a:extLst>
          </p:cNvPr>
          <p:cNvSpPr>
            <a:spLocks noGrp="1"/>
          </p:cNvSpPr>
          <p:nvPr>
            <p:ph type="sldNum" sz="quarter" idx="12"/>
          </p:nvPr>
        </p:nvSpPr>
        <p:spPr/>
        <p:txBody>
          <a:bodyPr/>
          <a:lstStyle/>
          <a:p>
            <a:fld id="{26510230-8DD5-4BA5-AB2D-CA30FC08F9D7}" type="slidenum">
              <a:rPr lang="en-IN" smtClean="0"/>
              <a:t>13</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93CABA1B-DCE6-923C-062D-2EF83B2ED0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20015444-7029-6B15-BE29-972760972A0B}"/>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a:t>
            </a: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latin typeface="Tahoma" panose="020B0604030504040204" pitchFamily="34" charset="0"/>
                <a:ea typeface="Tahoma" panose="020B0604030504040204" pitchFamily="34" charset="0"/>
                <a:cs typeface="Tahoma" panose="020B0604030504040204" pitchFamily="34" charset="0"/>
              </a:rPr>
              <a:t>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F17E0C1A-55D7-603F-9723-7F169AD03F96}"/>
              </a:ext>
            </a:extLst>
          </p:cNvPr>
          <p:cNvSpPr txBox="1"/>
          <p:nvPr/>
        </p:nvSpPr>
        <p:spPr>
          <a:xfrm>
            <a:off x="838200" y="1065690"/>
            <a:ext cx="10795098" cy="369332"/>
          </a:xfrm>
          <a:prstGeom prst="rect">
            <a:avLst/>
          </a:prstGeom>
          <a:noFill/>
        </p:spPr>
        <p:txBody>
          <a:bodyPr wrap="square">
            <a:spAutoFit/>
          </a:bodyPr>
          <a:lstStyle/>
          <a:p>
            <a:r>
              <a:rPr lang="en-IN" dirty="0"/>
              <a:t>    </a:t>
            </a:r>
            <a:endParaRPr lang="en-US" sz="2800" dirty="0"/>
          </a:p>
        </p:txBody>
      </p:sp>
      <p:pic>
        <p:nvPicPr>
          <p:cNvPr id="17" name="Picture 16">
            <a:extLst>
              <a:ext uri="{FF2B5EF4-FFF2-40B4-BE49-F238E27FC236}">
                <a16:creationId xmlns:a16="http://schemas.microsoft.com/office/drawing/2014/main" id="{93C7D6C9-28A1-8AB9-0AA3-A6003AC026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758237542"/>
              </p:ext>
            </p:extLst>
          </p:nvPr>
        </p:nvGraphicFramePr>
        <p:xfrm>
          <a:off x="104931" y="956040"/>
          <a:ext cx="12086763" cy="6461760"/>
        </p:xfrm>
        <a:graphic>
          <a:graphicData uri="http://schemas.openxmlformats.org/drawingml/2006/table">
            <a:tbl>
              <a:tblPr firstRow="1" bandRow="1">
                <a:tableStyleId>{5C22544A-7EE6-4342-B048-85BDC9FD1C3A}</a:tableStyleId>
              </a:tblPr>
              <a:tblGrid>
                <a:gridCol w="5886130">
                  <a:extLst>
                    <a:ext uri="{9D8B030D-6E8A-4147-A177-3AD203B41FA5}">
                      <a16:colId xmlns:a16="http://schemas.microsoft.com/office/drawing/2014/main" val="20000"/>
                    </a:ext>
                  </a:extLst>
                </a:gridCol>
                <a:gridCol w="6200633">
                  <a:extLst>
                    <a:ext uri="{9D8B030D-6E8A-4147-A177-3AD203B41FA5}">
                      <a16:colId xmlns:a16="http://schemas.microsoft.com/office/drawing/2014/main" val="20001"/>
                    </a:ext>
                  </a:extLst>
                </a:gridCol>
              </a:tblGrid>
              <a:tr h="5444760">
                <a:tc>
                  <a:txBody>
                    <a:bodyPr/>
                    <a:lstStyle/>
                    <a:p>
                      <a:r>
                        <a:rPr lang="en-US" sz="3200" dirty="0"/>
                        <a:t>Strict Binary Tree</a:t>
                      </a:r>
                    </a:p>
                    <a:p>
                      <a:endParaRPr lang="en-US" sz="4000" dirty="0"/>
                    </a:p>
                    <a:p>
                      <a:r>
                        <a:rPr lang="en-US" sz="2400" b="0" i="0" kern="1200" dirty="0">
                          <a:solidFill>
                            <a:schemeClr val="lt1"/>
                          </a:solidFill>
                          <a:effectLst/>
                          <a:latin typeface="+mn-lt"/>
                          <a:ea typeface="+mn-ea"/>
                          <a:cs typeface="+mn-cs"/>
                        </a:rPr>
                        <a:t>A strict binary tree, also known as a proper binary tree or a full binary tree, is a type of binary tree where every node has either zero or two children. This means that no node in a strict binary tree can have only one child.</a:t>
                      </a:r>
                    </a:p>
                    <a:p>
                      <a:endParaRPr lang="en-US" sz="1800" b="0" i="0" kern="1200" dirty="0">
                        <a:solidFill>
                          <a:schemeClr val="lt1"/>
                        </a:solidFill>
                        <a:effectLst/>
                        <a:latin typeface="+mn-lt"/>
                        <a:ea typeface="+mn-ea"/>
                        <a:cs typeface="+mn-cs"/>
                      </a:endParaRPr>
                    </a:p>
                    <a:p>
                      <a:pPr fontAlgn="ctr"/>
                      <a:r>
                        <a:rPr lang="en-US" sz="2800" b="0" i="0" kern="1200" dirty="0">
                          <a:solidFill>
                            <a:schemeClr val="lt1"/>
                          </a:solidFill>
                          <a:effectLst/>
                          <a:latin typeface="+mn-lt"/>
                          <a:ea typeface="+mn-ea"/>
                          <a:cs typeface="+mn-cs"/>
                        </a:rPr>
                        <a:t>Key characteristics of a strict binary tree:</a:t>
                      </a:r>
                    </a:p>
                    <a:p>
                      <a:r>
                        <a:rPr lang="en-US" sz="2400" b="1" i="0" kern="1200" dirty="0">
                          <a:solidFill>
                            <a:schemeClr val="lt1"/>
                          </a:solidFill>
                          <a:effectLst/>
                          <a:latin typeface="+mn-lt"/>
                          <a:ea typeface="+mn-ea"/>
                          <a:cs typeface="+mn-cs"/>
                        </a:rPr>
                        <a:t>Internal nodes:</a:t>
                      </a:r>
                      <a:r>
                        <a:rPr lang="en-US" sz="1800" b="0" i="0" kern="1200" dirty="0">
                          <a:solidFill>
                            <a:schemeClr val="lt1"/>
                          </a:solidFill>
                          <a:effectLst/>
                          <a:latin typeface="+mn-lt"/>
                          <a:ea typeface="+mn-ea"/>
                          <a:cs typeface="+mn-cs"/>
                        </a:rPr>
                        <a:t> </a:t>
                      </a:r>
                      <a:r>
                        <a:rPr lang="en-US" sz="2400" b="0" i="0" kern="1200" dirty="0">
                          <a:solidFill>
                            <a:schemeClr val="lt1"/>
                          </a:solidFill>
                          <a:effectLst/>
                          <a:latin typeface="+mn-lt"/>
                          <a:ea typeface="+mn-ea"/>
                          <a:cs typeface="+mn-cs"/>
                        </a:rPr>
                        <a:t>All internal nodes (non-leaf nodes) must have exactly two children.</a:t>
                      </a:r>
                      <a:endParaRPr lang="en-US" sz="1800" b="0" i="0" kern="1200" dirty="0">
                        <a:solidFill>
                          <a:schemeClr val="lt1"/>
                        </a:solidFill>
                        <a:effectLst/>
                        <a:latin typeface="+mn-lt"/>
                        <a:ea typeface="+mn-ea"/>
                        <a:cs typeface="+mn-cs"/>
                      </a:endParaRPr>
                    </a:p>
                    <a:p>
                      <a:r>
                        <a:rPr lang="en-US" sz="2400" b="1" i="0" kern="1200" dirty="0">
                          <a:solidFill>
                            <a:schemeClr val="lt1"/>
                          </a:solidFill>
                          <a:effectLst/>
                          <a:latin typeface="+mn-lt"/>
                          <a:ea typeface="+mn-ea"/>
                          <a:cs typeface="+mn-cs"/>
                        </a:rPr>
                        <a:t>Leaf nodes:</a:t>
                      </a:r>
                      <a:r>
                        <a:rPr lang="en-US" sz="2400" b="0" i="0" kern="1200" dirty="0">
                          <a:solidFill>
                            <a:schemeClr val="lt1"/>
                          </a:solidFill>
                          <a:effectLst/>
                          <a:latin typeface="+mn-lt"/>
                          <a:ea typeface="+mn-ea"/>
                          <a:cs typeface="+mn-cs"/>
                        </a:rPr>
                        <a:t> All leaf nodes (nodes with no children) have zero children.</a:t>
                      </a:r>
                      <a:endParaRPr lang="en-US" sz="1800" b="0" i="0" kern="1200" dirty="0">
                        <a:solidFill>
                          <a:schemeClr val="lt1"/>
                        </a:solidFill>
                        <a:effectLst/>
                        <a:latin typeface="+mn-lt"/>
                        <a:ea typeface="+mn-ea"/>
                        <a:cs typeface="+mn-cs"/>
                      </a:endParaRPr>
                    </a:p>
                    <a:p>
                      <a:endParaRPr lang="en-US" sz="3200"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pic>
        <p:nvPicPr>
          <p:cNvPr id="7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5847" y="1066476"/>
            <a:ext cx="6095848" cy="41400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38432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14</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593538" cy="740238"/>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(LO-2)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08" y="167321"/>
            <a:ext cx="3795634" cy="740238"/>
          </a:xfrm>
          <a:prstGeom prst="rect">
            <a:avLst/>
          </a:prstGeom>
        </p:spPr>
      </p:pic>
      <p:sp>
        <p:nvSpPr>
          <p:cNvPr id="2" name="Rectangle 2">
            <a:extLst>
              <a:ext uri="{FF2B5EF4-FFF2-40B4-BE49-F238E27FC236}">
                <a16:creationId xmlns:a16="http://schemas.microsoft.com/office/drawing/2014/main" id="{F0B8683A-49DA-73E8-6992-C0F337CF02BF}"/>
              </a:ext>
            </a:extLst>
          </p:cNvPr>
          <p:cNvSpPr>
            <a:spLocks noChangeArrowheads="1"/>
          </p:cNvSpPr>
          <p:nvPr/>
        </p:nvSpPr>
        <p:spPr bwMode="auto">
          <a:xfrm>
            <a:off x="194818" y="485061"/>
            <a:ext cx="11438480"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b="1" dirty="0"/>
          </a:p>
          <a:p>
            <a:endParaRPr lang="en-US" b="1" dirty="0"/>
          </a:p>
          <a:p>
            <a:endParaRPr lang="en-US" b="1" dirty="0"/>
          </a:p>
          <a:p>
            <a:endParaRPr lang="en-US" b="1" dirty="0"/>
          </a:p>
          <a:p>
            <a:endParaRPr lang="en-US" sz="2000" b="1" dirty="0"/>
          </a:p>
          <a:p>
            <a:endParaRPr lang="en-US" sz="2000" b="1" dirty="0"/>
          </a:p>
          <a:p>
            <a:endParaRPr lang="en-US" sz="2000" b="1" dirty="0"/>
          </a:p>
          <a:p>
            <a:endParaRPr lang="en-US" sz="2000" b="1" dirty="0"/>
          </a:p>
          <a:p>
            <a:endParaRPr lang="en-US" sz="2000" b="1" dirty="0"/>
          </a:p>
          <a:p>
            <a:pPr lvl="0" eaLnBrk="0" fontAlgn="base" hangingPunct="0">
              <a:spcBef>
                <a:spcPct val="0"/>
              </a:spcBef>
              <a:spcAft>
                <a:spcPct val="0"/>
              </a:spcAft>
            </a:pPr>
            <a:endParaRPr kumimoji="0" lang="en-US" altLang="en-US" sz="3200" b="1" i="0" u="none" strike="noStrike" cap="none" normalizeH="0" baseline="0" dirty="0">
              <a:ln>
                <a:noFill/>
              </a:ln>
              <a:solidFill>
                <a:schemeClr val="tx1"/>
              </a:solidFill>
              <a:effectLst/>
              <a:latin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78763977"/>
              </p:ext>
            </p:extLst>
          </p:nvPr>
        </p:nvGraphicFramePr>
        <p:xfrm>
          <a:off x="29808" y="1212981"/>
          <a:ext cx="12161887" cy="5113174"/>
        </p:xfrm>
        <a:graphic>
          <a:graphicData uri="http://schemas.openxmlformats.org/drawingml/2006/table">
            <a:tbl>
              <a:tblPr firstRow="1" bandRow="1">
                <a:tableStyleId>{5C22544A-7EE6-4342-B048-85BDC9FD1C3A}</a:tableStyleId>
              </a:tblPr>
              <a:tblGrid>
                <a:gridCol w="6024525">
                  <a:extLst>
                    <a:ext uri="{9D8B030D-6E8A-4147-A177-3AD203B41FA5}">
                      <a16:colId xmlns:a16="http://schemas.microsoft.com/office/drawing/2014/main" val="20000"/>
                    </a:ext>
                  </a:extLst>
                </a:gridCol>
                <a:gridCol w="6137362">
                  <a:extLst>
                    <a:ext uri="{9D8B030D-6E8A-4147-A177-3AD203B41FA5}">
                      <a16:colId xmlns:a16="http://schemas.microsoft.com/office/drawing/2014/main" val="20001"/>
                    </a:ext>
                  </a:extLst>
                </a:gridCol>
              </a:tblGrid>
              <a:tr h="5113174">
                <a:tc>
                  <a:txBody>
                    <a:bodyPr/>
                    <a:lstStyle/>
                    <a:p>
                      <a:r>
                        <a:rPr lang="en-US" sz="3200" dirty="0"/>
                        <a:t>Complete Binary Tree:</a:t>
                      </a:r>
                    </a:p>
                    <a:p>
                      <a:r>
                        <a:rPr lang="en-US" sz="2400" b="0" i="0" kern="1200" dirty="0">
                          <a:solidFill>
                            <a:schemeClr val="lt1"/>
                          </a:solidFill>
                          <a:effectLst/>
                          <a:latin typeface="+mn-lt"/>
                          <a:ea typeface="+mn-ea"/>
                          <a:cs typeface="+mn-cs"/>
                        </a:rPr>
                        <a:t>A complete binary tree is a special type of binary tree where all the levels of the tree are filled completely except the lowest level nodes which are filled from as left as possible.</a:t>
                      </a:r>
                    </a:p>
                    <a:p>
                      <a:endParaRPr lang="en-US" sz="4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b="1" i="0" u="sng" kern="1200" dirty="0">
                          <a:solidFill>
                            <a:schemeClr val="lt1"/>
                          </a:solidFill>
                          <a:effectLst/>
                          <a:latin typeface="+mn-lt"/>
                          <a:ea typeface="+mn-ea"/>
                          <a:cs typeface="+mn-cs"/>
                        </a:rPr>
                        <a:t>Properties of Complete Binary Tree:</a:t>
                      </a:r>
                      <a:endParaRPr lang="en-US" sz="2800" b="1" i="0" kern="1200" dirty="0">
                        <a:solidFill>
                          <a:schemeClr val="lt1"/>
                        </a:solidFill>
                        <a:effectLst/>
                        <a:latin typeface="+mn-lt"/>
                        <a:ea typeface="+mn-ea"/>
                        <a:cs typeface="+mn-cs"/>
                      </a:endParaRPr>
                    </a:p>
                    <a:p>
                      <a:endParaRPr lang="en-US" sz="2400" dirty="0"/>
                    </a:p>
                    <a:p>
                      <a:pPr fontAlgn="base"/>
                      <a:r>
                        <a:rPr lang="en-US" sz="2400" b="0" i="0" kern="1200" dirty="0">
                          <a:solidFill>
                            <a:schemeClr val="lt1"/>
                          </a:solidFill>
                          <a:effectLst/>
                          <a:latin typeface="+mn-lt"/>
                          <a:ea typeface="+mn-ea"/>
                          <a:cs typeface="+mn-cs"/>
                        </a:rPr>
                        <a:t>1)A complete binary tree is said to be a proper binary tree where all leaves have the same depth.</a:t>
                      </a:r>
                    </a:p>
                    <a:p>
                      <a:pPr fontAlgn="base"/>
                      <a:r>
                        <a:rPr lang="en-US" sz="2400" b="0" i="0" kern="1200" dirty="0">
                          <a:solidFill>
                            <a:schemeClr val="lt1"/>
                          </a:solidFill>
                          <a:effectLst/>
                          <a:latin typeface="+mn-lt"/>
                          <a:ea typeface="+mn-ea"/>
                          <a:cs typeface="+mn-cs"/>
                        </a:rPr>
                        <a:t>2)In a complete binary tree number of nodes at depth </a:t>
                      </a:r>
                      <a:r>
                        <a:rPr lang="en-US" sz="2400" b="1" i="0" kern="1200" dirty="0">
                          <a:solidFill>
                            <a:schemeClr val="lt1"/>
                          </a:solidFill>
                          <a:effectLst/>
                          <a:latin typeface="+mn-lt"/>
                          <a:ea typeface="+mn-ea"/>
                          <a:cs typeface="+mn-cs"/>
                        </a:rPr>
                        <a:t>d</a:t>
                      </a:r>
                      <a:r>
                        <a:rPr lang="en-US" sz="2400" b="0" i="0" kern="1200" dirty="0">
                          <a:solidFill>
                            <a:schemeClr val="lt1"/>
                          </a:solidFill>
                          <a:effectLst/>
                          <a:latin typeface="+mn-lt"/>
                          <a:ea typeface="+mn-ea"/>
                          <a:cs typeface="+mn-cs"/>
                        </a:rPr>
                        <a:t> is </a:t>
                      </a:r>
                      <a:r>
                        <a:rPr lang="en-US" sz="2400" b="1" i="0" kern="1200" dirty="0">
                          <a:solidFill>
                            <a:schemeClr val="lt1"/>
                          </a:solidFill>
                          <a:effectLst/>
                          <a:latin typeface="+mn-lt"/>
                          <a:ea typeface="+mn-ea"/>
                          <a:cs typeface="+mn-cs"/>
                        </a:rPr>
                        <a:t>2</a:t>
                      </a:r>
                      <a:r>
                        <a:rPr lang="en-US" sz="2400" b="1" i="0" kern="1200" baseline="30000" dirty="0">
                          <a:solidFill>
                            <a:schemeClr val="lt1"/>
                          </a:solidFill>
                          <a:effectLst/>
                          <a:latin typeface="+mn-lt"/>
                          <a:ea typeface="+mn-ea"/>
                          <a:cs typeface="+mn-cs"/>
                        </a:rPr>
                        <a:t>d</a:t>
                      </a:r>
                      <a:r>
                        <a:rPr lang="en-US" sz="2400" b="0" i="0" kern="1200" dirty="0">
                          <a:solidFill>
                            <a:schemeClr val="lt1"/>
                          </a:solidFill>
                          <a:effectLst/>
                          <a:latin typeface="+mn-lt"/>
                          <a:ea typeface="+mn-ea"/>
                          <a:cs typeface="+mn-cs"/>
                        </a:rPr>
                        <a:t>. </a:t>
                      </a:r>
                    </a:p>
                    <a:p>
                      <a:pPr fontAlgn="base"/>
                      <a:r>
                        <a:rPr lang="en-US" sz="2400" b="0" i="0" kern="1200" dirty="0">
                          <a:solidFill>
                            <a:schemeClr val="lt1"/>
                          </a:solidFill>
                          <a:effectLst/>
                          <a:latin typeface="+mn-lt"/>
                          <a:ea typeface="+mn-ea"/>
                          <a:cs typeface="+mn-cs"/>
                        </a:rPr>
                        <a:t>3)In a  complete binary tree with </a:t>
                      </a:r>
                      <a:r>
                        <a:rPr lang="en-US" sz="2400" b="1" i="0" kern="1200" dirty="0">
                          <a:solidFill>
                            <a:schemeClr val="lt1"/>
                          </a:solidFill>
                          <a:effectLst/>
                          <a:latin typeface="+mn-lt"/>
                          <a:ea typeface="+mn-ea"/>
                          <a:cs typeface="+mn-cs"/>
                        </a:rPr>
                        <a:t>n</a:t>
                      </a:r>
                      <a:r>
                        <a:rPr lang="en-US" sz="2400" b="0" i="0" kern="1200" dirty="0">
                          <a:solidFill>
                            <a:schemeClr val="lt1"/>
                          </a:solidFill>
                          <a:effectLst/>
                          <a:latin typeface="+mn-lt"/>
                          <a:ea typeface="+mn-ea"/>
                          <a:cs typeface="+mn-cs"/>
                        </a:rPr>
                        <a:t> nodes height of the tree is </a:t>
                      </a:r>
                      <a:r>
                        <a:rPr lang="en-US" sz="2400" b="1" i="0" kern="1200" dirty="0">
                          <a:solidFill>
                            <a:schemeClr val="lt1"/>
                          </a:solidFill>
                          <a:effectLst/>
                          <a:latin typeface="+mn-lt"/>
                          <a:ea typeface="+mn-ea"/>
                          <a:cs typeface="+mn-cs"/>
                        </a:rPr>
                        <a:t>log(n+1)</a:t>
                      </a:r>
                      <a:r>
                        <a:rPr lang="en-US" sz="2400" b="0" i="0" kern="1200" dirty="0">
                          <a:solidFill>
                            <a:schemeClr val="lt1"/>
                          </a:solidFill>
                          <a:effectLst/>
                          <a:latin typeface="+mn-lt"/>
                          <a:ea typeface="+mn-ea"/>
                          <a:cs typeface="+mn-cs"/>
                        </a:rPr>
                        <a:t>.</a:t>
                      </a:r>
                    </a:p>
                    <a:p>
                      <a:pPr fontAlgn="base"/>
                      <a:r>
                        <a:rPr lang="en-US" sz="2400" b="0" i="0" kern="1200" dirty="0">
                          <a:solidFill>
                            <a:schemeClr val="lt1"/>
                          </a:solidFill>
                          <a:effectLst/>
                          <a:latin typeface="+mn-lt"/>
                          <a:ea typeface="+mn-ea"/>
                          <a:cs typeface="+mn-cs"/>
                        </a:rPr>
                        <a:t>4)All the levels </a:t>
                      </a:r>
                      <a:r>
                        <a:rPr lang="en-US" sz="2400" b="1" i="0" kern="1200" dirty="0">
                          <a:solidFill>
                            <a:schemeClr val="lt1"/>
                          </a:solidFill>
                          <a:effectLst/>
                          <a:latin typeface="+mn-lt"/>
                          <a:ea typeface="+mn-ea"/>
                          <a:cs typeface="+mn-cs"/>
                        </a:rPr>
                        <a:t>except the last level</a:t>
                      </a:r>
                      <a:r>
                        <a:rPr lang="en-US" sz="2400" b="0" i="0" kern="1200" dirty="0">
                          <a:solidFill>
                            <a:schemeClr val="lt1"/>
                          </a:solidFill>
                          <a:effectLst/>
                          <a:latin typeface="+mn-lt"/>
                          <a:ea typeface="+mn-ea"/>
                          <a:cs typeface="+mn-cs"/>
                        </a:rPr>
                        <a:t> are completely full.</a:t>
                      </a:r>
                    </a:p>
                    <a:p>
                      <a:endParaRPr lang="en-US" dirty="0"/>
                    </a:p>
                  </a:txBody>
                  <a:tcPr/>
                </a:tc>
                <a:extLst>
                  <a:ext uri="{0D108BD9-81ED-4DB2-BD59-A6C34878D82A}">
                    <a16:rowId xmlns:a16="http://schemas.microsoft.com/office/drawing/2014/main" val="10000"/>
                  </a:ext>
                </a:extLst>
              </a:tr>
            </a:tbl>
          </a:graphicData>
        </a:graphic>
      </p:graphicFrame>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9593" y="3429000"/>
            <a:ext cx="4619122" cy="27292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427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8519F1-0B89-4EB4-3D62-C751E0DF0DAB}"/>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A771400C-45D1-B069-5B91-2105997511BD}"/>
              </a:ext>
            </a:extLst>
          </p:cNvPr>
          <p:cNvSpPr>
            <a:spLocks noGrp="1"/>
          </p:cNvSpPr>
          <p:nvPr>
            <p:ph type="sldNum" sz="quarter" idx="12"/>
          </p:nvPr>
        </p:nvSpPr>
        <p:spPr/>
        <p:txBody>
          <a:bodyPr/>
          <a:lstStyle/>
          <a:p>
            <a:fld id="{26510230-8DD5-4BA5-AB2D-CA30FC08F9D7}" type="slidenum">
              <a:rPr lang="en-IN" smtClean="0"/>
              <a:t>15</a:t>
            </a:fld>
            <a:endParaRPr lang="en-IN"/>
          </a:p>
        </p:txBody>
      </p:sp>
      <p:pic>
        <p:nvPicPr>
          <p:cNvPr id="5" name="Picture 4" descr="A blue circle with text and words&#10;&#10;Description automatically generated">
            <a:extLst>
              <a:ext uri="{FF2B5EF4-FFF2-40B4-BE49-F238E27FC236}">
                <a16:creationId xmlns:a16="http://schemas.microsoft.com/office/drawing/2014/main" id="{F48BF935-342D-FA5C-7B89-95045B1C25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0" name="TextBox 9">
            <a:extLst>
              <a:ext uri="{FF2B5EF4-FFF2-40B4-BE49-F238E27FC236}">
                <a16:creationId xmlns:a16="http://schemas.microsoft.com/office/drawing/2014/main" id="{F648FC53-1451-ED3C-9DED-9CEC86030A58}"/>
              </a:ext>
            </a:extLst>
          </p:cNvPr>
          <p:cNvSpPr txBox="1"/>
          <p:nvPr/>
        </p:nvSpPr>
        <p:spPr>
          <a:xfrm>
            <a:off x="3169170" y="899733"/>
            <a:ext cx="6093500" cy="1200329"/>
          </a:xfrm>
          <a:prstGeom prst="rect">
            <a:avLst/>
          </a:prstGeom>
          <a:noFill/>
        </p:spPr>
        <p:txBody>
          <a:bodyPr wrap="square">
            <a:spAutoFit/>
          </a:bodyPr>
          <a:lstStyle/>
          <a:p>
            <a:pPr algn="ctr"/>
            <a:r>
              <a:rPr lang="en-IN" sz="3600" dirty="0">
                <a:latin typeface="Tahoma" panose="020B0604030504040204" pitchFamily="34" charset="0"/>
                <a:ea typeface="Tahoma" panose="020B0604030504040204" pitchFamily="34" charset="0"/>
                <a:cs typeface="Tahoma" panose="020B0604030504040204" pitchFamily="34" charset="0"/>
              </a:rPr>
              <a:t>Assessment: Woo Flash Quiz</a:t>
            </a:r>
          </a:p>
          <a:p>
            <a:pPr algn="ctr"/>
            <a:endParaRPr lang="en-IN" sz="3600" dirty="0">
              <a:latin typeface="Tahoma" panose="020B0604030504040204" pitchFamily="34" charset="0"/>
              <a:ea typeface="Tahoma" panose="020B0604030504040204" pitchFamily="34" charset="0"/>
              <a:cs typeface="Tahoma" panose="020B0604030504040204" pitchFamily="34" charset="0"/>
            </a:endParaRP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6" name="Picture 5" descr="A screenshot of a qr code&#10;&#10;AI-generated content may be incorrect.">
            <a:extLst>
              <a:ext uri="{FF2B5EF4-FFF2-40B4-BE49-F238E27FC236}">
                <a16:creationId xmlns:a16="http://schemas.microsoft.com/office/drawing/2014/main" id="{AD1662DA-F09F-5212-CDEE-0E4A1FD612C7}"/>
              </a:ext>
            </a:extLst>
          </p:cNvPr>
          <p:cNvPicPr>
            <a:picLocks noChangeAspect="1"/>
          </p:cNvPicPr>
          <p:nvPr/>
        </p:nvPicPr>
        <p:blipFill>
          <a:blip r:embed="rId4"/>
          <a:stretch>
            <a:fillRect/>
          </a:stretch>
        </p:blipFill>
        <p:spPr>
          <a:xfrm>
            <a:off x="1110344" y="1758863"/>
            <a:ext cx="7970310" cy="4199403"/>
          </a:xfrm>
          <a:prstGeom prst="rect">
            <a:avLst/>
          </a:prstGeom>
        </p:spPr>
      </p:pic>
    </p:spTree>
    <p:extLst>
      <p:ext uri="{BB962C8B-B14F-4D97-AF65-F5344CB8AC3E}">
        <p14:creationId xmlns:p14="http://schemas.microsoft.com/office/powerpoint/2010/main" val="1420671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16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541177" y="1051486"/>
            <a:ext cx="11179098" cy="6961906"/>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Summary</a:t>
            </a:r>
            <a:endParaRPr lang="en-US" sz="3600" dirty="0">
              <a:solidFill>
                <a:prstClr val="black"/>
              </a:solidFill>
              <a:latin typeface="Tahoma" panose="020B0604030504040204" pitchFamily="34" charset="0"/>
              <a:ea typeface="Tahoma" panose="020B0604030504040204" pitchFamily="34" charset="0"/>
              <a:cs typeface="Tahoma" panose="020B0604030504040204" pitchFamily="34" charset="0"/>
            </a:endParaRPr>
          </a:p>
          <a:p>
            <a:r>
              <a:rPr lang="en-US" sz="3600" b="1" dirty="0"/>
              <a:t>Binary Tree:</a:t>
            </a:r>
            <a:r>
              <a:rPr lang="en-US" sz="3600" dirty="0"/>
              <a:t> Max two children (left, right).</a:t>
            </a:r>
          </a:p>
          <a:p>
            <a:r>
              <a:rPr lang="en-US" sz="3600" b="1" dirty="0"/>
              <a:t>Array Representation:</a:t>
            </a:r>
            <a:r>
              <a:rPr lang="en-US" sz="3600" dirty="0"/>
              <a:t> Simple indexing, best for complete trees.</a:t>
            </a:r>
          </a:p>
          <a:p>
            <a:r>
              <a:rPr lang="en-US" sz="3600" b="1" dirty="0"/>
              <a:t>Linked List Representation:</a:t>
            </a:r>
            <a:r>
              <a:rPr lang="en-US" sz="3600" dirty="0"/>
              <a:t> Space-efficient, dynamic.</a:t>
            </a:r>
          </a:p>
          <a:p>
            <a:r>
              <a:rPr lang="en-US" sz="3600" b="1" dirty="0"/>
              <a:t>Strict Binary Tree:</a:t>
            </a:r>
            <a:r>
              <a:rPr lang="en-US" sz="3600" dirty="0"/>
              <a:t> Every non-leaf has exactly 2 children.</a:t>
            </a:r>
          </a:p>
          <a:p>
            <a:r>
              <a:rPr lang="en-US" sz="3600" b="1" dirty="0"/>
              <a:t>Complete Binary Tree:</a:t>
            </a:r>
            <a:r>
              <a:rPr lang="en-US" sz="3600" dirty="0"/>
              <a:t> All levels filled except last (left to right).</a:t>
            </a:r>
          </a:p>
          <a:p>
            <a:pPr marR="0" lvl="0" algn="ctr" defTabSz="457200" rtl="0" eaLnBrk="1" fontAlgn="auto" latinLnBrk="0" hangingPunct="1">
              <a:lnSpc>
                <a:spcPct val="100000"/>
              </a:lnSpc>
              <a:spcBef>
                <a:spcPct val="20000"/>
              </a:spcBef>
              <a:spcAft>
                <a:spcPts val="0"/>
              </a:spcAft>
              <a:buClrTx/>
              <a:buSzTx/>
              <a:tabLst/>
              <a:defRPr/>
            </a:pPr>
            <a:endPar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a:p>
            <a:pPr marR="0" lvl="0" algn="ctr" defTabSz="457200" rtl="0" eaLnBrk="1" fontAlgn="auto" latinLnBrk="0" hangingPunct="1">
              <a:lnSpc>
                <a:spcPct val="100000"/>
              </a:lnSpc>
              <a:spcBef>
                <a:spcPct val="20000"/>
              </a:spcBef>
              <a:spcAft>
                <a:spcPts val="0"/>
              </a:spcAft>
              <a:buClrTx/>
              <a:buSzTx/>
              <a:tabLst/>
              <a:defRPr/>
            </a:pPr>
            <a:endPar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10671589" y="1051486"/>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724998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892DE-94AF-4FA6-AC91-F6E133F13C1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B7BDBE0-A5DB-2C0C-EAD8-679E083373CC}"/>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A89BE280-9E74-593A-97BB-AA83D2BF7BF6}"/>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17</a:t>
            </a:fld>
            <a:endParaRPr lang="en-IN"/>
          </a:p>
        </p:txBody>
      </p:sp>
      <p:pic>
        <p:nvPicPr>
          <p:cNvPr id="5" name="Picture 4" descr="A blue circle with text and words&#10;&#10;Description automatically generated">
            <a:extLst>
              <a:ext uri="{FF2B5EF4-FFF2-40B4-BE49-F238E27FC236}">
                <a16:creationId xmlns:a16="http://schemas.microsoft.com/office/drawing/2014/main" id="{64C7D976-CEDB-D82A-7AEB-C4287BDEA6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BD196369-5E80-F50C-6B80-49FCB1043AE2}"/>
              </a:ext>
            </a:extLst>
          </p:cNvPr>
          <p:cNvSpPr>
            <a:spLocks noGrp="1"/>
          </p:cNvSpPr>
          <p:nvPr>
            <p:ph idx="1"/>
          </p:nvPr>
        </p:nvSpPr>
        <p:spPr>
          <a:xfrm>
            <a:off x="471726" y="1065923"/>
            <a:ext cx="10724206" cy="4720670"/>
          </a:xfrm>
        </p:spPr>
        <p:txBody>
          <a:bodyPr/>
          <a:lstStyle/>
          <a:p>
            <a:pPr marL="0" indent="0" algn="just">
              <a:buNone/>
            </a:pPr>
            <a:r>
              <a:rPr lang="en-US" sz="3200" b="1" dirty="0">
                <a:latin typeface="Tahoma" panose="020B0604030504040204" pitchFamily="34" charset="0"/>
                <a:ea typeface="Tahoma" panose="020B0604030504040204" pitchFamily="34" charset="0"/>
                <a:cs typeface="Tahoma" panose="020B0604030504040204" pitchFamily="34" charset="0"/>
              </a:rPr>
              <a:t>Ensure attainment of LO’s in alignment to the learning activities: </a:t>
            </a:r>
          </a:p>
          <a:p>
            <a:pPr marL="0" indent="0" algn="just">
              <a:buNone/>
            </a:pPr>
            <a:endParaRPr lang="en-US" sz="3200" b="1" u="sng" dirty="0">
              <a:latin typeface="Tahoma" panose="020B0604030504040204" pitchFamily="34" charset="0"/>
              <a:ea typeface="Tahoma" panose="020B0604030504040204" pitchFamily="34" charset="0"/>
              <a:cs typeface="Tahoma" panose="020B0604030504040204" pitchFamily="34" charset="0"/>
            </a:endParaRPr>
          </a:p>
        </p:txBody>
      </p:sp>
      <p:sp>
        <p:nvSpPr>
          <p:cNvPr id="2" name="Rectangle 1">
            <a:extLst>
              <a:ext uri="{FF2B5EF4-FFF2-40B4-BE49-F238E27FC236}">
                <a16:creationId xmlns:a16="http://schemas.microsoft.com/office/drawing/2014/main" id="{A90A58D6-0AEC-35D7-0B18-4C3ABB1DFA36}"/>
              </a:ext>
            </a:extLst>
          </p:cNvPr>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5072BE33-7B7A-7B46-8781-424CBA01187A}"/>
              </a:ext>
            </a:extLst>
          </p:cNvPr>
          <p:cNvGraphicFramePr/>
          <p:nvPr>
            <p:extLst>
              <p:ext uri="{D42A27DB-BD31-4B8C-83A1-F6EECF244321}">
                <p14:modId xmlns:p14="http://schemas.microsoft.com/office/powerpoint/2010/main" val="1865337634"/>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C9A45468-42E3-31D5-0DCF-A4828F31DA6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165019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18</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4" name="Rectangle 3"/>
          <p:cNvSpPr/>
          <p:nvPr/>
        </p:nvSpPr>
        <p:spPr>
          <a:xfrm>
            <a:off x="10722885" y="1022415"/>
            <a:ext cx="946092"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8" name="Rectangle 7"/>
          <p:cNvSpPr/>
          <p:nvPr/>
        </p:nvSpPr>
        <p:spPr>
          <a:xfrm>
            <a:off x="852566" y="1697335"/>
            <a:ext cx="9906000" cy="1077218"/>
          </a:xfrm>
          <a:prstGeom prst="rect">
            <a:avLst/>
          </a:prstGeom>
        </p:spPr>
        <p:txBody>
          <a:bodyPr wrap="square">
            <a:spAutoFit/>
          </a:bodyPr>
          <a:lstStyle/>
          <a:p>
            <a:r>
              <a:rPr lang="en-US" sz="3200" b="1" dirty="0"/>
              <a:t>Next Session: </a:t>
            </a:r>
            <a:r>
              <a:rPr lang="en-US" sz="3200" b="1" dirty="0" err="1"/>
              <a:t>inorder</a:t>
            </a:r>
            <a:r>
              <a:rPr lang="en-US" sz="3200" b="1" dirty="0"/>
              <a:t>, preorder and </a:t>
            </a:r>
            <a:r>
              <a:rPr lang="en-US" sz="3200" b="1" dirty="0" err="1"/>
              <a:t>postorder</a:t>
            </a:r>
            <a:r>
              <a:rPr lang="en-US" sz="3200" b="1" dirty="0"/>
              <a:t> traversing in binary tree.</a:t>
            </a:r>
            <a:endParaRPr lang="en-US"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31808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19</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10" name="Title 1">
            <a:extLst>
              <a:ext uri="{FF2B5EF4-FFF2-40B4-BE49-F238E27FC236}">
                <a16:creationId xmlns:a16="http://schemas.microsoft.com/office/drawing/2014/main" id="{E4F6F593-41A2-5797-581D-24AD95F1C7D0}"/>
              </a:ext>
            </a:extLst>
          </p:cNvPr>
          <p:cNvSpPr txBox="1">
            <a:spLocks/>
          </p:cNvSpPr>
          <p:nvPr/>
        </p:nvSpPr>
        <p:spPr>
          <a:xfrm>
            <a:off x="674913" y="1071593"/>
            <a:ext cx="4805996" cy="129711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solidFill>
                  <a:schemeClr val="tx2"/>
                </a:solidFill>
              </a:rPr>
              <a:t>Review and Reflection from students</a:t>
            </a:r>
          </a:p>
          <a:p>
            <a:pPr algn="ctr"/>
            <a:endParaRPr lang="en-US" sz="4000" dirty="0">
              <a:solidFill>
                <a:schemeClr val="tx2"/>
              </a:solidFill>
            </a:endParaRPr>
          </a:p>
          <a:p>
            <a:pPr algn="ctr"/>
            <a:endParaRPr lang="en-US" sz="4000" dirty="0">
              <a:solidFill>
                <a:schemeClr val="tx2"/>
              </a:solidFill>
            </a:endParaRPr>
          </a:p>
          <a:p>
            <a:pPr algn="ctr"/>
            <a:endParaRPr lang="en-US" sz="4000" dirty="0">
              <a:solidFill>
                <a:schemeClr val="tx2"/>
              </a:solidFill>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125" y="2202024"/>
            <a:ext cx="10191750" cy="40494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645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4494</TotalTime>
  <Words>955</Words>
  <Application>Microsoft Office PowerPoint</Application>
  <PresentationFormat>Widescreen</PresentationFormat>
  <Paragraphs>149</Paragraphs>
  <Slides>19</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Display</vt:lpstr>
      <vt:lpstr>Arial</vt:lpstr>
      <vt:lpstr>Calibri</vt:lpstr>
      <vt:lpstr>Georgia</vt:lpstr>
      <vt:lpstr>Tahoma</vt:lpstr>
      <vt:lpstr>Times New Roman</vt:lpstr>
      <vt:lpstr>Office Theme</vt:lpstr>
      <vt:lpstr> Binary Tree and Its array and linked list representation, Strict Binary Tree, Complete Binary Tree   Session No.: 32 Course Name: Data Strucutres Course Code: R1UC308B   Instructor Name: Sachin Tyagi Duration: 50 mins Date of Conduction of Class:</vt:lpstr>
      <vt:lpstr>PowerPoint Presentation</vt:lpstr>
      <vt:lpstr>PowerPoint Presentation</vt:lpstr>
      <vt:lpstr>PowerPoint Presentation</vt:lpstr>
      <vt:lpstr>Learning Outcomes</vt:lpstr>
      <vt:lpstr>PowerPoint Presentation</vt:lpstr>
      <vt:lpstr>PowerPoint Presentation</vt:lpstr>
      <vt:lpstr>Concept and Definition for (LO-1) </vt:lpstr>
      <vt:lpstr>Concept and Definition for (LO-1) </vt:lpstr>
      <vt:lpstr>Concept and Definition for (LO-1) </vt:lpstr>
      <vt:lpstr>Concept and Definition for (LO-1)  </vt:lpstr>
      <vt:lpstr>Concept and Definition for (LO-1)  </vt:lpstr>
      <vt:lpstr>Concept and Definition for (LO-1)  </vt:lpstr>
      <vt:lpstr>Concept and Definition for (LO-2) </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Equilibrium Index    Session No.: 2 Course Name: Advanced Algorithmic Problem Solving Course Code: R1UC601B   Instructor Name: Dr. Subhash chandra Gupta</dc:title>
  <dc:creator>Deepak Gupta</dc:creator>
  <cp:lastModifiedBy>akhilesh tripathi</cp:lastModifiedBy>
  <cp:revision>151</cp:revision>
  <dcterms:created xsi:type="dcterms:W3CDTF">2024-08-22T06:33:55Z</dcterms:created>
  <dcterms:modified xsi:type="dcterms:W3CDTF">2025-12-13T03:09:44Z</dcterms:modified>
</cp:coreProperties>
</file>