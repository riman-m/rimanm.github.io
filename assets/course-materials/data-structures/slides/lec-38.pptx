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2" r:id="rId3"/>
    <p:sldId id="297" r:id="rId4"/>
    <p:sldId id="292" r:id="rId5"/>
    <p:sldId id="293" r:id="rId6"/>
    <p:sldId id="290" r:id="rId7"/>
    <p:sldId id="260" r:id="rId8"/>
    <p:sldId id="312" r:id="rId9"/>
    <p:sldId id="308" r:id="rId10"/>
    <p:sldId id="311" r:id="rId11"/>
    <p:sldId id="288" r:id="rId12"/>
    <p:sldId id="299" r:id="rId13"/>
    <p:sldId id="310" r:id="rId14"/>
    <p:sldId id="301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01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Construct min and max Heap tree. 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Implement and apply Heap Sort to sort an unsorted list 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Construct min and max Heap tree. 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Implement and apply Heap Sort to sort an unsorted list 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Implement and apply Heap Sort to sort an unsorted list 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Construct min and max Heap tree. 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Implement and apply Heap Sort to sort an unsorted list 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Construct min and max Heap tree. 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Heaps and Heap Sort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38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</a:t>
            </a:r>
            <a:r>
              <a:rPr lang="en-IN" sz="1800" b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Conduction 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315885" y="1354784"/>
            <a:ext cx="113174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of Complete Binary tree and sorting.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B1B66ED-E51D-FC2F-4D49-1CB39323C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29" y="2063680"/>
            <a:ext cx="10541542" cy="349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is Complete Binary Tree 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147100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of Heap Tree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 err="1"/>
              <a:t>Heapify</a:t>
            </a:r>
            <a:r>
              <a:rPr lang="en-US" sz="2800" dirty="0"/>
              <a:t> Concept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Heap Sort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225" y="191745"/>
            <a:ext cx="6858000" cy="6239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16238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Heap tree is a complete binary tree. Heap tree is of two types: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32702E-3178-55FC-D4CB-1830D6CBF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20324"/>
              </p:ext>
            </p:extLst>
          </p:nvPr>
        </p:nvGraphicFramePr>
        <p:xfrm>
          <a:off x="1450059" y="1894267"/>
          <a:ext cx="8378120" cy="4148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9060">
                  <a:extLst>
                    <a:ext uri="{9D8B030D-6E8A-4147-A177-3AD203B41FA5}">
                      <a16:colId xmlns:a16="http://schemas.microsoft.com/office/drawing/2014/main" val="1681405412"/>
                    </a:ext>
                  </a:extLst>
                </a:gridCol>
                <a:gridCol w="4189060">
                  <a:extLst>
                    <a:ext uri="{9D8B030D-6E8A-4147-A177-3AD203B41FA5}">
                      <a16:colId xmlns:a16="http://schemas.microsoft.com/office/drawing/2014/main" val="3846919817"/>
                    </a:ext>
                  </a:extLst>
                </a:gridCol>
              </a:tblGrid>
              <a:tr h="4148051">
                <a:tc>
                  <a:txBody>
                    <a:bodyPr/>
                    <a:lstStyle/>
                    <a:p>
                      <a:pPr lvl="0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Min-Heap − Where the value of the each node is less than or equal to either of its children.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Max-Heap − Where the value of the each node is greater than or equal to either of its children.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1252"/>
                  </a:ext>
                </a:extLst>
              </a:tr>
            </a:tbl>
          </a:graphicData>
        </a:graphic>
      </p:graphicFrame>
      <p:pic>
        <p:nvPicPr>
          <p:cNvPr id="3" name="Picture 2" descr="Max Heap Example">
            <a:extLst>
              <a:ext uri="{FF2B5EF4-FFF2-40B4-BE49-F238E27FC236}">
                <a16:creationId xmlns:a16="http://schemas.microsoft.com/office/drawing/2014/main" id="{BDD1E2F7-2E5F-C464-15C3-4474D35EA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192" y="2998037"/>
            <a:ext cx="4010382" cy="292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Max Heap Example">
            <a:extLst>
              <a:ext uri="{FF2B5EF4-FFF2-40B4-BE49-F238E27FC236}">
                <a16:creationId xmlns:a16="http://schemas.microsoft.com/office/drawing/2014/main" id="{7B98008F-02E8-AECA-F476-4D9D075E5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47" y="2998037"/>
            <a:ext cx="4010382" cy="29289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AB45-FEE5-5F2E-8A48-E76C3435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99ECF-AD99-1235-0F34-5967094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4F9D2-61A3-1084-5DB7-D98F954E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CAB1F39-D634-BC2C-067B-E5BB4DEB31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D9007B-4590-47F8-D6A6-5499A5F8CEA4}"/>
              </a:ext>
            </a:extLst>
          </p:cNvPr>
          <p:cNvSpPr txBox="1"/>
          <p:nvPr/>
        </p:nvSpPr>
        <p:spPr>
          <a:xfrm>
            <a:off x="727756" y="1219889"/>
            <a:ext cx="104681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3200" b="1" dirty="0"/>
          </a:p>
          <a:p>
            <a:pPr algn="ctr"/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0F305-E716-BFA2-02D1-366CA4359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10AF19-7660-6063-6992-437088A2992A}"/>
              </a:ext>
            </a:extLst>
          </p:cNvPr>
          <p:cNvSpPr txBox="1"/>
          <p:nvPr/>
        </p:nvSpPr>
        <p:spPr>
          <a:xfrm>
            <a:off x="1284986" y="1051486"/>
            <a:ext cx="95464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Heap Sort Procedure (Ascending Order using Max Heap)</a:t>
            </a:r>
          </a:p>
          <a:p>
            <a:pPr marL="457200" indent="-457200">
              <a:buAutoNum type="arabicPeriod"/>
            </a:pPr>
            <a:r>
              <a:rPr lang="en-US" sz="2400" dirty="0"/>
              <a:t>Build </a:t>
            </a:r>
            <a:r>
              <a:rPr lang="en-US" sz="2400" dirty="0" err="1"/>
              <a:t>HeapConvert</a:t>
            </a:r>
            <a:r>
              <a:rPr lang="en-US" sz="2400" dirty="0"/>
              <a:t> the array into a Max Heap (for ascending order).</a:t>
            </a:r>
          </a:p>
          <a:p>
            <a:r>
              <a:rPr lang="en-US" sz="2400" dirty="0"/>
              <a:t>      Use </a:t>
            </a:r>
            <a:r>
              <a:rPr lang="en-US" sz="2400" dirty="0" err="1"/>
              <a:t>Heapify</a:t>
            </a:r>
            <a:r>
              <a:rPr lang="en-US" sz="2400" dirty="0"/>
              <a:t> to maintain heap property.</a:t>
            </a:r>
          </a:p>
          <a:p>
            <a:r>
              <a:rPr lang="en-US" sz="2400" dirty="0"/>
              <a:t>2. Swap &amp; Reduce Heap </a:t>
            </a:r>
            <a:r>
              <a:rPr lang="en-US" sz="2400" dirty="0" err="1"/>
              <a:t>SizeSwap</a:t>
            </a:r>
            <a:r>
              <a:rPr lang="en-US" sz="2400" dirty="0"/>
              <a:t> the root (maximum element) with the last </a:t>
            </a:r>
            <a:r>
              <a:rPr lang="en-US" sz="2400" dirty="0" err="1"/>
              <a:t>element.Reduce</a:t>
            </a:r>
            <a:r>
              <a:rPr lang="en-US" sz="2400" dirty="0"/>
              <a:t> the heap size by 1.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HeapifyApply</a:t>
            </a:r>
            <a:r>
              <a:rPr lang="en-US" sz="2400" dirty="0"/>
              <a:t> </a:t>
            </a:r>
            <a:r>
              <a:rPr lang="en-US" sz="2400" dirty="0" err="1"/>
              <a:t>heapify</a:t>
            </a:r>
            <a:r>
              <a:rPr lang="en-US" sz="2400" dirty="0"/>
              <a:t> on the new root to restore heap property.</a:t>
            </a:r>
          </a:p>
          <a:p>
            <a:r>
              <a:rPr lang="en-US" sz="2400" dirty="0"/>
              <a:t>4. </a:t>
            </a:r>
            <a:r>
              <a:rPr lang="en-US" sz="2400" dirty="0" err="1"/>
              <a:t>RepeatContinue</a:t>
            </a:r>
            <a:r>
              <a:rPr lang="en-US" sz="2400" dirty="0"/>
              <a:t> swapping root with last element and </a:t>
            </a:r>
            <a:r>
              <a:rPr lang="en-US" sz="2400" dirty="0" err="1"/>
              <a:t>heapifying</a:t>
            </a:r>
            <a:r>
              <a:rPr lang="en-US" sz="2400" dirty="0"/>
              <a:t> until only one element remains.</a:t>
            </a:r>
          </a:p>
          <a:p>
            <a:r>
              <a:rPr lang="en-US" sz="2400" b="1" dirty="0" err="1"/>
              <a:t>Heapify</a:t>
            </a:r>
            <a:r>
              <a:rPr lang="en-US" sz="2400" b="1" dirty="0"/>
              <a:t> Logic </a:t>
            </a:r>
            <a:r>
              <a:rPr lang="en-US" sz="2400" dirty="0"/>
              <a:t>For a node at index i: Left child = 2i + 1Right child = 2i + 2 Swap </a:t>
            </a:r>
            <a:r>
              <a:rPr lang="en-US" sz="2400" dirty="0" err="1"/>
              <a:t>i</a:t>
            </a:r>
            <a:r>
              <a:rPr lang="en-US" sz="2400" dirty="0"/>
              <a:t> with the largest of (</a:t>
            </a:r>
            <a:r>
              <a:rPr lang="en-US" sz="2400" dirty="0" err="1"/>
              <a:t>i</a:t>
            </a:r>
            <a:r>
              <a:rPr lang="en-US" sz="2400" dirty="0"/>
              <a:t>, left, right) if heap property is violated.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8933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0E5D8-4D97-AA87-6254-94E8C403F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351424"/>
              </p:ext>
            </p:extLst>
          </p:nvPr>
        </p:nvGraphicFramePr>
        <p:xfrm>
          <a:off x="1414610" y="869314"/>
          <a:ext cx="8396944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472">
                  <a:extLst>
                    <a:ext uri="{9D8B030D-6E8A-4147-A177-3AD203B41FA5}">
                      <a16:colId xmlns:a16="http://schemas.microsoft.com/office/drawing/2014/main" val="1681405412"/>
                    </a:ext>
                  </a:extLst>
                </a:gridCol>
                <a:gridCol w="4198472">
                  <a:extLst>
                    <a:ext uri="{9D8B030D-6E8A-4147-A177-3AD203B41FA5}">
                      <a16:colId xmlns:a16="http://schemas.microsoft.com/office/drawing/2014/main" val="3846919817"/>
                    </a:ext>
                  </a:extLst>
                </a:gridCol>
              </a:tblGrid>
              <a:tr h="5622925"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heapify(int a[],int n,int i)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int lar,l,r,t;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lar =i;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l=2*i+1;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r=l+1;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if(l&lt;n &amp;&amp; a[l]&gt;a[lar])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lar=l;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if(r&lt;n &amp;&amp; a[r]&gt;a[lar])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lar=r;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if(lar!=i)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        t=a[lar];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a[lar]=a[i]; 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a[i]=t;  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heapify(a,n,lar);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buildheap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(int a[],int n)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 int </a:t>
                      </a:r>
                      <a:r>
                        <a:rPr lang="en-IN" sz="18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i;</a:t>
                      </a:r>
                      <a:endParaRPr lang="en-I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for(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=(n/2)-1;i&gt;=0;i--)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heapify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a,n,i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endParaRPr lang="en-I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heapsort(int a[],int n)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{        int t;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while(n&gt;1)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{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t=a[n-1];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a[n-1]=a[0];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a[0]=t;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n=n-1;    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heapify(a,n,0);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}   </a:t>
                      </a:r>
                    </a:p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</a:t>
                      </a:r>
                      <a:endParaRPr lang="en-I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1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63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31B9-F3F9-26D5-B281-A59EF469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B4079-C4CE-40DE-904D-1EA9C039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9E80-CAEE-31A8-87CA-6EEFB4CE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1787184-F0FC-A8C7-996F-EA20CC49C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75F851-19E5-FBD0-1846-6919951959D8}"/>
              </a:ext>
            </a:extLst>
          </p:cNvPr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[10-mins]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24C17-C81F-A97A-19B5-A9541EACE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D727C9-21D8-A2F6-0C13-8CDC4071179D}"/>
              </a:ext>
            </a:extLst>
          </p:cNvPr>
          <p:cNvSpPr txBox="1"/>
          <p:nvPr/>
        </p:nvSpPr>
        <p:spPr>
          <a:xfrm>
            <a:off x="1984076" y="760220"/>
            <a:ext cx="84577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        Activity-1 (Think – Pair – Share)</a:t>
            </a:r>
          </a:p>
          <a:p>
            <a:endParaRPr lang="en-US" sz="3200" b="1" dirty="0"/>
          </a:p>
          <a:p>
            <a:r>
              <a:rPr lang="en-US" sz="3200" b="1" dirty="0"/>
              <a:t>Apply heap sort to sort the following numbers:</a:t>
            </a:r>
          </a:p>
          <a:p>
            <a:r>
              <a:rPr lang="en-US" sz="3200" b="1" dirty="0"/>
              <a:t>10,30,40,20,100,90,70,80,50,60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5861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7" name="Picture 6" descr="A qr code on a screen&#10;&#10;AI-generated content may be incorrect.">
            <a:extLst>
              <a:ext uri="{FF2B5EF4-FFF2-40B4-BE49-F238E27FC236}">
                <a16:creationId xmlns:a16="http://schemas.microsoft.com/office/drawing/2014/main" id="{484C65F6-03FC-C807-9534-40FB9D5BC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160" y="1739812"/>
            <a:ext cx="6952764" cy="389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47851" y="765254"/>
            <a:ext cx="10373193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5374729-70BB-FFFC-85D2-4682DB38D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65" y="1420818"/>
            <a:ext cx="114313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 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heap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binary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satisfies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 property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Max-Heap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parent node is greater than or equal to its children.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Min-Heap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parent node is less than or equal to its children.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Heapify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process to maintain the heap property by adjusting nodes, typically used in heap construction and heap sort.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 Sort Steps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max-heap from the array.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dirty="0"/>
              <a:t>Swap root (largest element) with last element.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heap size and call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heapify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until array is sorted.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heap: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heapify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O(log 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 Sort: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O(n log 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Heap sort is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in-place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non-stable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sorting algorithm.</a:t>
            </a:r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2DE-94AF-4FA6-AC91-F6E133F1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DBE0-A5DB-2C0C-EAD8-679E0833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E280-9E74-593A-97BB-AA83D2BF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C7D976-CEDB-D82A-7AEB-C4287BDEA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D196369-5E80-F50C-6B80-49FCB1043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26" y="1065923"/>
            <a:ext cx="10724206" cy="472067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A58D6-0AEC-35D7-0B18-4C3ABB1DFA36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5072BE33-7B7A-7B46-8781-424CBA011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1282423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9A45468-42E3-31D5-0DCF-A4828F31DA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of Graph and representation graph in memory.</a:t>
            </a: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839</Words>
  <Application>Microsoft Office PowerPoint</Application>
  <PresentationFormat>Widescreen</PresentationFormat>
  <Paragraphs>132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  Heaps and Heap Sort   Session No.: 38 Course Name: Data Strucutres Course Code: R1UC308B   Instructor Name: Akhilesh Kumar Tripathi Duration: 50 mins Date of Conduction :</vt:lpstr>
      <vt:lpstr>PowerPoint Presentation</vt:lpstr>
      <vt:lpstr>PowerPoint Presentation</vt:lpstr>
      <vt:lpstr>PowerPoint Presentation</vt:lpstr>
      <vt:lpstr>Learning Outcomes</vt:lpstr>
      <vt:lpstr>PowerPoint Presentation</vt:lpstr>
      <vt:lpstr>Concept and Definition for (LO-1) </vt:lpstr>
      <vt:lpstr>PowerPoint Presentation</vt:lpstr>
      <vt:lpstr>Concept and Definition for (LO-2)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115</cp:revision>
  <dcterms:created xsi:type="dcterms:W3CDTF">2024-08-22T06:33:55Z</dcterms:created>
  <dcterms:modified xsi:type="dcterms:W3CDTF">2026-03-23T05:10:51Z</dcterms:modified>
</cp:coreProperties>
</file>