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2" r:id="rId3"/>
    <p:sldId id="297" r:id="rId4"/>
    <p:sldId id="292" r:id="rId5"/>
    <p:sldId id="293" r:id="rId6"/>
    <p:sldId id="290" r:id="rId7"/>
    <p:sldId id="294" r:id="rId8"/>
    <p:sldId id="260" r:id="rId9"/>
    <p:sldId id="303" r:id="rId10"/>
    <p:sldId id="304" r:id="rId11"/>
    <p:sldId id="296" r:id="rId12"/>
    <p:sldId id="295" r:id="rId13"/>
    <p:sldId id="298" r:id="rId14"/>
    <p:sldId id="262" r:id="rId15"/>
    <p:sldId id="288" r:id="rId16"/>
    <p:sldId id="299" r:id="rId17"/>
    <p:sldId id="300" r:id="rId18"/>
    <p:sldId id="301" r:id="rId19"/>
    <p:sldId id="30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Define key terms related to data structures such as data, data type, abstract data type (ADT), and operations.. </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Classify different types of data structures and identify real-life applications for each.</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Define key terms related to data structures such as data, data type, abstract data type (ADT), and operations.. </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Classify different types of data structures and identify real-life applications for each.</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Classify different types of data structures and identify real-life applications for each.</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Define key terms related to data structures such as data, data type, abstract data type (ADT), and operations.. </a:t>
          </a:r>
        </a:p>
      </dsp:txBody>
      <dsp:txXfrm rot="10800000">
        <a:off x="0" y="1663"/>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Classify different types of data structures and identify real-life applications for each.</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Define key terms related to data structures such as data, data type, abstract data type (ADT), and operations.. </a:t>
          </a:r>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21-08-2025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21-08-2025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21-08-2025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21-08-2025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21-08-2025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21-08-2025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21-08-2025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21-08-2025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21-08-2025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21-08-2025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21-08-2025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21-08-2025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21-08-2025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IN" sz="3600" b="1" dirty="0">
                <a:solidFill>
                  <a:schemeClr val="bg1"/>
                </a:solidFill>
                <a:latin typeface="Georgia" panose="02040502050405020303" pitchFamily="18" charset="0"/>
                <a:cs typeface="Arial" panose="020B0604020202020204" pitchFamily="34" charset="0"/>
              </a:rPr>
              <a:t>Introduction</a:t>
            </a:r>
            <a:br>
              <a:rPr lang="en-IN" sz="3600" b="1" dirty="0">
                <a:solidFill>
                  <a:schemeClr val="bg1"/>
                </a:solidFill>
                <a:latin typeface="Georgia" panose="02040502050405020303" pitchFamily="18" charset="0"/>
                <a:cs typeface="Arial" panose="020B0604020202020204" pitchFamily="34" charset="0"/>
              </a:rPr>
            </a:br>
            <a:r>
              <a:rPr lang="en-IN" sz="3600" b="1" dirty="0">
                <a:solidFill>
                  <a:schemeClr val="bg1"/>
                </a:solidFill>
                <a:latin typeface="Georgia" panose="02040502050405020303" pitchFamily="18" charset="0"/>
                <a:cs typeface="Arial" panose="020B0604020202020204" pitchFamily="34" charset="0"/>
              </a:rPr>
              <a:t>Data Structures</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1</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21 Aug 2025</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1354784"/>
            <a:ext cx="10810559" cy="2677656"/>
          </a:xfrm>
          <a:prstGeom prst="rect">
            <a:avLst/>
          </a:prstGeom>
          <a:noFill/>
        </p:spPr>
        <p:txBody>
          <a:bodyPr wrap="square">
            <a:spAutoFit/>
          </a:bodyPr>
          <a:lstStyle/>
          <a:p>
            <a:pPr algn="ctr"/>
            <a:r>
              <a:rPr lang="en-US" sz="2800" b="1" dirty="0"/>
              <a:t>Review</a:t>
            </a:r>
          </a:p>
          <a:p>
            <a:pPr algn="ctr"/>
            <a:endParaRPr lang="en-US" sz="2800" dirty="0"/>
          </a:p>
          <a:p>
            <a:r>
              <a:rPr lang="en-US" sz="2800" b="1" dirty="0"/>
              <a:t>Pre-Requisite : </a:t>
            </a:r>
          </a:p>
          <a:p>
            <a:endParaRPr lang="en-US" sz="2800" b="1" dirty="0"/>
          </a:p>
          <a:p>
            <a:r>
              <a:rPr lang="en-US" sz="2800" b="1" dirty="0"/>
              <a:t>Students must have knowledge of C/C++ programming language.</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1026" name="Picture 2">
            <a:extLst>
              <a:ext uri="{FF2B5EF4-FFF2-40B4-BE49-F238E27FC236}">
                <a16:creationId xmlns:a16="http://schemas.microsoft.com/office/drawing/2014/main" id="{88E0309C-5F3B-179E-8D6C-B6F590B7EB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9428" y="2009775"/>
            <a:ext cx="7576457" cy="3509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a:p>
              <a:pPr algn="ctr"/>
              <a:r>
                <a:rPr lang="en-US" sz="3600" dirty="0"/>
                <a:t>What is Data Structure?</a:t>
              </a:r>
            </a:p>
          </p:txBody>
        </p:sp>
      </p:gr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2444109430"/>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3231654"/>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Introduction to Data and Data Structures</a:t>
            </a:r>
          </a:p>
          <a:p>
            <a:pPr marL="342900" indent="-342900">
              <a:buFont typeface="Arial" pitchFamily="34" charset="0"/>
              <a:buChar char="•"/>
            </a:pPr>
            <a:r>
              <a:rPr lang="en-US" sz="2800" dirty="0"/>
              <a:t>Types of Data Structures</a:t>
            </a:r>
          </a:p>
          <a:p>
            <a:pPr marL="342900" indent="-342900">
              <a:buFont typeface="Arial" pitchFamily="34" charset="0"/>
              <a:buChar char="•"/>
            </a:pPr>
            <a:r>
              <a:rPr lang="en-US" sz="2800" dirty="0"/>
              <a:t>Applications of Data Structures</a:t>
            </a:r>
          </a:p>
          <a:p>
            <a:pPr marL="342900" lvl="0" indent="-342900">
              <a:buFont typeface="Arial" pitchFamily="34" charset="0"/>
              <a:buChar char="•"/>
            </a:pPr>
            <a:r>
              <a:rPr lang="en-US" sz="2800" dirty="0"/>
              <a:t>Provide hands-on activities and reinforce learning through an interactive </a:t>
            </a:r>
            <a:r>
              <a:rPr lang="en-US" sz="2800" dirty="0" err="1"/>
              <a:t>WooClap</a:t>
            </a:r>
            <a:r>
              <a:rPr lang="en-US" sz="2800" dirty="0"/>
              <a:t> and </a:t>
            </a:r>
            <a:r>
              <a:rPr lang="en-US" sz="2800" dirty="0" err="1"/>
              <a:t>WooFlash</a:t>
            </a:r>
            <a:r>
              <a:rPr lang="en-US" sz="2800" dirty="0"/>
              <a:t> tools.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2002748" y="12800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12" descr="Puzzle Pieces"/>
          <p:cNvSpPr/>
          <p:nvPr/>
        </p:nvSpPr>
        <p:spPr>
          <a:xfrm>
            <a:off x="7663508" y="1256657"/>
            <a:ext cx="2793098" cy="213547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104932" y="3581578"/>
            <a:ext cx="6015649"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r>
                <a:rPr lang="en-US" sz="3600" dirty="0"/>
                <a:t>What is the Data Structures and their needs?</a:t>
              </a:r>
            </a:p>
            <a:p>
              <a:pPr algn="ctr"/>
              <a:endParaRPr lang="en-US" sz="32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p:cNvGrpSpPr/>
          <p:nvPr/>
        </p:nvGrpSpPr>
        <p:grpSpPr>
          <a:xfrm>
            <a:off x="6415549" y="3581578"/>
            <a:ext cx="5217750" cy="2231566"/>
            <a:chOff x="5758250" y="2062546"/>
            <a:chExt cx="4320000" cy="1753990"/>
          </a:xfrm>
        </p:grpSpPr>
        <p:sp>
          <p:nvSpPr>
            <p:cNvPr id="18" name="Rectangle 17"/>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sp>
        <p:sp>
          <p:nvSpPr>
            <p:cNvPr id="19" name="Rectangle 18"/>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spcFirstLastPara="0" vert="horz" wrap="square" lIns="0" tIns="0" rIns="0" bIns="0" numCol="1" spcCol="1270" anchor="t" anchorCtr="0">
              <a:noAutofit/>
            </a:bodyPr>
            <a:lstStyle/>
            <a:p>
              <a:pPr algn="ctr" defTabSz="1333500">
                <a:spcBef>
                  <a:spcPct val="0"/>
                </a:spcBef>
                <a:spcAft>
                  <a:spcPct val="35000"/>
                </a:spcAft>
              </a:pPr>
              <a:endParaRPr lang="en-US" sz="3200" dirty="0"/>
            </a:p>
          </p:txBody>
        </p:sp>
      </p:grpSp>
      <p:sp>
        <p:nvSpPr>
          <p:cNvPr id="20" name="TextBox 19"/>
          <p:cNvSpPr txBox="1"/>
          <p:nvPr/>
        </p:nvSpPr>
        <p:spPr>
          <a:xfrm>
            <a:off x="3761668" y="760220"/>
            <a:ext cx="6680173" cy="584775"/>
          </a:xfrm>
          <a:prstGeom prst="rect">
            <a:avLst/>
          </a:prstGeom>
          <a:noFill/>
        </p:spPr>
        <p:txBody>
          <a:bodyPr wrap="square" rtlCol="0">
            <a:spAutoFit/>
          </a:bodyPr>
          <a:lstStyle/>
          <a:p>
            <a:r>
              <a:rPr lang="en-US" sz="3200" b="1" dirty="0"/>
              <a:t>Activity-1 (Think – Pair – Share)</a:t>
            </a:r>
          </a:p>
        </p:txBody>
      </p:sp>
      <p:sp>
        <p:nvSpPr>
          <p:cNvPr id="3" name="Rectangle 2"/>
          <p:cNvSpPr/>
          <p:nvPr/>
        </p:nvSpPr>
        <p:spPr>
          <a:xfrm>
            <a:off x="6522475" y="3771900"/>
            <a:ext cx="5003898" cy="584775"/>
          </a:xfrm>
          <a:prstGeom prst="rect">
            <a:avLst/>
          </a:prstGeom>
        </p:spPr>
        <p:txBody>
          <a:bodyPr wrap="square">
            <a:spAutoFit/>
          </a:bodyPr>
          <a:lstStyle/>
          <a:p>
            <a:pPr algn="ctr"/>
            <a:r>
              <a:rPr lang="en-US" sz="3200" b="1" dirty="0">
                <a:solidFill>
                  <a:schemeClr val="bg1"/>
                </a:solidFill>
              </a:rPr>
              <a:t>Data Structures</a:t>
            </a:r>
          </a:p>
        </p:txBody>
      </p:sp>
    </p:spTree>
    <p:extLst>
      <p:ext uri="{BB962C8B-B14F-4D97-AF65-F5344CB8AC3E}">
        <p14:creationId xmlns:p14="http://schemas.microsoft.com/office/powerpoint/2010/main" val="2461999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065690"/>
            <a:ext cx="10795098" cy="5755422"/>
          </a:xfrm>
          <a:prstGeom prst="rect">
            <a:avLst/>
          </a:prstGeom>
          <a:noFill/>
        </p:spPr>
        <p:txBody>
          <a:bodyPr wrap="square">
            <a:spAutoFit/>
          </a:bodyPr>
          <a:lstStyle/>
          <a:p>
            <a:pPr lvl="0"/>
            <a:r>
              <a:rPr lang="en-US" sz="2800" b="1" dirty="0"/>
              <a:t>What is Data Structure?</a:t>
            </a:r>
          </a:p>
          <a:p>
            <a:pPr lvl="0"/>
            <a:r>
              <a:rPr lang="en-US" sz="2800" dirty="0"/>
              <a:t>	- A data structure is a particular way of organizing data in a 	computer so that it can be used effectively. The idea is to 	reduce the space and time complexities of different tasks.</a:t>
            </a:r>
          </a:p>
          <a:p>
            <a:pPr lvl="0"/>
            <a:endParaRPr lang="en-US" sz="2800" dirty="0"/>
          </a:p>
          <a:p>
            <a:pPr lvl="0"/>
            <a:r>
              <a:rPr lang="en-US" sz="2800" dirty="0"/>
              <a:t>	- The choice of a good data structure makes it possible to 	perform a variety of critical operations effectively.</a:t>
            </a:r>
          </a:p>
          <a:p>
            <a:pPr lvl="0"/>
            <a:endParaRPr lang="en-US" sz="2800" dirty="0"/>
          </a:p>
          <a:p>
            <a:pPr lvl="0"/>
            <a:r>
              <a:rPr lang="en-US" sz="2800" dirty="0"/>
              <a:t>	- An efficient data structure also uses minimum memory 	space and execution time to process the structure.</a:t>
            </a:r>
          </a:p>
          <a:p>
            <a:pPr lvl="0"/>
            <a:endParaRPr lang="en-US" sz="2800" dirty="0"/>
          </a:p>
          <a:p>
            <a:pPr lvl="0"/>
            <a:r>
              <a:rPr lang="en-US" sz="2800" dirty="0"/>
              <a:t>	- A data structure is not only used for organizing the data. It is 	also used for processing, retrieving, and storing data.</a:t>
            </a: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87261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latin typeface="Tahoma" panose="020B0604030504040204" pitchFamily="34" charset="0"/>
                <a:ea typeface="Tahoma" panose="020B0604030504040204" pitchFamily="34" charset="0"/>
                <a:cs typeface="Tahoma" panose="020B0604030504040204" pitchFamily="34" charset="0"/>
              </a:rPr>
              <a:t>Need of Data Structures</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5262979"/>
          </a:xfrm>
          <a:prstGeom prst="rect">
            <a:avLst/>
          </a:prstGeom>
          <a:noFill/>
        </p:spPr>
        <p:txBody>
          <a:bodyPr wrap="square">
            <a:spAutoFit/>
          </a:bodyPr>
          <a:lstStyle/>
          <a:p>
            <a:pPr lvl="0" algn="just"/>
            <a:r>
              <a:rPr lang="en-US" sz="2800" dirty="0"/>
              <a:t>The structure of the data and the synthesis of the algorithm are relative to each other. Data presentation must be easy to understand to the developer, as well as the user, can make an efficient implementation of the operation. Data structures provide an easy way of organizing, retrieving, managing, and storing data. </a:t>
            </a:r>
          </a:p>
          <a:p>
            <a:pPr lvl="0" algn="just"/>
            <a:endParaRPr lang="en-US" sz="2800" dirty="0"/>
          </a:p>
          <a:p>
            <a:pPr lvl="0" algn="just"/>
            <a:r>
              <a:rPr lang="en-US" sz="2800" dirty="0"/>
              <a:t>Here is a list of the needs for data structure. </a:t>
            </a:r>
          </a:p>
          <a:p>
            <a:pPr lvl="0" algn="just"/>
            <a:r>
              <a:rPr lang="en-US" sz="2800" dirty="0"/>
              <a:t>▶ Data structure modification is easy. </a:t>
            </a:r>
          </a:p>
          <a:p>
            <a:pPr lvl="0" algn="just"/>
            <a:r>
              <a:rPr lang="en-US" sz="2800" dirty="0"/>
              <a:t>▶ It requires less time.</a:t>
            </a:r>
          </a:p>
          <a:p>
            <a:pPr lvl="0" algn="just"/>
            <a:r>
              <a:rPr lang="en-US" sz="2800" dirty="0"/>
              <a:t>▶ Save storage memory space. </a:t>
            </a:r>
          </a:p>
          <a:p>
            <a:pPr lvl="0" algn="just"/>
            <a:r>
              <a:rPr lang="en-US" sz="2800" dirty="0"/>
              <a:t>▶ Data representation is easy. </a:t>
            </a:r>
          </a:p>
          <a:p>
            <a:pPr lvl="0" algn="just"/>
            <a:r>
              <a:rPr lang="en-US" sz="2800" dirty="0"/>
              <a:t>▶ Easy access to the large database</a:t>
            </a: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886584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Classification / Types of Data Structures</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4832092"/>
          </a:xfrm>
          <a:prstGeom prst="rect">
            <a:avLst/>
          </a:prstGeom>
          <a:noFill/>
        </p:spPr>
        <p:txBody>
          <a:bodyPr wrap="square">
            <a:spAutoFit/>
          </a:bodyPr>
          <a:lstStyle/>
          <a:p>
            <a:pPr marL="514350" lvl="0" indent="-514350" algn="just">
              <a:buAutoNum type="arabicPeriod"/>
            </a:pPr>
            <a:r>
              <a:rPr lang="en-US" sz="2800" dirty="0"/>
              <a:t>Linear Data Structure </a:t>
            </a:r>
          </a:p>
          <a:p>
            <a:pPr lvl="0" algn="just"/>
            <a:r>
              <a:rPr lang="en-US" sz="2800" dirty="0"/>
              <a:t>2.  Non-Linear Data Structure </a:t>
            </a:r>
          </a:p>
          <a:p>
            <a:pPr lvl="0" algn="just"/>
            <a:endParaRPr lang="en-US" sz="2800" dirty="0"/>
          </a:p>
          <a:p>
            <a:pPr lvl="0" algn="just"/>
            <a:r>
              <a:rPr lang="en-US" sz="2800" b="1" dirty="0"/>
              <a:t>Linear Data Structure</a:t>
            </a:r>
            <a:r>
              <a:rPr lang="en-US" sz="2800" dirty="0"/>
              <a:t>: Elements are accessed in a sequential order but it is not compulsory to store all elements sequentially (say, Linked Lists). </a:t>
            </a:r>
          </a:p>
          <a:p>
            <a:pPr lvl="0" algn="just"/>
            <a:r>
              <a:rPr lang="en-US" sz="2800" dirty="0"/>
              <a:t>	Examples: Linked Lists, Stacks and Queues. </a:t>
            </a:r>
          </a:p>
          <a:p>
            <a:pPr lvl="0" algn="just"/>
            <a:endParaRPr lang="en-US" sz="2800" dirty="0"/>
          </a:p>
          <a:p>
            <a:pPr lvl="0" algn="just"/>
            <a:r>
              <a:rPr lang="en-US" sz="2800" b="1" dirty="0"/>
              <a:t>Non-Linear Data Structure</a:t>
            </a:r>
            <a:r>
              <a:rPr lang="en-US" sz="2800" dirty="0"/>
              <a:t>: Elements of this data structure are stored/accessed in a non-linear order. </a:t>
            </a:r>
          </a:p>
          <a:p>
            <a:pPr lvl="0" algn="just"/>
            <a:r>
              <a:rPr lang="en-US" sz="2800" dirty="0"/>
              <a:t>	Examples: Trees and graphs</a:t>
            </a: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096714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3" name="Rectangle 2"/>
          <p:cNvSpPr/>
          <p:nvPr/>
        </p:nvSpPr>
        <p:spPr>
          <a:xfrm>
            <a:off x="10671589" y="1051175"/>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0" name="Picture 9">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pic>
        <p:nvPicPr>
          <p:cNvPr id="1028" name="Picture 4" descr="Data Structures And Typ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2749" y="1420506"/>
            <a:ext cx="8227101" cy="468275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485900" y="1235841"/>
            <a:ext cx="5276850" cy="461665"/>
          </a:xfrm>
          <a:prstGeom prst="rect">
            <a:avLst/>
          </a:prstGeom>
          <a:noFill/>
        </p:spPr>
        <p:txBody>
          <a:bodyPr wrap="square" rtlCol="0">
            <a:spAutoFit/>
          </a:bodyPr>
          <a:lstStyle/>
          <a:p>
            <a:r>
              <a:rPr lang="en-US" sz="2400" b="1" dirty="0"/>
              <a:t>Classification of Data Structures : </a:t>
            </a:r>
          </a:p>
        </p:txBody>
      </p:sp>
    </p:spTree>
    <p:extLst>
      <p:ext uri="{BB962C8B-B14F-4D97-AF65-F5344CB8AC3E}">
        <p14:creationId xmlns:p14="http://schemas.microsoft.com/office/powerpoint/2010/main" val="3383576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9" name="Content Placeholder 8">
            <a:extLst>
              <a:ext uri="{FF2B5EF4-FFF2-40B4-BE49-F238E27FC236}">
                <a16:creationId xmlns:a16="http://schemas.microsoft.com/office/drawing/2014/main" id="{FB266FDA-D995-346B-296F-823F9A02134C}"/>
              </a:ext>
            </a:extLst>
          </p:cNvPr>
          <p:cNvSpPr>
            <a:spLocks noGrp="1"/>
          </p:cNvSpPr>
          <p:nvPr>
            <p:ph idx="1"/>
          </p:nvPr>
        </p:nvSpPr>
        <p:spPr>
          <a:xfrm>
            <a:off x="1014188" y="1006840"/>
            <a:ext cx="7377034" cy="5344839"/>
          </a:xfrm>
          <a:noFill/>
          <a:ln>
            <a:noFill/>
          </a:ln>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2400" b="1" dirty="0"/>
              <a:t>Applications of Data Structures </a:t>
            </a:r>
          </a:p>
          <a:p>
            <a:pPr marL="0" indent="0">
              <a:buNone/>
            </a:pPr>
            <a:r>
              <a:rPr lang="en-US" sz="2400" dirty="0"/>
              <a:t>Data structures are used in various fields such as: </a:t>
            </a:r>
          </a:p>
          <a:p>
            <a:pPr marL="0" indent="0">
              <a:buNone/>
            </a:pPr>
            <a:endParaRPr lang="en-US" sz="2400" dirty="0"/>
          </a:p>
          <a:p>
            <a:pPr marL="0" indent="0">
              <a:buNone/>
            </a:pPr>
            <a:r>
              <a:rPr lang="en-US" sz="2400" dirty="0"/>
              <a:t>▶ Operating system </a:t>
            </a:r>
          </a:p>
          <a:p>
            <a:pPr marL="0" indent="0">
              <a:buNone/>
            </a:pPr>
            <a:r>
              <a:rPr lang="en-US" sz="2400" dirty="0"/>
              <a:t>▶ Graphics </a:t>
            </a:r>
          </a:p>
          <a:p>
            <a:pPr marL="0" indent="0">
              <a:buNone/>
            </a:pPr>
            <a:r>
              <a:rPr lang="en-US" sz="2400" dirty="0"/>
              <a:t>▶ Computer Design </a:t>
            </a:r>
          </a:p>
          <a:p>
            <a:pPr marL="0" indent="0">
              <a:buNone/>
            </a:pPr>
            <a:r>
              <a:rPr lang="en-US" sz="2400" dirty="0"/>
              <a:t>▶ </a:t>
            </a:r>
            <a:r>
              <a:rPr lang="en-US" sz="2400" dirty="0" err="1"/>
              <a:t>Blockchain</a:t>
            </a:r>
            <a:r>
              <a:rPr lang="en-US" sz="2400" dirty="0"/>
              <a:t> </a:t>
            </a:r>
          </a:p>
          <a:p>
            <a:pPr marL="0" indent="0">
              <a:buNone/>
            </a:pPr>
            <a:r>
              <a:rPr lang="en-US" sz="2400" dirty="0"/>
              <a:t>▶ Genetics </a:t>
            </a:r>
          </a:p>
          <a:p>
            <a:pPr marL="0" indent="0">
              <a:buNone/>
            </a:pPr>
            <a:r>
              <a:rPr lang="en-US" sz="2400" dirty="0"/>
              <a:t>▶ Image Processing </a:t>
            </a:r>
          </a:p>
          <a:p>
            <a:pPr marL="0" indent="0">
              <a:buNone/>
            </a:pPr>
            <a:r>
              <a:rPr lang="en-US" sz="2400" dirty="0"/>
              <a:t>▶ Simulation </a:t>
            </a:r>
          </a:p>
          <a:p>
            <a:pPr marL="0" indent="0">
              <a:buNone/>
            </a:pPr>
            <a:r>
              <a:rPr lang="en-US" sz="2400" dirty="0"/>
              <a:t>▶ ...</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3" name="Rectangle 2"/>
          <p:cNvSpPr/>
          <p:nvPr/>
        </p:nvSpPr>
        <p:spPr>
          <a:xfrm>
            <a:off x="10671589" y="1051175"/>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0" name="Picture 9">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325537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495300" y="1024524"/>
            <a:ext cx="11430000" cy="5386090"/>
          </a:xfrm>
          <a:prstGeom prst="rect">
            <a:avLst/>
          </a:prstGeom>
          <a:noFill/>
        </p:spPr>
        <p:txBody>
          <a:bodyPr wrap="square">
            <a:spAutoFit/>
          </a:bodyPr>
          <a:lstStyle/>
          <a:p>
            <a:r>
              <a:rPr lang="en-US" sz="3200" dirty="0"/>
              <a:t>▶ What is an algorithm?</a:t>
            </a:r>
          </a:p>
          <a:p>
            <a:pPr marL="457200" indent="-457200">
              <a:buFontTx/>
              <a:buChar char="-"/>
            </a:pPr>
            <a:r>
              <a:rPr lang="en-US" sz="2400" dirty="0"/>
              <a:t>An algorithm is a set of rules for carrying out calculation either by hand or on a machine.</a:t>
            </a:r>
          </a:p>
          <a:p>
            <a:pPr marL="457200" indent="-457200">
              <a:buFontTx/>
              <a:buChar char="-"/>
            </a:pPr>
            <a:r>
              <a:rPr lang="en-US" sz="2400" dirty="0"/>
              <a:t>An algorithm is a sequence of computational steps that transform the input into output.</a:t>
            </a:r>
          </a:p>
          <a:p>
            <a:pPr marL="457200" indent="-457200">
              <a:buFontTx/>
              <a:buChar char="-"/>
            </a:pPr>
            <a:r>
              <a:rPr lang="en-US" sz="2400" dirty="0"/>
              <a:t>An algorithm is a sequence of operations performed on data that have to be organized in data structures.</a:t>
            </a:r>
          </a:p>
          <a:p>
            <a:pPr marL="457200" indent="-457200">
              <a:buFontTx/>
              <a:buChar char="-"/>
            </a:pPr>
            <a:r>
              <a:rPr lang="en-US" sz="2400" dirty="0"/>
              <a:t>A finite set of instructions that specify a sequence of operations to be carried out in order to solve a specific problem or class of problems.</a:t>
            </a:r>
          </a:p>
          <a:p>
            <a:pPr marL="457200" indent="-457200">
              <a:buFontTx/>
              <a:buChar char="-"/>
            </a:pPr>
            <a:r>
              <a:rPr lang="en-US" sz="2400" dirty="0"/>
              <a:t>An algorithm is an abstraction of a program to be executed on a physical machine.</a:t>
            </a:r>
          </a:p>
          <a:p>
            <a:pPr marL="457200" indent="-457200">
              <a:buFontTx/>
              <a:buChar char="-"/>
            </a:pPr>
            <a:r>
              <a:rPr lang="en-US" sz="2400" dirty="0"/>
              <a:t>An algorithm is any well-defined computational procedure that takes some value, or set of values, as input and produces some value, or set of values, as output.</a:t>
            </a:r>
            <a:endParaRPr lang="en-US" sz="2400" b="1"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162738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7" name="Footer Placeholder 6">
            <a:extLst>
              <a:ext uri="{FF2B5EF4-FFF2-40B4-BE49-F238E27FC236}">
                <a16:creationId xmlns:a16="http://schemas.microsoft.com/office/drawing/2014/main" id="{8DBBCF98-7194-A5B3-66D3-440169D0A907}"/>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1F036879-2E50-808F-68A7-FB01CEB99BF0}"/>
              </a:ext>
            </a:extLst>
          </p:cNvPr>
          <p:cNvSpPr>
            <a:spLocks noGrp="1"/>
          </p:cNvSpPr>
          <p:nvPr>
            <p:ph type="sldNum" sz="quarter" idx="12"/>
          </p:nvPr>
        </p:nvSpPr>
        <p:spPr/>
        <p:txBody>
          <a:bodyPr/>
          <a:lstStyle/>
          <a:p>
            <a:fld id="{26510230-8DD5-4BA5-AB2D-CA30FC08F9D7}" type="slidenum">
              <a:rPr lang="en-IN" smtClean="0"/>
              <a:t>14</a:t>
            </a:fld>
            <a:endParaRPr lang="en-IN"/>
          </a:p>
        </p:txBody>
      </p:sp>
      <p:pic>
        <p:nvPicPr>
          <p:cNvPr id="16" name="Picture 15" descr="A blue circle with text and words&#10;&#10;Description automatically generated">
            <a:extLst>
              <a:ext uri="{FF2B5EF4-FFF2-40B4-BE49-F238E27FC236}">
                <a16:creationId xmlns:a16="http://schemas.microsoft.com/office/drawing/2014/main" id="{820737F5-4AA9-BC02-8957-C9DB2C2DFC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TextBox 3">
            <a:extLst>
              <a:ext uri="{FF2B5EF4-FFF2-40B4-BE49-F238E27FC236}">
                <a16:creationId xmlns:a16="http://schemas.microsoft.com/office/drawing/2014/main" id="{C97E1C1E-F10A-E4F4-6797-225812D669BF}"/>
              </a:ext>
            </a:extLst>
          </p:cNvPr>
          <p:cNvSpPr txBox="1"/>
          <p:nvPr/>
        </p:nvSpPr>
        <p:spPr>
          <a:xfrm>
            <a:off x="997008" y="1057424"/>
            <a:ext cx="10198923" cy="3970318"/>
          </a:xfrm>
          <a:prstGeom prst="rect">
            <a:avLst/>
          </a:prstGeom>
          <a:noFill/>
        </p:spPr>
        <p:txBody>
          <a:bodyPr wrap="square">
            <a:spAutoFit/>
          </a:bodyPr>
          <a:lstStyle/>
          <a:p>
            <a:r>
              <a:rPr lang="en-US" sz="2800" dirty="0"/>
              <a:t>▶ Why do we study algorithms?</a:t>
            </a:r>
          </a:p>
          <a:p>
            <a:pPr marL="457200" indent="-457200">
              <a:buFontTx/>
              <a:buChar char="-"/>
            </a:pPr>
            <a:r>
              <a:rPr lang="en-US" sz="2800" dirty="0"/>
              <a:t>To make solution more faster.</a:t>
            </a:r>
          </a:p>
          <a:p>
            <a:pPr marL="457200" indent="-457200">
              <a:buFontTx/>
              <a:buChar char="-"/>
            </a:pPr>
            <a:r>
              <a:rPr lang="en-US" sz="2800" dirty="0"/>
              <a:t>To compare performance as a function of input size. </a:t>
            </a:r>
          </a:p>
          <a:p>
            <a:endParaRPr lang="en-US" sz="2800" dirty="0"/>
          </a:p>
          <a:p>
            <a:r>
              <a:rPr lang="en-US" sz="2800" dirty="0"/>
              <a:t>Two main property of algorithm is: </a:t>
            </a:r>
          </a:p>
          <a:p>
            <a:r>
              <a:rPr lang="en-US" sz="2800" dirty="0"/>
              <a:t>	1. Correctness: Does the algorithm give solution to the 	problem in a finite number of steps? </a:t>
            </a:r>
          </a:p>
          <a:p>
            <a:r>
              <a:rPr lang="en-US" sz="2800" dirty="0"/>
              <a:t>	2. Efficiency: How much resources in terms of 	memory 	and time, does it take to execute the algorithm</a:t>
            </a:r>
          </a:p>
        </p:txBody>
      </p:sp>
      <p:pic>
        <p:nvPicPr>
          <p:cNvPr id="18" name="Picture 1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6167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15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646331"/>
          </a:xfrm>
          <a:prstGeom prst="rect">
            <a:avLst/>
          </a:prstGeom>
          <a:noFill/>
        </p:spPr>
        <p:txBody>
          <a:bodyPr wrap="square">
            <a:spAutoFit/>
          </a:bodyPr>
          <a:lstStyle/>
          <a:p>
            <a:pPr algn="ctr"/>
            <a:r>
              <a:rPr lang="en-IN" sz="3600" dirty="0">
                <a:latin typeface="Tahoma" panose="020B0604030504040204" pitchFamily="34" charset="0"/>
                <a:ea typeface="Tahoma" panose="020B0604030504040204" pitchFamily="34" charset="0"/>
                <a:cs typeface="Tahoma" panose="020B0604030504040204" pitchFamily="34" charset="0"/>
              </a:rPr>
              <a:t>Assessment: </a:t>
            </a:r>
            <a:r>
              <a:rPr lang="en-IN" sz="3600" dirty="0" err="1">
                <a:latin typeface="Tahoma" panose="020B0604030504040204" pitchFamily="34" charset="0"/>
                <a:ea typeface="Tahoma" panose="020B0604030504040204" pitchFamily="34" charset="0"/>
                <a:cs typeface="Tahoma" panose="020B0604030504040204" pitchFamily="34" charset="0"/>
              </a:rPr>
              <a:t>WooFlash</a:t>
            </a:r>
            <a:r>
              <a:rPr lang="en-IN" sz="3600" dirty="0">
                <a:latin typeface="Tahoma" panose="020B0604030504040204" pitchFamily="34" charset="0"/>
                <a:ea typeface="Tahoma" panose="020B0604030504040204" pitchFamily="34" charset="0"/>
                <a:cs typeface="Tahoma" panose="020B0604030504040204" pitchFamily="34" charset="0"/>
              </a:rPr>
              <a:t> Quiz</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7" name="Picture 6">
            <a:extLst>
              <a:ext uri="{FF2B5EF4-FFF2-40B4-BE49-F238E27FC236}">
                <a16:creationId xmlns:a16="http://schemas.microsoft.com/office/drawing/2014/main" id="{55F935B3-5C47-6654-1D3B-F58474AD00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0915" y="1905000"/>
            <a:ext cx="6966856" cy="3861326"/>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16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05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4115" t="29427" r="17980" b="21354"/>
          <a:stretch/>
        </p:blipFill>
        <p:spPr bwMode="auto">
          <a:xfrm>
            <a:off x="514350" y="1638300"/>
            <a:ext cx="5494985" cy="3174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34847" t="30729" r="17981" b="22396"/>
          <a:stretch/>
        </p:blipFill>
        <p:spPr bwMode="auto">
          <a:xfrm>
            <a:off x="6324593" y="3225386"/>
            <a:ext cx="5308705" cy="2965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4998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17</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1462126473"/>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18</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077218"/>
          </a:xfrm>
          <a:prstGeom prst="rect">
            <a:avLst/>
          </a:prstGeom>
        </p:spPr>
        <p:txBody>
          <a:bodyPr wrap="square">
            <a:spAutoFit/>
          </a:bodyPr>
          <a:lstStyle/>
          <a:p>
            <a:r>
              <a:rPr lang="en-US" sz="3200" b="1" dirty="0"/>
              <a:t>Next Session:</a:t>
            </a:r>
            <a:endParaRPr lang="en-US" sz="3200" dirty="0"/>
          </a:p>
          <a:p>
            <a:r>
              <a:rPr lang="en-US" sz="3200" dirty="0"/>
              <a:t>Efficient Algorithm, Complexity &amp; Asymptotic Notation</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31808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19</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pic>
        <p:nvPicPr>
          <p:cNvPr id="205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6837" t="19531" r="17313" b="9114"/>
          <a:stretch/>
        </p:blipFill>
        <p:spPr bwMode="auto">
          <a:xfrm>
            <a:off x="3881516" y="2222756"/>
            <a:ext cx="6858000" cy="4178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2606</TotalTime>
  <Words>897</Words>
  <Application>Microsoft Office PowerPoint</Application>
  <PresentationFormat>Widescreen</PresentationFormat>
  <Paragraphs>130</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Georgia</vt:lpstr>
      <vt:lpstr>Tahoma</vt:lpstr>
      <vt:lpstr>Times New Roman</vt:lpstr>
      <vt:lpstr>Office Theme</vt:lpstr>
      <vt:lpstr>Introduction Data Structures   Session No.: 1 Course Name: Data Strucutres Course Code: R1UC308B   Instructor Name: Akhilesh Tripathi Duration: 50 mins Date of Conduction of Class: 21 Aug 2025</vt:lpstr>
      <vt:lpstr>PowerPoint Presentation</vt:lpstr>
      <vt:lpstr>PowerPoint Presentation</vt:lpstr>
      <vt:lpstr>PowerPoint Presentation</vt:lpstr>
      <vt:lpstr>Learning Outcomes</vt:lpstr>
      <vt:lpstr>PowerPoint Presentation</vt:lpstr>
      <vt:lpstr>PowerPoint Presentation</vt:lpstr>
      <vt:lpstr>Concept and Definition for (LO-1) </vt:lpstr>
      <vt:lpstr>Concept and Definition for (LO-1)   Need of Data Structures</vt:lpstr>
      <vt:lpstr>Concept and Definition for (LO-1)   Classification / Types of Data 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95</cp:revision>
  <dcterms:created xsi:type="dcterms:W3CDTF">2024-08-22T06:33:55Z</dcterms:created>
  <dcterms:modified xsi:type="dcterms:W3CDTF">2025-08-21T12:05:30Z</dcterms:modified>
</cp:coreProperties>
</file>