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90" r:id="rId3"/>
    <p:sldId id="313" r:id="rId4"/>
    <p:sldId id="292" r:id="rId5"/>
    <p:sldId id="293" r:id="rId6"/>
    <p:sldId id="312" r:id="rId7"/>
    <p:sldId id="294" r:id="rId8"/>
    <p:sldId id="260" r:id="rId9"/>
    <p:sldId id="315" r:id="rId10"/>
    <p:sldId id="305" r:id="rId11"/>
    <p:sldId id="320" r:id="rId12"/>
    <p:sldId id="321" r:id="rId13"/>
    <p:sldId id="316" r:id="rId14"/>
    <p:sldId id="317" r:id="rId15"/>
    <p:sldId id="318" r:id="rId16"/>
    <p:sldId id="319" r:id="rId17"/>
    <p:sldId id="288" r:id="rId18"/>
    <p:sldId id="299" r:id="rId19"/>
    <p:sldId id="300" r:id="rId20"/>
    <p:sldId id="301" r:id="rId21"/>
    <p:sldId id="30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pPr>
            <a:buNone/>
          </a:pPr>
          <a:r>
            <a:rPr lang="en-SG" sz="3600" b="1" dirty="0"/>
            <a:t>Understand the concept of structures and unions in C</a:t>
          </a:r>
          <a:endParaRPr lang="en-US" sz="3600" dirty="0"/>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b="1" dirty="0"/>
            <a:t>Define singly linked list and basic operation on a singly linked list.</a:t>
          </a:r>
          <a:endParaRPr lang="en-US" sz="3600" dirty="0"/>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custLinFactNeighborX="-265" custLinFactNeighborY="804"/>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SG" sz="3600" b="1" dirty="0"/>
            <a:t>Understand the concept of structures and unions in C</a:t>
          </a:r>
          <a:endParaRPr lang="en-US" sz="3600" dirty="0"/>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b="1" kern="1200" dirty="0"/>
            <a:t>Define singly linked list and basic operation on a singly linked list.</a:t>
          </a:r>
          <a:endParaRPr lang="en-US" sz="3600" kern="1200" dirty="0">
            <a:solidFill>
              <a:prstClr val="white"/>
            </a:solidFill>
            <a:latin typeface="Aptos"/>
            <a:ea typeface="+mn-ea"/>
            <a:cs typeface="+mn-cs"/>
          </a:endParaRP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69F988A5-C88A-400D-9852-9EC47893A15C}" type="presOf" srcId="{A3B4F848-7886-4B10-8E34-39E0B844A474}" destId="{9F756ADD-FC73-43E2-8907-B49F92DEF8EA}" srcOrd="0" destOrd="0" presId="urn:microsoft.com/office/officeart/2005/8/layout/process4"/>
    <dgm:cxn modelId="{A14FC7AC-96A7-4051-B6F7-4E1DD1125A2E}" type="presOf" srcId="{DFBD6BAB-0140-48B9-9073-E08FDCB01885}" destId="{0E541A4F-E68B-477F-BCA6-83AC868DBBCC}"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BE6D69F1-F909-4992-A5BF-73AE23D01340}" type="presOf" srcId="{B7ED251F-A7A3-4D25-B004-4241BE03EDC3}" destId="{BCA40D55-9F97-4CA4-8859-68C842EAE88F}" srcOrd="0" destOrd="0" presId="urn:microsoft.com/office/officeart/2005/8/layout/process4"/>
    <dgm:cxn modelId="{7950397E-3C1E-4B8E-8DAC-E93F64248EFA}" type="presParOf" srcId="{BCA40D55-9F97-4CA4-8859-68C842EAE88F}" destId="{3450E454-19DE-4E8A-ADE0-3AFF41C6C69B}" srcOrd="0" destOrd="0" presId="urn:microsoft.com/office/officeart/2005/8/layout/process4"/>
    <dgm:cxn modelId="{90E9A7F7-DF4E-4F6A-9760-1233922CD137}" type="presParOf" srcId="{3450E454-19DE-4E8A-ADE0-3AFF41C6C69B}" destId="{9F756ADD-FC73-43E2-8907-B49F92DEF8EA}" srcOrd="0" destOrd="0" presId="urn:microsoft.com/office/officeart/2005/8/layout/process4"/>
    <dgm:cxn modelId="{1EAE5E73-D912-4D41-9298-ED8D50B26A70}" type="presParOf" srcId="{BCA40D55-9F97-4CA4-8859-68C842EAE88F}" destId="{33B2812D-626E-40CB-8956-89B965634A15}" srcOrd="1" destOrd="0" presId="urn:microsoft.com/office/officeart/2005/8/layout/process4"/>
    <dgm:cxn modelId="{5C2BB63B-2B36-4FAD-8B8B-527EC9BC664E}" type="presParOf" srcId="{BCA40D55-9F97-4CA4-8859-68C842EAE88F}" destId="{14438BF2-0C50-4C1B-A99E-B1909E184016}" srcOrd="2" destOrd="0" presId="urn:microsoft.com/office/officeart/2005/8/layout/process4"/>
    <dgm:cxn modelId="{7B96C8D1-A7F8-4346-BB85-B3A5C0B9452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b="1" kern="1200" dirty="0"/>
            <a:t>Define singly linked list and basic operation on a singly linked list.</a:t>
          </a:r>
          <a:endParaRPr lang="en-US" sz="3600" kern="1200" dirty="0"/>
        </a:p>
      </dsp:txBody>
      <dsp:txXfrm>
        <a:off x="0" y="2226751"/>
        <a:ext cx="10927829" cy="1460989"/>
      </dsp:txXfrm>
    </dsp:sp>
    <dsp:sp modelId="{0E541A4F-E68B-477F-BCA6-83AC868DBBCC}">
      <dsp:nvSpPr>
        <dsp:cNvPr id="0" name=""/>
        <dsp:cNvSpPr/>
      </dsp:nvSpPr>
      <dsp:spPr>
        <a:xfrm rot="10800000">
          <a:off x="0" y="19729"/>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SG" sz="3600" b="1" kern="1200" dirty="0"/>
            <a:t>Understand the concept of structures and unions in C</a:t>
          </a:r>
          <a:endParaRPr lang="en-US" sz="3600" kern="1200" dirty="0"/>
        </a:p>
      </dsp:txBody>
      <dsp:txXfrm rot="10800000">
        <a:off x="0" y="19729"/>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b="1" kern="1200" dirty="0"/>
            <a:t>Define singly linked list and basic operation on a singly linked list.</a:t>
          </a:r>
          <a:endParaRPr lang="en-US" sz="3600" kern="1200" dirty="0">
            <a:solidFill>
              <a:prstClr val="white"/>
            </a:solidFill>
            <a:latin typeface="Aptos"/>
            <a:ea typeface="+mn-ea"/>
            <a:cs typeface="+mn-cs"/>
          </a:endParaRP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SG" sz="3600" b="1" kern="1200" dirty="0"/>
            <a:t>Understand the concept of structures and unions in C</a:t>
          </a:r>
          <a:endParaRPr lang="en-US" sz="3600" kern="1200" dirty="0"/>
        </a:p>
      </dsp:txBody>
      <dsp:txXfrm rot="10800000">
        <a:off x="0" y="1663"/>
        <a:ext cx="10927829" cy="14600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11-10-2025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11-10-2025</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11-10-2025</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11-10-2025</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11-10-2025</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11-10-2025</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11-10-2025</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11-10-2025</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11-10-2025</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11-10-2025</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11-10-2025</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11-10-2025</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11-10-2025</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a:bodyPr>
          <a:lstStyle/>
          <a:p>
            <a:pPr algn="l"/>
            <a:r>
              <a:rPr lang="en-IN" sz="3600" b="1" dirty="0">
                <a:solidFill>
                  <a:schemeClr val="bg1"/>
                </a:solidFill>
                <a:latin typeface="Georgia" panose="02040502050405020303" pitchFamily="18" charset="0"/>
                <a:cs typeface="Arial" panose="020B0604020202020204" pitchFamily="34" charset="0"/>
              </a:rPr>
              <a:t>Introduction to Structure and Union, Singly Linked List</a:t>
            </a:r>
            <a:br>
              <a:rPr lang="en-IN" sz="54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 17</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Structures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 </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5" y="1219889"/>
            <a:ext cx="10739719" cy="2369880"/>
          </a:xfrm>
          <a:prstGeom prst="rect">
            <a:avLst/>
          </a:prstGeom>
          <a:noFill/>
        </p:spPr>
        <p:txBody>
          <a:bodyPr wrap="square">
            <a:spAutoFit/>
          </a:bodyPr>
          <a:lstStyle/>
          <a:p>
            <a:pPr algn="ctr"/>
            <a:r>
              <a:rPr lang="en-US" sz="3200" b="1" dirty="0"/>
              <a:t>Review</a:t>
            </a:r>
          </a:p>
          <a:p>
            <a:pPr algn="ctr"/>
            <a:endParaRPr lang="en-US" sz="3200" dirty="0"/>
          </a:p>
          <a:p>
            <a:pPr marL="342900" indent="-342900">
              <a:buFont typeface="Arial" pitchFamily="34" charset="0"/>
              <a:buChar char="•"/>
            </a:pPr>
            <a:r>
              <a:rPr lang="en-US" sz="2800" dirty="0"/>
              <a:t>Basic concept of structure, union and dynamic memory allocation.</a:t>
            </a:r>
          </a:p>
          <a:p>
            <a:endParaRPr lang="en-US" sz="2800" dirty="0"/>
          </a:p>
          <a:p>
            <a:pPr marL="342900" indent="-342900">
              <a:buFont typeface="Arial" pitchFamily="34" charset="0"/>
              <a:buChar char="•"/>
            </a:pPr>
            <a:endParaRPr lang="en-US" sz="2800"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955F-D537-32EA-E22F-35F848807F5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E8AC14-520B-3DE8-E306-4881F736E913}"/>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94EC6E72-5626-50C4-788F-DD9B87F0E82D}"/>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B63F0E2E-B558-E173-BF52-E44BE3159B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251191A9-5C9E-2A72-4244-E241ABED2823}"/>
              </a:ext>
            </a:extLst>
          </p:cNvPr>
          <p:cNvSpPr txBox="1"/>
          <p:nvPr/>
        </p:nvSpPr>
        <p:spPr>
          <a:xfrm>
            <a:off x="727755" y="1031972"/>
            <a:ext cx="10626044" cy="1938992"/>
          </a:xfrm>
          <a:prstGeom prst="rect">
            <a:avLst/>
          </a:prstGeom>
          <a:noFill/>
        </p:spPr>
        <p:txBody>
          <a:bodyPr wrap="square">
            <a:spAutoFit/>
          </a:bodyPr>
          <a:lstStyle/>
          <a:p>
            <a:pPr algn="ctr"/>
            <a:r>
              <a:rPr lang="en-US" sz="3200" b="1" dirty="0"/>
              <a:t>Pre-class assessment</a:t>
            </a:r>
          </a:p>
          <a:p>
            <a:pPr algn="ctr"/>
            <a:endParaRPr lang="en-US" sz="3200" dirty="0"/>
          </a:p>
          <a:p>
            <a:endParaRPr lang="en-US" sz="2800" dirty="0"/>
          </a:p>
          <a:p>
            <a:pPr marL="342900" indent="-342900">
              <a:buFont typeface="Arial" pitchFamily="34" charset="0"/>
              <a:buChar char="•"/>
            </a:pPr>
            <a:endParaRPr lang="en-US" sz="2800" dirty="0"/>
          </a:p>
        </p:txBody>
      </p:sp>
      <p:pic>
        <p:nvPicPr>
          <p:cNvPr id="8" name="Picture 7">
            <a:extLst>
              <a:ext uri="{FF2B5EF4-FFF2-40B4-BE49-F238E27FC236}">
                <a16:creationId xmlns:a16="http://schemas.microsoft.com/office/drawing/2014/main" id="{7F4FCA59-5B88-3EEF-E850-04B429D73E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pic>
        <p:nvPicPr>
          <p:cNvPr id="4" name="Picture 3">
            <a:extLst>
              <a:ext uri="{FF2B5EF4-FFF2-40B4-BE49-F238E27FC236}">
                <a16:creationId xmlns:a16="http://schemas.microsoft.com/office/drawing/2014/main" id="{CFCF3F7A-14F0-EC47-FAD0-545154F48A8F}"/>
              </a:ext>
            </a:extLst>
          </p:cNvPr>
          <p:cNvPicPr>
            <a:picLocks noChangeAspect="1"/>
          </p:cNvPicPr>
          <p:nvPr/>
        </p:nvPicPr>
        <p:blipFill>
          <a:blip r:embed="rId4"/>
          <a:stretch>
            <a:fillRect/>
          </a:stretch>
        </p:blipFill>
        <p:spPr>
          <a:xfrm>
            <a:off x="815703" y="2006526"/>
            <a:ext cx="10560593" cy="3937073"/>
          </a:xfrm>
          <a:prstGeom prst="rect">
            <a:avLst/>
          </a:prstGeom>
        </p:spPr>
      </p:pic>
    </p:spTree>
    <p:extLst>
      <p:ext uri="{BB962C8B-B14F-4D97-AF65-F5344CB8AC3E}">
        <p14:creationId xmlns:p14="http://schemas.microsoft.com/office/powerpoint/2010/main" val="274256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4</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4762213" y="10514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638332" y="3566830"/>
            <a:ext cx="10994966"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endParaRPr lang="en-US" sz="3600" dirty="0"/>
            </a:p>
            <a:p>
              <a:pPr algn="ctr"/>
              <a:r>
                <a:rPr lang="en-US" sz="3600" dirty="0"/>
                <a:t>What is the structure, union and linked list?</a:t>
              </a:r>
            </a:p>
          </p:txBody>
        </p:sp>
      </p:grpSp>
    </p:spTree>
    <p:extLst>
      <p:ext uri="{BB962C8B-B14F-4D97-AF65-F5344CB8AC3E}">
        <p14:creationId xmlns:p14="http://schemas.microsoft.com/office/powerpoint/2010/main" val="278236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3692378149"/>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11E11-0E66-4FC3-E930-422C691A711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FE0197-4064-B6FC-EC4C-E4FDC62E6BC1}"/>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F53F651F-FE85-3E1F-43D1-995DB760B3A4}"/>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6499DEA-8CD8-9451-3C3B-1F88BE1519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1D9CB451-F3DA-25C4-48A9-11538EF3F78C}"/>
              </a:ext>
            </a:extLst>
          </p:cNvPr>
          <p:cNvSpPr txBox="1"/>
          <p:nvPr/>
        </p:nvSpPr>
        <p:spPr>
          <a:xfrm>
            <a:off x="727756" y="1219889"/>
            <a:ext cx="10626044" cy="2369880"/>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US" sz="2800" dirty="0"/>
              <a:t>Introduction to Structures and Union </a:t>
            </a:r>
          </a:p>
          <a:p>
            <a:pPr marL="342900" indent="-342900">
              <a:buFont typeface="Arial" pitchFamily="34" charset="0"/>
              <a:buChar char="•"/>
            </a:pPr>
            <a:r>
              <a:rPr lang="en-US" sz="2800" dirty="0"/>
              <a:t>Introduction to linked list and types of linked list</a:t>
            </a:r>
          </a:p>
          <a:p>
            <a:pPr marL="342900" indent="-342900">
              <a:buFont typeface="Arial" pitchFamily="34" charset="0"/>
              <a:buChar char="•"/>
            </a:pPr>
            <a:r>
              <a:rPr lang="en-US" sz="2800" dirty="0"/>
              <a:t>Basic operation on a singly linked list</a:t>
            </a:r>
          </a:p>
        </p:txBody>
      </p:sp>
      <p:pic>
        <p:nvPicPr>
          <p:cNvPr id="8" name="Picture 7">
            <a:extLst>
              <a:ext uri="{FF2B5EF4-FFF2-40B4-BE49-F238E27FC236}">
                <a16:creationId xmlns:a16="http://schemas.microsoft.com/office/drawing/2014/main" id="{C138AA2A-D1C8-E9EC-E4FF-A6E02CB543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855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2002748" y="12800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ectangle 12" descr="Puzzle Pieces"/>
          <p:cNvSpPr/>
          <p:nvPr/>
        </p:nvSpPr>
        <p:spPr>
          <a:xfrm>
            <a:off x="7663508" y="1256657"/>
            <a:ext cx="2793098" cy="213547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104932" y="3581578"/>
            <a:ext cx="6015649"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r>
                <a:rPr lang="en-US" sz="3600" dirty="0"/>
                <a:t>What is the difference between an array and a linked list?</a:t>
              </a:r>
            </a:p>
            <a:p>
              <a:pPr algn="ctr"/>
              <a:endParaRPr lang="en-US" sz="320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17" name="Group 16"/>
          <p:cNvGrpSpPr/>
          <p:nvPr/>
        </p:nvGrpSpPr>
        <p:grpSpPr>
          <a:xfrm>
            <a:off x="6415549" y="3581578"/>
            <a:ext cx="5217750" cy="2231566"/>
            <a:chOff x="5758250" y="2062546"/>
            <a:chExt cx="4320000" cy="1753990"/>
          </a:xfrm>
        </p:grpSpPr>
        <p:sp>
          <p:nvSpPr>
            <p:cNvPr id="18" name="Rectangle 17"/>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sp>
        <p:sp>
          <p:nvSpPr>
            <p:cNvPr id="19" name="Rectangle 18"/>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spcFirstLastPara="0" vert="horz" wrap="square" lIns="0" tIns="0" rIns="0" bIns="0" numCol="1" spcCol="1270" anchor="t" anchorCtr="0">
              <a:noAutofit/>
            </a:bodyPr>
            <a:lstStyle/>
            <a:p>
              <a:pPr algn="ctr" defTabSz="1333500">
                <a:spcBef>
                  <a:spcPct val="0"/>
                </a:spcBef>
                <a:spcAft>
                  <a:spcPct val="35000"/>
                </a:spcAft>
              </a:pPr>
              <a:endParaRPr lang="en-US" sz="3200" dirty="0"/>
            </a:p>
          </p:txBody>
        </p:sp>
      </p:grpSp>
      <p:sp>
        <p:nvSpPr>
          <p:cNvPr id="20" name="TextBox 19"/>
          <p:cNvSpPr txBox="1"/>
          <p:nvPr/>
        </p:nvSpPr>
        <p:spPr>
          <a:xfrm>
            <a:off x="3761668" y="760220"/>
            <a:ext cx="6680173" cy="584775"/>
          </a:xfrm>
          <a:prstGeom prst="rect">
            <a:avLst/>
          </a:prstGeom>
          <a:noFill/>
        </p:spPr>
        <p:txBody>
          <a:bodyPr wrap="square" rtlCol="0">
            <a:spAutoFit/>
          </a:bodyPr>
          <a:lstStyle/>
          <a:p>
            <a:r>
              <a:rPr lang="en-US" sz="3200" b="1" dirty="0"/>
              <a:t>Activity-1 (Think – Pair – Share)</a:t>
            </a:r>
          </a:p>
        </p:txBody>
      </p:sp>
      <p:sp>
        <p:nvSpPr>
          <p:cNvPr id="3" name="Rectangle 2"/>
          <p:cNvSpPr/>
          <p:nvPr/>
        </p:nvSpPr>
        <p:spPr>
          <a:xfrm>
            <a:off x="6522475" y="3771900"/>
            <a:ext cx="5003898" cy="584775"/>
          </a:xfrm>
          <a:prstGeom prst="rect">
            <a:avLst/>
          </a:prstGeom>
        </p:spPr>
        <p:txBody>
          <a:bodyPr wrap="square">
            <a:spAutoFit/>
          </a:bodyPr>
          <a:lstStyle/>
          <a:p>
            <a:pPr algn="ctr"/>
            <a:r>
              <a:rPr lang="en-US" sz="3200" b="1" dirty="0">
                <a:solidFill>
                  <a:schemeClr val="bg1"/>
                </a:solidFill>
              </a:rPr>
              <a:t>Data Structures</a:t>
            </a:r>
          </a:p>
        </p:txBody>
      </p:sp>
    </p:spTree>
    <p:extLst>
      <p:ext uri="{BB962C8B-B14F-4D97-AF65-F5344CB8AC3E}">
        <p14:creationId xmlns:p14="http://schemas.microsoft.com/office/powerpoint/2010/main" val="2461999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065690"/>
            <a:ext cx="10795098" cy="3970318"/>
          </a:xfrm>
          <a:prstGeom prst="rect">
            <a:avLst/>
          </a:prstGeom>
          <a:noFill/>
        </p:spPr>
        <p:txBody>
          <a:bodyPr wrap="square">
            <a:spAutoFit/>
          </a:bodyPr>
          <a:lstStyle/>
          <a:p>
            <a:pPr lvl="0"/>
            <a:endParaRPr lang="en-US" sz="2800" b="1" dirty="0"/>
          </a:p>
          <a:p>
            <a:pPr lvl="0"/>
            <a:r>
              <a:rPr lang="en-US" sz="2800" b="1" dirty="0"/>
              <a:t>What is a structure in C?</a:t>
            </a:r>
          </a:p>
          <a:p>
            <a:pPr lvl="0"/>
            <a:endParaRPr lang="en-US" sz="2800" b="1" dirty="0"/>
          </a:p>
          <a:p>
            <a:pPr marL="457200" lvl="0" indent="-457200">
              <a:buFont typeface="Wingdings" panose="05000000000000000000" pitchFamily="2" charset="2"/>
              <a:buChar char="v"/>
            </a:pPr>
            <a:r>
              <a:rPr lang="en-US" sz="2800" dirty="0"/>
              <a:t>A structure in C is a collection of variables, possibly of different types, under a single name. </a:t>
            </a:r>
          </a:p>
          <a:p>
            <a:pPr lvl="0"/>
            <a:endParaRPr lang="en-US" sz="2800" dirty="0"/>
          </a:p>
          <a:p>
            <a:pPr marL="457200" lvl="0" indent="-457200">
              <a:buFont typeface="Wingdings" panose="05000000000000000000" pitchFamily="2" charset="2"/>
              <a:buChar char="v"/>
            </a:pPr>
            <a:r>
              <a:rPr lang="en-US" sz="2800" dirty="0"/>
              <a:t>Each member of the structure is allocated its own memory space, and the size of the structure is the sum of the sizes of all its members.</a:t>
            </a: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87261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03C294-F4B2-849F-D48B-274D529964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5D93186-30E8-E9C1-A69D-6B26DA99D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369005F-D6E5-25BC-D99C-E641AB8319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67AEC88E-3B0C-9CCF-95F5-266139356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CBC6F7B8-6744-2FC8-D0F1-364718AE2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6257C9D2-ADD2-33EF-FC68-751828A68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5A063F40-3534-0DAD-25E7-B196DD903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2C313228-DBF5-44FD-272A-52F3D5E0C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B5FD1C9D-ED6B-AFD7-6A07-8F36DFDFF757}"/>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F7E3212B-1275-6BF3-4393-3B8286F475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77C2077D-C9A8-E943-011F-FF0DA81792BB}"/>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C3929FA4-C5AB-0267-0605-72963823CF3A}"/>
              </a:ext>
            </a:extLst>
          </p:cNvPr>
          <p:cNvSpPr txBox="1"/>
          <p:nvPr/>
        </p:nvSpPr>
        <p:spPr>
          <a:xfrm>
            <a:off x="838200" y="1065690"/>
            <a:ext cx="10795098" cy="4401205"/>
          </a:xfrm>
          <a:prstGeom prst="rect">
            <a:avLst/>
          </a:prstGeom>
          <a:noFill/>
        </p:spPr>
        <p:txBody>
          <a:bodyPr wrap="square">
            <a:spAutoFit/>
          </a:bodyPr>
          <a:lstStyle/>
          <a:p>
            <a:pPr lvl="0"/>
            <a:endParaRPr lang="en-US" sz="2800" b="1" dirty="0"/>
          </a:p>
          <a:p>
            <a:pPr lvl="0"/>
            <a:r>
              <a:rPr lang="en-US" sz="2800" b="1" dirty="0"/>
              <a:t>What is a union in C?</a:t>
            </a:r>
          </a:p>
          <a:p>
            <a:pPr lvl="0"/>
            <a:endParaRPr lang="en-US" sz="2800" b="1" dirty="0"/>
          </a:p>
          <a:p>
            <a:pPr marL="457200" lvl="0" indent="-457200">
              <a:buFont typeface="Wingdings" panose="05000000000000000000" pitchFamily="2" charset="2"/>
              <a:buChar char="v"/>
            </a:pPr>
            <a:r>
              <a:rPr lang="en-US" sz="2800" dirty="0"/>
              <a:t>A union in C is similar to a structure, but with a key difference: all members of a union share the same memory location. </a:t>
            </a:r>
          </a:p>
          <a:p>
            <a:pPr lvl="0"/>
            <a:endParaRPr lang="en-US" sz="2800" dirty="0"/>
          </a:p>
          <a:p>
            <a:pPr marL="457200" lvl="0" indent="-457200">
              <a:buFont typeface="Wingdings" panose="05000000000000000000" pitchFamily="2" charset="2"/>
              <a:buChar char="v"/>
            </a:pPr>
            <a:r>
              <a:rPr lang="en-US" sz="2800" dirty="0"/>
              <a:t>This means only one member of the union can store a value at any given time. </a:t>
            </a:r>
          </a:p>
          <a:p>
            <a:pPr lvl="0"/>
            <a:endParaRPr lang="en-US" sz="2800" dirty="0"/>
          </a:p>
          <a:p>
            <a:pPr marL="457200" lvl="0" indent="-457200">
              <a:buFont typeface="Wingdings" panose="05000000000000000000" pitchFamily="2" charset="2"/>
              <a:buChar char="v"/>
            </a:pPr>
            <a:r>
              <a:rPr lang="en-US" sz="2800" dirty="0"/>
              <a:t>The size of a union is determined by the size of its largest member.</a:t>
            </a:r>
          </a:p>
        </p:txBody>
      </p:sp>
      <p:pic>
        <p:nvPicPr>
          <p:cNvPr id="17" name="Picture 16">
            <a:extLst>
              <a:ext uri="{FF2B5EF4-FFF2-40B4-BE49-F238E27FC236}">
                <a16:creationId xmlns:a16="http://schemas.microsoft.com/office/drawing/2014/main" id="{3C17B60D-7779-66DB-D6BF-D0FDA9A1E2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532057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61CB64-CCEE-3A47-7DB0-6A7006039B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D56159-6007-F1D7-A311-F767B618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1AB41DD2-F669-2E81-283A-C2732C1B5B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5FF3C3C1-5469-5301-32FE-0FD3CB932D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9D6636E4-77BA-6F8E-6D2E-0AF15B30A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C477D8D4-1A21-5288-9A1C-049E81D56C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44DB63CD-DDDE-7BB4-BE90-74BDB058C3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E723789B-565A-B163-4C65-39C94197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6B922C85-AD39-AF72-BD5E-93B3D033750B}"/>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9F70A56B-8219-D05B-BCEE-85779852DE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40A93299-F7CF-5B6D-1668-2404DDA01238}"/>
              </a:ext>
            </a:extLst>
          </p:cNvPr>
          <p:cNvSpPr>
            <a:spLocks noGrp="1"/>
          </p:cNvSpPr>
          <p:nvPr>
            <p:ph type="title"/>
          </p:nvPr>
        </p:nvSpPr>
        <p:spPr>
          <a:xfrm>
            <a:off x="3447101" y="44352"/>
            <a:ext cx="7311465"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200" b="1" dirty="0">
                <a:latin typeface="Tahoma" panose="020B0604030504040204" pitchFamily="34" charset="0"/>
                <a:ea typeface="Tahoma" panose="020B0604030504040204" pitchFamily="34" charset="0"/>
                <a:cs typeface="Tahoma" panose="020B0604030504040204" pitchFamily="34" charset="0"/>
              </a:rPr>
              <a:t>Difference Between Structure and Union in C</a:t>
            </a:r>
            <a:endParaRPr lang="en-IN" sz="22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64021BFE-18D4-A1EF-B258-FAD81DE9AF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237237" cy="653628"/>
          </a:xfrm>
          <a:prstGeom prst="rect">
            <a:avLst/>
          </a:prstGeom>
        </p:spPr>
      </p:pic>
      <p:graphicFrame>
        <p:nvGraphicFramePr>
          <p:cNvPr id="4" name="Table 3">
            <a:extLst>
              <a:ext uri="{FF2B5EF4-FFF2-40B4-BE49-F238E27FC236}">
                <a16:creationId xmlns:a16="http://schemas.microsoft.com/office/drawing/2014/main" id="{0B90B6A7-C52B-E7FC-200B-0290FC335841}"/>
              </a:ext>
            </a:extLst>
          </p:cNvPr>
          <p:cNvGraphicFramePr>
            <a:graphicFrameLocks noGrp="1"/>
          </p:cNvGraphicFramePr>
          <p:nvPr>
            <p:extLst>
              <p:ext uri="{D42A27DB-BD31-4B8C-83A1-F6EECF244321}">
                <p14:modId xmlns:p14="http://schemas.microsoft.com/office/powerpoint/2010/main" val="3506562426"/>
              </p:ext>
            </p:extLst>
          </p:nvPr>
        </p:nvGraphicFramePr>
        <p:xfrm>
          <a:off x="929391" y="1663908"/>
          <a:ext cx="10448144" cy="4600807"/>
        </p:xfrm>
        <a:graphic>
          <a:graphicData uri="http://schemas.openxmlformats.org/drawingml/2006/table">
            <a:tbl>
              <a:tblPr/>
              <a:tblGrid>
                <a:gridCol w="2089445">
                  <a:extLst>
                    <a:ext uri="{9D8B030D-6E8A-4147-A177-3AD203B41FA5}">
                      <a16:colId xmlns:a16="http://schemas.microsoft.com/office/drawing/2014/main" val="1985656685"/>
                    </a:ext>
                  </a:extLst>
                </a:gridCol>
                <a:gridCol w="4179111">
                  <a:extLst>
                    <a:ext uri="{9D8B030D-6E8A-4147-A177-3AD203B41FA5}">
                      <a16:colId xmlns:a16="http://schemas.microsoft.com/office/drawing/2014/main" val="4012183304"/>
                    </a:ext>
                  </a:extLst>
                </a:gridCol>
                <a:gridCol w="4179588">
                  <a:extLst>
                    <a:ext uri="{9D8B030D-6E8A-4147-A177-3AD203B41FA5}">
                      <a16:colId xmlns:a16="http://schemas.microsoft.com/office/drawing/2014/main" val="3146202178"/>
                    </a:ext>
                  </a:extLst>
                </a:gridCol>
              </a:tblGrid>
              <a:tr h="358968">
                <a:tc>
                  <a:txBody>
                    <a:bodyPr/>
                    <a:lstStyle/>
                    <a:p>
                      <a:pPr algn="ctr" rtl="0" fontAlgn="base">
                        <a:spcAft>
                          <a:spcPts val="750"/>
                        </a:spcAft>
                        <a:buNone/>
                      </a:pPr>
                      <a:r>
                        <a:rPr lang="en-US" sz="1400" b="1" dirty="0">
                          <a:effectLst/>
                        </a:rPr>
                        <a:t>Parameter</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spcAft>
                          <a:spcPts val="750"/>
                        </a:spcAft>
                        <a:buNone/>
                      </a:pPr>
                      <a:r>
                        <a:rPr lang="en-US" sz="1400" b="1" dirty="0">
                          <a:effectLst/>
                        </a:rPr>
                        <a:t>Structure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spcAft>
                          <a:spcPts val="750"/>
                        </a:spcAft>
                        <a:buNone/>
                      </a:pPr>
                      <a:r>
                        <a:rPr lang="en-US" sz="1400" b="1">
                          <a:effectLst/>
                        </a:rPr>
                        <a:t>Union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799124751"/>
                  </a:ext>
                </a:extLst>
              </a:tr>
              <a:tr h="1112444">
                <a:tc>
                  <a:txBody>
                    <a:bodyPr/>
                    <a:lstStyle/>
                    <a:p>
                      <a:pPr algn="ctr" rtl="0" fontAlgn="base">
                        <a:spcAft>
                          <a:spcPts val="750"/>
                        </a:spcAft>
                        <a:buNone/>
                      </a:pPr>
                      <a:r>
                        <a:rPr lang="en-US" b="1">
                          <a:effectLst/>
                        </a:rPr>
                        <a:t>Definition</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spcAft>
                          <a:spcPts val="750"/>
                        </a:spcAft>
                        <a:buNone/>
                      </a:pPr>
                      <a:r>
                        <a:rPr lang="en-US" sz="1250" b="0" dirty="0">
                          <a:effectLst/>
                        </a:rPr>
                        <a:t>A structure is a user-defined data type that groups different data types into a single entity.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buNone/>
                      </a:pPr>
                      <a:r>
                        <a:rPr lang="en-US" sz="1250" b="0">
                          <a:effectLst/>
                        </a:rPr>
                        <a:t>A union is a user-defined data type that allows storing different data types at the same memory location.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1548526"/>
                  </a:ext>
                </a:extLst>
              </a:tr>
              <a:tr h="859615">
                <a:tc>
                  <a:txBody>
                    <a:bodyPr/>
                    <a:lstStyle/>
                    <a:p>
                      <a:pPr algn="ctr" rtl="0" fontAlgn="base">
                        <a:spcAft>
                          <a:spcPts val="750"/>
                        </a:spcAft>
                        <a:buNone/>
                      </a:pPr>
                      <a:r>
                        <a:rPr lang="en-US" b="1">
                          <a:effectLst/>
                        </a:rPr>
                        <a:t>Keyword</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spcAft>
                          <a:spcPts val="750"/>
                        </a:spcAft>
                        <a:buNone/>
                      </a:pPr>
                      <a:r>
                        <a:rPr lang="en-US" sz="1250" b="0">
                          <a:effectLst/>
                        </a:rPr>
                        <a:t>The keyword </a:t>
                      </a:r>
                      <a:r>
                        <a:rPr lang="en-US" sz="1250" b="1">
                          <a:effectLst/>
                        </a:rPr>
                        <a:t>struct</a:t>
                      </a:r>
                      <a:r>
                        <a:rPr lang="en-US" sz="1250" b="0">
                          <a:effectLst/>
                        </a:rPr>
                        <a:t> is used to define a structure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buNone/>
                      </a:pPr>
                      <a:r>
                        <a:rPr lang="en-US" sz="1250" b="0" dirty="0">
                          <a:effectLst/>
                        </a:rPr>
                        <a:t>The keyword </a:t>
                      </a:r>
                      <a:r>
                        <a:rPr lang="en-US" sz="1250" b="1" dirty="0">
                          <a:effectLst/>
                        </a:rPr>
                        <a:t>union</a:t>
                      </a:r>
                      <a:r>
                        <a:rPr lang="en-US" sz="1250" b="0" dirty="0">
                          <a:effectLst/>
                        </a:rPr>
                        <a:t> is used to define a union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46540650"/>
                  </a:ext>
                </a:extLst>
              </a:tr>
              <a:tr h="1112444">
                <a:tc>
                  <a:txBody>
                    <a:bodyPr/>
                    <a:lstStyle/>
                    <a:p>
                      <a:pPr algn="ctr" rtl="0" fontAlgn="base">
                        <a:spcAft>
                          <a:spcPts val="750"/>
                        </a:spcAft>
                        <a:buNone/>
                      </a:pPr>
                      <a:br>
                        <a:rPr lang="en-US" b="1">
                          <a:effectLst/>
                        </a:rPr>
                      </a:br>
                      <a:r>
                        <a:rPr lang="en-US" b="1">
                          <a:effectLst/>
                        </a:rPr>
                        <a:t>Size</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spcAft>
                          <a:spcPts val="750"/>
                        </a:spcAft>
                        <a:buNone/>
                      </a:pPr>
                      <a:r>
                        <a:rPr lang="en-US" sz="1250" b="0">
                          <a:effectLst/>
                        </a:rPr>
                        <a:t>The size is the sum of the sizes of all members, with padding if necessary.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buNone/>
                      </a:pPr>
                      <a:r>
                        <a:rPr lang="en-US" sz="1250" b="0">
                          <a:effectLst/>
                        </a:rPr>
                        <a:t>The size is equal to the size of the largest member, with possible padding.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57124422"/>
                  </a:ext>
                </a:extLst>
              </a:tr>
              <a:tr h="1112444">
                <a:tc>
                  <a:txBody>
                    <a:bodyPr/>
                    <a:lstStyle/>
                    <a:p>
                      <a:pPr algn="ctr" rtl="0" fontAlgn="base">
                        <a:spcAft>
                          <a:spcPts val="750"/>
                        </a:spcAft>
                        <a:buNone/>
                      </a:pPr>
                      <a:r>
                        <a:rPr lang="en-US" b="1">
                          <a:effectLst/>
                        </a:rPr>
                        <a:t>Memory Allocation</a:t>
                      </a:r>
                    </a:p>
                  </a:txBody>
                  <a:tcPr marL="38100" marR="38100" marT="66523" marB="6652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spcAft>
                          <a:spcPts val="750"/>
                        </a:spcAft>
                        <a:buNone/>
                      </a:pPr>
                      <a:r>
                        <a:rPr lang="en-US" sz="1250" b="0">
                          <a:effectLst/>
                        </a:rPr>
                        <a:t>Each member within a structure is allocated unique storage area of location.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buNone/>
                      </a:pPr>
                      <a:r>
                        <a:rPr lang="en-US" sz="1250" b="0" dirty="0">
                          <a:effectLst/>
                        </a:rPr>
                        <a:t>Memory allocated is shared by individual members of union.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09664688"/>
                  </a:ext>
                </a:extLst>
              </a:tr>
            </a:tbl>
          </a:graphicData>
        </a:graphic>
      </p:graphicFrame>
    </p:spTree>
    <p:extLst>
      <p:ext uri="{BB962C8B-B14F-4D97-AF65-F5344CB8AC3E}">
        <p14:creationId xmlns:p14="http://schemas.microsoft.com/office/powerpoint/2010/main" val="3060440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A1D2C4-BB03-D8DB-428D-4D8AD0FDDC0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AD1FF4C-1C07-F912-EF35-6BF02F18D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15A9AA2C-8061-D95A-883A-C981902B39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78643D54-FD2E-EDF9-E7B9-C20099803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095C174B-6FB0-CE95-D3AC-6E73A748B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843668C0-FCFF-F543-CCD6-476AE2E055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9D39E78-F3D7-8E7C-ABE3-5D078859B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3AAE97D5-EDB1-9EE9-C6F7-0BA845A3E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12D8D51F-05CF-C117-10BE-B9F8507C0D82}"/>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118E963B-B161-D208-2D85-3220F7CA02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E3FB8717-B715-071D-B9AA-F10EB9BB8168}"/>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(LO-2)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665AA423-C297-E210-1253-18C40F5745A5}"/>
              </a:ext>
            </a:extLst>
          </p:cNvPr>
          <p:cNvSpPr txBox="1"/>
          <p:nvPr/>
        </p:nvSpPr>
        <p:spPr>
          <a:xfrm>
            <a:off x="269823" y="1066476"/>
            <a:ext cx="11363475" cy="5323749"/>
          </a:xfrm>
          <a:prstGeom prst="rect">
            <a:avLst/>
          </a:prstGeom>
          <a:noFill/>
        </p:spPr>
        <p:txBody>
          <a:bodyPr wrap="square">
            <a:spAutoFit/>
          </a:bodyPr>
          <a:lstStyle/>
          <a:p>
            <a:pPr lvl="0"/>
            <a:endParaRPr lang="en-US" sz="2800" b="1" dirty="0"/>
          </a:p>
          <a:p>
            <a:pPr lvl="0"/>
            <a:r>
              <a:rPr lang="en-US" sz="3200" b="1" dirty="0"/>
              <a:t>Introduction to linked list</a:t>
            </a:r>
          </a:p>
          <a:p>
            <a:pPr lvl="0"/>
            <a:endParaRPr lang="en-US" sz="2800" b="1" dirty="0"/>
          </a:p>
          <a:p>
            <a:pPr marL="457200" lvl="0" indent="-457200">
              <a:buFont typeface="Wingdings" panose="05000000000000000000" pitchFamily="2" charset="2"/>
              <a:buChar char="v"/>
            </a:pPr>
            <a:r>
              <a:rPr lang="en-US" sz="2800" dirty="0"/>
              <a:t>A Linked List is basically chains of nodes where each node contains information such as data and a pointer to the next node in the chain.</a:t>
            </a:r>
          </a:p>
          <a:p>
            <a:pPr lvl="0"/>
            <a:endParaRPr lang="en-US" sz="2800" dirty="0"/>
          </a:p>
          <a:p>
            <a:pPr marL="457200" lvl="0" indent="-457200">
              <a:buFont typeface="Wingdings" panose="05000000000000000000" pitchFamily="2" charset="2"/>
              <a:buChar char="v"/>
            </a:pPr>
            <a:r>
              <a:rPr lang="en-US" sz="2800" dirty="0"/>
              <a:t> It is a popular data structure with a wide range of real-world applications. </a:t>
            </a:r>
          </a:p>
          <a:p>
            <a:pPr lvl="0"/>
            <a:endParaRPr lang="en-US" sz="2800" dirty="0"/>
          </a:p>
          <a:p>
            <a:pPr marL="457200" lvl="0" indent="-457200">
              <a:buFont typeface="Wingdings" panose="05000000000000000000" pitchFamily="2" charset="2"/>
              <a:buChar char="v"/>
            </a:pPr>
            <a:r>
              <a:rPr lang="en-US" sz="2800" dirty="0"/>
              <a:t>In the linked list there is a head pointer, which points to the first element of the linked list, and if the list is empty then it simply points to null.</a:t>
            </a:r>
          </a:p>
        </p:txBody>
      </p:sp>
      <p:pic>
        <p:nvPicPr>
          <p:cNvPr id="17" name="Picture 16">
            <a:extLst>
              <a:ext uri="{FF2B5EF4-FFF2-40B4-BE49-F238E27FC236}">
                <a16:creationId xmlns:a16="http://schemas.microsoft.com/office/drawing/2014/main" id="{C119C5A6-60A3-A018-F90B-A6E64E49CE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317014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1AD58B-A191-14BE-AB71-82E74EBC7B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A52E1D-5DD4-D9D4-88F9-575CCF92E6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FAFBD3C-045B-0545-40AA-C9F696A641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F2A4BB-D073-B75C-684F-C599EF77B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42C778A5-D5C0-91B7-E579-F3CB91FD6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22D9A202-F70D-98B4-9BBE-129183847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71D2A096-ED50-8864-0FE1-69AE00D88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406E7C65-DE7E-9556-DCE8-81760278BB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33D7B7B-0218-89B0-DB77-063D16601257}"/>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4FD92148-ABF4-9641-E66B-8ED492DB8F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2A9165FE-0D3B-D5EE-689A-1DC47FCA1A12}"/>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(LO-2)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D3D6BD84-B6D6-02C7-35DD-49AE4252DFDC}"/>
              </a:ext>
            </a:extLst>
          </p:cNvPr>
          <p:cNvSpPr txBox="1"/>
          <p:nvPr/>
        </p:nvSpPr>
        <p:spPr>
          <a:xfrm>
            <a:off x="239843" y="794480"/>
            <a:ext cx="11393455" cy="5755422"/>
          </a:xfrm>
          <a:prstGeom prst="rect">
            <a:avLst/>
          </a:prstGeom>
          <a:noFill/>
        </p:spPr>
        <p:txBody>
          <a:bodyPr wrap="square">
            <a:spAutoFit/>
          </a:bodyPr>
          <a:lstStyle/>
          <a:p>
            <a:pPr lvl="0"/>
            <a:endParaRPr lang="en-US" sz="2800" b="1" dirty="0"/>
          </a:p>
          <a:p>
            <a:pPr lvl="0"/>
            <a:r>
              <a:rPr lang="en-US" sz="3200" b="1" dirty="0"/>
              <a:t>Types of  linked list</a:t>
            </a:r>
          </a:p>
          <a:p>
            <a:pPr lvl="0"/>
            <a:endParaRPr lang="en-US" sz="2800" b="1" dirty="0"/>
          </a:p>
          <a:p>
            <a:pPr marL="457200" lvl="0" indent="-457200">
              <a:buFont typeface="Wingdings" panose="05000000000000000000" pitchFamily="2" charset="2"/>
              <a:buChar char="v"/>
            </a:pPr>
            <a:r>
              <a:rPr lang="en-US" sz="2800" b="1" dirty="0"/>
              <a:t>Singly Linked List: </a:t>
            </a:r>
            <a:r>
              <a:rPr lang="en-US" sz="2800" dirty="0"/>
              <a:t>Singly linked list is the simplest type of linked list in which every node contains some data and a pointer to the next node of the same data type.</a:t>
            </a:r>
          </a:p>
          <a:p>
            <a:pPr marL="457200" lvl="0" indent="-457200">
              <a:buFont typeface="Wingdings" panose="05000000000000000000" pitchFamily="2" charset="2"/>
              <a:buChar char="v"/>
            </a:pPr>
            <a:r>
              <a:rPr lang="en-US" sz="2800" dirty="0"/>
              <a:t> </a:t>
            </a:r>
            <a:r>
              <a:rPr lang="en-US" sz="2800" b="1" dirty="0"/>
              <a:t>Doubly Linked List: </a:t>
            </a:r>
            <a:r>
              <a:rPr lang="en-US" sz="2800" dirty="0"/>
              <a:t>A doubly linked list or a two-way linked list is a more complex type of linked list that contains a pointer to the next as well as the previous node in sequence.</a:t>
            </a:r>
          </a:p>
          <a:p>
            <a:pPr marL="457200" lvl="0" indent="-457200">
              <a:buFont typeface="Wingdings" panose="05000000000000000000" pitchFamily="2" charset="2"/>
              <a:buChar char="v"/>
            </a:pPr>
            <a:r>
              <a:rPr lang="en-US" sz="2800" b="1" dirty="0"/>
              <a:t>Circular Linked List: </a:t>
            </a:r>
            <a:r>
              <a:rPr lang="en-US" sz="2800" dirty="0"/>
              <a:t>A circular linked list is a type of linked list in which the last node's next pointer points back to the first node of the list, creating a circular structure. This design allows for continuous traversal of the list, as there is no null to end the list.</a:t>
            </a:r>
          </a:p>
        </p:txBody>
      </p:sp>
      <p:pic>
        <p:nvPicPr>
          <p:cNvPr id="17" name="Picture 16">
            <a:extLst>
              <a:ext uri="{FF2B5EF4-FFF2-40B4-BE49-F238E27FC236}">
                <a16:creationId xmlns:a16="http://schemas.microsoft.com/office/drawing/2014/main" id="{B2859544-343E-230E-50F8-5D221F6B6F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518741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A63664-13C9-C690-217F-7F006C69849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8D0B9-07B1-EEEF-13D9-5FB42536C5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3F85760C-9610-585D-062D-DC68CC8826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8AFA11B1-3A21-2263-9154-0836CD06F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C409BB97-32E0-CA0D-43A9-BA30D2907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AB6E4B37-4E3D-A34E-30CB-FC667874D7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4518EB7A-833A-5D7A-3312-7C2F278E2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DCBA4765-88CD-A589-F75E-EACA04B89B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90E11137-F4EE-38F0-3237-ACBA52432BBF}"/>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832DB346-5F04-4F1D-E8EE-8E6847F6FC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4F642170-C0B1-C3C8-013C-D43EB357B3C7}"/>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(LO-2)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F849FFF0-92CA-466A-7362-4ED281A7A625}"/>
              </a:ext>
            </a:extLst>
          </p:cNvPr>
          <p:cNvSpPr txBox="1"/>
          <p:nvPr/>
        </p:nvSpPr>
        <p:spPr>
          <a:xfrm>
            <a:off x="269823" y="1066476"/>
            <a:ext cx="11363475" cy="1446550"/>
          </a:xfrm>
          <a:prstGeom prst="rect">
            <a:avLst/>
          </a:prstGeom>
          <a:noFill/>
        </p:spPr>
        <p:txBody>
          <a:bodyPr wrap="square">
            <a:spAutoFit/>
          </a:bodyPr>
          <a:lstStyle/>
          <a:p>
            <a:pPr lvl="0"/>
            <a:endParaRPr lang="en-US" sz="2800" b="1" dirty="0"/>
          </a:p>
          <a:p>
            <a:pPr lvl="0"/>
            <a:r>
              <a:rPr lang="en-US" sz="3200" b="1" dirty="0"/>
              <a:t>Introduction to Singly linked list (</a:t>
            </a:r>
            <a:r>
              <a:rPr lang="en-US" sz="3200" b="1" dirty="0" err="1"/>
              <a:t>contd</a:t>
            </a:r>
            <a:r>
              <a:rPr lang="en-US" sz="3200" b="1" dirty="0"/>
              <a:t>…)</a:t>
            </a:r>
          </a:p>
          <a:p>
            <a:pPr lvl="0"/>
            <a:endParaRPr lang="en-US" sz="2800" b="1" dirty="0"/>
          </a:p>
        </p:txBody>
      </p:sp>
      <p:pic>
        <p:nvPicPr>
          <p:cNvPr id="17" name="Picture 16">
            <a:extLst>
              <a:ext uri="{FF2B5EF4-FFF2-40B4-BE49-F238E27FC236}">
                <a16:creationId xmlns:a16="http://schemas.microsoft.com/office/drawing/2014/main" id="{115301CB-D311-1225-2B02-952D90FFB0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4102" name="Picture 6" descr="Lightbox">
            <a:extLst>
              <a:ext uri="{FF2B5EF4-FFF2-40B4-BE49-F238E27FC236}">
                <a16:creationId xmlns:a16="http://schemas.microsoft.com/office/drawing/2014/main" id="{E3FF4272-2BDF-2B6E-DEE8-F2D53605BA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4046" y="2219325"/>
            <a:ext cx="9668656" cy="376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460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E4B432-D320-A668-0DC7-409A1E26F90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8602B-28EF-8F2D-D0AB-0008E2485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15E6AFC7-6207-2C1F-E714-93F6FA9981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084BAA6C-8CAE-4BE5-6606-50121EB670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081F5BEA-030E-9720-0927-C335533AA7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A82A71F3-C5CE-F833-A2E2-BA1D5E75D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4CB11ACF-2861-4120-ED2E-49CEB4F6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05F03094-0381-6899-0757-288901AE91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C955A92C-9CA6-223C-AC79-2610ADA5F781}"/>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8D16330A-999A-7F3A-C79D-2C9600F636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70754B28-8727-1AAD-4C8E-0E9DF51DCBB7}"/>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(LO-2)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F6E991CE-FB2A-6C9A-B695-5CE8854BB15A}"/>
              </a:ext>
            </a:extLst>
          </p:cNvPr>
          <p:cNvSpPr txBox="1"/>
          <p:nvPr/>
        </p:nvSpPr>
        <p:spPr>
          <a:xfrm>
            <a:off x="254833" y="772562"/>
            <a:ext cx="11378465" cy="954107"/>
          </a:xfrm>
          <a:prstGeom prst="rect">
            <a:avLst/>
          </a:prstGeom>
          <a:noFill/>
        </p:spPr>
        <p:txBody>
          <a:bodyPr wrap="square">
            <a:spAutoFit/>
          </a:bodyPr>
          <a:lstStyle/>
          <a:p>
            <a:pPr lvl="0"/>
            <a:endParaRPr lang="en-US" sz="2800" b="1" dirty="0"/>
          </a:p>
          <a:p>
            <a:pPr lvl="0"/>
            <a:endParaRPr lang="en-US" sz="2800" b="1" dirty="0"/>
          </a:p>
        </p:txBody>
      </p:sp>
      <p:pic>
        <p:nvPicPr>
          <p:cNvPr id="17" name="Picture 16">
            <a:extLst>
              <a:ext uri="{FF2B5EF4-FFF2-40B4-BE49-F238E27FC236}">
                <a16:creationId xmlns:a16="http://schemas.microsoft.com/office/drawing/2014/main" id="{5F68C9AB-9D5D-AFCB-BA2B-509BC58D9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a:extLst>
              <a:ext uri="{FF2B5EF4-FFF2-40B4-BE49-F238E27FC236}">
                <a16:creationId xmlns:a16="http://schemas.microsoft.com/office/drawing/2014/main" id="{D46B9FA7-6635-DB63-F102-CEF686458D8D}"/>
              </a:ext>
            </a:extLst>
          </p:cNvPr>
          <p:cNvSpPr txBox="1"/>
          <p:nvPr/>
        </p:nvSpPr>
        <p:spPr>
          <a:xfrm>
            <a:off x="558702" y="1415443"/>
            <a:ext cx="10923764" cy="4231928"/>
          </a:xfrm>
          <a:prstGeom prst="rect">
            <a:avLst/>
          </a:prstGeom>
          <a:noFill/>
        </p:spPr>
        <p:txBody>
          <a:bodyPr wrap="square">
            <a:spAutoFit/>
          </a:bodyPr>
          <a:lstStyle/>
          <a:p>
            <a:pPr algn="just" fontAlgn="base">
              <a:buNone/>
            </a:pPr>
            <a:r>
              <a:rPr lang="en-US" sz="2800" b="1" dirty="0"/>
              <a:t>Basic Terminologies of Singly Linked List</a:t>
            </a:r>
          </a:p>
          <a:p>
            <a:pPr algn="just" fontAlgn="base">
              <a:buNone/>
            </a:pPr>
            <a:endParaRPr lang="en-US" sz="2800" b="1" dirty="0"/>
          </a:p>
          <a:p>
            <a:pPr marL="457200" indent="-457200" algn="just" fontAlgn="base">
              <a:spcAft>
                <a:spcPts val="1800"/>
              </a:spcAft>
              <a:buFont typeface="Wingdings" panose="05000000000000000000" pitchFamily="2" charset="2"/>
              <a:buChar char="v"/>
            </a:pPr>
            <a:r>
              <a:rPr lang="en-US" sz="2400" b="1" dirty="0"/>
              <a:t>Head:</a:t>
            </a:r>
            <a:r>
              <a:rPr lang="en-US" sz="2400" dirty="0"/>
              <a:t> The Head of a linked list is a pointer to the first node or reference of the first node of linked list. This pointer marks the beginning of the linked list.</a:t>
            </a:r>
          </a:p>
          <a:p>
            <a:pPr marL="457200" indent="-457200" algn="just" fontAlgn="base">
              <a:spcAft>
                <a:spcPts val="1800"/>
              </a:spcAft>
              <a:buFont typeface="Wingdings" panose="05000000000000000000" pitchFamily="2" charset="2"/>
              <a:buChar char="v"/>
            </a:pPr>
            <a:r>
              <a:rPr lang="en-US" sz="2400" b="1" dirty="0"/>
              <a:t>Node:</a:t>
            </a:r>
            <a:r>
              <a:rPr lang="en-US" sz="2400" dirty="0"/>
              <a:t> Linked List consists of a series of nodes where each node has two parts: data and next pointer.</a:t>
            </a:r>
          </a:p>
          <a:p>
            <a:pPr marL="457200" indent="-457200" algn="just" fontAlgn="base">
              <a:spcAft>
                <a:spcPts val="1800"/>
              </a:spcAft>
              <a:buFont typeface="Wingdings" panose="05000000000000000000" pitchFamily="2" charset="2"/>
              <a:buChar char="v"/>
            </a:pPr>
            <a:r>
              <a:rPr lang="en-US" sz="2400" b="1" dirty="0"/>
              <a:t>Data:</a:t>
            </a:r>
            <a:r>
              <a:rPr lang="en-US" sz="2400" dirty="0"/>
              <a:t> Data is the part of node which stores the information in the linked list.</a:t>
            </a:r>
          </a:p>
          <a:p>
            <a:pPr marL="457200" indent="-457200" algn="just" fontAlgn="base">
              <a:spcAft>
                <a:spcPts val="1800"/>
              </a:spcAft>
              <a:buFont typeface="Wingdings" panose="05000000000000000000" pitchFamily="2" charset="2"/>
              <a:buChar char="v"/>
            </a:pPr>
            <a:r>
              <a:rPr lang="en-US" sz="2400" b="1" dirty="0"/>
              <a:t>Next pointer: </a:t>
            </a:r>
            <a:r>
              <a:rPr lang="en-US" sz="2400" dirty="0"/>
              <a:t>Next pointer is the part of the node which points to the next node of the linked list.</a:t>
            </a:r>
          </a:p>
        </p:txBody>
      </p:sp>
    </p:spTree>
    <p:extLst>
      <p:ext uri="{BB962C8B-B14F-4D97-AF65-F5344CB8AC3E}">
        <p14:creationId xmlns:p14="http://schemas.microsoft.com/office/powerpoint/2010/main" val="351869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936218-4F8D-F628-7DAF-5BB5A5F29FA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2214C-63C5-106E-D678-D94F0DCB4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D7EFB58-8A54-8586-1E2B-FF84DA7DF6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C52F43D2-FEEC-BAF5-0EBC-C1026F508D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67EECEB1-11AA-E393-F4DE-41A0DEEE5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2A270C94-8723-1D5A-F95C-22A0AF24D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F25A3450-5130-EA8A-E5EE-EDE442E1B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0080B29A-E07E-0B33-E5C5-CD3C5069F3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9E97F4BC-B626-5EF6-5128-6E0001DCF1BD}"/>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CC90C7E9-1723-86C1-71FA-8E903C2913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5AAEAA42-D7B0-8E95-6592-28FA04354F6C}"/>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(LO-2)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B9F08ACD-B3FB-3EE5-BED0-01005678A852}"/>
              </a:ext>
            </a:extLst>
          </p:cNvPr>
          <p:cNvSpPr txBox="1"/>
          <p:nvPr/>
        </p:nvSpPr>
        <p:spPr>
          <a:xfrm>
            <a:off x="254833" y="772562"/>
            <a:ext cx="11378465" cy="954107"/>
          </a:xfrm>
          <a:prstGeom prst="rect">
            <a:avLst/>
          </a:prstGeom>
          <a:noFill/>
        </p:spPr>
        <p:txBody>
          <a:bodyPr wrap="square">
            <a:spAutoFit/>
          </a:bodyPr>
          <a:lstStyle/>
          <a:p>
            <a:pPr lvl="0"/>
            <a:endParaRPr lang="en-US" sz="2800" b="1" dirty="0"/>
          </a:p>
          <a:p>
            <a:pPr lvl="0"/>
            <a:endParaRPr lang="en-US" sz="2800" b="1" dirty="0"/>
          </a:p>
        </p:txBody>
      </p:sp>
      <p:pic>
        <p:nvPicPr>
          <p:cNvPr id="17" name="Picture 16">
            <a:extLst>
              <a:ext uri="{FF2B5EF4-FFF2-40B4-BE49-F238E27FC236}">
                <a16:creationId xmlns:a16="http://schemas.microsoft.com/office/drawing/2014/main" id="{8C4EA474-B33E-0D43-6AD0-7F5A93A17F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a:extLst>
              <a:ext uri="{FF2B5EF4-FFF2-40B4-BE49-F238E27FC236}">
                <a16:creationId xmlns:a16="http://schemas.microsoft.com/office/drawing/2014/main" id="{305BCD5E-D025-D078-DC45-B455A1EFC1DB}"/>
              </a:ext>
            </a:extLst>
          </p:cNvPr>
          <p:cNvSpPr txBox="1"/>
          <p:nvPr/>
        </p:nvSpPr>
        <p:spPr>
          <a:xfrm>
            <a:off x="558702" y="1415443"/>
            <a:ext cx="10923764" cy="5447645"/>
          </a:xfrm>
          <a:prstGeom prst="rect">
            <a:avLst/>
          </a:prstGeom>
          <a:noFill/>
        </p:spPr>
        <p:txBody>
          <a:bodyPr wrap="square">
            <a:spAutoFit/>
          </a:bodyPr>
          <a:lstStyle/>
          <a:p>
            <a:pPr algn="just" fontAlgn="base">
              <a:buNone/>
            </a:pPr>
            <a:r>
              <a:rPr lang="en-US" sz="2800" b="1" dirty="0"/>
              <a:t>Basic operation on a Singly Linked List</a:t>
            </a:r>
          </a:p>
          <a:p>
            <a:pPr marL="457200" indent="-457200" algn="just" fontAlgn="base">
              <a:buFont typeface="Wingdings" panose="05000000000000000000" pitchFamily="2" charset="2"/>
              <a:buChar char="v"/>
            </a:pPr>
            <a:r>
              <a:rPr lang="en-US" sz="2800" b="1" dirty="0"/>
              <a:t>Insertion: </a:t>
            </a:r>
            <a:r>
              <a:rPr lang="en-US" sz="2800" dirty="0"/>
              <a:t>The insertion operation can be performed in three ways. They are as follows</a:t>
            </a:r>
          </a:p>
          <a:p>
            <a:pPr marL="457200" indent="-457200" algn="just" fontAlgn="base">
              <a:buFont typeface="Arial" panose="020B0604020202020204" pitchFamily="34" charset="0"/>
              <a:buChar char="•"/>
            </a:pPr>
            <a:r>
              <a:rPr lang="en-US" sz="2400" dirty="0"/>
              <a:t>Inserting at the Beginning of the list</a:t>
            </a:r>
          </a:p>
          <a:p>
            <a:pPr marL="457200" indent="-457200" algn="just" fontAlgn="base">
              <a:buFont typeface="Arial" panose="020B0604020202020204" pitchFamily="34" charset="0"/>
              <a:buChar char="•"/>
            </a:pPr>
            <a:r>
              <a:rPr lang="en-US" sz="2400" dirty="0"/>
              <a:t>Inserting at the end of the list</a:t>
            </a:r>
          </a:p>
          <a:p>
            <a:pPr marL="457200" indent="-457200" algn="just" fontAlgn="base">
              <a:buFont typeface="Arial" panose="020B0604020202020204" pitchFamily="34" charset="0"/>
              <a:buChar char="•"/>
            </a:pPr>
            <a:r>
              <a:rPr lang="en-US" sz="2400" dirty="0"/>
              <a:t>Inserting at a specific location in the list</a:t>
            </a:r>
          </a:p>
          <a:p>
            <a:pPr marL="457200" indent="-457200" algn="just" fontAlgn="base">
              <a:buFont typeface="Arial" panose="020B0604020202020204" pitchFamily="34" charset="0"/>
              <a:buChar char="•"/>
            </a:pPr>
            <a:endParaRPr lang="en-US" sz="2400" dirty="0"/>
          </a:p>
          <a:p>
            <a:pPr marL="457200" indent="-457200" algn="just" fontAlgn="base">
              <a:buFont typeface="Wingdings" panose="05000000000000000000" pitchFamily="2" charset="2"/>
              <a:buChar char="v"/>
            </a:pPr>
            <a:r>
              <a:rPr lang="en-US" sz="2800" b="1" dirty="0"/>
              <a:t>Deletion:</a:t>
            </a:r>
            <a:r>
              <a:rPr lang="en-US" sz="2400" dirty="0"/>
              <a:t> </a:t>
            </a:r>
            <a:r>
              <a:rPr lang="en-US" sz="2800" dirty="0"/>
              <a:t>The deletion operation can be performed in three ways. They are as follows:</a:t>
            </a:r>
          </a:p>
          <a:p>
            <a:pPr marL="457200" indent="-457200" algn="just" fontAlgn="base">
              <a:buFont typeface="Arial" panose="020B0604020202020204" pitchFamily="34" charset="0"/>
              <a:buChar char="•"/>
            </a:pPr>
            <a:r>
              <a:rPr lang="en-US" sz="2400" dirty="0"/>
              <a:t>Deleting from the Beginning of the list</a:t>
            </a:r>
          </a:p>
          <a:p>
            <a:pPr marL="457200" indent="-457200" algn="just" fontAlgn="base">
              <a:buFont typeface="Arial" panose="020B0604020202020204" pitchFamily="34" charset="0"/>
              <a:buChar char="•"/>
            </a:pPr>
            <a:r>
              <a:rPr lang="en-US" sz="2400" dirty="0"/>
              <a:t>Deleting from the End of the list</a:t>
            </a:r>
          </a:p>
          <a:p>
            <a:pPr marL="457200" indent="-457200" algn="just" fontAlgn="base">
              <a:buFont typeface="Arial" panose="020B0604020202020204" pitchFamily="34" charset="0"/>
              <a:buChar char="•"/>
            </a:pPr>
            <a:r>
              <a:rPr lang="en-US" sz="2400" dirty="0"/>
              <a:t>Deleting a Specific Node</a:t>
            </a:r>
          </a:p>
          <a:p>
            <a:pPr algn="just" fontAlgn="base">
              <a:buNone/>
            </a:pPr>
            <a:endParaRPr lang="en-US" sz="2800" b="1" dirty="0"/>
          </a:p>
        </p:txBody>
      </p:sp>
    </p:spTree>
    <p:extLst>
      <p:ext uri="{BB962C8B-B14F-4D97-AF65-F5344CB8AC3E}">
        <p14:creationId xmlns:p14="http://schemas.microsoft.com/office/powerpoint/2010/main" val="4139192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344E0B-CC98-0DAC-C78B-266857C339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85F646B-6EA4-E37B-A4CE-7170C29A9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81C8279-89FE-E47B-0143-FCD6967CE8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105B4FBA-E11C-49F8-0002-071E22DBA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52612D72-05E3-D7E3-2B2E-907C6362F2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C4E23357-86A8-15D8-A9AE-5CA769ED0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E133F994-989E-5434-1221-E9BEE446E3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A6294F64-0348-979C-045E-B1977CDB8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AF75483B-4EE3-ACFC-87E2-18BEA370E546}"/>
              </a:ext>
            </a:extLst>
          </p:cNvPr>
          <p:cNvSpPr>
            <a:spLocks noGrp="1"/>
          </p:cNvSpPr>
          <p:nvPr>
            <p:ph type="ftr" sz="quarter" idx="11"/>
          </p:nvPr>
        </p:nvSpPr>
        <p:spPr/>
        <p:txBody>
          <a:bodyPr/>
          <a:lstStyle/>
          <a:p>
            <a:r>
              <a:rPr lang="en-IN" dirty="0"/>
              <a:t>GSCALE full form and date</a:t>
            </a:r>
          </a:p>
        </p:txBody>
      </p:sp>
      <p:pic>
        <p:nvPicPr>
          <p:cNvPr id="9" name="Picture 8" descr="A blue circle with text and words&#10;&#10;Description automatically generated">
            <a:extLst>
              <a:ext uri="{FF2B5EF4-FFF2-40B4-BE49-F238E27FC236}">
                <a16:creationId xmlns:a16="http://schemas.microsoft.com/office/drawing/2014/main" id="{F21E501B-8112-3D22-B637-F3A28E8C71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B8790EF7-DFE3-58BE-5420-3A81B45598D2}"/>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(LO-2)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12021BDA-E7F1-AC62-6D76-E95428F36A61}"/>
              </a:ext>
            </a:extLst>
          </p:cNvPr>
          <p:cNvSpPr txBox="1"/>
          <p:nvPr/>
        </p:nvSpPr>
        <p:spPr>
          <a:xfrm>
            <a:off x="254833" y="772562"/>
            <a:ext cx="11378465" cy="954107"/>
          </a:xfrm>
          <a:prstGeom prst="rect">
            <a:avLst/>
          </a:prstGeom>
          <a:noFill/>
        </p:spPr>
        <p:txBody>
          <a:bodyPr wrap="square">
            <a:spAutoFit/>
          </a:bodyPr>
          <a:lstStyle/>
          <a:p>
            <a:pPr lvl="0"/>
            <a:endParaRPr lang="en-US" sz="2800" b="1" dirty="0"/>
          </a:p>
          <a:p>
            <a:pPr lvl="0"/>
            <a:endParaRPr lang="en-US" sz="2800" b="1" dirty="0"/>
          </a:p>
        </p:txBody>
      </p:sp>
      <p:pic>
        <p:nvPicPr>
          <p:cNvPr id="17" name="Picture 16">
            <a:extLst>
              <a:ext uri="{FF2B5EF4-FFF2-40B4-BE49-F238E27FC236}">
                <a16:creationId xmlns:a16="http://schemas.microsoft.com/office/drawing/2014/main" id="{925DDAA8-F57C-7347-53D3-92DB043EF5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a:extLst>
              <a:ext uri="{FF2B5EF4-FFF2-40B4-BE49-F238E27FC236}">
                <a16:creationId xmlns:a16="http://schemas.microsoft.com/office/drawing/2014/main" id="{2DC75771-95F5-C13C-6060-0469D395DE5F}"/>
              </a:ext>
            </a:extLst>
          </p:cNvPr>
          <p:cNvSpPr txBox="1"/>
          <p:nvPr/>
        </p:nvSpPr>
        <p:spPr>
          <a:xfrm>
            <a:off x="558702" y="1415443"/>
            <a:ext cx="10923764" cy="2677656"/>
          </a:xfrm>
          <a:prstGeom prst="rect">
            <a:avLst/>
          </a:prstGeom>
          <a:noFill/>
        </p:spPr>
        <p:txBody>
          <a:bodyPr wrap="square">
            <a:spAutoFit/>
          </a:bodyPr>
          <a:lstStyle/>
          <a:p>
            <a:pPr algn="just" fontAlgn="base">
              <a:buNone/>
            </a:pPr>
            <a:r>
              <a:rPr lang="en-US" sz="2800" b="1" dirty="0"/>
              <a:t>Basic operation on a Singly Linked List (</a:t>
            </a:r>
            <a:r>
              <a:rPr lang="en-US" sz="2800" b="1" dirty="0" err="1"/>
              <a:t>contd</a:t>
            </a:r>
            <a:r>
              <a:rPr lang="en-US" sz="2800" b="1" dirty="0"/>
              <a:t>…)</a:t>
            </a:r>
          </a:p>
          <a:p>
            <a:pPr algn="just" fontAlgn="base">
              <a:buNone/>
            </a:pPr>
            <a:endParaRPr lang="en-US" sz="2800" b="1" dirty="0"/>
          </a:p>
          <a:p>
            <a:pPr marL="457200" indent="-457200" algn="just" fontAlgn="base">
              <a:buFont typeface="Wingdings" panose="05000000000000000000" pitchFamily="2" charset="2"/>
              <a:buChar char="v"/>
            </a:pPr>
            <a:r>
              <a:rPr lang="en-US" sz="2800" b="1" dirty="0"/>
              <a:t>Traverse: </a:t>
            </a:r>
            <a:r>
              <a:rPr lang="en-US" sz="2800" dirty="0"/>
              <a:t>This process displays the elements of a Single-linked list.</a:t>
            </a:r>
          </a:p>
          <a:p>
            <a:pPr algn="just" fontAlgn="base"/>
            <a:endParaRPr lang="en-US" sz="2800" dirty="0"/>
          </a:p>
          <a:p>
            <a:pPr marL="457200" indent="-457200" algn="just" fontAlgn="base">
              <a:buFont typeface="Wingdings" panose="05000000000000000000" pitchFamily="2" charset="2"/>
              <a:buChar char="v"/>
            </a:pPr>
            <a:r>
              <a:rPr lang="en-US" sz="2800" b="1" dirty="0"/>
              <a:t>Search: </a:t>
            </a:r>
            <a:r>
              <a:rPr lang="en-US" sz="2800" dirty="0"/>
              <a:t>It is a process of determining and retrieving a specific node either from the front, the end or anywhere in the list.</a:t>
            </a:r>
          </a:p>
        </p:txBody>
      </p:sp>
    </p:spTree>
    <p:extLst>
      <p:ext uri="{BB962C8B-B14F-4D97-AF65-F5344CB8AC3E}">
        <p14:creationId xmlns:p14="http://schemas.microsoft.com/office/powerpoint/2010/main" val="3986864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A771400C-45D1-B069-5B91-2105997511BD}"/>
              </a:ext>
            </a:extLst>
          </p:cNvPr>
          <p:cNvSpPr>
            <a:spLocks noGrp="1"/>
          </p:cNvSpPr>
          <p:nvPr>
            <p:ph type="sldNum" sz="quarter" idx="12"/>
          </p:nvPr>
        </p:nvSpPr>
        <p:spPr/>
        <p:txBody>
          <a:bodyPr/>
          <a:lstStyle/>
          <a:p>
            <a:fld id="{26510230-8DD5-4BA5-AB2D-CA30FC08F9D7}" type="slidenum">
              <a:rPr lang="en-IN" smtClean="0"/>
              <a:t>17</a:t>
            </a:fld>
            <a:endParaRPr lang="en-IN"/>
          </a:p>
        </p:txBody>
      </p:sp>
      <p:pic>
        <p:nvPicPr>
          <p:cNvPr id="5" name="Picture 4" descr="A blue circle with text and words&#10;&#10;Description automatically generated">
            <a:extLst>
              <a:ext uri="{FF2B5EF4-FFF2-40B4-BE49-F238E27FC236}">
                <a16:creationId xmlns:a16="http://schemas.microsoft.com/office/drawing/2014/main" id="{F48BF935-342D-FA5C-7B89-95045B1C2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0" name="TextBox 9">
            <a:extLst>
              <a:ext uri="{FF2B5EF4-FFF2-40B4-BE49-F238E27FC236}">
                <a16:creationId xmlns:a16="http://schemas.microsoft.com/office/drawing/2014/main" id="{F648FC53-1451-ED3C-9DED-9CEC86030A58}"/>
              </a:ext>
            </a:extLst>
          </p:cNvPr>
          <p:cNvSpPr txBox="1"/>
          <p:nvPr/>
        </p:nvSpPr>
        <p:spPr>
          <a:xfrm>
            <a:off x="3169170" y="899733"/>
            <a:ext cx="6093500" cy="1077218"/>
          </a:xfrm>
          <a:prstGeom prst="rect">
            <a:avLst/>
          </a:prstGeom>
          <a:noFill/>
        </p:spPr>
        <p:txBody>
          <a:bodyPr wrap="square">
            <a:spAutoFit/>
          </a:bodyPr>
          <a:lstStyle/>
          <a:p>
            <a:pPr algn="ctr"/>
            <a:r>
              <a:rPr lang="en-IN" sz="2800" b="1" dirty="0">
                <a:latin typeface="Tahoma" panose="020B0604030504040204" pitchFamily="34" charset="0"/>
                <a:ea typeface="Tahoma" panose="020B0604030504040204" pitchFamily="34" charset="0"/>
                <a:cs typeface="Tahoma" panose="020B0604030504040204" pitchFamily="34" charset="0"/>
              </a:rPr>
              <a:t>Post-class Assessment</a:t>
            </a:r>
          </a:p>
          <a:p>
            <a:pPr algn="ctr"/>
            <a:endParaRPr lang="en-IN" sz="3600" dirty="0">
              <a:latin typeface="Tahoma" panose="020B0604030504040204" pitchFamily="34" charset="0"/>
              <a:ea typeface="Tahoma" panose="020B0604030504040204" pitchFamily="34" charset="0"/>
              <a:cs typeface="Tahoma" panose="020B0604030504040204" pitchFamily="34" charset="0"/>
            </a:endParaRP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6" name="Picture 5">
            <a:extLst>
              <a:ext uri="{FF2B5EF4-FFF2-40B4-BE49-F238E27FC236}">
                <a16:creationId xmlns:a16="http://schemas.microsoft.com/office/drawing/2014/main" id="{9932D571-CB5B-10A3-6179-6743CE0EF26C}"/>
              </a:ext>
            </a:extLst>
          </p:cNvPr>
          <p:cNvPicPr>
            <a:picLocks noChangeAspect="1"/>
          </p:cNvPicPr>
          <p:nvPr/>
        </p:nvPicPr>
        <p:blipFill>
          <a:blip r:embed="rId4"/>
          <a:stretch>
            <a:fillRect/>
          </a:stretch>
        </p:blipFill>
        <p:spPr>
          <a:xfrm>
            <a:off x="1959430" y="1606456"/>
            <a:ext cx="8414656" cy="4351811"/>
          </a:xfrm>
          <a:prstGeom prst="rect">
            <a:avLst/>
          </a:prstGeom>
        </p:spPr>
      </p:pic>
    </p:spTree>
    <p:extLst>
      <p:ext uri="{BB962C8B-B14F-4D97-AF65-F5344CB8AC3E}">
        <p14:creationId xmlns:p14="http://schemas.microsoft.com/office/powerpoint/2010/main" val="1420671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18</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6" name="TextBox 5">
            <a:extLst>
              <a:ext uri="{FF2B5EF4-FFF2-40B4-BE49-F238E27FC236}">
                <a16:creationId xmlns:a16="http://schemas.microsoft.com/office/drawing/2014/main" id="{F9FE7C1F-B207-A453-2857-36195D85ADAD}"/>
              </a:ext>
            </a:extLst>
          </p:cNvPr>
          <p:cNvSpPr txBox="1"/>
          <p:nvPr/>
        </p:nvSpPr>
        <p:spPr>
          <a:xfrm>
            <a:off x="1109272" y="1843790"/>
            <a:ext cx="9371159" cy="3970318"/>
          </a:xfrm>
          <a:prstGeom prst="rect">
            <a:avLst/>
          </a:prstGeom>
          <a:noFill/>
        </p:spPr>
        <p:txBody>
          <a:bodyPr wrap="square">
            <a:spAutoFit/>
          </a:bodyPr>
          <a:lstStyle/>
          <a:p>
            <a:pPr algn="just"/>
            <a:r>
              <a:rPr lang="en-US" sz="2800" dirty="0"/>
              <a:t>There are many advantages of the linked list compared to array, despite the fact that they solve the similar problem to arrays, we have also discussed the advantage, disadvantages, and its application, and we concluded the fact that we can use a linked list if we need the dynamic size of storage and list are good for adding and removing items quickly or for tasks that require sequence but are not suitable for querying or search elements in a large collection of data.</a:t>
            </a:r>
          </a:p>
        </p:txBody>
      </p:sp>
    </p:spTree>
    <p:extLst>
      <p:ext uri="{BB962C8B-B14F-4D97-AF65-F5344CB8AC3E}">
        <p14:creationId xmlns:p14="http://schemas.microsoft.com/office/powerpoint/2010/main" val="724998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19</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076886"/>
            <a:ext cx="10820400" cy="5323913"/>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854689320"/>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979080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20</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1569660"/>
          </a:xfrm>
          <a:prstGeom prst="rect">
            <a:avLst/>
          </a:prstGeom>
        </p:spPr>
        <p:txBody>
          <a:bodyPr wrap="square">
            <a:spAutoFit/>
          </a:bodyPr>
          <a:lstStyle/>
          <a:p>
            <a:r>
              <a:rPr lang="en-US" sz="3200" b="1" dirty="0"/>
              <a:t>Next Session:</a:t>
            </a:r>
          </a:p>
          <a:p>
            <a:endParaRPr lang="en-US" sz="3200" dirty="0"/>
          </a:p>
          <a:p>
            <a:r>
              <a:rPr lang="en-US" sz="3200" dirty="0"/>
              <a:t>Single Linked list: Insert &amp; Traversal</a:t>
            </a:r>
            <a:endParaRPr lang="en-US"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31808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21</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674912" y="1071593"/>
            <a:ext cx="10282898" cy="4504748"/>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300" b="1" dirty="0">
                <a:solidFill>
                  <a:schemeClr val="tx2"/>
                </a:solidFill>
              </a:rPr>
              <a:t>Review and Reflection from students</a:t>
            </a:r>
          </a:p>
          <a:p>
            <a:pPr algn="ctr"/>
            <a:endParaRPr lang="en-US" sz="4000" dirty="0">
              <a:solidFill>
                <a:schemeClr val="tx2"/>
              </a:solidFill>
            </a:endParaRPr>
          </a:p>
          <a:p>
            <a:pPr algn="ctr"/>
            <a:endParaRPr lang="en-US" sz="4000" dirty="0">
              <a:solidFill>
                <a:schemeClr val="tx2"/>
              </a:solidFill>
            </a:endParaRPr>
          </a:p>
          <a:p>
            <a:pPr algn="ctr"/>
            <a:r>
              <a:rPr lang="en-US" sz="3300" dirty="0">
                <a:solidFill>
                  <a:schemeClr val="tx2"/>
                </a:solidFill>
              </a:rPr>
              <a:t>What was the most interesting concept you learn today?</a:t>
            </a:r>
          </a:p>
          <a:p>
            <a:pPr algn="ctr"/>
            <a:endParaRPr lang="en-US" sz="3300" dirty="0">
              <a:solidFill>
                <a:schemeClr val="tx2"/>
              </a:solidFill>
            </a:endParaRPr>
          </a:p>
          <a:p>
            <a:pPr algn="ctr"/>
            <a:r>
              <a:rPr lang="en-US" sz="3300" b="1" dirty="0">
                <a:solidFill>
                  <a:schemeClr val="tx2"/>
                </a:solidFill>
              </a:rPr>
              <a:t>Go to the LMS and fill out the feedback form</a:t>
            </a:r>
          </a:p>
        </p:txBody>
      </p:sp>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3008</TotalTime>
  <Words>1174</Words>
  <Application>Microsoft Office PowerPoint</Application>
  <PresentationFormat>Widescreen</PresentationFormat>
  <Paragraphs>149</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Aptos Display</vt:lpstr>
      <vt:lpstr>Arial</vt:lpstr>
      <vt:lpstr>Calibri</vt:lpstr>
      <vt:lpstr>Georgia</vt:lpstr>
      <vt:lpstr>Tahoma</vt:lpstr>
      <vt:lpstr>Times New Roman</vt:lpstr>
      <vt:lpstr>Wingdings</vt:lpstr>
      <vt:lpstr>Office Theme</vt:lpstr>
      <vt:lpstr>Introduction to Structure and Union, Singly Linked List   Session No.: 17 Course Name: Data Structures Course Code: R1UC308B   Instructor Name: Akhilesh Tripathi Duration: 50 mins Date of Conduction of Class: </vt:lpstr>
      <vt:lpstr>PowerPoint Presentation</vt:lpstr>
      <vt:lpstr>PowerPoint Presentation</vt:lpstr>
      <vt:lpstr>PowerPoint Presentation</vt:lpstr>
      <vt:lpstr>Learning Outcomes</vt:lpstr>
      <vt:lpstr>PowerPoint Presentation</vt:lpstr>
      <vt:lpstr>PowerPoint Presentation</vt:lpstr>
      <vt:lpstr>Concept and Definition for (LO-1) </vt:lpstr>
      <vt:lpstr>Concept and Definition for (LO-1) </vt:lpstr>
      <vt:lpstr>Concept and Definition for (LO-1)  Difference Between Structure and Union in C</vt:lpstr>
      <vt:lpstr>Concept and Definition for (LO-2) </vt:lpstr>
      <vt:lpstr>Concept and Definition for (LO-2) </vt:lpstr>
      <vt:lpstr>Concept and Definition for (LO-2) </vt:lpstr>
      <vt:lpstr>Concept and Definition for (LO-2) </vt:lpstr>
      <vt:lpstr>Concept and Definition for (LO-2) </vt:lpstr>
      <vt:lpstr>Concept and Definition for (LO-2) </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126</cp:revision>
  <dcterms:created xsi:type="dcterms:W3CDTF">2024-08-22T06:33:55Z</dcterms:created>
  <dcterms:modified xsi:type="dcterms:W3CDTF">2025-10-11T06:53:39Z</dcterms:modified>
</cp:coreProperties>
</file>