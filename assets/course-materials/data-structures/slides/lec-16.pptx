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Play" panose="020B0604020202020204" charset="0"/>
      <p:regular r:id="rId30"/>
      <p:bold r:id="rId31"/>
    </p:embeddedFont>
    <p:embeddedFont>
      <p:font typeface="Tahoma" panose="020B060403050404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tYKDuI47eda8/CpXR1hjE8G2o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100" cy="4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lang="en-US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Merge Sort</a:t>
            </a:r>
            <a:br>
              <a:rPr lang="en-US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16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Structures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Akhilesh Tripathi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 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727756" y="1219889"/>
            <a:ext cx="10626044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concept of internal and external sorting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3" name="Google Shape;113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727755" y="1031972"/>
            <a:ext cx="1062604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Pre-class assessment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F4DD68-8F93-B9BF-594E-00E53B265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82" y="1803684"/>
            <a:ext cx="10427236" cy="40223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3" name="Google Shape;123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4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28" name="Google Shape;128;p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is the divide and conquer method?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7" name="Google Shape;137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grpSp>
        <p:nvGrpSpPr>
          <p:cNvPr id="140" name="Google Shape;140;p5"/>
          <p:cNvGrpSpPr/>
          <p:nvPr/>
        </p:nvGrpSpPr>
        <p:grpSpPr>
          <a:xfrm>
            <a:off x="297092" y="2305508"/>
            <a:ext cx="10927829" cy="3668011"/>
            <a:chOff x="0" y="19729"/>
            <a:chExt cx="10927829" cy="3668011"/>
          </a:xfrm>
        </p:grpSpPr>
        <p:sp>
          <p:nvSpPr>
            <p:cNvPr id="141" name="Google Shape;141;p5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Explain the working of merge sort with the help of example.</a:t>
              </a:r>
              <a:endPara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 rot="10800000">
              <a:off x="0" y="19729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0" y="19729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Understand the concept of the divide and conquer strategy used in merge sort.</a:t>
              </a:r>
              <a:endParaRPr/>
            </a:p>
          </p:txBody>
        </p:sp>
      </p:grpSp>
      <p:pic>
        <p:nvPicPr>
          <p:cNvPr id="145" name="Google Shape;14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1" name="Google Shape;15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2" name="Google Shape;152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727756" y="1219889"/>
            <a:ext cx="10626044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to Merge sort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Merge Sort work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of Merge Sort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 and Disadvantages of Merge Sort</a:t>
            </a:r>
            <a:endParaRPr/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0" name="Google Shape;16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1" name="Google Shape;16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7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67" name="Google Shape;167;p7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is Merge sort, and what are its needs?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9" name="Google Shape;169;p7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70" name="Google Shape;170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7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Activity-1 (Think – Pair – Share)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522475" y="3771900"/>
            <a:ext cx="500389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Structures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80" name="Google Shape;180;p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pic>
        <p:nvPicPr>
          <p:cNvPr id="186" name="Google Shape;186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838200" y="1065690"/>
            <a:ext cx="10795098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Merge sort?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sort is a popular sorting algorithm known for its efficiency and stability.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follows the divide-and-conquer approach.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works by recursively dividing the input array into two halves, recursively sorting the two halves, and finally merging them back together to obtain the sorted array.</a:t>
            </a:r>
            <a:endParaRPr/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96" name="Google Shape;196;p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pic>
        <p:nvPicPr>
          <p:cNvPr id="202" name="Google Shape;202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38200" y="1065690"/>
            <a:ext cx="10795098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Merge Sort work?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step-by-step explanation of how merge sort works: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Divide: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Divide the list or array recursively into two halves until it can no more be divided.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Conquer: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Each subarray is sorted individually using the merge sort algorithm.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Merge: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The sorted subarrays are merged back together in sorted order. The process continues until all elements from both subarrays have been merged. </a:t>
            </a:r>
            <a:endParaRPr/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12" name="Google Shape;212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pic>
        <p:nvPicPr>
          <p:cNvPr id="218" name="Google Shape;218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838200" y="1065690"/>
            <a:ext cx="1079509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0" descr="Merge Sor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1449" y="1065689"/>
            <a:ext cx="4807233" cy="5077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28" name="Google Shape;2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29" name="Google Shape;229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31" name="Google Shape;23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1"/>
          <p:cNvSpPr txBox="1"/>
          <p:nvPr/>
        </p:nvSpPr>
        <p:spPr>
          <a:xfrm>
            <a:off x="1723869" y="905240"/>
            <a:ext cx="8694295" cy="55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sort Code: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#include &lt;stdlib.h&gt;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Merges two subarrays of arr[].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First subarray is arr[l..m]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Second subarray is arr[m+1..r]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merge(int arr[], int l, int m, int r){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 i, j, k;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 n1 = m - l + 1;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 n2 = r - m;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// Create temp arrays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 L[n1], R[n2];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// Copy data to temp arrays L[] and R[]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for (i = 0; i &lt; n1; i++)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L[i] = arr[l + i];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for (j = 0; j &lt; n2; j++)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R[j] = arr[m + 1 + j];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8" name="Google Shape;23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39" name="Google Shape;239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2"/>
          <p:cNvSpPr txBox="1"/>
          <p:nvPr/>
        </p:nvSpPr>
        <p:spPr>
          <a:xfrm>
            <a:off x="1723869" y="905240"/>
            <a:ext cx="8694295" cy="467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(Contd…)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j =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k = l;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while (i &lt; n1 &amp;&amp; j &lt; n2)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 (L[i] &lt;= R[j])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arr[k] = L[i];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i++;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arr[k] = R[j];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j++;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k++;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49" name="Google Shape;249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51" name="Google Shape;25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3"/>
          <p:cNvSpPr txBox="1"/>
          <p:nvPr/>
        </p:nvSpPr>
        <p:spPr>
          <a:xfrm>
            <a:off x="1723869" y="905240"/>
            <a:ext cx="8694295" cy="55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(Contd…)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Copy the remaining elements of L[],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// if there are any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while (i &lt; n1)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arr[k] = L[i];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k++;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// Copy the remaining elements of R[],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// if there are any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while (j &lt; n2)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arr[k] = R[j];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j++;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k++;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59" name="Google Shape;259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4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61" name="Google Shape;26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 txBox="1"/>
          <p:nvPr/>
        </p:nvSpPr>
        <p:spPr>
          <a:xfrm>
            <a:off x="1723869" y="905240"/>
            <a:ext cx="8694295" cy="495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(Contd…)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l is for left index and r is right index of the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sub-array of arr to be sorted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 mergeSort(int arr[], int l, int r){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(l &lt; r)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int m = l + (r - l) / 2;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// Sort first and second halves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mergeSort(arr, l, m);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mergeSort(arr, m + 1, r);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merge(arr, l, m, r);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68" name="Google Shape;26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69" name="Google Shape;269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5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71" name="Google Shape;27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5"/>
          <p:cNvSpPr txBox="1"/>
          <p:nvPr/>
        </p:nvSpPr>
        <p:spPr>
          <a:xfrm>
            <a:off x="1723869" y="905240"/>
            <a:ext cx="8694295" cy="495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(Contd…)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Driver code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main(){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 arr[] = {38, 27, 43, 10};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 arr_size = sizeof(arr) / sizeof(arr[0]);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mergeSort(arr, 0, arr_size - 1);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 i;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for (i = 0; i &lt; arr_size; i++)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printf("%d ", arr[i]);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printf("\n");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79" name="Google Shape;279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6"/>
          <p:cNvSpPr txBox="1">
            <a:spLocks noGrp="1"/>
          </p:cNvSpPr>
          <p:nvPr>
            <p:ph type="body" idx="1"/>
          </p:nvPr>
        </p:nvSpPr>
        <p:spPr>
          <a:xfrm>
            <a:off x="1014188" y="1051175"/>
            <a:ext cx="9254074" cy="530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 Analysis of Merge Sort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Complexity: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Case: 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 log n), when the array is already sorted or nearly sorted.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Case: 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 log n), when the array is randomly ordered.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Worst Case: 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 log n), when the array is sorted in reverse order.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Auxiliary Space: 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O(n), additional space is required for the temporary array used during merging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82" name="Google Shape;28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88" name="Google Shape;28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89" name="Google Shape;289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7"/>
          <p:cNvSpPr txBox="1">
            <a:spLocks noGrp="1"/>
          </p:cNvSpPr>
          <p:nvPr>
            <p:ph type="body" idx="1"/>
          </p:nvPr>
        </p:nvSpPr>
        <p:spPr>
          <a:xfrm>
            <a:off x="1014188" y="1006840"/>
            <a:ext cx="7377034" cy="53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of Merge Sort: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sort are used in various fields such as: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External sorting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Inversion counting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92" name="Google Shape;29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98" name="Google Shape;29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99" name="Google Shape;299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8"/>
          <p:cNvSpPr txBox="1"/>
          <p:nvPr/>
        </p:nvSpPr>
        <p:spPr>
          <a:xfrm>
            <a:off x="495300" y="1024524"/>
            <a:ext cx="11430000" cy="572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 and Disadvantages of Merge Sort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Stability 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Merge sort is a stable sorting algorithm, which means it maintains the relative order of equal elements in the input array.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Guaranteed worst-case performance: 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sort has a worst-case time complexity of O(N logN) , which means it performs well even on large datasets.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Merge sort requires additional memory to store the merged sub-arrays during the sorting process.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07" name="Google Shape;30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08" name="Google Shape;308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9"/>
          <p:cNvSpPr txBox="1"/>
          <p:nvPr/>
        </p:nvSpPr>
        <p:spPr>
          <a:xfrm>
            <a:off x="3169170" y="899733"/>
            <a:ext cx="60935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 Assessment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0" name="Google Shape;310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AEF8D6-0B9F-04DF-C93E-7B14A44BE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587" y="1569550"/>
            <a:ext cx="7678666" cy="47498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18" name="Google Shape;318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0"/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321" name="Google Shape;32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/>
          <p:nvPr/>
        </p:nvSpPr>
        <p:spPr>
          <a:xfrm>
            <a:off x="1237957" y="2112345"/>
            <a:ext cx="9242474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400"/>
              <a:buFont typeface="Noto Sans Symbols"/>
              <a:buChar char="❖"/>
            </a:pPr>
            <a:r>
              <a:rPr lang="en-US" sz="2400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Merge Sort is a sorting algorithm that follows the divide and conquer paradigm. 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400"/>
              <a:buFont typeface="Noto Sans Symbols"/>
              <a:buChar char="❖"/>
            </a:pPr>
            <a:r>
              <a:rPr lang="en-US" sz="2400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It efficiently sorts a list by recursively breaking it down into smaller sub-lists until each sub-list contains only one element (which is inherently sorted). 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400"/>
              <a:buFont typeface="Noto Sans Symbols"/>
              <a:buChar char="❖"/>
            </a:pPr>
            <a:r>
              <a:rPr lang="en-US" sz="2400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Subsequently, these single-element sub-lists are repeatedly merged back together in a sorted manner to form larger sorted sub-lists, eventually resulting in a single, fully sorted list. 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28" name="Google Shape;3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29" name="Google Shape;329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1"/>
          <p:cNvSpPr txBox="1">
            <a:spLocks noGrp="1"/>
          </p:cNvSpPr>
          <p:nvPr>
            <p:ph type="body" idx="1"/>
          </p:nvPr>
        </p:nvSpPr>
        <p:spPr>
          <a:xfrm>
            <a:off x="375532" y="1076886"/>
            <a:ext cx="10820400" cy="53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latin typeface="Tahoma"/>
                <a:ea typeface="Tahoma"/>
                <a:cs typeface="Tahoma"/>
                <a:sym typeface="Tahoma"/>
              </a:rPr>
              <a:t>Ensure attainment of LO’s in alignment to the learning activities: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grpSp>
        <p:nvGrpSpPr>
          <p:cNvPr id="332" name="Google Shape;332;p21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333" name="Google Shape;333;p21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Explain the working of merge sort with the help of example.</a:t>
              </a: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Understand the concept of the divide and conquer strategy used in merge sort.</a:t>
              </a:r>
              <a:endParaRPr/>
            </a:p>
          </p:txBody>
        </p:sp>
      </p:grpSp>
      <p:pic>
        <p:nvPicPr>
          <p:cNvPr id="337" name="Google Shape;33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3" name="Google Shape;34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44" name="Google Shape;344;p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/>
          </a:p>
        </p:txBody>
      </p:sp>
      <p:pic>
        <p:nvPicPr>
          <p:cNvPr id="346" name="Google Shape;34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to Linked List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53" name="Google Shape;3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54" name="Google Shape;354;p2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3"/>
          <p:cNvSpPr txBox="1"/>
          <p:nvPr/>
        </p:nvSpPr>
        <p:spPr>
          <a:xfrm>
            <a:off x="674912" y="1071593"/>
            <a:ext cx="10282898" cy="450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3300" b="1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endParaRPr sz="40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endParaRPr sz="40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33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What was the most interesting concept you learn today?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endParaRPr sz="33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3300" b="1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Go to the LMS and fill out the feedback form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1254</Words>
  <Application>Microsoft Office PowerPoint</Application>
  <PresentationFormat>Widescreen</PresentationFormat>
  <Paragraphs>228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Noto Sans Symbols</vt:lpstr>
      <vt:lpstr>Arial</vt:lpstr>
      <vt:lpstr>Times New Roman</vt:lpstr>
      <vt:lpstr>Play</vt:lpstr>
      <vt:lpstr>Calibri</vt:lpstr>
      <vt:lpstr>Georgia</vt:lpstr>
      <vt:lpstr>Tahoma</vt:lpstr>
      <vt:lpstr>Office Theme</vt:lpstr>
      <vt:lpstr>Merge Sort   Session No.: 16 Course Name: Data Structures Course Code: R1UC308B   Instructor Name: Akhilesh Tripathi Duration: 50 mins Date of Conduction of Class: 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Concept and Definition for (LO-1) </vt:lpstr>
      <vt:lpstr>Concept and Definition for (LO-1)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3</cp:revision>
  <dcterms:created xsi:type="dcterms:W3CDTF">2024-08-22T06:33:55Z</dcterms:created>
  <dcterms:modified xsi:type="dcterms:W3CDTF">2025-10-11T06:39:07Z</dcterms:modified>
</cp:coreProperties>
</file>