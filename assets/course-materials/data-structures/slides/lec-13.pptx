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Georgia" panose="02040502050405020303" pitchFamily="18" charset="0"/>
      <p:regular r:id="rId25"/>
      <p:bold r:id="rId26"/>
      <p:italic r:id="rId27"/>
      <p:boldItalic r:id="rId28"/>
    </p:embeddedFont>
    <p:embeddedFont>
      <p:font typeface="Nunito" pitchFamily="2" charset="0"/>
      <p:regular r:id="rId29"/>
      <p:bold r:id="rId30"/>
      <p:italic r:id="rId31"/>
      <p:boldItalic r:id="rId32"/>
    </p:embeddedFont>
    <p:embeddedFont>
      <p:font typeface="Play" panose="020B0604020202020204" charset="0"/>
      <p:regular r:id="rId33"/>
      <p:bold r:id="rId34"/>
    </p:embeddedFont>
    <p:embeddedFont>
      <p:font typeface="Tahoma" panose="020B0604030504040204" pitchFamily="34" charset="0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JESpjUznz4+cuPm5JbcIbuYMD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" descr="A blue and purple dot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 l="520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Georgia"/>
              <a:buNone/>
            </a:pPr>
            <a:r>
              <a:rPr lang="en-US" sz="36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Sorting : Bubble Sort</a:t>
            </a:r>
            <a:br>
              <a:rPr lang="en-US" sz="54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US" sz="4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Session No.: 13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Name: Data </a:t>
            </a:r>
            <a:r>
              <a:rPr lang="en-US" sz="1800" b="1" dirty="0" err="1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Strucutres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Course Code: </a:t>
            </a:r>
            <a:r>
              <a:rPr lang="en-US" sz="1800" b="1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R1UC308B </a:t>
            </a:r>
            <a: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br>
              <a:rPr lang="en-US" sz="1800" b="0" i="0" u="none" strike="noStrik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Instructor Name: Akhilesh Tripathi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Duration: 50 mins</a:t>
            </a:r>
            <a:b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1800" b="1" dirty="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 </a:t>
            </a:r>
            <a:endParaRPr sz="4800" b="1" dirty="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2" name="Google Shape;92;p1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95" name="Google Shape;95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6" name="Google Shape;96;p1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932" y="3174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4" name="Google Shape;104;p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822739" y="1354784"/>
            <a:ext cx="10810559" cy="353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of the key concepts of last session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Search is simple and works on both sorted and unsorted data, but it is inefficient for large datasets due to its O(n) time complexity.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Binary Search is much faster with O(log n) complexity, but it requires the data to be sorted before searching.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should be able to decide which search algorithm to use depending on the dataset and requirements.</a:t>
            </a:r>
            <a:b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12" name="Google Shape;11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13" name="Google Shape;113;p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Pre-Class Assessment</a:t>
            </a:r>
            <a:endParaRPr sz="3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904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9749CA-B947-77BB-A444-4DA9E3B3A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127" y="1923972"/>
            <a:ext cx="10617746" cy="36277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title"/>
          </p:nvPr>
        </p:nvSpPr>
        <p:spPr>
          <a:xfrm>
            <a:off x="3890330" y="483460"/>
            <a:ext cx="5017695" cy="1136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ahoma"/>
              <a:buNone/>
            </a:pPr>
            <a:r>
              <a:rPr lang="en-US" sz="3600">
                <a:latin typeface="Tahoma"/>
                <a:ea typeface="Tahoma"/>
                <a:cs typeface="Tahoma"/>
                <a:sym typeface="Tahoma"/>
              </a:rPr>
              <a:t>Learning Outcomes</a:t>
            </a:r>
            <a:endParaRPr sz="36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24" name="Google Shape;124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25" name="Google Shape;125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6" name="Google Shape;126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 txBox="1">
            <a:spLocks noGrp="1"/>
          </p:cNvSpPr>
          <p:nvPr>
            <p:ph type="body" idx="1"/>
          </p:nvPr>
        </p:nvSpPr>
        <p:spPr>
          <a:xfrm>
            <a:off x="375532" y="1435255"/>
            <a:ext cx="108204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 u="sng">
                <a:latin typeface="Tahoma"/>
                <a:ea typeface="Tahoma"/>
                <a:cs typeface="Tahoma"/>
                <a:sym typeface="Tahoma"/>
              </a:rPr>
              <a:t>By the end of this session, You will be able to:</a:t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grpSp>
        <p:nvGrpSpPr>
          <p:cNvPr id="129" name="Google Shape;129;p4"/>
          <p:cNvGrpSpPr/>
          <p:nvPr/>
        </p:nvGrpSpPr>
        <p:grpSpPr>
          <a:xfrm>
            <a:off x="297092" y="2316024"/>
            <a:ext cx="10927829" cy="3657495"/>
            <a:chOff x="0" y="30245"/>
            <a:chExt cx="10927829" cy="3657495"/>
          </a:xfrm>
        </p:grpSpPr>
        <p:sp>
          <p:nvSpPr>
            <p:cNvPr id="130" name="Google Shape;130;p4"/>
            <p:cNvSpPr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0" y="2226751"/>
              <a:ext cx="10927829" cy="14609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Analyze the Bubble Sort algorithm, including its time and space complexity.</a:t>
              </a:r>
              <a:endPara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0" y="30245"/>
              <a:ext cx="10927829" cy="2247002"/>
            </a:xfrm>
            <a:prstGeom prst="up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0" y="30245"/>
              <a:ext cx="10927829" cy="14600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6025" tIns="256025" rIns="256025" bIns="2560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Explain the concept and working of Bubble Sort with the help of examples and dry run.</a:t>
              </a:r>
              <a:endPara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4" name="Google Shape;134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41" name="Google Shape;141;p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/>
        </p:nvSpPr>
        <p:spPr>
          <a:xfrm>
            <a:off x="727756" y="1219889"/>
            <a:ext cx="10468176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Outline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Introduction to Sorting and its importance in data structures.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Concept and working principle of Bubble Sort with dry run example.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Algorithm and pseudocode.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and space complexity analysis of Bubble Sort.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Advantages, limitations, and comparison with other sorting techniques.</a:t>
            </a:r>
            <a:endParaRPr/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49" name="Google Shape;1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50" name="Google Shape;150;p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41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"/>
          <p:cNvSpPr txBox="1"/>
          <p:nvPr/>
        </p:nvSpPr>
        <p:spPr>
          <a:xfrm>
            <a:off x="1514475" y="1400175"/>
            <a:ext cx="9401175" cy="430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25265E"/>
                </a:solidFill>
                <a:latin typeface="Arial"/>
                <a:ea typeface="Arial"/>
                <a:cs typeface="Arial"/>
                <a:sym typeface="Arial"/>
              </a:rPr>
              <a:t>Different Sorting Algorithms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25265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3338F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3338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Selection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Insertion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Merge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Counting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Radix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Bucket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Heap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spcBef>
                <a:spcPts val="0"/>
              </a:spcBef>
              <a:spcAft>
                <a:spcPts val="0"/>
              </a:spcAft>
              <a:buClr>
                <a:srgbClr val="0556F3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0556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Shell Sort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1" i="0">
              <a:solidFill>
                <a:srgbClr val="25265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158" name="Google Shape;15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59" name="Google Shape;159;p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7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161" name="Google Shape;161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7" descr="Questions"/>
          <p:cNvSpPr/>
          <p:nvPr/>
        </p:nvSpPr>
        <p:spPr>
          <a:xfrm>
            <a:off x="2002748" y="1280086"/>
            <a:ext cx="2716735" cy="2008804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" descr="Puzzle Pieces"/>
          <p:cNvSpPr/>
          <p:nvPr/>
        </p:nvSpPr>
        <p:spPr>
          <a:xfrm>
            <a:off x="7663508" y="1256657"/>
            <a:ext cx="2793098" cy="2135471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/>
            </a:stretch>
          </a:blip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7"/>
          <p:cNvGrpSpPr/>
          <p:nvPr/>
        </p:nvGrpSpPr>
        <p:grpSpPr>
          <a:xfrm>
            <a:off x="104932" y="3581578"/>
            <a:ext cx="6015649" cy="2246314"/>
            <a:chOff x="0" y="1991651"/>
            <a:chExt cx="5239339" cy="2246314"/>
          </a:xfrm>
        </p:grpSpPr>
        <p:sp>
          <p:nvSpPr>
            <p:cNvPr id="165" name="Google Shape;165;p7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7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  <a:gradFill>
              <a:gsLst>
                <a:gs pos="0">
                  <a:srgbClr val="F4B6A2"/>
                </a:gs>
                <a:gs pos="50000">
                  <a:srgbClr val="F1AA93"/>
                </a:gs>
                <a:gs pos="100000">
                  <a:srgbClr val="F49C7F"/>
                </a:gs>
              </a:gsLst>
              <a:lin ang="5400000" scaled="0"/>
            </a:gra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What is the need of Sorting?</a:t>
              </a:r>
              <a:endParaRPr sz="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67" name="Google Shape;167;p7"/>
          <p:cNvGrpSpPr/>
          <p:nvPr/>
        </p:nvGrpSpPr>
        <p:grpSpPr>
          <a:xfrm>
            <a:off x="6415549" y="3581578"/>
            <a:ext cx="5217750" cy="2231566"/>
            <a:chOff x="5758250" y="2062546"/>
            <a:chExt cx="4320000" cy="1753990"/>
          </a:xfrm>
        </p:grpSpPr>
        <p:sp>
          <p:nvSpPr>
            <p:cNvPr id="168" name="Google Shape;168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7"/>
            <p:cNvSpPr/>
            <p:nvPr/>
          </p:nvSpPr>
          <p:spPr>
            <a:xfrm>
              <a:off x="5758250" y="2062546"/>
              <a:ext cx="4320000" cy="1753990"/>
            </a:xfrm>
            <a:prstGeom prst="rect">
              <a:avLst/>
            </a:prstGeom>
            <a:solidFill>
              <a:schemeClr val="accent3"/>
            </a:solidFill>
            <a:ln w="19050" cap="flat" cmpd="sng">
              <a:solidFill>
                <a:srgbClr val="124E1A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7"/>
          <p:cNvSpPr txBox="1"/>
          <p:nvPr/>
        </p:nvSpPr>
        <p:spPr>
          <a:xfrm>
            <a:off x="3761668" y="760220"/>
            <a:ext cx="66801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Activity-1 (Think – Pair – Share)</a:t>
            </a:r>
            <a:endParaRPr sz="32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522475" y="3771900"/>
            <a:ext cx="5003898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of Sorting</a:t>
            </a:r>
            <a:endParaRPr sz="3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8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78" name="Google Shape;178;p8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184" name="Google Shape;18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85" name="Google Shape;185;p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 txBox="1">
            <a:spLocks noGrp="1"/>
          </p:cNvSpPr>
          <p:nvPr>
            <p:ph type="title"/>
          </p:nvPr>
        </p:nvSpPr>
        <p:spPr>
          <a:xfrm>
            <a:off x="4457700" y="485775"/>
            <a:ext cx="6300866" cy="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838200" y="1652040"/>
            <a:ext cx="10795098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Bubble Sort?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Bubble Sort is a simple comparison-based sorting algorithm.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repeatedly compares adjacent elements and swaps them if they are in the wrong order.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each pass, the largest element “bubbles up” to its correct position at the end of the array.</a:t>
            </a:r>
            <a:endParaRPr/>
          </a:p>
          <a:p>
            <a:pPr marL="457200" marR="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process continues until the list is completely sorted.</a:t>
            </a:r>
            <a:endParaRPr/>
          </a:p>
        </p:txBody>
      </p:sp>
      <p:pic>
        <p:nvPicPr>
          <p:cNvPr id="188" name="Google Shape;188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9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195" name="Google Shape;195;p9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" name="Google Shape;20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01" name="Google Shape;20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02" name="Google Shape;202;p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>
            <a:spLocks noGrp="1"/>
          </p:cNvSpPr>
          <p:nvPr>
            <p:ph type="title"/>
          </p:nvPr>
        </p:nvSpPr>
        <p:spPr>
          <a:xfrm>
            <a:off x="4457700" y="485775"/>
            <a:ext cx="6300866" cy="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04" name="Google Shape;20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55467" y="1663946"/>
            <a:ext cx="76295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10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12" name="Google Shape;212;p10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0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7" name="Google Shape;21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18" name="Google Shape;21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219" name="Google Shape;219;p1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0"/>
          <p:cNvSpPr txBox="1">
            <a:spLocks noGrp="1"/>
          </p:cNvSpPr>
          <p:nvPr>
            <p:ph type="title"/>
          </p:nvPr>
        </p:nvSpPr>
        <p:spPr>
          <a:xfrm>
            <a:off x="4457700" y="485775"/>
            <a:ext cx="6300866" cy="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1" name="Google Shape;22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1084" y="1765810"/>
            <a:ext cx="76295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8" name="Google Shape;228;p11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29" name="Google Shape;229;p11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11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11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35" name="Google Shape;2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36" name="Google Shape;236;p1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1"/>
          <p:cNvSpPr txBox="1">
            <a:spLocks noGrp="1"/>
          </p:cNvSpPr>
          <p:nvPr>
            <p:ph type="title"/>
          </p:nvPr>
        </p:nvSpPr>
        <p:spPr>
          <a:xfrm>
            <a:off x="4457700" y="485775"/>
            <a:ext cx="6300866" cy="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8" name="Google Shape;23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08286" y="1997257"/>
            <a:ext cx="76295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12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46" name="Google Shape;246;p12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2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12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12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52" name="Google Shape;25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253" name="Google Shape;253;p1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2"/>
          <p:cNvSpPr txBox="1">
            <a:spLocks noGrp="1"/>
          </p:cNvSpPr>
          <p:nvPr>
            <p:ph type="title"/>
          </p:nvPr>
        </p:nvSpPr>
        <p:spPr>
          <a:xfrm>
            <a:off x="4457700" y="485775"/>
            <a:ext cx="6300866" cy="884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55" name="Google Shape;255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08286" y="1997257"/>
            <a:ext cx="7629525" cy="3819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13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63" name="Google Shape;263;p13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8" name="Google Shape;26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69" name="Google Shape;26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70" name="Google Shape;270;p13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3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Bubble Sort Algorithm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838200" y="1256190"/>
            <a:ext cx="10795098" cy="4401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assume </a:t>
            </a: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is an array of </a:t>
            </a: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elements. We further assume that </a:t>
            </a: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swap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function swaps the values of the given array elements.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 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Check if the first element in the input array is greater than the next element in the array.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 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If it is greater, swap the two elements; otherwise move the pointer forward in the array.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 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Repeat Step 2 until we reach the end of the array.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4 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Check if the elements are sorted; if not, repeat the same process (Step 1 to Step 3) from the last element of the array to the first.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5 </a:t>
            </a:r>
            <a:r>
              <a:rPr lang="en-US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The final output achieved is the sorted array.</a:t>
            </a:r>
            <a:endParaRPr sz="2800" b="0" i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3" name="Google Shape;273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9" name="Google Shape;279;p14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80" name="Google Shape;280;p14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4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4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4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4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5" name="Google Shape;28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286" name="Google Shape;28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87" name="Google Shape;287;p1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4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Bubble Sort Psuedocode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0" name="Google Shape;29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4"/>
          <p:cNvSpPr txBox="1"/>
          <p:nvPr/>
        </p:nvSpPr>
        <p:spPr>
          <a:xfrm>
            <a:off x="728663" y="1900238"/>
            <a:ext cx="10625137" cy="3416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procedure bubbleSort(arr, n)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for i ← 0 to n-1 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swapped ← false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for j ← 0 to n-i-2 do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if arr[j] &gt; arr[j+1] then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swap(arr[j], arr[j+1])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swapped ← true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end for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if swapped = false then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break   // array is already sorted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end for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 procedure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5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7" name="Google Shape;297;p15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298" name="Google Shape;298;p15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5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04" name="Google Shape;30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305" name="Google Shape;305;p15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lang="en-US" sz="2800" b="1" dirty="0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br>
              <a:rPr lang="en-US" sz="2800" b="1" dirty="0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 dirty="0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 dirty="0">
                <a:latin typeface="Tahoma"/>
                <a:ea typeface="Tahoma"/>
                <a:cs typeface="Tahoma"/>
                <a:sym typeface="Tahoma"/>
              </a:rPr>
              <a:t>Activity -2</a:t>
            </a:r>
            <a:endParaRPr sz="2800" b="1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838200" y="1256190"/>
            <a:ext cx="1079509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0" i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8" name="Google Shape;30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12DA296-8996-F0FE-2879-5B736C3B33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1" y="1673134"/>
            <a:ext cx="9100456" cy="45466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5" name="Google Shape;315;p16"/>
          <p:cNvGrpSpPr/>
          <p:nvPr/>
        </p:nvGrpSpPr>
        <p:grpSpPr>
          <a:xfrm>
            <a:off x="0" y="0"/>
            <a:ext cx="6423049" cy="6858001"/>
            <a:chOff x="0" y="0"/>
            <a:chExt cx="6423049" cy="6858001"/>
          </a:xfrm>
        </p:grpSpPr>
        <p:sp>
          <p:nvSpPr>
            <p:cNvPr id="316" name="Google Shape;316;p16"/>
            <p:cNvSpPr/>
            <p:nvPr/>
          </p:nvSpPr>
          <p:spPr>
            <a:xfrm>
              <a:off x="0" y="0"/>
              <a:ext cx="6018714" cy="6858000"/>
            </a:xfrm>
            <a:custGeom>
              <a:avLst/>
              <a:gdLst/>
              <a:ahLst/>
              <a:cxnLst/>
              <a:rect l="l" t="t" r="r" b="b"/>
              <a:pathLst>
                <a:path w="6018714" h="6858000" extrusionOk="0">
                  <a:moveTo>
                    <a:pt x="0" y="6499477"/>
                  </a:moveTo>
                  <a:lnTo>
                    <a:pt x="248639" y="6701197"/>
                  </a:lnTo>
                  <a:cubicBezTo>
                    <a:pt x="296496" y="6739700"/>
                    <a:pt x="344500" y="6777613"/>
                    <a:pt x="392359" y="6814935"/>
                  </a:cubicBezTo>
                  <a:lnTo>
                    <a:pt x="448656" y="6858000"/>
                  </a:lnTo>
                  <a:lnTo>
                    <a:pt x="0" y="6858000"/>
                  </a:lnTo>
                  <a:close/>
                  <a:moveTo>
                    <a:pt x="998246" y="0"/>
                  </a:moveTo>
                  <a:lnTo>
                    <a:pt x="1984114" y="0"/>
                  </a:lnTo>
                  <a:lnTo>
                    <a:pt x="2011390" y="2333"/>
                  </a:lnTo>
                  <a:cubicBezTo>
                    <a:pt x="2791770" y="95667"/>
                    <a:pt x="3537428" y="382707"/>
                    <a:pt x="4182319" y="838030"/>
                  </a:cubicBezTo>
                  <a:cubicBezTo>
                    <a:pt x="4396386" y="988089"/>
                    <a:pt x="4598134" y="1155477"/>
                    <a:pt x="4785565" y="1338564"/>
                  </a:cubicBezTo>
                  <a:cubicBezTo>
                    <a:pt x="5159266" y="1705003"/>
                    <a:pt x="5477110" y="2135318"/>
                    <a:pt x="5695308" y="2616232"/>
                  </a:cubicBezTo>
                  <a:cubicBezTo>
                    <a:pt x="5803975" y="2856910"/>
                    <a:pt x="5885376" y="3109302"/>
                    <a:pt x="5937944" y="3368583"/>
                  </a:cubicBezTo>
                  <a:cubicBezTo>
                    <a:pt x="5990936" y="3626845"/>
                    <a:pt x="6017985" y="3889887"/>
                    <a:pt x="6018677" y="4153681"/>
                  </a:cubicBezTo>
                  <a:cubicBezTo>
                    <a:pt x="6019393" y="4288706"/>
                    <a:pt x="6009862" y="4423598"/>
                    <a:pt x="5990165" y="4557147"/>
                  </a:cubicBezTo>
                  <a:lnTo>
                    <a:pt x="5982312" y="4607451"/>
                  </a:lnTo>
                  <a:lnTo>
                    <a:pt x="5972856" y="4657609"/>
                  </a:lnTo>
                  <a:cubicBezTo>
                    <a:pt x="5966601" y="4691096"/>
                    <a:pt x="5959037" y="4724287"/>
                    <a:pt x="5951328" y="4757628"/>
                  </a:cubicBezTo>
                  <a:cubicBezTo>
                    <a:pt x="5934889" y="4823863"/>
                    <a:pt x="5915834" y="4890100"/>
                    <a:pt x="5893141" y="4953827"/>
                  </a:cubicBezTo>
                  <a:cubicBezTo>
                    <a:pt x="5870448" y="5017556"/>
                    <a:pt x="5845282" y="5080252"/>
                    <a:pt x="5817644" y="5141915"/>
                  </a:cubicBezTo>
                  <a:cubicBezTo>
                    <a:pt x="5790005" y="5203578"/>
                    <a:pt x="5760040" y="5263619"/>
                    <a:pt x="5728909" y="5322626"/>
                  </a:cubicBezTo>
                  <a:cubicBezTo>
                    <a:pt x="5666505" y="5440642"/>
                    <a:pt x="5599591" y="5553937"/>
                    <a:pt x="5532095" y="5663839"/>
                  </a:cubicBezTo>
                  <a:lnTo>
                    <a:pt x="5330043" y="5988236"/>
                  </a:lnTo>
                  <a:cubicBezTo>
                    <a:pt x="5297022" y="6041195"/>
                    <a:pt x="5264148" y="6093565"/>
                    <a:pt x="5232580" y="6146081"/>
                  </a:cubicBezTo>
                  <a:lnTo>
                    <a:pt x="5183269" y="6227660"/>
                  </a:lnTo>
                  <a:cubicBezTo>
                    <a:pt x="5166103" y="6255541"/>
                    <a:pt x="5149375" y="6283717"/>
                    <a:pt x="5131628" y="6311451"/>
                  </a:cubicBezTo>
                  <a:cubicBezTo>
                    <a:pt x="5062676" y="6423417"/>
                    <a:pt x="4988635" y="6533174"/>
                    <a:pt x="4910811" y="6641009"/>
                  </a:cubicBezTo>
                  <a:cubicBezTo>
                    <a:pt x="4871725" y="6695377"/>
                    <a:pt x="4831064" y="6748547"/>
                    <a:pt x="4788885" y="6800448"/>
                  </a:cubicBezTo>
                  <a:lnTo>
                    <a:pt x="4739213" y="6858000"/>
                  </a:lnTo>
                  <a:lnTo>
                    <a:pt x="3950454" y="6858000"/>
                  </a:lnTo>
                  <a:lnTo>
                    <a:pt x="4012997" y="6806378"/>
                  </a:lnTo>
                  <a:cubicBezTo>
                    <a:pt x="4100089" y="6729374"/>
                    <a:pt x="4185375" y="6649419"/>
                    <a:pt x="4268871" y="6566512"/>
                  </a:cubicBezTo>
                  <a:cubicBezTo>
                    <a:pt x="4439315" y="6398398"/>
                    <a:pt x="4599980" y="6220387"/>
                    <a:pt x="4750072" y="6033375"/>
                  </a:cubicBezTo>
                  <a:cubicBezTo>
                    <a:pt x="4769418" y="6009920"/>
                    <a:pt x="4787311" y="5985138"/>
                    <a:pt x="4806075" y="5961092"/>
                  </a:cubicBezTo>
                  <a:lnTo>
                    <a:pt x="4863244" y="5885856"/>
                  </a:lnTo>
                  <a:cubicBezTo>
                    <a:pt x="4902520" y="5833635"/>
                    <a:pt x="4942184" y="5782445"/>
                    <a:pt x="4982235" y="5732288"/>
                  </a:cubicBezTo>
                  <a:cubicBezTo>
                    <a:pt x="5061513" y="5631533"/>
                    <a:pt x="5143556" y="5534760"/>
                    <a:pt x="5221526" y="5438135"/>
                  </a:cubicBezTo>
                  <a:cubicBezTo>
                    <a:pt x="5299495" y="5341509"/>
                    <a:pt x="5374846" y="5245326"/>
                    <a:pt x="5442633" y="5146193"/>
                  </a:cubicBezTo>
                  <a:cubicBezTo>
                    <a:pt x="5476091" y="5096480"/>
                    <a:pt x="5508530" y="5046176"/>
                    <a:pt x="5538350" y="4995133"/>
                  </a:cubicBezTo>
                  <a:cubicBezTo>
                    <a:pt x="5568171" y="4944091"/>
                    <a:pt x="5596245" y="4892164"/>
                    <a:pt x="5621702" y="4839205"/>
                  </a:cubicBezTo>
                  <a:cubicBezTo>
                    <a:pt x="5673203" y="4733405"/>
                    <a:pt x="5713291" y="4622262"/>
                    <a:pt x="5741275" y="4507728"/>
                  </a:cubicBezTo>
                  <a:cubicBezTo>
                    <a:pt x="5767878" y="4391630"/>
                    <a:pt x="5781445" y="4272861"/>
                    <a:pt x="5781714" y="4153681"/>
                  </a:cubicBezTo>
                  <a:cubicBezTo>
                    <a:pt x="5781640" y="3908842"/>
                    <a:pt x="5749352" y="3665096"/>
                    <a:pt x="5685706" y="3428918"/>
                  </a:cubicBezTo>
                  <a:cubicBezTo>
                    <a:pt x="5621295" y="3194067"/>
                    <a:pt x="5532959" y="2966636"/>
                    <a:pt x="5422122" y="2750328"/>
                  </a:cubicBezTo>
                  <a:cubicBezTo>
                    <a:pt x="5312356" y="2533473"/>
                    <a:pt x="5182293" y="2327817"/>
                    <a:pt x="5033730" y="2136204"/>
                  </a:cubicBezTo>
                  <a:cubicBezTo>
                    <a:pt x="4885345" y="1944281"/>
                    <a:pt x="4721094" y="1765530"/>
                    <a:pt x="4542784" y="1601886"/>
                  </a:cubicBezTo>
                  <a:cubicBezTo>
                    <a:pt x="4001273" y="1114380"/>
                    <a:pt x="3361806" y="751985"/>
                    <a:pt x="2668605" y="539746"/>
                  </a:cubicBezTo>
                  <a:cubicBezTo>
                    <a:pt x="2438667" y="470493"/>
                    <a:pt x="2203536" y="420366"/>
                    <a:pt x="1965570" y="389865"/>
                  </a:cubicBezTo>
                  <a:cubicBezTo>
                    <a:pt x="1727936" y="359890"/>
                    <a:pt x="1488166" y="351053"/>
                    <a:pt x="1249006" y="363461"/>
                  </a:cubicBezTo>
                  <a:cubicBezTo>
                    <a:pt x="1010718" y="374400"/>
                    <a:pt x="774017" y="408587"/>
                    <a:pt x="542188" y="465544"/>
                  </a:cubicBezTo>
                  <a:cubicBezTo>
                    <a:pt x="369418" y="508120"/>
                    <a:pt x="200552" y="565242"/>
                    <a:pt x="37349" y="636266"/>
                  </a:cubicBezTo>
                  <a:lnTo>
                    <a:pt x="0" y="653785"/>
                  </a:lnTo>
                  <a:lnTo>
                    <a:pt x="0" y="255198"/>
                  </a:lnTo>
                  <a:lnTo>
                    <a:pt x="167136" y="188295"/>
                  </a:lnTo>
                  <a:cubicBezTo>
                    <a:pt x="260597" y="155379"/>
                    <a:pt x="355437" y="126405"/>
                    <a:pt x="451417" y="101466"/>
                  </a:cubicBezTo>
                  <a:cubicBezTo>
                    <a:pt x="578649" y="68513"/>
                    <a:pt x="707299" y="41799"/>
                    <a:pt x="836914" y="21393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6"/>
            <p:cNvSpPr/>
            <p:nvPr/>
          </p:nvSpPr>
          <p:spPr>
            <a:xfrm>
              <a:off x="0" y="38834"/>
              <a:ext cx="6015920" cy="6819166"/>
            </a:xfrm>
            <a:custGeom>
              <a:avLst/>
              <a:gdLst/>
              <a:ahLst/>
              <a:cxnLst/>
              <a:rect l="l" t="t" r="r" b="b"/>
              <a:pathLst>
                <a:path w="6015920" h="6819166" extrusionOk="0">
                  <a:moveTo>
                    <a:pt x="0" y="6143989"/>
                  </a:moveTo>
                  <a:lnTo>
                    <a:pt x="134018" y="6248665"/>
                  </a:lnTo>
                  <a:cubicBezTo>
                    <a:pt x="404095" y="6461250"/>
                    <a:pt x="645672" y="6645215"/>
                    <a:pt x="880799" y="6790482"/>
                  </a:cubicBezTo>
                  <a:lnTo>
                    <a:pt x="929680" y="6819166"/>
                  </a:lnTo>
                  <a:lnTo>
                    <a:pt x="0" y="6819166"/>
                  </a:lnTo>
                  <a:close/>
                  <a:moveTo>
                    <a:pt x="1408589" y="0"/>
                  </a:moveTo>
                  <a:lnTo>
                    <a:pt x="1409171" y="294"/>
                  </a:lnTo>
                  <a:cubicBezTo>
                    <a:pt x="3696325" y="294"/>
                    <a:pt x="6015920" y="1849221"/>
                    <a:pt x="6015920" y="4129828"/>
                  </a:cubicBezTo>
                  <a:cubicBezTo>
                    <a:pt x="6015920" y="4985129"/>
                    <a:pt x="5545048" y="5437324"/>
                    <a:pt x="5101088" y="6096419"/>
                  </a:cubicBezTo>
                  <a:cubicBezTo>
                    <a:pt x="4927721" y="6353993"/>
                    <a:pt x="4744312" y="6588925"/>
                    <a:pt x="4546786" y="6797679"/>
                  </a:cubicBezTo>
                  <a:lnTo>
                    <a:pt x="4525032" y="6819166"/>
                  </a:lnTo>
                  <a:lnTo>
                    <a:pt x="3362009" y="6819166"/>
                  </a:lnTo>
                  <a:lnTo>
                    <a:pt x="3559506" y="6694254"/>
                  </a:lnTo>
                  <a:cubicBezTo>
                    <a:pt x="3895644" y="6458563"/>
                    <a:pt x="4202210" y="6126161"/>
                    <a:pt x="4499295" y="5685109"/>
                  </a:cubicBezTo>
                  <a:cubicBezTo>
                    <a:pt x="4589775" y="5550592"/>
                    <a:pt x="4678218" y="5428532"/>
                    <a:pt x="4763752" y="5310428"/>
                  </a:cubicBezTo>
                  <a:cubicBezTo>
                    <a:pt x="5118251" y="4820868"/>
                    <a:pt x="5288592" y="4566198"/>
                    <a:pt x="5288592" y="4129828"/>
                  </a:cubicBezTo>
                  <a:cubicBezTo>
                    <a:pt x="5288592" y="3696828"/>
                    <a:pt x="5181966" y="3269106"/>
                    <a:pt x="4971477" y="2858526"/>
                  </a:cubicBezTo>
                  <a:cubicBezTo>
                    <a:pt x="4765643" y="2456885"/>
                    <a:pt x="4471366" y="2089240"/>
                    <a:pt x="4096938" y="1766138"/>
                  </a:cubicBezTo>
                  <a:cubicBezTo>
                    <a:pt x="3720910" y="1443697"/>
                    <a:pt x="3293474" y="1187604"/>
                    <a:pt x="2832696" y="1008719"/>
                  </a:cubicBezTo>
                  <a:cubicBezTo>
                    <a:pt x="2360806" y="825703"/>
                    <a:pt x="1881933" y="732948"/>
                    <a:pt x="1409171" y="732948"/>
                  </a:cubicBezTo>
                  <a:cubicBezTo>
                    <a:pt x="963609" y="732948"/>
                    <a:pt x="553251" y="819255"/>
                    <a:pt x="189877" y="989377"/>
                  </a:cubicBezTo>
                  <a:lnTo>
                    <a:pt x="0" y="1091881"/>
                  </a:lnTo>
                  <a:lnTo>
                    <a:pt x="0" y="273645"/>
                  </a:lnTo>
                  <a:lnTo>
                    <a:pt x="53152" y="250589"/>
                  </a:lnTo>
                  <a:cubicBezTo>
                    <a:pt x="457881" y="88474"/>
                    <a:pt x="911201" y="0"/>
                    <a:pt x="1408589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6"/>
            <p:cNvSpPr/>
            <p:nvPr/>
          </p:nvSpPr>
          <p:spPr>
            <a:xfrm>
              <a:off x="0" y="89880"/>
              <a:ext cx="5997097" cy="6768121"/>
            </a:xfrm>
            <a:custGeom>
              <a:avLst/>
              <a:gdLst/>
              <a:ahLst/>
              <a:cxnLst/>
              <a:rect l="l" t="t" r="r" b="b"/>
              <a:pathLst>
                <a:path w="5997097" h="6768121" extrusionOk="0">
                  <a:moveTo>
                    <a:pt x="0" y="5929955"/>
                  </a:moveTo>
                  <a:lnTo>
                    <a:pt x="204947" y="6088753"/>
                  </a:lnTo>
                  <a:cubicBezTo>
                    <a:pt x="536028" y="6347537"/>
                    <a:pt x="834815" y="6574463"/>
                    <a:pt x="1135927" y="6730112"/>
                  </a:cubicBezTo>
                  <a:lnTo>
                    <a:pt x="1219620" y="6768121"/>
                  </a:lnTo>
                  <a:lnTo>
                    <a:pt x="0" y="6768121"/>
                  </a:lnTo>
                  <a:close/>
                  <a:moveTo>
                    <a:pt x="1389767" y="0"/>
                  </a:moveTo>
                  <a:lnTo>
                    <a:pt x="1390348" y="292"/>
                  </a:lnTo>
                  <a:cubicBezTo>
                    <a:pt x="3677502" y="292"/>
                    <a:pt x="5997097" y="1835776"/>
                    <a:pt x="5997097" y="4099802"/>
                  </a:cubicBezTo>
                  <a:cubicBezTo>
                    <a:pt x="5997097" y="4948885"/>
                    <a:pt x="5526225" y="5397792"/>
                    <a:pt x="5082265" y="6052096"/>
                  </a:cubicBezTo>
                  <a:cubicBezTo>
                    <a:pt x="4908898" y="6307797"/>
                    <a:pt x="4725489" y="6541021"/>
                    <a:pt x="4527964" y="6748257"/>
                  </a:cubicBezTo>
                  <a:lnTo>
                    <a:pt x="4507706" y="6768121"/>
                  </a:lnTo>
                  <a:lnTo>
                    <a:pt x="3011909" y="6768121"/>
                  </a:lnTo>
                  <a:lnTo>
                    <a:pt x="3041514" y="6756841"/>
                  </a:lnTo>
                  <a:cubicBezTo>
                    <a:pt x="3144608" y="6713092"/>
                    <a:pt x="3243834" y="6661888"/>
                    <a:pt x="3339587" y="6603120"/>
                  </a:cubicBezTo>
                  <a:cubicBezTo>
                    <a:pt x="3700923" y="6381722"/>
                    <a:pt x="4034475" y="6041040"/>
                    <a:pt x="4359591" y="5561878"/>
                  </a:cubicBezTo>
                  <a:cubicBezTo>
                    <a:pt x="4451526" y="5426449"/>
                    <a:pt x="4540696" y="5304113"/>
                    <a:pt x="4626956" y="5185850"/>
                  </a:cubicBezTo>
                  <a:cubicBezTo>
                    <a:pt x="4972001" y="4713668"/>
                    <a:pt x="5124303" y="4488342"/>
                    <a:pt x="5124303" y="4099802"/>
                  </a:cubicBezTo>
                  <a:cubicBezTo>
                    <a:pt x="5124303" y="3693373"/>
                    <a:pt x="5022478" y="3291306"/>
                    <a:pt x="4823481" y="2904512"/>
                  </a:cubicBezTo>
                  <a:cubicBezTo>
                    <a:pt x="4628994" y="2527756"/>
                    <a:pt x="4338498" y="2167874"/>
                    <a:pt x="3983561" y="1863706"/>
                  </a:cubicBezTo>
                  <a:cubicBezTo>
                    <a:pt x="3620116" y="1554184"/>
                    <a:pt x="3207009" y="1308274"/>
                    <a:pt x="2761651" y="1136378"/>
                  </a:cubicBezTo>
                  <a:cubicBezTo>
                    <a:pt x="2312890" y="964438"/>
                    <a:pt x="1838235" y="873085"/>
                    <a:pt x="1390348" y="873085"/>
                  </a:cubicBezTo>
                  <a:cubicBezTo>
                    <a:pt x="966023" y="873085"/>
                    <a:pt x="576467" y="954255"/>
                    <a:pt x="232295" y="1114121"/>
                  </a:cubicBezTo>
                  <a:lnTo>
                    <a:pt x="0" y="1238681"/>
                  </a:lnTo>
                  <a:lnTo>
                    <a:pt x="0" y="263550"/>
                  </a:lnTo>
                  <a:lnTo>
                    <a:pt x="34329" y="248767"/>
                  </a:lnTo>
                  <a:cubicBezTo>
                    <a:pt x="439058" y="87831"/>
                    <a:pt x="892378" y="0"/>
                    <a:pt x="1389767" y="0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6"/>
            <p:cNvSpPr/>
            <p:nvPr/>
          </p:nvSpPr>
          <p:spPr>
            <a:xfrm>
              <a:off x="0" y="726"/>
              <a:ext cx="6423049" cy="6857275"/>
            </a:xfrm>
            <a:custGeom>
              <a:avLst/>
              <a:gdLst/>
              <a:ahLst/>
              <a:cxnLst/>
              <a:rect l="l" t="t" r="r" b="b"/>
              <a:pathLst>
                <a:path w="6423049" h="6857275" extrusionOk="0">
                  <a:moveTo>
                    <a:pt x="3207935" y="0"/>
                  </a:moveTo>
                  <a:lnTo>
                    <a:pt x="6423049" y="0"/>
                  </a:lnTo>
                  <a:lnTo>
                    <a:pt x="6423049" y="6857275"/>
                  </a:lnTo>
                  <a:lnTo>
                    <a:pt x="5115455" y="6857275"/>
                  </a:lnTo>
                  <a:lnTo>
                    <a:pt x="5327016" y="6576778"/>
                  </a:lnTo>
                  <a:cubicBezTo>
                    <a:pt x="5812196" y="5874153"/>
                    <a:pt x="6096492" y="5021129"/>
                    <a:pt x="6096492" y="4101445"/>
                  </a:cubicBezTo>
                  <a:cubicBezTo>
                    <a:pt x="6096492" y="2224539"/>
                    <a:pt x="4912418" y="625268"/>
                    <a:pt x="3253269" y="15400"/>
                  </a:cubicBezTo>
                  <a:close/>
                  <a:moveTo>
                    <a:pt x="0" y="0"/>
                  </a:moveTo>
                  <a:lnTo>
                    <a:pt x="318887" y="0"/>
                  </a:lnTo>
                  <a:lnTo>
                    <a:pt x="273553" y="15400"/>
                  </a:lnTo>
                  <a:cubicBezTo>
                    <a:pt x="207186" y="39794"/>
                    <a:pt x="141580" y="65772"/>
                    <a:pt x="76780" y="93287"/>
                  </a:cubicBezTo>
                  <a:lnTo>
                    <a:pt x="0" y="12813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16"/>
            <p:cNvSpPr/>
            <p:nvPr/>
          </p:nvSpPr>
          <p:spPr>
            <a:xfrm>
              <a:off x="0" y="726"/>
              <a:ext cx="6158587" cy="6857275"/>
            </a:xfrm>
            <a:custGeom>
              <a:avLst/>
              <a:gdLst/>
              <a:ahLst/>
              <a:cxnLst/>
              <a:rect l="l" t="t" r="r" b="b"/>
              <a:pathLst>
                <a:path w="6158587" h="6857275" extrusionOk="0">
                  <a:moveTo>
                    <a:pt x="233278" y="0"/>
                  </a:moveTo>
                  <a:lnTo>
                    <a:pt x="3441063" y="0"/>
                  </a:lnTo>
                  <a:lnTo>
                    <a:pt x="3535825" y="38136"/>
                  </a:lnTo>
                  <a:cubicBezTo>
                    <a:pt x="5077434" y="703644"/>
                    <a:pt x="6158926" y="2261149"/>
                    <a:pt x="6158587" y="4076179"/>
                  </a:cubicBezTo>
                  <a:cubicBezTo>
                    <a:pt x="6158441" y="4852011"/>
                    <a:pt x="5956378" y="5613884"/>
                    <a:pt x="5573039" y="6283960"/>
                  </a:cubicBezTo>
                  <a:cubicBezTo>
                    <a:pt x="5468266" y="6466229"/>
                    <a:pt x="5351134" y="6639962"/>
                    <a:pt x="5222761" y="6804016"/>
                  </a:cubicBezTo>
                  <a:lnTo>
                    <a:pt x="5179011" y="6857275"/>
                  </a:lnTo>
                  <a:lnTo>
                    <a:pt x="4477061" y="6857275"/>
                  </a:lnTo>
                  <a:lnTo>
                    <a:pt x="4532922" y="6798071"/>
                  </a:lnTo>
                  <a:cubicBezTo>
                    <a:pt x="4575851" y="6750793"/>
                    <a:pt x="4618547" y="6701908"/>
                    <a:pt x="4660563" y="6651672"/>
                  </a:cubicBezTo>
                  <a:cubicBezTo>
                    <a:pt x="4698786" y="6606693"/>
                    <a:pt x="4736294" y="6559232"/>
                    <a:pt x="4772511" y="6513379"/>
                  </a:cubicBezTo>
                  <a:lnTo>
                    <a:pt x="4781959" y="6501404"/>
                  </a:lnTo>
                  <a:lnTo>
                    <a:pt x="4800713" y="6476578"/>
                  </a:lnTo>
                  <a:cubicBezTo>
                    <a:pt x="4833067" y="6434082"/>
                    <a:pt x="4866565" y="6389979"/>
                    <a:pt x="4897916" y="6345878"/>
                  </a:cubicBezTo>
                  <a:cubicBezTo>
                    <a:pt x="4916097" y="6321199"/>
                    <a:pt x="4934277" y="6295788"/>
                    <a:pt x="4953461" y="6268773"/>
                  </a:cubicBezTo>
                  <a:cubicBezTo>
                    <a:pt x="4972643" y="6241756"/>
                    <a:pt x="4994547" y="6211234"/>
                    <a:pt x="5015304" y="6182904"/>
                  </a:cubicBezTo>
                  <a:cubicBezTo>
                    <a:pt x="5059253" y="6123177"/>
                    <a:pt x="5103202" y="6065201"/>
                    <a:pt x="5136557" y="6021245"/>
                  </a:cubicBezTo>
                  <a:cubicBezTo>
                    <a:pt x="5169913" y="5977289"/>
                    <a:pt x="5200977" y="5936836"/>
                    <a:pt x="5232471" y="5895802"/>
                  </a:cubicBezTo>
                  <a:cubicBezTo>
                    <a:pt x="5280429" y="5833299"/>
                    <a:pt x="5330104" y="5768607"/>
                    <a:pt x="5377488" y="5704644"/>
                  </a:cubicBezTo>
                  <a:cubicBezTo>
                    <a:pt x="5414708" y="5654117"/>
                    <a:pt x="5454220" y="5600229"/>
                    <a:pt x="5492012" y="5545320"/>
                  </a:cubicBezTo>
                  <a:cubicBezTo>
                    <a:pt x="5532669" y="5485739"/>
                    <a:pt x="5566453" y="5435067"/>
                    <a:pt x="5598378" y="5383077"/>
                  </a:cubicBezTo>
                  <a:cubicBezTo>
                    <a:pt x="5639177" y="5317217"/>
                    <a:pt x="5668668" y="5266250"/>
                    <a:pt x="5694293" y="5215869"/>
                  </a:cubicBezTo>
                  <a:cubicBezTo>
                    <a:pt x="5705458" y="5195133"/>
                    <a:pt x="5715765" y="5174104"/>
                    <a:pt x="5726646" y="5151759"/>
                  </a:cubicBezTo>
                  <a:lnTo>
                    <a:pt x="5736953" y="5130730"/>
                  </a:lnTo>
                  <a:cubicBezTo>
                    <a:pt x="5740675" y="5122261"/>
                    <a:pt x="5744540" y="5113938"/>
                    <a:pt x="5748406" y="5105613"/>
                  </a:cubicBezTo>
                  <a:cubicBezTo>
                    <a:pt x="5757997" y="5084293"/>
                    <a:pt x="5767159" y="5064140"/>
                    <a:pt x="5775318" y="5043695"/>
                  </a:cubicBezTo>
                  <a:cubicBezTo>
                    <a:pt x="5824718" y="4925802"/>
                    <a:pt x="5862228" y="4803091"/>
                    <a:pt x="5887267" y="4677444"/>
                  </a:cubicBezTo>
                  <a:cubicBezTo>
                    <a:pt x="5911983" y="4550307"/>
                    <a:pt x="5924876" y="4421080"/>
                    <a:pt x="5925776" y="4291476"/>
                  </a:cubicBezTo>
                  <a:cubicBezTo>
                    <a:pt x="5925724" y="4029813"/>
                    <a:pt x="5896133" y="3769041"/>
                    <a:pt x="5837592" y="3514285"/>
                  </a:cubicBezTo>
                  <a:cubicBezTo>
                    <a:pt x="5808496" y="3387220"/>
                    <a:pt x="5772120" y="3261997"/>
                    <a:pt x="5728651" y="3139270"/>
                  </a:cubicBezTo>
                  <a:lnTo>
                    <a:pt x="5728651" y="3138540"/>
                  </a:lnTo>
                  <a:cubicBezTo>
                    <a:pt x="5722351" y="3119409"/>
                    <a:pt x="5715193" y="3100717"/>
                    <a:pt x="5707749" y="3080127"/>
                  </a:cubicBezTo>
                  <a:cubicBezTo>
                    <a:pt x="5703455" y="3068883"/>
                    <a:pt x="5699302" y="3057637"/>
                    <a:pt x="5695151" y="3046393"/>
                  </a:cubicBezTo>
                  <a:cubicBezTo>
                    <a:pt x="5685131" y="3018793"/>
                    <a:pt x="5674107" y="2991778"/>
                    <a:pt x="5662512" y="2963300"/>
                  </a:cubicBezTo>
                  <a:lnTo>
                    <a:pt x="5659648" y="2956436"/>
                  </a:lnTo>
                  <a:lnTo>
                    <a:pt x="5641039" y="2911751"/>
                  </a:lnTo>
                  <a:lnTo>
                    <a:pt x="5621283" y="2867941"/>
                  </a:lnTo>
                  <a:cubicBezTo>
                    <a:pt x="5609687" y="2841362"/>
                    <a:pt x="5595944" y="2810548"/>
                    <a:pt x="5581056" y="2780320"/>
                  </a:cubicBezTo>
                  <a:cubicBezTo>
                    <a:pt x="5530665" y="2672839"/>
                    <a:pt x="5470683" y="2561270"/>
                    <a:pt x="5397674" y="2438163"/>
                  </a:cubicBezTo>
                  <a:cubicBezTo>
                    <a:pt x="5332395" y="2330974"/>
                    <a:pt x="5259814" y="2222909"/>
                    <a:pt x="5182080" y="2116889"/>
                  </a:cubicBezTo>
                  <a:cubicBezTo>
                    <a:pt x="5029667" y="1910602"/>
                    <a:pt x="4860375" y="1717880"/>
                    <a:pt x="4676024" y="1540786"/>
                  </a:cubicBezTo>
                  <a:cubicBezTo>
                    <a:pt x="4590130" y="1458131"/>
                    <a:pt x="4497795" y="1374893"/>
                    <a:pt x="4391860" y="1286395"/>
                  </a:cubicBezTo>
                  <a:cubicBezTo>
                    <a:pt x="4370530" y="1268433"/>
                    <a:pt x="4345334" y="1247404"/>
                    <a:pt x="4318851" y="1226959"/>
                  </a:cubicBezTo>
                  <a:lnTo>
                    <a:pt x="4306254" y="1216883"/>
                  </a:lnTo>
                  <a:cubicBezTo>
                    <a:pt x="4285925" y="1200673"/>
                    <a:pt x="4264880" y="1183880"/>
                    <a:pt x="4244123" y="1168254"/>
                  </a:cubicBezTo>
                  <a:cubicBezTo>
                    <a:pt x="4189438" y="1125467"/>
                    <a:pt x="4134322" y="1085307"/>
                    <a:pt x="4092378" y="1055078"/>
                  </a:cubicBezTo>
                  <a:cubicBezTo>
                    <a:pt x="3887264" y="908357"/>
                    <a:pt x="3672344" y="776461"/>
                    <a:pt x="3449179" y="660348"/>
                  </a:cubicBezTo>
                  <a:cubicBezTo>
                    <a:pt x="3338519" y="602958"/>
                    <a:pt x="3224710" y="549071"/>
                    <a:pt x="3110758" y="500442"/>
                  </a:cubicBezTo>
                  <a:cubicBezTo>
                    <a:pt x="2996806" y="451812"/>
                    <a:pt x="2879991" y="407565"/>
                    <a:pt x="2762316" y="368135"/>
                  </a:cubicBezTo>
                  <a:cubicBezTo>
                    <a:pt x="2649508" y="330312"/>
                    <a:pt x="2529403" y="295119"/>
                    <a:pt x="2404426" y="264452"/>
                  </a:cubicBezTo>
                  <a:cubicBezTo>
                    <a:pt x="2288900" y="236121"/>
                    <a:pt x="2166502" y="211733"/>
                    <a:pt x="2040668" y="191435"/>
                  </a:cubicBezTo>
                  <a:cubicBezTo>
                    <a:pt x="1848910" y="162425"/>
                    <a:pt x="1655321" y="147782"/>
                    <a:pt x="1461459" y="147625"/>
                  </a:cubicBezTo>
                  <a:cubicBezTo>
                    <a:pt x="1408061" y="147625"/>
                    <a:pt x="1354092" y="148794"/>
                    <a:pt x="1300837" y="150983"/>
                  </a:cubicBezTo>
                  <a:cubicBezTo>
                    <a:pt x="1177739" y="155618"/>
                    <a:pt x="1054939" y="166584"/>
                    <a:pt x="932928" y="183842"/>
                  </a:cubicBezTo>
                  <a:cubicBezTo>
                    <a:pt x="810083" y="201379"/>
                    <a:pt x="688259" y="225753"/>
                    <a:pt x="568022" y="256858"/>
                  </a:cubicBezTo>
                  <a:cubicBezTo>
                    <a:pt x="386369" y="303536"/>
                    <a:pt x="209474" y="367270"/>
                    <a:pt x="39597" y="447169"/>
                  </a:cubicBezTo>
                  <a:lnTo>
                    <a:pt x="0" y="467328"/>
                  </a:lnTo>
                  <a:lnTo>
                    <a:pt x="0" y="112255"/>
                  </a:lnTo>
                  <a:lnTo>
                    <a:pt x="79310" y="7039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GSCALE full form and date</a:t>
            </a:r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23" name="Google Shape;323;p16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9174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6"/>
          <p:cNvSpPr txBox="1">
            <a:spLocks noGrp="1"/>
          </p:cNvSpPr>
          <p:nvPr>
            <p:ph type="title"/>
          </p:nvPr>
        </p:nvSpPr>
        <p:spPr>
          <a:xfrm>
            <a:off x="3900566" y="44352"/>
            <a:ext cx="68580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ahoma"/>
              <a:buNone/>
            </a:pPr>
            <a:r>
              <a:rPr lang="en-US" sz="2800" b="1">
                <a:latin typeface="Tahoma"/>
                <a:ea typeface="Tahoma"/>
                <a:cs typeface="Tahoma"/>
                <a:sym typeface="Tahoma"/>
              </a:rPr>
              <a:t>Concept and Definition for (LO-1) </a:t>
            </a: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br>
              <a:rPr lang="en-US" sz="2800" b="1">
                <a:latin typeface="Tahoma"/>
                <a:ea typeface="Tahoma"/>
                <a:cs typeface="Tahoma"/>
                <a:sym typeface="Tahoma"/>
              </a:rPr>
            </a:br>
            <a:r>
              <a:rPr lang="en-US" sz="2800" b="1"/>
              <a:t>Classification / Types of Data Structures</a:t>
            </a:r>
            <a:endParaRPr sz="2800" b="1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5" name="Google Shape;325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6"/>
          <p:cNvSpPr txBox="1"/>
          <p:nvPr/>
        </p:nvSpPr>
        <p:spPr>
          <a:xfrm>
            <a:off x="671513" y="1614488"/>
            <a:ext cx="10682287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Complexity Analysis of Bubble Sort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Case (Already Sorted Array):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one pass is needed, and no swaps occur.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Reason: We still check all elements once.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Worst Case (Reverse Sorted Array):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comparison requires a swap.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Number of comparisons ≈ n(n-1)/2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O(n²)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Case (Random Order):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average, about half the comparisons will require swaps.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Complexity: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O(n²)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Space Complexity: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 temporary variable is used for swapping.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O(1) auxiliary space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(in-place sorting).</a:t>
            </a: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32" name="Google Shape;33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33" name="Google Shape;333;p17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7"/>
          <p:cNvSpPr txBox="1">
            <a:spLocks noGrp="1"/>
          </p:cNvSpPr>
          <p:nvPr>
            <p:ph type="body" idx="1"/>
          </p:nvPr>
        </p:nvSpPr>
        <p:spPr>
          <a:xfrm>
            <a:off x="1014187" y="1006840"/>
            <a:ext cx="9144225" cy="53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US" sz="2400" b="1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Advantages of Bubble Sort: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US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Bubble sort is easy to understand and implement.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US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does not require any additional memory space.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US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It is a stable sorting algorithm, meaning that elements with the same key value maintain their relative order in the sorted output.</a:t>
            </a:r>
            <a:endParaRPr sz="2400" b="0" i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336" name="Google Shape;336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42" name="Google Shape;34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43" name="Google Shape;343;p18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8"/>
          <p:cNvSpPr txBox="1">
            <a:spLocks noGrp="1"/>
          </p:cNvSpPr>
          <p:nvPr>
            <p:ph type="body" idx="1"/>
          </p:nvPr>
        </p:nvSpPr>
        <p:spPr>
          <a:xfrm>
            <a:off x="1014187" y="1006840"/>
            <a:ext cx="9144225" cy="5344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US" sz="2400" b="1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Disadvantages of Bubble Sort: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US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Bubble sort has a time complexity of O(n</a:t>
            </a:r>
            <a:r>
              <a:rPr lang="en-US" sz="2400" baseline="300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-US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) which makes it very slow for large data sets.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400"/>
              <a:buChar char="•"/>
            </a:pPr>
            <a:r>
              <a:rPr lang="en-US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  <a:t>Bubble sort has almost no or limited real world applications. It is mostly used in academics to teach different ways of sorting.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73239"/>
              </a:buClr>
              <a:buSzPts val="2400"/>
              <a:buNone/>
            </a:pPr>
            <a:br>
              <a:rPr lang="en-US" sz="2400">
                <a:solidFill>
                  <a:srgbClr val="273239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2400" b="0" i="0">
              <a:solidFill>
                <a:srgbClr val="27323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p18"/>
          <p:cNvSpPr/>
          <p:nvPr/>
        </p:nvSpPr>
        <p:spPr>
          <a:xfrm>
            <a:off x="10671589" y="1051175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[5-mins]</a:t>
            </a:r>
            <a:endParaRPr/>
          </a:p>
        </p:txBody>
      </p:sp>
      <p:pic>
        <p:nvPicPr>
          <p:cNvPr id="346" name="Google Shape;34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52" name="Google Shape;3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353" name="Google Shape;353;p19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9"/>
          <p:cNvSpPr txBox="1"/>
          <p:nvPr/>
        </p:nvSpPr>
        <p:spPr>
          <a:xfrm>
            <a:off x="822739" y="821384"/>
            <a:ext cx="10373193" cy="3822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Summary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None/>
            </a:pPr>
            <a:endParaRPr sz="36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Sorting arranges data in a specific order (ascending/descending).</a:t>
            </a:r>
            <a:endParaRPr/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Bubble Sort works by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repeatedly swapping adjacent elements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until the array is sorted.</a:t>
            </a:r>
            <a:endParaRPr/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each pass, the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largest element bubbles to its correct position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Best Case: O(n) (already sorted)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Average/Worst Case: O(n²)</a:t>
            </a:r>
            <a:endParaRPr/>
          </a:p>
          <a:p>
            <a:pPr marL="742950" marR="0" lvl="1" indent="-2857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Space: O(1), Stable sorting</a:t>
            </a:r>
            <a:endParaRPr/>
          </a:p>
          <a:p>
            <a:pPr marL="0" marR="0" lvl="0" indent="-1143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and easy to implement, but </a:t>
            </a: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inefficient for large datasets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[1-mins]</a:t>
            </a:r>
            <a:endParaRPr/>
          </a:p>
        </p:txBody>
      </p:sp>
      <p:pic>
        <p:nvPicPr>
          <p:cNvPr id="356" name="Google Shape;35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62" name="Google Shape;36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363" name="Google Shape;363;p20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0"/>
          <p:cNvSpPr txBox="1">
            <a:spLocks noGrp="1"/>
          </p:cNvSpPr>
          <p:nvPr>
            <p:ph type="body" idx="1"/>
          </p:nvPr>
        </p:nvSpPr>
        <p:spPr>
          <a:xfrm>
            <a:off x="375532" y="1076886"/>
            <a:ext cx="10820400" cy="532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 b="1">
                <a:latin typeface="Tahoma"/>
                <a:ea typeface="Tahoma"/>
                <a:cs typeface="Tahoma"/>
                <a:sym typeface="Tahoma"/>
              </a:rPr>
              <a:t>Ensure attainment of LO’s in alignment to the learning activities: </a:t>
            </a:r>
            <a:endParaRPr sz="3200" b="1">
              <a:latin typeface="Tahoma"/>
              <a:ea typeface="Tahoma"/>
              <a:cs typeface="Tahoma"/>
              <a:sym typeface="Tahoma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3200" b="1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[2-mins]</a:t>
            </a:r>
            <a:endParaRPr/>
          </a:p>
        </p:txBody>
      </p:sp>
      <p:pic>
        <p:nvPicPr>
          <p:cNvPr id="366" name="Google Shape;366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2158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72" name="Google Shape;372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73" name="Google Shape;373;p2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1"/>
          <p:cNvSpPr/>
          <p:nvPr/>
        </p:nvSpPr>
        <p:spPr>
          <a:xfrm>
            <a:off x="10722885" y="1022415"/>
            <a:ext cx="9460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[1-min]</a:t>
            </a:r>
            <a:endParaRPr sz="18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75" name="Google Shape;375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1"/>
          <p:cNvSpPr/>
          <p:nvPr/>
        </p:nvSpPr>
        <p:spPr>
          <a:xfrm>
            <a:off x="852566" y="1697335"/>
            <a:ext cx="990600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 Session: 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Insertion Sort, Selection Sort</a:t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Galgotias University</a:t>
            </a:r>
            <a:endParaRPr/>
          </a:p>
        </p:txBody>
      </p:sp>
      <p:sp>
        <p:nvSpPr>
          <p:cNvPr id="382" name="Google Shape;382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83" name="Google Shape;383;p22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650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2"/>
          <p:cNvSpPr txBox="1"/>
          <p:nvPr/>
        </p:nvSpPr>
        <p:spPr>
          <a:xfrm>
            <a:off x="3693002" y="2786093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Play"/>
              <a:buNone/>
            </a:pPr>
            <a:r>
              <a:rPr lang="en-US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 sz="4000">
              <a:solidFill>
                <a:schemeClr val="dk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1053</Words>
  <Application>Microsoft Office PowerPoint</Application>
  <PresentationFormat>Widescreen</PresentationFormat>
  <Paragraphs>156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Arial</vt:lpstr>
      <vt:lpstr>Georgia</vt:lpstr>
      <vt:lpstr>Play</vt:lpstr>
      <vt:lpstr>Times New Roman</vt:lpstr>
      <vt:lpstr>Tahoma</vt:lpstr>
      <vt:lpstr>Calibri</vt:lpstr>
      <vt:lpstr>Nunito</vt:lpstr>
      <vt:lpstr>Office Theme</vt:lpstr>
      <vt:lpstr>Sorting : Bubble Sort   Session No.: 13 Course Name: Data Strucutres Course Code: R1UC308B   Instructor Name: Akhilesh Tripathi Duration: 50 mins Date of Conduction of Class: </vt:lpstr>
      <vt:lpstr>PowerPoint Presentation</vt:lpstr>
      <vt:lpstr>PowerPoint Presentation</vt:lpstr>
      <vt:lpstr>Learning Outcomes</vt:lpstr>
      <vt:lpstr>PowerPoint Presentation</vt:lpstr>
      <vt:lpstr>PowerPoint Presentation</vt:lpstr>
      <vt:lpstr>PowerPoint Presentation</vt:lpstr>
      <vt:lpstr>Concept and Definition for (LO-1) </vt:lpstr>
      <vt:lpstr>Concept and Definition for (LO-1) </vt:lpstr>
      <vt:lpstr>Concept and Definition for (LO-1) </vt:lpstr>
      <vt:lpstr>Concept and Definition for (LO-1) </vt:lpstr>
      <vt:lpstr>Concept and Definition for (LO-1) </vt:lpstr>
      <vt:lpstr>Concept and Definition for (LO-1)   Bubble Sort Algorithm</vt:lpstr>
      <vt:lpstr>Concept and Definition for (LO-1)   Bubble Sort Psuedocode</vt:lpstr>
      <vt:lpstr>Concept and Definition for (LO-1)   Activity -2</vt:lpstr>
      <vt:lpstr>Concept and Definition for (LO-1)   Classification / Types of Data Structures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Deepak Gupta</dc:creator>
  <cp:lastModifiedBy>akhilesh tripathi</cp:lastModifiedBy>
  <cp:revision>2</cp:revision>
  <dcterms:created xsi:type="dcterms:W3CDTF">2024-08-22T06:33:55Z</dcterms:created>
  <dcterms:modified xsi:type="dcterms:W3CDTF">2025-09-27T15:57:39Z</dcterms:modified>
</cp:coreProperties>
</file>