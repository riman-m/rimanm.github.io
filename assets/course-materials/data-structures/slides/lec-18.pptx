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embeddedFontLst>
    <p:embeddedFont>
      <p:font typeface="Georgia" panose="02040502050405020303" pitchFamily="18" charset="0"/>
      <p:regular r:id="rId22"/>
      <p:bold r:id="rId23"/>
      <p:italic r:id="rId24"/>
      <p:boldItalic r:id="rId25"/>
    </p:embeddedFont>
    <p:embeddedFont>
      <p:font typeface="Nunito" pitchFamily="2" charset="0"/>
      <p:regular r:id="rId26"/>
      <p:bold r:id="rId27"/>
      <p:italic r:id="rId28"/>
      <p:boldItalic r:id="rId29"/>
    </p:embeddedFont>
    <p:embeddedFont>
      <p:font typeface="Play" panose="020B0604020202020204" charset="0"/>
      <p:regular r:id="rId30"/>
      <p:bold r:id="rId31"/>
    </p:embeddedFont>
    <p:embeddedFont>
      <p:font typeface="Tahoma" panose="020B0604030504040204" pitchFamily="34"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gVzVv1qp3j5efAiOY3w/pfo0l27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21" Type="http://schemas.openxmlformats.org/officeDocument/2006/relationships/notesMaster" Target="notesMasters/notesMaster1.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9"/>
          <p:cNvSpPr>
            <a:spLocks noGrp="1"/>
          </p:cNvSpPr>
          <p:nvPr>
            <p:ph type="pic" idx="2"/>
          </p:nvPr>
        </p:nvSpPr>
        <p:spPr>
          <a:xfrm>
            <a:off x="5183188" y="987425"/>
            <a:ext cx="6172200" cy="4873625"/>
          </a:xfrm>
          <a:prstGeom prst="rect">
            <a:avLst/>
          </a:prstGeom>
          <a:noFill/>
          <a:ln>
            <a:noFill/>
          </a:ln>
        </p:spPr>
      </p:sp>
      <p:sp>
        <p:nvSpPr>
          <p:cNvPr id="68" name="Google Shape;68;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89" name="Google Shape;89;p1" descr="A blue and purple dots&#10;&#10;Description automatically generated"/>
          <p:cNvPicPr preferRelativeResize="0"/>
          <p:nvPr/>
        </p:nvPicPr>
        <p:blipFill rotWithShape="1">
          <a:blip r:embed="rId3">
            <a:alphaModFix/>
          </a:blip>
          <a:srcRect l="5200"/>
          <a:stretch/>
        </p:blipFill>
        <p:spPr>
          <a:xfrm>
            <a:off x="3523488" y="10"/>
            <a:ext cx="8668512" cy="6857990"/>
          </a:xfrm>
          <a:prstGeom prst="rect">
            <a:avLst/>
          </a:prstGeom>
          <a:noFill/>
          <a:ln>
            <a:noFill/>
          </a:ln>
        </p:spPr>
      </p:pic>
      <p:sp>
        <p:nvSpPr>
          <p:cNvPr id="90" name="Google Shape;90;p1"/>
          <p:cNvSpPr/>
          <p:nvPr/>
        </p:nvSpPr>
        <p:spPr>
          <a:xfrm>
            <a:off x="3" y="0"/>
            <a:ext cx="9339206" cy="6858000"/>
          </a:xfrm>
          <a:prstGeom prst="rect">
            <a:avLst/>
          </a:prstGeom>
          <a:gradFill>
            <a:gsLst>
              <a:gs pos="0">
                <a:srgbClr val="000000">
                  <a:alpha val="0"/>
                </a:srgbClr>
              </a:gs>
              <a:gs pos="33000">
                <a:srgbClr val="000000">
                  <a:alpha val="63921"/>
                </a:srgbClr>
              </a:gs>
              <a:gs pos="58000">
                <a:schemeClr val="dk1"/>
              </a:gs>
              <a:gs pos="100000">
                <a:schemeClr val="dk1"/>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1" name="Google Shape;91;p1"/>
          <p:cNvSpPr txBox="1">
            <a:spLocks noGrp="1"/>
          </p:cNvSpPr>
          <p:nvPr>
            <p:ph type="ctrTitle"/>
          </p:nvPr>
        </p:nvSpPr>
        <p:spPr>
          <a:xfrm>
            <a:off x="477981" y="1122362"/>
            <a:ext cx="8366216" cy="490922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600"/>
              <a:buFont typeface="Georgia"/>
              <a:buNone/>
            </a:pPr>
            <a:r>
              <a:rPr lang="en-US" sz="3600" b="1" dirty="0">
                <a:solidFill>
                  <a:schemeClr val="lt1"/>
                </a:solidFill>
                <a:latin typeface="Georgia"/>
                <a:ea typeface="Georgia"/>
                <a:cs typeface="Georgia"/>
                <a:sym typeface="Georgia"/>
              </a:rPr>
              <a:t>Single Linked List: Insert &amp; Traversal</a:t>
            </a:r>
            <a:br>
              <a:rPr lang="en-US" sz="5400" b="1" dirty="0">
                <a:solidFill>
                  <a:schemeClr val="lt1"/>
                </a:solidFill>
                <a:latin typeface="Georgia"/>
                <a:ea typeface="Georgia"/>
                <a:cs typeface="Georgia"/>
                <a:sym typeface="Georgia"/>
              </a:rPr>
            </a:br>
            <a:br>
              <a:rPr lang="en-US" sz="4800" b="1" dirty="0">
                <a:solidFill>
                  <a:schemeClr val="lt1"/>
                </a:solidFill>
                <a:latin typeface="Georgia"/>
                <a:ea typeface="Georgia"/>
                <a:cs typeface="Georgia"/>
                <a:sym typeface="Georgia"/>
              </a:rPr>
            </a:br>
            <a:br>
              <a:rPr lang="en-US" sz="4800" b="1" dirty="0">
                <a:solidFill>
                  <a:schemeClr val="lt1"/>
                </a:solidFill>
                <a:latin typeface="Georgia"/>
                <a:ea typeface="Georgia"/>
                <a:cs typeface="Georgia"/>
                <a:sym typeface="Georgia"/>
              </a:rPr>
            </a:br>
            <a:r>
              <a:rPr lang="en-US" sz="1800" b="1" dirty="0">
                <a:solidFill>
                  <a:schemeClr val="lt1"/>
                </a:solidFill>
                <a:latin typeface="Georgia"/>
                <a:ea typeface="Georgia"/>
                <a:cs typeface="Georgia"/>
                <a:sym typeface="Georgia"/>
              </a:rPr>
              <a:t>Session No.: 18</a:t>
            </a:r>
            <a:br>
              <a:rPr lang="en-US" sz="1800" b="1" dirty="0">
                <a:solidFill>
                  <a:schemeClr val="lt1"/>
                </a:solidFill>
                <a:latin typeface="Georgia"/>
                <a:ea typeface="Georgia"/>
                <a:cs typeface="Georgia"/>
                <a:sym typeface="Georgia"/>
              </a:rPr>
            </a:br>
            <a:r>
              <a:rPr lang="en-US" sz="1800" b="1" dirty="0">
                <a:solidFill>
                  <a:schemeClr val="lt1"/>
                </a:solidFill>
                <a:latin typeface="Georgia"/>
                <a:ea typeface="Georgia"/>
                <a:cs typeface="Georgia"/>
                <a:sym typeface="Georgia"/>
              </a:rPr>
              <a:t>Course Name: Data Structures</a:t>
            </a:r>
            <a:br>
              <a:rPr lang="en-US" sz="1800" b="1" dirty="0">
                <a:solidFill>
                  <a:schemeClr val="lt1"/>
                </a:solidFill>
                <a:latin typeface="Georgia"/>
                <a:ea typeface="Georgia"/>
                <a:cs typeface="Georgia"/>
                <a:sym typeface="Georgia"/>
              </a:rPr>
            </a:br>
            <a:r>
              <a:rPr lang="en-US" sz="1800" b="1" dirty="0">
                <a:solidFill>
                  <a:schemeClr val="lt1"/>
                </a:solidFill>
                <a:latin typeface="Georgia"/>
                <a:ea typeface="Georgia"/>
                <a:cs typeface="Georgia"/>
                <a:sym typeface="Georgia"/>
              </a:rPr>
              <a:t>Course Code: </a:t>
            </a:r>
            <a:r>
              <a:rPr lang="en-US" sz="1800" b="1" i="0" u="none" strike="noStrike" dirty="0">
                <a:solidFill>
                  <a:schemeClr val="lt1"/>
                </a:solidFill>
                <a:latin typeface="Times New Roman"/>
                <a:ea typeface="Times New Roman"/>
                <a:cs typeface="Times New Roman"/>
                <a:sym typeface="Times New Roman"/>
              </a:rPr>
              <a:t>R1UC308B </a:t>
            </a:r>
            <a:r>
              <a:rPr lang="en-US" sz="1800" b="0" i="0" u="none" strike="noStrike" dirty="0">
                <a:solidFill>
                  <a:schemeClr val="lt1"/>
                </a:solidFill>
                <a:latin typeface="Times New Roman"/>
                <a:ea typeface="Times New Roman"/>
                <a:cs typeface="Times New Roman"/>
                <a:sym typeface="Times New Roman"/>
              </a:rPr>
              <a:t>	</a:t>
            </a:r>
            <a:br>
              <a:rPr lang="en-US" sz="1800" b="0" i="0" u="none" strike="noStrike" dirty="0">
                <a:solidFill>
                  <a:schemeClr val="lt1"/>
                </a:solidFill>
                <a:latin typeface="Times New Roman"/>
                <a:ea typeface="Times New Roman"/>
                <a:cs typeface="Times New Roman"/>
                <a:sym typeface="Times New Roman"/>
              </a:rPr>
            </a:br>
            <a:r>
              <a:rPr lang="en-US" sz="1800" b="1" dirty="0">
                <a:solidFill>
                  <a:schemeClr val="lt1"/>
                </a:solidFill>
                <a:latin typeface="Georgia"/>
                <a:ea typeface="Georgia"/>
                <a:cs typeface="Georgia"/>
                <a:sym typeface="Georgia"/>
              </a:rPr>
              <a:t>Instructor Name: Akhilesh Kumar Tripathi</a:t>
            </a:r>
            <a:br>
              <a:rPr lang="en-US" sz="1800" b="1" dirty="0">
                <a:solidFill>
                  <a:schemeClr val="lt1"/>
                </a:solidFill>
                <a:latin typeface="Georgia"/>
                <a:ea typeface="Georgia"/>
                <a:cs typeface="Georgia"/>
                <a:sym typeface="Georgia"/>
              </a:rPr>
            </a:br>
            <a:r>
              <a:rPr lang="en-US" sz="1800" b="1" dirty="0">
                <a:solidFill>
                  <a:schemeClr val="lt1"/>
                </a:solidFill>
                <a:latin typeface="Georgia"/>
                <a:ea typeface="Georgia"/>
                <a:cs typeface="Georgia"/>
                <a:sym typeface="Georgia"/>
              </a:rPr>
              <a:t>Duration: 50 mins</a:t>
            </a:r>
            <a:br>
              <a:rPr lang="en-US" sz="1800" b="1" dirty="0">
                <a:solidFill>
                  <a:schemeClr val="lt1"/>
                </a:solidFill>
                <a:latin typeface="Georgia"/>
                <a:ea typeface="Georgia"/>
                <a:cs typeface="Georgia"/>
                <a:sym typeface="Georgia"/>
              </a:rPr>
            </a:br>
            <a:r>
              <a:rPr lang="en-US" sz="1800" b="1" dirty="0">
                <a:solidFill>
                  <a:schemeClr val="lt1"/>
                </a:solidFill>
                <a:latin typeface="Georgia"/>
                <a:ea typeface="Georgia"/>
                <a:cs typeface="Georgia"/>
                <a:sym typeface="Georgia"/>
              </a:rPr>
              <a:t>Date of Conduction of Class: </a:t>
            </a:r>
            <a:endParaRPr sz="4800" b="1" dirty="0">
              <a:solidFill>
                <a:schemeClr val="lt1"/>
              </a:solidFill>
              <a:latin typeface="Georgia"/>
              <a:ea typeface="Georgia"/>
              <a:cs typeface="Georgia"/>
              <a:sym typeface="Georgia"/>
            </a:endParaRPr>
          </a:p>
        </p:txBody>
      </p:sp>
      <p:sp>
        <p:nvSpPr>
          <p:cNvPr id="92" name="Google Shape;92;p1"/>
          <p:cNvSpPr/>
          <p:nvPr/>
        </p:nvSpPr>
        <p:spPr>
          <a:xfrm rot="5400000">
            <a:off x="759921" y="346791"/>
            <a:ext cx="146304"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93" name="Google Shape;93;p1"/>
          <p:cNvSpPr/>
          <p:nvPr/>
        </p:nvSpPr>
        <p:spPr>
          <a:xfrm>
            <a:off x="481029" y="4546920"/>
            <a:ext cx="3977640" cy="18288"/>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 name="Google Shape;94;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95" name="Google Shape;95;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pic>
        <p:nvPicPr>
          <p:cNvPr id="96" name="Google Shape;96;p1" descr="A blue circle with text and words&#10;&#10;Description automatically generated"/>
          <p:cNvPicPr preferRelativeResize="0"/>
          <p:nvPr/>
        </p:nvPicPr>
        <p:blipFill rotWithShape="1">
          <a:blip r:embed="rId4">
            <a:alphaModFix/>
          </a:blip>
          <a:srcRect/>
          <a:stretch/>
        </p:blipFill>
        <p:spPr>
          <a:xfrm>
            <a:off x="10758565" y="176753"/>
            <a:ext cx="1190469" cy="1190469"/>
          </a:xfrm>
          <a:prstGeom prst="rect">
            <a:avLst/>
          </a:prstGeom>
          <a:noFill/>
          <a:ln>
            <a:noFill/>
          </a:ln>
        </p:spPr>
      </p:pic>
      <p:pic>
        <p:nvPicPr>
          <p:cNvPr id="97" name="Google Shape;97;p1"/>
          <p:cNvPicPr preferRelativeResize="0"/>
          <p:nvPr/>
        </p:nvPicPr>
        <p:blipFill rotWithShape="1">
          <a:blip r:embed="rId5">
            <a:alphaModFix/>
          </a:blip>
          <a:srcRect/>
          <a:stretch/>
        </p:blipFill>
        <p:spPr>
          <a:xfrm>
            <a:off x="104932" y="317402"/>
            <a:ext cx="3795634" cy="74023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03" name="Google Shape;103;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pic>
        <p:nvPicPr>
          <p:cNvPr id="104" name="Google Shape;104;p2"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105" name="Google Shape;105;p2"/>
          <p:cNvSpPr txBox="1"/>
          <p:nvPr/>
        </p:nvSpPr>
        <p:spPr>
          <a:xfrm>
            <a:off x="727755" y="1219889"/>
            <a:ext cx="10739719" cy="23698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chemeClr val="dk1"/>
                </a:solidFill>
                <a:latin typeface="Arial"/>
                <a:ea typeface="Arial"/>
                <a:cs typeface="Arial"/>
                <a:sym typeface="Arial"/>
              </a:rPr>
              <a:t>Review</a:t>
            </a:r>
            <a:endParaRPr/>
          </a:p>
          <a:p>
            <a:pPr marL="0" marR="0" lvl="0" indent="0" algn="ctr" rtl="0">
              <a:spcBef>
                <a:spcPts val="0"/>
              </a:spcBef>
              <a:spcAft>
                <a:spcPts val="0"/>
              </a:spcAft>
              <a:buNone/>
            </a:pPr>
            <a:endParaRPr sz="3200" b="0" i="0" u="none" strike="noStrike" cap="none">
              <a:solidFill>
                <a:schemeClr val="dk1"/>
              </a:solidFill>
              <a:latin typeface="Arial"/>
              <a:ea typeface="Arial"/>
              <a:cs typeface="Arial"/>
              <a:sym typeface="Arial"/>
            </a:endParaRPr>
          </a:p>
          <a:p>
            <a:pPr marL="342900" marR="0" lvl="0" indent="-342900" algn="l" rtl="0">
              <a:spcBef>
                <a:spcPts val="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Basic concept of operation on a singly linked list.</a:t>
            </a:r>
            <a:endParaRPr/>
          </a:p>
          <a:p>
            <a:pPr marL="0" marR="0" lvl="0" indent="0" algn="l" rtl="0">
              <a:spcBef>
                <a:spcPts val="0"/>
              </a:spcBef>
              <a:spcAft>
                <a:spcPts val="0"/>
              </a:spcAft>
              <a:buNone/>
            </a:pPr>
            <a:endParaRPr sz="2800">
              <a:solidFill>
                <a:schemeClr val="dk1"/>
              </a:solidFill>
              <a:latin typeface="Arial"/>
              <a:ea typeface="Arial"/>
              <a:cs typeface="Arial"/>
              <a:sym typeface="Arial"/>
            </a:endParaRPr>
          </a:p>
          <a:p>
            <a:pPr marL="342900" marR="0" lvl="0" indent="-16510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pic>
        <p:nvPicPr>
          <p:cNvPr id="106" name="Google Shape;106;p2"/>
          <p:cNvPicPr preferRelativeResize="0"/>
          <p:nvPr/>
        </p:nvPicPr>
        <p:blipFill rotWithShape="1">
          <a:blip r:embed="rId4">
            <a:alphaModFix/>
          </a:blip>
          <a:srcRect/>
          <a:stretch/>
        </p:blipFill>
        <p:spPr>
          <a:xfrm>
            <a:off x="104932" y="241202"/>
            <a:ext cx="3795634" cy="74023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12" name="Google Shape;11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pic>
        <p:nvPicPr>
          <p:cNvPr id="113" name="Google Shape;113;p3"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114" name="Google Shape;114;p3"/>
          <p:cNvSpPr txBox="1"/>
          <p:nvPr/>
        </p:nvSpPr>
        <p:spPr>
          <a:xfrm>
            <a:off x="727755" y="1031972"/>
            <a:ext cx="10626044" cy="193899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dk1"/>
                </a:solidFill>
                <a:latin typeface="Arial"/>
                <a:ea typeface="Arial"/>
                <a:cs typeface="Arial"/>
                <a:sym typeface="Arial"/>
              </a:rPr>
              <a:t>Pre-class assessment</a:t>
            </a:r>
            <a:endParaRPr/>
          </a:p>
          <a:p>
            <a:pPr marL="0" marR="0" lvl="0" indent="0" algn="ctr" rtl="0">
              <a:spcBef>
                <a:spcPts val="0"/>
              </a:spcBef>
              <a:spcAft>
                <a:spcPts val="0"/>
              </a:spcAft>
              <a:buNone/>
            </a:pPr>
            <a:endParaRPr sz="3200">
              <a:solidFill>
                <a:schemeClr val="dk1"/>
              </a:solidFill>
              <a:latin typeface="Arial"/>
              <a:ea typeface="Arial"/>
              <a:cs typeface="Arial"/>
              <a:sym typeface="Arial"/>
            </a:endParaRPr>
          </a:p>
          <a:p>
            <a:pPr marL="0" marR="0" lvl="0" indent="0" algn="l" rtl="0">
              <a:spcBef>
                <a:spcPts val="0"/>
              </a:spcBef>
              <a:spcAft>
                <a:spcPts val="0"/>
              </a:spcAft>
              <a:buNone/>
            </a:pPr>
            <a:endParaRPr sz="2800">
              <a:solidFill>
                <a:schemeClr val="dk1"/>
              </a:solidFill>
              <a:latin typeface="Arial"/>
              <a:ea typeface="Arial"/>
              <a:cs typeface="Arial"/>
              <a:sym typeface="Arial"/>
            </a:endParaRPr>
          </a:p>
          <a:p>
            <a:pPr marL="342900" marR="0" lvl="0" indent="-16510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pic>
        <p:nvPicPr>
          <p:cNvPr id="115" name="Google Shape;115;p3"/>
          <p:cNvPicPr preferRelativeResize="0"/>
          <p:nvPr/>
        </p:nvPicPr>
        <p:blipFill rotWithShape="1">
          <a:blip r:embed="rId4">
            <a:alphaModFix/>
          </a:blip>
          <a:srcRect/>
          <a:stretch/>
        </p:blipFill>
        <p:spPr>
          <a:xfrm>
            <a:off x="104932" y="241202"/>
            <a:ext cx="3795634" cy="740238"/>
          </a:xfrm>
          <a:prstGeom prst="rect">
            <a:avLst/>
          </a:prstGeom>
          <a:noFill/>
          <a:ln>
            <a:noFill/>
          </a:ln>
        </p:spPr>
      </p:pic>
      <p:pic>
        <p:nvPicPr>
          <p:cNvPr id="3" name="Picture 2">
            <a:extLst>
              <a:ext uri="{FF2B5EF4-FFF2-40B4-BE49-F238E27FC236}">
                <a16:creationId xmlns:a16="http://schemas.microsoft.com/office/drawing/2014/main" id="{970D1F9E-F8C9-7024-99B5-36596BC849BC}"/>
              </a:ext>
            </a:extLst>
          </p:cNvPr>
          <p:cNvPicPr>
            <a:picLocks noChangeAspect="1"/>
          </p:cNvPicPr>
          <p:nvPr/>
        </p:nvPicPr>
        <p:blipFill>
          <a:blip r:embed="rId5"/>
          <a:stretch>
            <a:fillRect/>
          </a:stretch>
        </p:blipFill>
        <p:spPr>
          <a:xfrm>
            <a:off x="818879" y="1654629"/>
            <a:ext cx="10554242" cy="448491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22" name="Google Shape;12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pic>
        <p:nvPicPr>
          <p:cNvPr id="123" name="Google Shape;123;p4"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124" name="Google Shape;124;p4"/>
          <p:cNvSpPr/>
          <p:nvPr/>
        </p:nvSpPr>
        <p:spPr>
          <a:xfrm>
            <a:off x="10671589" y="1095420"/>
            <a:ext cx="104868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00"/>
                </a:solidFill>
                <a:latin typeface="Tahoma"/>
                <a:ea typeface="Tahoma"/>
                <a:cs typeface="Tahoma"/>
                <a:sym typeface="Tahoma"/>
              </a:rPr>
              <a:t>[1-mins]</a:t>
            </a:r>
            <a:endParaRPr/>
          </a:p>
        </p:txBody>
      </p:sp>
      <p:pic>
        <p:nvPicPr>
          <p:cNvPr id="125" name="Google Shape;125;p4"/>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126" name="Google Shape;126;p4" descr="Questions"/>
          <p:cNvSpPr/>
          <p:nvPr/>
        </p:nvSpPr>
        <p:spPr>
          <a:xfrm>
            <a:off x="4762213" y="1051486"/>
            <a:ext cx="2716735" cy="2008804"/>
          </a:xfrm>
          <a:prstGeom prst="rect">
            <a:avLst/>
          </a:prstGeom>
          <a:blipFill rotWithShape="1">
            <a:blip r:embed="rId5">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 name="Google Shape;127;p4"/>
          <p:cNvGrpSpPr/>
          <p:nvPr/>
        </p:nvGrpSpPr>
        <p:grpSpPr>
          <a:xfrm>
            <a:off x="638332" y="3566830"/>
            <a:ext cx="10994966" cy="2246314"/>
            <a:chOff x="0" y="1991651"/>
            <a:chExt cx="5239339" cy="2246314"/>
          </a:xfrm>
        </p:grpSpPr>
        <p:sp>
          <p:nvSpPr>
            <p:cNvPr id="128" name="Google Shape;128;p4"/>
            <p:cNvSpPr/>
            <p:nvPr/>
          </p:nvSpPr>
          <p:spPr>
            <a:xfrm>
              <a:off x="0" y="1991651"/>
              <a:ext cx="5239339" cy="2231566"/>
            </a:xfrm>
            <a:prstGeom prst="rect">
              <a:avLst/>
            </a:prstGeom>
            <a:gradFill>
              <a:gsLst>
                <a:gs pos="0">
                  <a:srgbClr val="F4B6A2"/>
                </a:gs>
                <a:gs pos="50000">
                  <a:srgbClr val="F1AA93"/>
                </a:gs>
                <a:gs pos="100000">
                  <a:srgbClr val="F49C7F"/>
                </a:gs>
              </a:gsLst>
              <a:lin ang="5400000" scaled="0"/>
            </a:grad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0" y="2006399"/>
              <a:ext cx="5239339" cy="2231566"/>
            </a:xfrm>
            <a:prstGeom prst="rect">
              <a:avLst/>
            </a:prstGeom>
            <a:gradFill>
              <a:gsLst>
                <a:gs pos="0">
                  <a:srgbClr val="F4B6A2"/>
                </a:gs>
                <a:gs pos="50000">
                  <a:srgbClr val="F1AA93"/>
                </a:gs>
                <a:gs pos="100000">
                  <a:srgbClr val="F49C7F"/>
                </a:gs>
              </a:gsLst>
              <a:lin ang="5400000" scaled="0"/>
            </a:gradFill>
            <a:ln w="12700" cap="flat" cmpd="sng">
              <a:solidFill>
                <a:schemeClr val="accent2"/>
              </a:solidFill>
              <a:prstDash val="solid"/>
              <a:miter lim="800000"/>
              <a:headEnd type="none" w="sm" len="sm"/>
              <a:tailEnd type="none" w="sm" len="sm"/>
            </a:ln>
          </p:spPr>
          <p:txBody>
            <a:bodyPr spcFirstLastPara="1" wrap="square" lIns="0" tIns="0" rIns="0" bIns="0" anchor="t" anchorCtr="0">
              <a:noAutofit/>
            </a:bodyPr>
            <a:lstStyle/>
            <a:p>
              <a:pPr marL="0" marR="0" lvl="0" indent="0" algn="ctr" rtl="0">
                <a:spcBef>
                  <a:spcPts val="0"/>
                </a:spcBef>
                <a:spcAft>
                  <a:spcPts val="0"/>
                </a:spcAft>
                <a:buNone/>
              </a:pPr>
              <a:endParaRPr sz="3600">
                <a:solidFill>
                  <a:schemeClr val="dk1"/>
                </a:solidFill>
                <a:latin typeface="Arial"/>
                <a:ea typeface="Arial"/>
                <a:cs typeface="Arial"/>
                <a:sym typeface="Arial"/>
              </a:endParaRPr>
            </a:p>
            <a:p>
              <a:pPr marL="0" marR="0" lvl="0" indent="0" algn="ctr" rtl="0">
                <a:spcBef>
                  <a:spcPts val="0"/>
                </a:spcBef>
                <a:spcAft>
                  <a:spcPts val="0"/>
                </a:spcAft>
                <a:buNone/>
              </a:pPr>
              <a:r>
                <a:rPr lang="en-US" sz="3600">
                  <a:solidFill>
                    <a:schemeClr val="dk1"/>
                  </a:solidFill>
                  <a:latin typeface="Arial"/>
                  <a:ea typeface="Arial"/>
                  <a:cs typeface="Arial"/>
                  <a:sym typeface="Arial"/>
                </a:rPr>
                <a:t>What are the three types of insertion in a linked list?</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5"/>
          <p:cNvSpPr txBox="1">
            <a:spLocks noGrp="1"/>
          </p:cNvSpPr>
          <p:nvPr>
            <p:ph type="title"/>
          </p:nvPr>
        </p:nvSpPr>
        <p:spPr>
          <a:xfrm>
            <a:off x="3890330" y="483460"/>
            <a:ext cx="5017695" cy="113605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Tahoma"/>
              <a:buNone/>
            </a:pPr>
            <a:r>
              <a:rPr lang="en-US" sz="3600">
                <a:latin typeface="Tahoma"/>
                <a:ea typeface="Tahoma"/>
                <a:cs typeface="Tahoma"/>
                <a:sym typeface="Tahoma"/>
              </a:rPr>
              <a:t>Learning Outcomes</a:t>
            </a:r>
            <a:endParaRPr/>
          </a:p>
        </p:txBody>
      </p:sp>
      <p:sp>
        <p:nvSpPr>
          <p:cNvPr id="135" name="Google Shape;13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36" name="Google Shape;13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pic>
        <p:nvPicPr>
          <p:cNvPr id="137" name="Google Shape;137;p5"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138" name="Google Shape;138;p5"/>
          <p:cNvSpPr txBox="1">
            <a:spLocks noGrp="1"/>
          </p:cNvSpPr>
          <p:nvPr>
            <p:ph type="body" idx="1"/>
          </p:nvPr>
        </p:nvSpPr>
        <p:spPr>
          <a:xfrm>
            <a:off x="375532" y="1435255"/>
            <a:ext cx="10820400" cy="4351338"/>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3200"/>
              <a:buNone/>
            </a:pPr>
            <a:r>
              <a:rPr lang="en-US" sz="3200" b="1" u="sng">
                <a:latin typeface="Tahoma"/>
                <a:ea typeface="Tahoma"/>
                <a:cs typeface="Tahoma"/>
                <a:sym typeface="Tahoma"/>
              </a:rPr>
              <a:t>By the end of this session, You will be able to:</a:t>
            </a:r>
            <a:endParaRPr/>
          </a:p>
        </p:txBody>
      </p:sp>
      <p:sp>
        <p:nvSpPr>
          <p:cNvPr id="139" name="Google Shape;139;p5"/>
          <p:cNvSpPr/>
          <p:nvPr/>
        </p:nvSpPr>
        <p:spPr>
          <a:xfrm>
            <a:off x="10671589" y="1065923"/>
            <a:ext cx="104868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00"/>
                </a:solidFill>
                <a:latin typeface="Tahoma"/>
                <a:ea typeface="Tahoma"/>
                <a:cs typeface="Tahoma"/>
                <a:sym typeface="Tahoma"/>
              </a:rPr>
              <a:t>[2-mins]</a:t>
            </a:r>
            <a:endParaRPr/>
          </a:p>
        </p:txBody>
      </p:sp>
      <p:grpSp>
        <p:nvGrpSpPr>
          <p:cNvPr id="140" name="Google Shape;140;p5"/>
          <p:cNvGrpSpPr/>
          <p:nvPr/>
        </p:nvGrpSpPr>
        <p:grpSpPr>
          <a:xfrm>
            <a:off x="297092" y="2305508"/>
            <a:ext cx="10927829" cy="3668011"/>
            <a:chOff x="0" y="19729"/>
            <a:chExt cx="10927829" cy="3668011"/>
          </a:xfrm>
        </p:grpSpPr>
        <p:sp>
          <p:nvSpPr>
            <p:cNvPr id="141" name="Google Shape;141;p5"/>
            <p:cNvSpPr/>
            <p:nvPr/>
          </p:nvSpPr>
          <p:spPr>
            <a:xfrm>
              <a:off x="0" y="2226751"/>
              <a:ext cx="10927829" cy="1460989"/>
            </a:xfrm>
            <a:prstGeom prst="rect">
              <a:avLst/>
            </a:prstGeom>
            <a:solidFill>
              <a:srgbClr val="E9713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txBox="1"/>
            <p:nvPr/>
          </p:nvSpPr>
          <p:spPr>
            <a:xfrm>
              <a:off x="0" y="2226751"/>
              <a:ext cx="10927829" cy="1460989"/>
            </a:xfrm>
            <a:prstGeom prst="rect">
              <a:avLst/>
            </a:prstGeom>
            <a:noFill/>
            <a:ln>
              <a:noFill/>
            </a:ln>
          </p:spPr>
          <p:txBody>
            <a:bodyPr spcFirstLastPara="1" wrap="square" lIns="256025" tIns="256025" rIns="256025" bIns="256025" anchor="ctr" anchorCtr="0">
              <a:noAutofit/>
            </a:bodyPr>
            <a:lstStyle/>
            <a:p>
              <a:pPr marL="0" marR="0" lvl="0" indent="0" algn="ctr" rtl="0">
                <a:lnSpc>
                  <a:spcPct val="90000"/>
                </a:lnSpc>
                <a:spcBef>
                  <a:spcPts val="0"/>
                </a:spcBef>
                <a:spcAft>
                  <a:spcPts val="0"/>
                </a:spcAft>
                <a:buClr>
                  <a:schemeClr val="lt1"/>
                </a:buClr>
                <a:buSzPts val="3600"/>
                <a:buFont typeface="Arial"/>
                <a:buNone/>
              </a:pPr>
              <a:r>
                <a:rPr lang="en-US" sz="3600">
                  <a:solidFill>
                    <a:schemeClr val="lt1"/>
                  </a:solidFill>
                  <a:latin typeface="Arial"/>
                  <a:ea typeface="Arial"/>
                  <a:cs typeface="Arial"/>
                  <a:sym typeface="Arial"/>
                </a:rPr>
                <a:t>Define the role of traversal in operations such as searching, deletion, and counting nodes.</a:t>
              </a:r>
              <a:endParaRPr/>
            </a:p>
          </p:txBody>
        </p:sp>
        <p:sp>
          <p:nvSpPr>
            <p:cNvPr id="143" name="Google Shape;143;p5"/>
            <p:cNvSpPr/>
            <p:nvPr/>
          </p:nvSpPr>
          <p:spPr>
            <a:xfrm rot="10800000">
              <a:off x="0" y="19729"/>
              <a:ext cx="10927829" cy="2247002"/>
            </a:xfrm>
            <a:prstGeom prst="upArrowCallout">
              <a:avLst>
                <a:gd name="adj1" fmla="val 25000"/>
                <a:gd name="adj2" fmla="val 25000"/>
                <a:gd name="adj3" fmla="val 25000"/>
                <a:gd name="adj4" fmla="val 64977"/>
              </a:avLst>
            </a:prstGeom>
            <a:solidFill>
              <a:srgbClr val="18692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txBox="1"/>
            <p:nvPr/>
          </p:nvSpPr>
          <p:spPr>
            <a:xfrm>
              <a:off x="0" y="19729"/>
              <a:ext cx="10927829" cy="1460034"/>
            </a:xfrm>
            <a:prstGeom prst="rect">
              <a:avLst/>
            </a:prstGeom>
            <a:noFill/>
            <a:ln>
              <a:noFill/>
            </a:ln>
          </p:spPr>
          <p:txBody>
            <a:bodyPr spcFirstLastPara="1" wrap="square" lIns="256025" tIns="256025" rIns="256025" bIns="256025" anchor="ctr" anchorCtr="0">
              <a:noAutofit/>
            </a:bodyPr>
            <a:lstStyle/>
            <a:p>
              <a:pPr marL="0" marR="0" lvl="0" indent="0" algn="ctr" rtl="0">
                <a:lnSpc>
                  <a:spcPct val="90000"/>
                </a:lnSpc>
                <a:spcBef>
                  <a:spcPts val="0"/>
                </a:spcBef>
                <a:spcAft>
                  <a:spcPts val="0"/>
                </a:spcAft>
                <a:buClr>
                  <a:schemeClr val="lt1"/>
                </a:buClr>
                <a:buSzPts val="3600"/>
                <a:buFont typeface="Arial"/>
                <a:buNone/>
              </a:pPr>
              <a:r>
                <a:rPr lang="en-US" sz="3600">
                  <a:solidFill>
                    <a:schemeClr val="lt1"/>
                  </a:solidFill>
                  <a:latin typeface="Arial"/>
                  <a:ea typeface="Arial"/>
                  <a:cs typeface="Arial"/>
                  <a:sym typeface="Arial"/>
                </a:rPr>
                <a:t>Describe the structure and components of a </a:t>
              </a:r>
              <a:r>
                <a:rPr lang="en-US" sz="3600" b="1">
                  <a:solidFill>
                    <a:schemeClr val="lt1"/>
                  </a:solidFill>
                  <a:latin typeface="Arial"/>
                  <a:ea typeface="Arial"/>
                  <a:cs typeface="Arial"/>
                  <a:sym typeface="Arial"/>
                </a:rPr>
                <a:t>singly linked list</a:t>
              </a:r>
              <a:r>
                <a:rPr lang="en-US" sz="3600">
                  <a:solidFill>
                    <a:schemeClr val="lt1"/>
                  </a:solidFill>
                  <a:latin typeface="Arial"/>
                  <a:ea typeface="Arial"/>
                  <a:cs typeface="Arial"/>
                  <a:sym typeface="Arial"/>
                </a:rPr>
                <a:t> (nodes, data, pointer).</a:t>
              </a:r>
              <a:endParaRPr/>
            </a:p>
          </p:txBody>
        </p:sp>
      </p:grpSp>
      <p:pic>
        <p:nvPicPr>
          <p:cNvPr id="145" name="Google Shape;145;p5"/>
          <p:cNvPicPr preferRelativeResize="0"/>
          <p:nvPr/>
        </p:nvPicPr>
        <p:blipFill rotWithShape="1">
          <a:blip r:embed="rId4">
            <a:alphaModFix/>
          </a:blip>
          <a:srcRect/>
          <a:stretch/>
        </p:blipFill>
        <p:spPr>
          <a:xfrm>
            <a:off x="104932" y="215802"/>
            <a:ext cx="3795634" cy="7402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51" name="Google Shape;151;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152" name="Google Shape;152;p6"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153" name="Google Shape;153;p6"/>
          <p:cNvSpPr txBox="1"/>
          <p:nvPr/>
        </p:nvSpPr>
        <p:spPr>
          <a:xfrm>
            <a:off x="727756" y="1219889"/>
            <a:ext cx="10626044" cy="23698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dk1"/>
                </a:solidFill>
                <a:latin typeface="Arial"/>
                <a:ea typeface="Arial"/>
                <a:cs typeface="Arial"/>
                <a:sym typeface="Arial"/>
              </a:rPr>
              <a:t>Session Outline</a:t>
            </a:r>
            <a:endParaRPr/>
          </a:p>
          <a:p>
            <a:pPr marL="0" marR="0" lvl="0" indent="0" algn="ctr" rtl="0">
              <a:spcBef>
                <a:spcPts val="0"/>
              </a:spcBef>
              <a:spcAft>
                <a:spcPts val="0"/>
              </a:spcAft>
              <a:buNone/>
            </a:pPr>
            <a:endParaRPr sz="3200">
              <a:solidFill>
                <a:schemeClr val="dk1"/>
              </a:solidFill>
              <a:latin typeface="Arial"/>
              <a:ea typeface="Arial"/>
              <a:cs typeface="Arial"/>
              <a:sym typeface="Arial"/>
            </a:endParaRPr>
          </a:p>
          <a:p>
            <a:pPr marL="342900" marR="0" lvl="0" indent="-342900" algn="l" rtl="0">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Introduction to Operations on singly linked list </a:t>
            </a:r>
            <a:endParaRPr/>
          </a:p>
          <a:p>
            <a:pPr marL="342900" marR="0" lvl="0" indent="-342900" algn="l" rtl="0">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Insert operation into singly linked list</a:t>
            </a:r>
            <a:endParaRPr/>
          </a:p>
          <a:p>
            <a:pPr marL="342900" marR="0" lvl="0" indent="-342900" algn="l" rtl="0">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Traverse  operation on singly linked list</a:t>
            </a:r>
            <a:endParaRPr/>
          </a:p>
        </p:txBody>
      </p:sp>
      <p:pic>
        <p:nvPicPr>
          <p:cNvPr id="154" name="Google Shape;154;p6"/>
          <p:cNvPicPr preferRelativeResize="0"/>
          <p:nvPr/>
        </p:nvPicPr>
        <p:blipFill rotWithShape="1">
          <a:blip r:embed="rId4">
            <a:alphaModFix/>
          </a:blip>
          <a:srcRect/>
          <a:stretch/>
        </p:blipFill>
        <p:spPr>
          <a:xfrm>
            <a:off x="104932" y="241202"/>
            <a:ext cx="3795634" cy="74023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60" name="Google Shape;160;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161" name="Google Shape;161;p7"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162" name="Google Shape;162;p7"/>
          <p:cNvSpPr/>
          <p:nvPr/>
        </p:nvSpPr>
        <p:spPr>
          <a:xfrm>
            <a:off x="10671589" y="1095420"/>
            <a:ext cx="104868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00"/>
                </a:solidFill>
                <a:latin typeface="Tahoma"/>
                <a:ea typeface="Tahoma"/>
                <a:cs typeface="Tahoma"/>
                <a:sym typeface="Tahoma"/>
              </a:rPr>
              <a:t>[1-mins]</a:t>
            </a:r>
            <a:endParaRPr/>
          </a:p>
        </p:txBody>
      </p:sp>
      <p:pic>
        <p:nvPicPr>
          <p:cNvPr id="163" name="Google Shape;163;p7"/>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164" name="Google Shape;164;p7" descr="Questions"/>
          <p:cNvSpPr/>
          <p:nvPr/>
        </p:nvSpPr>
        <p:spPr>
          <a:xfrm>
            <a:off x="2002748" y="1280086"/>
            <a:ext cx="2716735" cy="2008804"/>
          </a:xfrm>
          <a:prstGeom prst="rect">
            <a:avLst/>
          </a:prstGeom>
          <a:blipFill rotWithShape="1">
            <a:blip r:embed="rId5">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7" descr="Puzzle Pieces"/>
          <p:cNvSpPr/>
          <p:nvPr/>
        </p:nvSpPr>
        <p:spPr>
          <a:xfrm>
            <a:off x="7663508" y="1256657"/>
            <a:ext cx="2793098" cy="2135471"/>
          </a:xfrm>
          <a:prstGeom prst="rect">
            <a:avLst/>
          </a:prstGeom>
          <a:blipFill rotWithShape="1">
            <a:blip r:embed="rId6">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 name="Google Shape;166;p7"/>
          <p:cNvGrpSpPr/>
          <p:nvPr/>
        </p:nvGrpSpPr>
        <p:grpSpPr>
          <a:xfrm>
            <a:off x="104932" y="3581578"/>
            <a:ext cx="6015649" cy="2246314"/>
            <a:chOff x="0" y="1991651"/>
            <a:chExt cx="5239339" cy="2246314"/>
          </a:xfrm>
        </p:grpSpPr>
        <p:sp>
          <p:nvSpPr>
            <p:cNvPr id="167" name="Google Shape;167;p7"/>
            <p:cNvSpPr/>
            <p:nvPr/>
          </p:nvSpPr>
          <p:spPr>
            <a:xfrm>
              <a:off x="0" y="1991651"/>
              <a:ext cx="5239339" cy="2231566"/>
            </a:xfrm>
            <a:prstGeom prst="rect">
              <a:avLst/>
            </a:prstGeom>
            <a:gradFill>
              <a:gsLst>
                <a:gs pos="0">
                  <a:srgbClr val="F4B6A2"/>
                </a:gs>
                <a:gs pos="50000">
                  <a:srgbClr val="F1AA93"/>
                </a:gs>
                <a:gs pos="100000">
                  <a:srgbClr val="F49C7F"/>
                </a:gs>
              </a:gsLst>
              <a:lin ang="5400000" scaled="0"/>
            </a:grad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7"/>
            <p:cNvSpPr/>
            <p:nvPr/>
          </p:nvSpPr>
          <p:spPr>
            <a:xfrm>
              <a:off x="0" y="2006399"/>
              <a:ext cx="5239339" cy="2231566"/>
            </a:xfrm>
            <a:prstGeom prst="rect">
              <a:avLst/>
            </a:prstGeom>
            <a:gradFill>
              <a:gsLst>
                <a:gs pos="0">
                  <a:srgbClr val="F4B6A2"/>
                </a:gs>
                <a:gs pos="50000">
                  <a:srgbClr val="F1AA93"/>
                </a:gs>
                <a:gs pos="100000">
                  <a:srgbClr val="F49C7F"/>
                </a:gs>
              </a:gsLst>
              <a:lin ang="5400000" scaled="0"/>
            </a:gradFill>
            <a:ln w="12700" cap="flat" cmpd="sng">
              <a:solidFill>
                <a:schemeClr val="accent2"/>
              </a:solidFill>
              <a:prstDash val="solid"/>
              <a:miter lim="800000"/>
              <a:headEnd type="none" w="sm" len="sm"/>
              <a:tailEnd type="none" w="sm" len="sm"/>
            </a:ln>
          </p:spPr>
          <p:txBody>
            <a:bodyPr spcFirstLastPara="1" wrap="square" lIns="0" tIns="0" rIns="0" bIns="0" anchor="t" anchorCtr="0">
              <a:noAutofit/>
            </a:bodyPr>
            <a:lstStyle/>
            <a:p>
              <a:pPr marL="0" marR="0" lvl="0" indent="0" algn="ctr" rtl="0">
                <a:spcBef>
                  <a:spcPts val="0"/>
                </a:spcBef>
                <a:spcAft>
                  <a:spcPts val="0"/>
                </a:spcAft>
                <a:buNone/>
              </a:pPr>
              <a:r>
                <a:rPr lang="en-US" sz="3600">
                  <a:solidFill>
                    <a:schemeClr val="dk1"/>
                  </a:solidFill>
                  <a:latin typeface="Arial"/>
                  <a:ea typeface="Arial"/>
                  <a:cs typeface="Arial"/>
                  <a:sym typeface="Arial"/>
                </a:rPr>
                <a:t>What is dynamic memory allocation?</a:t>
              </a:r>
              <a:endParaRPr/>
            </a:p>
            <a:p>
              <a:pPr marL="0" marR="0" lvl="0" indent="0" algn="ctr" rtl="0">
                <a:spcBef>
                  <a:spcPts val="0"/>
                </a:spcBef>
                <a:spcAft>
                  <a:spcPts val="0"/>
                </a:spcAft>
                <a:buNone/>
              </a:pPr>
              <a:endParaRPr sz="3200">
                <a:solidFill>
                  <a:schemeClr val="dk1"/>
                </a:solidFill>
                <a:latin typeface="Tahoma"/>
                <a:ea typeface="Tahoma"/>
                <a:cs typeface="Tahoma"/>
                <a:sym typeface="Tahoma"/>
              </a:endParaRPr>
            </a:p>
          </p:txBody>
        </p:sp>
      </p:grpSp>
      <p:grpSp>
        <p:nvGrpSpPr>
          <p:cNvPr id="169" name="Google Shape;169;p7"/>
          <p:cNvGrpSpPr/>
          <p:nvPr/>
        </p:nvGrpSpPr>
        <p:grpSpPr>
          <a:xfrm>
            <a:off x="6415549" y="3581578"/>
            <a:ext cx="5217750" cy="2231566"/>
            <a:chOff x="5758250" y="2062546"/>
            <a:chExt cx="4320000" cy="1753990"/>
          </a:xfrm>
        </p:grpSpPr>
        <p:sp>
          <p:nvSpPr>
            <p:cNvPr id="170" name="Google Shape;170;p7"/>
            <p:cNvSpPr/>
            <p:nvPr/>
          </p:nvSpPr>
          <p:spPr>
            <a:xfrm>
              <a:off x="5758250" y="2062546"/>
              <a:ext cx="4320000" cy="1753990"/>
            </a:xfrm>
            <a:prstGeom prst="rect">
              <a:avLst/>
            </a:prstGeom>
            <a:solidFill>
              <a:schemeClr val="accent3"/>
            </a:solidFill>
            <a:ln w="19050" cap="flat" cmpd="sng">
              <a:solidFill>
                <a:srgbClr val="124E1A"/>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7"/>
            <p:cNvSpPr/>
            <p:nvPr/>
          </p:nvSpPr>
          <p:spPr>
            <a:xfrm>
              <a:off x="5758250" y="2062546"/>
              <a:ext cx="4320000" cy="1753990"/>
            </a:xfrm>
            <a:prstGeom prst="rect">
              <a:avLst/>
            </a:prstGeom>
            <a:solidFill>
              <a:schemeClr val="accent3"/>
            </a:solidFill>
            <a:ln w="19050" cap="flat" cmpd="sng">
              <a:solidFill>
                <a:srgbClr val="124E1A"/>
              </a:solidFill>
              <a:prstDash val="solid"/>
              <a:miter lim="800000"/>
              <a:headEnd type="none" w="sm" len="sm"/>
              <a:tailEnd type="none" w="sm" len="sm"/>
            </a:ln>
          </p:spPr>
          <p:txBody>
            <a:bodyPr spcFirstLastPara="1" wrap="square" lIns="0" tIns="0" rIns="0" bIns="0" anchor="t" anchorCtr="0">
              <a:noAutofit/>
            </a:bodyPr>
            <a:lstStyle/>
            <a:p>
              <a:pPr marL="0" marR="0" lvl="0" indent="0" algn="ctr" rtl="0">
                <a:spcBef>
                  <a:spcPts val="0"/>
                </a:spcBef>
                <a:spcAft>
                  <a:spcPts val="0"/>
                </a:spcAft>
                <a:buNone/>
              </a:pPr>
              <a:endParaRPr sz="3200">
                <a:solidFill>
                  <a:schemeClr val="lt1"/>
                </a:solidFill>
                <a:latin typeface="Arial"/>
                <a:ea typeface="Arial"/>
                <a:cs typeface="Arial"/>
                <a:sym typeface="Arial"/>
              </a:endParaRPr>
            </a:p>
          </p:txBody>
        </p:sp>
      </p:grpSp>
      <p:sp>
        <p:nvSpPr>
          <p:cNvPr id="172" name="Google Shape;172;p7"/>
          <p:cNvSpPr txBox="1"/>
          <p:nvPr/>
        </p:nvSpPr>
        <p:spPr>
          <a:xfrm>
            <a:off x="3761668" y="760220"/>
            <a:ext cx="6680173"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rial"/>
                <a:ea typeface="Arial"/>
                <a:cs typeface="Arial"/>
                <a:sym typeface="Arial"/>
              </a:rPr>
              <a:t>Activity-1 (Think – Pair – Share)</a:t>
            </a:r>
            <a:endParaRPr/>
          </a:p>
        </p:txBody>
      </p:sp>
      <p:sp>
        <p:nvSpPr>
          <p:cNvPr id="173" name="Google Shape;173;p7"/>
          <p:cNvSpPr/>
          <p:nvPr/>
        </p:nvSpPr>
        <p:spPr>
          <a:xfrm>
            <a:off x="6522475" y="3771900"/>
            <a:ext cx="5003898"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Arial"/>
                <a:ea typeface="Arial"/>
                <a:cs typeface="Arial"/>
                <a:sym typeface="Arial"/>
              </a:rPr>
              <a:t>Linked List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7"/>
        <p:cNvGrpSpPr/>
        <p:nvPr/>
      </p:nvGrpSpPr>
      <p:grpSpPr>
        <a:xfrm>
          <a:off x="0" y="0"/>
          <a:ext cx="0" cy="0"/>
          <a:chOff x="0" y="0"/>
          <a:chExt cx="0" cy="0"/>
        </a:xfrm>
      </p:grpSpPr>
      <p:sp>
        <p:nvSpPr>
          <p:cNvPr id="178" name="Google Shape;178;p8"/>
          <p:cNvSpPr/>
          <p:nvPr/>
        </p:nvSpPr>
        <p:spPr>
          <a:xfrm>
            <a:off x="0" y="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79" name="Google Shape;179;p8"/>
          <p:cNvGrpSpPr/>
          <p:nvPr/>
        </p:nvGrpSpPr>
        <p:grpSpPr>
          <a:xfrm>
            <a:off x="0" y="0"/>
            <a:ext cx="6423049" cy="6858001"/>
            <a:chOff x="0" y="0"/>
            <a:chExt cx="6423049" cy="6858001"/>
          </a:xfrm>
        </p:grpSpPr>
        <p:sp>
          <p:nvSpPr>
            <p:cNvPr id="180" name="Google Shape;180;p8"/>
            <p:cNvSpPr/>
            <p:nvPr/>
          </p:nvSpPr>
          <p:spPr>
            <a:xfrm>
              <a:off x="0" y="0"/>
              <a:ext cx="6018714" cy="6858000"/>
            </a:xfrm>
            <a:custGeom>
              <a:avLst/>
              <a:gdLst/>
              <a:ahLst/>
              <a:cxnLst/>
              <a:rect l="l" t="t" r="r" b="b"/>
              <a:pathLst>
                <a:path w="6018714" h="6858000" extrusionOk="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181" name="Google Shape;181;p8"/>
            <p:cNvSpPr/>
            <p:nvPr/>
          </p:nvSpPr>
          <p:spPr>
            <a:xfrm>
              <a:off x="0" y="38834"/>
              <a:ext cx="6015920" cy="6819166"/>
            </a:xfrm>
            <a:custGeom>
              <a:avLst/>
              <a:gdLst/>
              <a:ahLst/>
              <a:cxnLst/>
              <a:rect l="l" t="t" r="r" b="b"/>
              <a:pathLst>
                <a:path w="6015920" h="6819166" extrusionOk="0">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182" name="Google Shape;182;p8"/>
            <p:cNvSpPr/>
            <p:nvPr/>
          </p:nvSpPr>
          <p:spPr>
            <a:xfrm>
              <a:off x="0" y="89880"/>
              <a:ext cx="5997097" cy="6768121"/>
            </a:xfrm>
            <a:custGeom>
              <a:avLst/>
              <a:gdLst/>
              <a:ahLst/>
              <a:cxnLst/>
              <a:rect l="l" t="t" r="r" b="b"/>
              <a:pathLst>
                <a:path w="5997097" h="6768121" extrusionOk="0">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183" name="Google Shape;183;p8"/>
            <p:cNvSpPr/>
            <p:nvPr/>
          </p:nvSpPr>
          <p:spPr>
            <a:xfrm>
              <a:off x="0" y="726"/>
              <a:ext cx="6423049" cy="6857275"/>
            </a:xfrm>
            <a:custGeom>
              <a:avLst/>
              <a:gdLst/>
              <a:ahLst/>
              <a:cxnLst/>
              <a:rect l="l" t="t" r="r" b="b"/>
              <a:pathLst>
                <a:path w="6423049" h="6857275" extrusionOk="0">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184" name="Google Shape;184;p8"/>
            <p:cNvSpPr/>
            <p:nvPr/>
          </p:nvSpPr>
          <p:spPr>
            <a:xfrm>
              <a:off x="0" y="726"/>
              <a:ext cx="6158587" cy="6857275"/>
            </a:xfrm>
            <a:custGeom>
              <a:avLst/>
              <a:gdLst/>
              <a:ahLst/>
              <a:cxnLst/>
              <a:rect l="l" t="t" r="r" b="b"/>
              <a:pathLst>
                <a:path w="6158587" h="6857275" extrusionOk="0">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grpSp>
      <p:sp>
        <p:nvSpPr>
          <p:cNvPr id="185" name="Google Shape;18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GSCALE full form and date</a:t>
            </a:r>
            <a:endParaRPr/>
          </a:p>
        </p:txBody>
      </p:sp>
      <p:pic>
        <p:nvPicPr>
          <p:cNvPr id="186" name="Google Shape;186;p8"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187" name="Google Shape;187;p8"/>
          <p:cNvSpPr txBox="1">
            <a:spLocks noGrp="1"/>
          </p:cNvSpPr>
          <p:nvPr>
            <p:ph type="title"/>
          </p:nvPr>
        </p:nvSpPr>
        <p:spPr>
          <a:xfrm>
            <a:off x="3900566" y="44352"/>
            <a:ext cx="6858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ahoma"/>
              <a:buNone/>
            </a:pPr>
            <a:r>
              <a:rPr lang="en-US" sz="2800" b="1">
                <a:latin typeface="Tahoma"/>
                <a:ea typeface="Tahoma"/>
                <a:cs typeface="Tahoma"/>
                <a:sym typeface="Tahoma"/>
              </a:rPr>
              <a:t>Concept and Definition for (LO-1) </a:t>
            </a:r>
            <a:endParaRPr sz="2800" b="1">
              <a:latin typeface="Tahoma"/>
              <a:ea typeface="Tahoma"/>
              <a:cs typeface="Tahoma"/>
              <a:sym typeface="Tahoma"/>
            </a:endParaRPr>
          </a:p>
        </p:txBody>
      </p:sp>
      <p:sp>
        <p:nvSpPr>
          <p:cNvPr id="188" name="Google Shape;188;p8"/>
          <p:cNvSpPr txBox="1"/>
          <p:nvPr/>
        </p:nvSpPr>
        <p:spPr>
          <a:xfrm>
            <a:off x="838200" y="1065690"/>
            <a:ext cx="10795098" cy="44935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b="1">
              <a:solidFill>
                <a:schemeClr val="dk1"/>
              </a:solidFill>
              <a:latin typeface="Arial"/>
              <a:ea typeface="Arial"/>
              <a:cs typeface="Arial"/>
              <a:sym typeface="Arial"/>
            </a:endParaRPr>
          </a:p>
          <a:p>
            <a:pPr marL="0" marR="0" lvl="0" indent="0" algn="l" rtl="0">
              <a:spcBef>
                <a:spcPts val="0"/>
              </a:spcBef>
              <a:spcAft>
                <a:spcPts val="0"/>
              </a:spcAft>
              <a:buNone/>
            </a:pPr>
            <a:r>
              <a:rPr lang="en-US" sz="2800" b="1">
                <a:solidFill>
                  <a:schemeClr val="dk1"/>
                </a:solidFill>
                <a:latin typeface="Arial"/>
                <a:ea typeface="Arial"/>
                <a:cs typeface="Arial"/>
                <a:sym typeface="Arial"/>
              </a:rPr>
              <a:t>Insertion in Singly Linked List</a:t>
            </a:r>
            <a:endParaRPr/>
          </a:p>
          <a:p>
            <a:pPr marL="0" marR="0" lvl="0" indent="0" algn="l" rtl="0">
              <a:spcBef>
                <a:spcPts val="0"/>
              </a:spcBef>
              <a:spcAft>
                <a:spcPts val="0"/>
              </a:spcAft>
              <a:buNone/>
            </a:pPr>
            <a:endParaRPr sz="2800" b="1">
              <a:solidFill>
                <a:schemeClr val="dk1"/>
              </a:solidFill>
              <a:latin typeface="Arial"/>
              <a:ea typeface="Arial"/>
              <a:cs typeface="Arial"/>
              <a:sym typeface="Arial"/>
            </a:endParaRPr>
          </a:p>
          <a:p>
            <a:pPr marL="0" marR="0" lvl="0" indent="0" algn="l" rtl="0">
              <a:spcBef>
                <a:spcPts val="0"/>
              </a:spcBef>
              <a:spcAft>
                <a:spcPts val="0"/>
              </a:spcAft>
              <a:buNone/>
            </a:pPr>
            <a:r>
              <a:rPr lang="en-US" sz="2800">
                <a:solidFill>
                  <a:schemeClr val="dk1"/>
                </a:solidFill>
                <a:latin typeface="Arial"/>
                <a:ea typeface="Arial"/>
                <a:cs typeface="Arial"/>
                <a:sym typeface="Arial"/>
              </a:rPr>
              <a:t>Insertion is a fundamental operation in linked lists that involves adding a new node to the list. There are several scenarios for insertion:</a:t>
            </a:r>
            <a:endParaRPr/>
          </a:p>
          <a:p>
            <a:pPr marL="0" marR="0" lvl="0" indent="0" algn="l" rtl="0">
              <a:spcBef>
                <a:spcPts val="0"/>
              </a:spcBef>
              <a:spcAft>
                <a:spcPts val="0"/>
              </a:spcAft>
              <a:buNone/>
            </a:pPr>
            <a:endParaRPr sz="2800">
              <a:solidFill>
                <a:schemeClr val="dk1"/>
              </a:solidFill>
              <a:latin typeface="Arial"/>
              <a:ea typeface="Arial"/>
              <a:cs typeface="Arial"/>
              <a:sym typeface="Arial"/>
            </a:endParaRPr>
          </a:p>
          <a:p>
            <a:pPr marL="342900" marR="0" lvl="0" indent="-342900" algn="l" rtl="0">
              <a:spcBef>
                <a:spcPts val="0"/>
              </a:spcBef>
              <a:spcAft>
                <a:spcPts val="0"/>
              </a:spcAft>
              <a:buClr>
                <a:schemeClr val="dk1"/>
              </a:buClr>
              <a:buSzPts val="1800"/>
              <a:buFont typeface="Arial"/>
              <a:buAutoNum type="alphaLcParenR"/>
            </a:pPr>
            <a:r>
              <a:rPr lang="en-US" sz="1800" b="1">
                <a:solidFill>
                  <a:schemeClr val="dk1"/>
                </a:solidFill>
                <a:latin typeface="Arial"/>
                <a:ea typeface="Arial"/>
                <a:cs typeface="Arial"/>
                <a:sym typeface="Arial"/>
              </a:rPr>
              <a:t>Insertion at the Beginning of Singly Linked List</a:t>
            </a:r>
            <a:endParaRPr/>
          </a:p>
          <a:p>
            <a:pPr marL="0" marR="0" lvl="0" indent="0" algn="l" rtl="0">
              <a:spcBef>
                <a:spcPts val="0"/>
              </a:spcBef>
              <a:spcAft>
                <a:spcPts val="0"/>
              </a:spcAft>
              <a:buNone/>
            </a:pPr>
            <a:endParaRPr sz="1800" b="1">
              <a:solidFill>
                <a:schemeClr val="dk1"/>
              </a:solidFill>
              <a:latin typeface="Arial"/>
              <a:ea typeface="Arial"/>
              <a:cs typeface="Arial"/>
              <a:sym typeface="Arial"/>
            </a:endParaRPr>
          </a:p>
          <a:p>
            <a:pPr marL="342900" marR="0" lvl="0" indent="-342900" algn="l" rtl="0">
              <a:spcBef>
                <a:spcPts val="0"/>
              </a:spcBef>
              <a:spcAft>
                <a:spcPts val="0"/>
              </a:spcAft>
              <a:buClr>
                <a:schemeClr val="dk1"/>
              </a:buClr>
              <a:buSzPts val="1800"/>
              <a:buFont typeface="Arial"/>
              <a:buAutoNum type="alphaLcParenR"/>
            </a:pPr>
            <a:r>
              <a:rPr lang="en-US" sz="1800" b="1">
                <a:solidFill>
                  <a:schemeClr val="dk1"/>
                </a:solidFill>
                <a:latin typeface="Arial"/>
                <a:ea typeface="Arial"/>
                <a:cs typeface="Arial"/>
                <a:sym typeface="Arial"/>
              </a:rPr>
              <a:t>Insertion at the End of Singly Linked List</a:t>
            </a:r>
            <a:endParaRPr/>
          </a:p>
          <a:p>
            <a:pPr marL="0" marR="0" lvl="0" indent="0" algn="l" rtl="0">
              <a:spcBef>
                <a:spcPts val="0"/>
              </a:spcBef>
              <a:spcAft>
                <a:spcPts val="0"/>
              </a:spcAft>
              <a:buNone/>
            </a:pPr>
            <a:endParaRPr sz="1800" b="1">
              <a:solidFill>
                <a:schemeClr val="dk1"/>
              </a:solidFill>
              <a:latin typeface="Arial"/>
              <a:ea typeface="Arial"/>
              <a:cs typeface="Arial"/>
              <a:sym typeface="Arial"/>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c)   Insertion at a Specific Position of the Singly Linked List</a:t>
            </a:r>
            <a:endParaRPr sz="2800">
              <a:solidFill>
                <a:schemeClr val="dk1"/>
              </a:solidFill>
              <a:latin typeface="Arial"/>
              <a:ea typeface="Arial"/>
              <a:cs typeface="Arial"/>
              <a:sym typeface="Arial"/>
            </a:endParaRPr>
          </a:p>
        </p:txBody>
      </p:sp>
      <p:pic>
        <p:nvPicPr>
          <p:cNvPr id="189" name="Google Shape;189;p8"/>
          <p:cNvPicPr preferRelativeResize="0"/>
          <p:nvPr/>
        </p:nvPicPr>
        <p:blipFill rotWithShape="1">
          <a:blip r:embed="rId4">
            <a:alphaModFix/>
          </a:blip>
          <a:srcRect/>
          <a:stretch/>
        </p:blipFill>
        <p:spPr>
          <a:xfrm>
            <a:off x="104932" y="215802"/>
            <a:ext cx="3795634" cy="7402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3"/>
        <p:cNvGrpSpPr/>
        <p:nvPr/>
      </p:nvGrpSpPr>
      <p:grpSpPr>
        <a:xfrm>
          <a:off x="0" y="0"/>
          <a:ext cx="0" cy="0"/>
          <a:chOff x="0" y="0"/>
          <a:chExt cx="0" cy="0"/>
        </a:xfrm>
      </p:grpSpPr>
      <p:sp>
        <p:nvSpPr>
          <p:cNvPr id="194" name="Google Shape;194;p9"/>
          <p:cNvSpPr/>
          <p:nvPr/>
        </p:nvSpPr>
        <p:spPr>
          <a:xfrm>
            <a:off x="0" y="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95" name="Google Shape;195;p9"/>
          <p:cNvGrpSpPr/>
          <p:nvPr/>
        </p:nvGrpSpPr>
        <p:grpSpPr>
          <a:xfrm>
            <a:off x="0" y="0"/>
            <a:ext cx="6423049" cy="6858001"/>
            <a:chOff x="0" y="0"/>
            <a:chExt cx="6423049" cy="6858001"/>
          </a:xfrm>
        </p:grpSpPr>
        <p:sp>
          <p:nvSpPr>
            <p:cNvPr id="196" name="Google Shape;196;p9"/>
            <p:cNvSpPr/>
            <p:nvPr/>
          </p:nvSpPr>
          <p:spPr>
            <a:xfrm>
              <a:off x="0" y="0"/>
              <a:ext cx="6018714" cy="6858000"/>
            </a:xfrm>
            <a:custGeom>
              <a:avLst/>
              <a:gdLst/>
              <a:ahLst/>
              <a:cxnLst/>
              <a:rect l="l" t="t" r="r" b="b"/>
              <a:pathLst>
                <a:path w="6018714" h="6858000" extrusionOk="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197" name="Google Shape;197;p9"/>
            <p:cNvSpPr/>
            <p:nvPr/>
          </p:nvSpPr>
          <p:spPr>
            <a:xfrm>
              <a:off x="0" y="38834"/>
              <a:ext cx="6015920" cy="6819166"/>
            </a:xfrm>
            <a:custGeom>
              <a:avLst/>
              <a:gdLst/>
              <a:ahLst/>
              <a:cxnLst/>
              <a:rect l="l" t="t" r="r" b="b"/>
              <a:pathLst>
                <a:path w="6015920" h="6819166" extrusionOk="0">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198" name="Google Shape;198;p9"/>
            <p:cNvSpPr/>
            <p:nvPr/>
          </p:nvSpPr>
          <p:spPr>
            <a:xfrm>
              <a:off x="0" y="89880"/>
              <a:ext cx="5997097" cy="6768121"/>
            </a:xfrm>
            <a:custGeom>
              <a:avLst/>
              <a:gdLst/>
              <a:ahLst/>
              <a:cxnLst/>
              <a:rect l="l" t="t" r="r" b="b"/>
              <a:pathLst>
                <a:path w="5997097" h="6768121" extrusionOk="0">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199" name="Google Shape;199;p9"/>
            <p:cNvSpPr/>
            <p:nvPr/>
          </p:nvSpPr>
          <p:spPr>
            <a:xfrm>
              <a:off x="0" y="726"/>
              <a:ext cx="6423049" cy="6857275"/>
            </a:xfrm>
            <a:custGeom>
              <a:avLst/>
              <a:gdLst/>
              <a:ahLst/>
              <a:cxnLst/>
              <a:rect l="l" t="t" r="r" b="b"/>
              <a:pathLst>
                <a:path w="6423049" h="6857275" extrusionOk="0">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00" name="Google Shape;200;p9"/>
            <p:cNvSpPr/>
            <p:nvPr/>
          </p:nvSpPr>
          <p:spPr>
            <a:xfrm>
              <a:off x="0" y="726"/>
              <a:ext cx="6158587" cy="6857275"/>
            </a:xfrm>
            <a:custGeom>
              <a:avLst/>
              <a:gdLst/>
              <a:ahLst/>
              <a:cxnLst/>
              <a:rect l="l" t="t" r="r" b="b"/>
              <a:pathLst>
                <a:path w="6158587" h="6857275" extrusionOk="0">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grpSp>
      <p:sp>
        <p:nvSpPr>
          <p:cNvPr id="201" name="Google Shape;20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GSCALE full form and date</a:t>
            </a:r>
            <a:endParaRPr/>
          </a:p>
        </p:txBody>
      </p:sp>
      <p:pic>
        <p:nvPicPr>
          <p:cNvPr id="202" name="Google Shape;202;p9"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03" name="Google Shape;203;p9"/>
          <p:cNvSpPr txBox="1">
            <a:spLocks noGrp="1"/>
          </p:cNvSpPr>
          <p:nvPr>
            <p:ph type="title"/>
          </p:nvPr>
        </p:nvSpPr>
        <p:spPr>
          <a:xfrm>
            <a:off x="3900566" y="44352"/>
            <a:ext cx="6858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ahoma"/>
              <a:buNone/>
            </a:pPr>
            <a:r>
              <a:rPr lang="en-US" sz="2800" b="1">
                <a:latin typeface="Tahoma"/>
                <a:ea typeface="Tahoma"/>
                <a:cs typeface="Tahoma"/>
                <a:sym typeface="Tahoma"/>
              </a:rPr>
              <a:t>Concept and Definition for (LO-1) </a:t>
            </a:r>
            <a:endParaRPr sz="2800" b="1">
              <a:latin typeface="Tahoma"/>
              <a:ea typeface="Tahoma"/>
              <a:cs typeface="Tahoma"/>
              <a:sym typeface="Tahoma"/>
            </a:endParaRPr>
          </a:p>
        </p:txBody>
      </p:sp>
      <p:sp>
        <p:nvSpPr>
          <p:cNvPr id="204" name="Google Shape;204;p9"/>
          <p:cNvSpPr txBox="1"/>
          <p:nvPr/>
        </p:nvSpPr>
        <p:spPr>
          <a:xfrm>
            <a:off x="818866" y="1369915"/>
            <a:ext cx="10814432"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Insertion at the Beginning of a Singly Linked List: </a:t>
            </a:r>
            <a:r>
              <a:rPr lang="en-US" sz="2400">
                <a:solidFill>
                  <a:schemeClr val="dk1"/>
                </a:solidFill>
                <a:latin typeface="Arial"/>
                <a:ea typeface="Arial"/>
                <a:cs typeface="Arial"/>
                <a:sym typeface="Arial"/>
              </a:rPr>
              <a:t>To insert a new node at the front, we create a new node and point its next reference to the current head of the linked list. Then, we update the head to be this new node. This operation is efficient because it only requires adjusting a few pointers.</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b="1">
              <a:solidFill>
                <a:schemeClr val="dk1"/>
              </a:solidFill>
              <a:latin typeface="Arial"/>
              <a:ea typeface="Arial"/>
              <a:cs typeface="Arial"/>
              <a:sym typeface="Arial"/>
            </a:endParaRPr>
          </a:p>
        </p:txBody>
      </p:sp>
      <p:pic>
        <p:nvPicPr>
          <p:cNvPr id="205" name="Google Shape;205;p9"/>
          <p:cNvPicPr preferRelativeResize="0"/>
          <p:nvPr/>
        </p:nvPicPr>
        <p:blipFill rotWithShape="1">
          <a:blip r:embed="rId4">
            <a:alphaModFix/>
          </a:blip>
          <a:srcRect/>
          <a:stretch/>
        </p:blipFill>
        <p:spPr>
          <a:xfrm>
            <a:off x="104932" y="215802"/>
            <a:ext cx="3795634" cy="740238"/>
          </a:xfrm>
          <a:prstGeom prst="rect">
            <a:avLst/>
          </a:prstGeom>
          <a:noFill/>
          <a:ln>
            <a:noFill/>
          </a:ln>
        </p:spPr>
      </p:pic>
      <p:pic>
        <p:nvPicPr>
          <p:cNvPr id="206" name="Google Shape;206;p9"/>
          <p:cNvPicPr preferRelativeResize="0"/>
          <p:nvPr/>
        </p:nvPicPr>
        <p:blipFill rotWithShape="1">
          <a:blip r:embed="rId5">
            <a:alphaModFix/>
          </a:blip>
          <a:srcRect/>
          <a:stretch/>
        </p:blipFill>
        <p:spPr>
          <a:xfrm>
            <a:off x="2002749" y="3262078"/>
            <a:ext cx="7629525" cy="2762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0"/>
        <p:cNvGrpSpPr/>
        <p:nvPr/>
      </p:nvGrpSpPr>
      <p:grpSpPr>
        <a:xfrm>
          <a:off x="0" y="0"/>
          <a:ext cx="0" cy="0"/>
          <a:chOff x="0" y="0"/>
          <a:chExt cx="0" cy="0"/>
        </a:xfrm>
      </p:grpSpPr>
      <p:sp>
        <p:nvSpPr>
          <p:cNvPr id="211" name="Google Shape;211;p10"/>
          <p:cNvSpPr/>
          <p:nvPr/>
        </p:nvSpPr>
        <p:spPr>
          <a:xfrm>
            <a:off x="0" y="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12" name="Google Shape;212;p10"/>
          <p:cNvGrpSpPr/>
          <p:nvPr/>
        </p:nvGrpSpPr>
        <p:grpSpPr>
          <a:xfrm>
            <a:off x="0" y="0"/>
            <a:ext cx="6423049" cy="6858001"/>
            <a:chOff x="0" y="0"/>
            <a:chExt cx="6423049" cy="6858001"/>
          </a:xfrm>
        </p:grpSpPr>
        <p:sp>
          <p:nvSpPr>
            <p:cNvPr id="213" name="Google Shape;213;p10"/>
            <p:cNvSpPr/>
            <p:nvPr/>
          </p:nvSpPr>
          <p:spPr>
            <a:xfrm>
              <a:off x="0" y="0"/>
              <a:ext cx="6018714" cy="6858000"/>
            </a:xfrm>
            <a:custGeom>
              <a:avLst/>
              <a:gdLst/>
              <a:ahLst/>
              <a:cxnLst/>
              <a:rect l="l" t="t" r="r" b="b"/>
              <a:pathLst>
                <a:path w="6018714" h="6858000" extrusionOk="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14" name="Google Shape;214;p10"/>
            <p:cNvSpPr/>
            <p:nvPr/>
          </p:nvSpPr>
          <p:spPr>
            <a:xfrm>
              <a:off x="0" y="38834"/>
              <a:ext cx="6015920" cy="6819166"/>
            </a:xfrm>
            <a:custGeom>
              <a:avLst/>
              <a:gdLst/>
              <a:ahLst/>
              <a:cxnLst/>
              <a:rect l="l" t="t" r="r" b="b"/>
              <a:pathLst>
                <a:path w="6015920" h="6819166" extrusionOk="0">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15" name="Google Shape;215;p10"/>
            <p:cNvSpPr/>
            <p:nvPr/>
          </p:nvSpPr>
          <p:spPr>
            <a:xfrm>
              <a:off x="0" y="89880"/>
              <a:ext cx="5997097" cy="6768121"/>
            </a:xfrm>
            <a:custGeom>
              <a:avLst/>
              <a:gdLst/>
              <a:ahLst/>
              <a:cxnLst/>
              <a:rect l="l" t="t" r="r" b="b"/>
              <a:pathLst>
                <a:path w="5997097" h="6768121" extrusionOk="0">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16" name="Google Shape;216;p10"/>
            <p:cNvSpPr/>
            <p:nvPr/>
          </p:nvSpPr>
          <p:spPr>
            <a:xfrm>
              <a:off x="0" y="726"/>
              <a:ext cx="6423049" cy="6857275"/>
            </a:xfrm>
            <a:custGeom>
              <a:avLst/>
              <a:gdLst/>
              <a:ahLst/>
              <a:cxnLst/>
              <a:rect l="l" t="t" r="r" b="b"/>
              <a:pathLst>
                <a:path w="6423049" h="6857275" extrusionOk="0">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17" name="Google Shape;217;p10"/>
            <p:cNvSpPr/>
            <p:nvPr/>
          </p:nvSpPr>
          <p:spPr>
            <a:xfrm>
              <a:off x="0" y="726"/>
              <a:ext cx="6158587" cy="6857275"/>
            </a:xfrm>
            <a:custGeom>
              <a:avLst/>
              <a:gdLst/>
              <a:ahLst/>
              <a:cxnLst/>
              <a:rect l="l" t="t" r="r" b="b"/>
              <a:pathLst>
                <a:path w="6158587" h="6857275" extrusionOk="0">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grpSp>
      <p:sp>
        <p:nvSpPr>
          <p:cNvPr id="218" name="Google Shape;21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GSCALE full form and date</a:t>
            </a:r>
            <a:endParaRPr/>
          </a:p>
        </p:txBody>
      </p:sp>
      <p:pic>
        <p:nvPicPr>
          <p:cNvPr id="219" name="Google Shape;219;p10"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20" name="Google Shape;220;p10"/>
          <p:cNvSpPr txBox="1">
            <a:spLocks noGrp="1"/>
          </p:cNvSpPr>
          <p:nvPr>
            <p:ph type="title"/>
          </p:nvPr>
        </p:nvSpPr>
        <p:spPr>
          <a:xfrm>
            <a:off x="3900566" y="44352"/>
            <a:ext cx="6858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ahoma"/>
              <a:buNone/>
            </a:pPr>
            <a:r>
              <a:rPr lang="en-US" sz="2800" b="1">
                <a:latin typeface="Tahoma"/>
                <a:ea typeface="Tahoma"/>
                <a:cs typeface="Tahoma"/>
                <a:sym typeface="Tahoma"/>
              </a:rPr>
              <a:t>Concept and Definition for (LO-1) </a:t>
            </a:r>
            <a:endParaRPr sz="2800" b="1">
              <a:latin typeface="Tahoma"/>
              <a:ea typeface="Tahoma"/>
              <a:cs typeface="Tahoma"/>
              <a:sym typeface="Tahoma"/>
            </a:endParaRPr>
          </a:p>
        </p:txBody>
      </p:sp>
      <p:sp>
        <p:nvSpPr>
          <p:cNvPr id="221" name="Google Shape;221;p10"/>
          <p:cNvSpPr txBox="1"/>
          <p:nvPr/>
        </p:nvSpPr>
        <p:spPr>
          <a:xfrm>
            <a:off x="818866" y="1369915"/>
            <a:ext cx="10814432"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Insertion at the Specific Position of a Singly Linked List: </a:t>
            </a:r>
            <a:r>
              <a:rPr lang="en-US" sz="2400">
                <a:solidFill>
                  <a:schemeClr val="dk1"/>
                </a:solidFill>
                <a:latin typeface="Arial"/>
                <a:ea typeface="Arial"/>
                <a:cs typeface="Arial"/>
                <a:sym typeface="Arial"/>
              </a:rPr>
              <a:t>To insert a new node at a specific position, we need to traverse the list to position - 1. If the position is valid, we adjust the pointers similarly such that the next pointer of the new node points to the next of current nod and next pointer of current node points to the new node.</a:t>
            </a:r>
            <a:endParaRPr sz="2400" b="1">
              <a:solidFill>
                <a:schemeClr val="dk1"/>
              </a:solidFill>
              <a:latin typeface="Arial"/>
              <a:ea typeface="Arial"/>
              <a:cs typeface="Arial"/>
              <a:sym typeface="Arial"/>
            </a:endParaRPr>
          </a:p>
        </p:txBody>
      </p:sp>
      <p:pic>
        <p:nvPicPr>
          <p:cNvPr id="222" name="Google Shape;222;p10"/>
          <p:cNvPicPr preferRelativeResize="0"/>
          <p:nvPr/>
        </p:nvPicPr>
        <p:blipFill rotWithShape="1">
          <a:blip r:embed="rId4">
            <a:alphaModFix/>
          </a:blip>
          <a:srcRect/>
          <a:stretch/>
        </p:blipFill>
        <p:spPr>
          <a:xfrm>
            <a:off x="104932" y="215802"/>
            <a:ext cx="3795634" cy="740238"/>
          </a:xfrm>
          <a:prstGeom prst="rect">
            <a:avLst/>
          </a:prstGeom>
          <a:noFill/>
          <a:ln>
            <a:noFill/>
          </a:ln>
        </p:spPr>
      </p:pic>
      <p:pic>
        <p:nvPicPr>
          <p:cNvPr id="223" name="Google Shape;223;p10"/>
          <p:cNvPicPr preferRelativeResize="0"/>
          <p:nvPr/>
        </p:nvPicPr>
        <p:blipFill rotWithShape="1">
          <a:blip r:embed="rId5">
            <a:alphaModFix/>
          </a:blip>
          <a:srcRect/>
          <a:stretch/>
        </p:blipFill>
        <p:spPr>
          <a:xfrm>
            <a:off x="2182334" y="3308907"/>
            <a:ext cx="7629525" cy="2733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7"/>
        <p:cNvGrpSpPr/>
        <p:nvPr/>
      </p:nvGrpSpPr>
      <p:grpSpPr>
        <a:xfrm>
          <a:off x="0" y="0"/>
          <a:ext cx="0" cy="0"/>
          <a:chOff x="0" y="0"/>
          <a:chExt cx="0" cy="0"/>
        </a:xfrm>
      </p:grpSpPr>
      <p:sp>
        <p:nvSpPr>
          <p:cNvPr id="228" name="Google Shape;228;p11"/>
          <p:cNvSpPr/>
          <p:nvPr/>
        </p:nvSpPr>
        <p:spPr>
          <a:xfrm>
            <a:off x="0" y="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29" name="Google Shape;229;p11"/>
          <p:cNvGrpSpPr/>
          <p:nvPr/>
        </p:nvGrpSpPr>
        <p:grpSpPr>
          <a:xfrm>
            <a:off x="0" y="0"/>
            <a:ext cx="6423049" cy="6858001"/>
            <a:chOff x="0" y="0"/>
            <a:chExt cx="6423049" cy="6858001"/>
          </a:xfrm>
        </p:grpSpPr>
        <p:sp>
          <p:nvSpPr>
            <p:cNvPr id="230" name="Google Shape;230;p11"/>
            <p:cNvSpPr/>
            <p:nvPr/>
          </p:nvSpPr>
          <p:spPr>
            <a:xfrm>
              <a:off x="0" y="0"/>
              <a:ext cx="6018714" cy="6858000"/>
            </a:xfrm>
            <a:custGeom>
              <a:avLst/>
              <a:gdLst/>
              <a:ahLst/>
              <a:cxnLst/>
              <a:rect l="l" t="t" r="r" b="b"/>
              <a:pathLst>
                <a:path w="6018714" h="6858000" extrusionOk="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31" name="Google Shape;231;p11"/>
            <p:cNvSpPr/>
            <p:nvPr/>
          </p:nvSpPr>
          <p:spPr>
            <a:xfrm>
              <a:off x="0" y="38834"/>
              <a:ext cx="6015920" cy="6819166"/>
            </a:xfrm>
            <a:custGeom>
              <a:avLst/>
              <a:gdLst/>
              <a:ahLst/>
              <a:cxnLst/>
              <a:rect l="l" t="t" r="r" b="b"/>
              <a:pathLst>
                <a:path w="6015920" h="6819166" extrusionOk="0">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32" name="Google Shape;232;p11"/>
            <p:cNvSpPr/>
            <p:nvPr/>
          </p:nvSpPr>
          <p:spPr>
            <a:xfrm>
              <a:off x="0" y="89880"/>
              <a:ext cx="5997097" cy="6768121"/>
            </a:xfrm>
            <a:custGeom>
              <a:avLst/>
              <a:gdLst/>
              <a:ahLst/>
              <a:cxnLst/>
              <a:rect l="l" t="t" r="r" b="b"/>
              <a:pathLst>
                <a:path w="5997097" h="6768121" extrusionOk="0">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33" name="Google Shape;233;p11"/>
            <p:cNvSpPr/>
            <p:nvPr/>
          </p:nvSpPr>
          <p:spPr>
            <a:xfrm>
              <a:off x="0" y="726"/>
              <a:ext cx="6423049" cy="6857275"/>
            </a:xfrm>
            <a:custGeom>
              <a:avLst/>
              <a:gdLst/>
              <a:ahLst/>
              <a:cxnLst/>
              <a:rect l="l" t="t" r="r" b="b"/>
              <a:pathLst>
                <a:path w="6423049" h="6857275" extrusionOk="0">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34" name="Google Shape;234;p11"/>
            <p:cNvSpPr/>
            <p:nvPr/>
          </p:nvSpPr>
          <p:spPr>
            <a:xfrm>
              <a:off x="0" y="726"/>
              <a:ext cx="6158587" cy="6857275"/>
            </a:xfrm>
            <a:custGeom>
              <a:avLst/>
              <a:gdLst/>
              <a:ahLst/>
              <a:cxnLst/>
              <a:rect l="l" t="t" r="r" b="b"/>
              <a:pathLst>
                <a:path w="6158587" h="6857275" extrusionOk="0">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grpSp>
      <p:sp>
        <p:nvSpPr>
          <p:cNvPr id="235" name="Google Shape;235;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GSCALE full form and date</a:t>
            </a:r>
            <a:endParaRPr/>
          </a:p>
        </p:txBody>
      </p:sp>
      <p:pic>
        <p:nvPicPr>
          <p:cNvPr id="236" name="Google Shape;236;p11"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37" name="Google Shape;237;p11"/>
          <p:cNvSpPr txBox="1">
            <a:spLocks noGrp="1"/>
          </p:cNvSpPr>
          <p:nvPr>
            <p:ph type="title"/>
          </p:nvPr>
        </p:nvSpPr>
        <p:spPr>
          <a:xfrm>
            <a:off x="3900566" y="44352"/>
            <a:ext cx="6858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ahoma"/>
              <a:buNone/>
            </a:pPr>
            <a:r>
              <a:rPr lang="en-US" sz="2800" b="1">
                <a:latin typeface="Tahoma"/>
                <a:ea typeface="Tahoma"/>
                <a:cs typeface="Tahoma"/>
                <a:sym typeface="Tahoma"/>
              </a:rPr>
              <a:t>Concept and Definition for (LO-1) </a:t>
            </a:r>
            <a:endParaRPr sz="2800" b="1">
              <a:latin typeface="Tahoma"/>
              <a:ea typeface="Tahoma"/>
              <a:cs typeface="Tahoma"/>
              <a:sym typeface="Tahoma"/>
            </a:endParaRPr>
          </a:p>
        </p:txBody>
      </p:sp>
      <p:sp>
        <p:nvSpPr>
          <p:cNvPr id="238" name="Google Shape;238;p11"/>
          <p:cNvSpPr txBox="1"/>
          <p:nvPr/>
        </p:nvSpPr>
        <p:spPr>
          <a:xfrm>
            <a:off x="818866" y="1369915"/>
            <a:ext cx="10814432"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Insertion at the End of a Singly Linked List: </a:t>
            </a:r>
            <a:r>
              <a:rPr lang="en-US" sz="2400">
                <a:solidFill>
                  <a:schemeClr val="dk1"/>
                </a:solidFill>
                <a:latin typeface="Arial"/>
                <a:ea typeface="Arial"/>
                <a:cs typeface="Arial"/>
                <a:sym typeface="Arial"/>
              </a:rPr>
              <a:t>Inserting at the end involves traversing the entire list until we reach the last node. We then set the last node's next reference to point to the new node, making the new node the last element in the list.</a:t>
            </a:r>
            <a:endParaRPr/>
          </a:p>
        </p:txBody>
      </p:sp>
      <p:pic>
        <p:nvPicPr>
          <p:cNvPr id="239" name="Google Shape;239;p11"/>
          <p:cNvPicPr preferRelativeResize="0"/>
          <p:nvPr/>
        </p:nvPicPr>
        <p:blipFill rotWithShape="1">
          <a:blip r:embed="rId4">
            <a:alphaModFix/>
          </a:blip>
          <a:srcRect/>
          <a:stretch/>
        </p:blipFill>
        <p:spPr>
          <a:xfrm>
            <a:off x="104932" y="215802"/>
            <a:ext cx="3795634" cy="740238"/>
          </a:xfrm>
          <a:prstGeom prst="rect">
            <a:avLst/>
          </a:prstGeom>
          <a:noFill/>
          <a:ln>
            <a:noFill/>
          </a:ln>
        </p:spPr>
      </p:pic>
      <p:pic>
        <p:nvPicPr>
          <p:cNvPr id="240" name="Google Shape;240;p11"/>
          <p:cNvPicPr preferRelativeResize="0"/>
          <p:nvPr/>
        </p:nvPicPr>
        <p:blipFill rotWithShape="1">
          <a:blip r:embed="rId5">
            <a:alphaModFix/>
          </a:blip>
          <a:srcRect/>
          <a:stretch/>
        </p:blipFill>
        <p:spPr>
          <a:xfrm>
            <a:off x="2002749" y="3338275"/>
            <a:ext cx="7629525" cy="2619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4"/>
        <p:cNvGrpSpPr/>
        <p:nvPr/>
      </p:nvGrpSpPr>
      <p:grpSpPr>
        <a:xfrm>
          <a:off x="0" y="0"/>
          <a:ext cx="0" cy="0"/>
          <a:chOff x="0" y="0"/>
          <a:chExt cx="0" cy="0"/>
        </a:xfrm>
      </p:grpSpPr>
      <p:sp>
        <p:nvSpPr>
          <p:cNvPr id="245" name="Google Shape;245;p12"/>
          <p:cNvSpPr/>
          <p:nvPr/>
        </p:nvSpPr>
        <p:spPr>
          <a:xfrm>
            <a:off x="0" y="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46" name="Google Shape;246;p12"/>
          <p:cNvGrpSpPr/>
          <p:nvPr/>
        </p:nvGrpSpPr>
        <p:grpSpPr>
          <a:xfrm>
            <a:off x="0" y="0"/>
            <a:ext cx="6423049" cy="6858001"/>
            <a:chOff x="0" y="0"/>
            <a:chExt cx="6423049" cy="6858001"/>
          </a:xfrm>
        </p:grpSpPr>
        <p:sp>
          <p:nvSpPr>
            <p:cNvPr id="247" name="Google Shape;247;p12"/>
            <p:cNvSpPr/>
            <p:nvPr/>
          </p:nvSpPr>
          <p:spPr>
            <a:xfrm>
              <a:off x="0" y="0"/>
              <a:ext cx="6018714" cy="6858000"/>
            </a:xfrm>
            <a:custGeom>
              <a:avLst/>
              <a:gdLst/>
              <a:ahLst/>
              <a:cxnLst/>
              <a:rect l="l" t="t" r="r" b="b"/>
              <a:pathLst>
                <a:path w="6018714" h="6858000" extrusionOk="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48" name="Google Shape;248;p12"/>
            <p:cNvSpPr/>
            <p:nvPr/>
          </p:nvSpPr>
          <p:spPr>
            <a:xfrm>
              <a:off x="0" y="38834"/>
              <a:ext cx="6015920" cy="6819166"/>
            </a:xfrm>
            <a:custGeom>
              <a:avLst/>
              <a:gdLst/>
              <a:ahLst/>
              <a:cxnLst/>
              <a:rect l="l" t="t" r="r" b="b"/>
              <a:pathLst>
                <a:path w="6015920" h="6819166" extrusionOk="0">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49" name="Google Shape;249;p12"/>
            <p:cNvSpPr/>
            <p:nvPr/>
          </p:nvSpPr>
          <p:spPr>
            <a:xfrm>
              <a:off x="0" y="89880"/>
              <a:ext cx="5997097" cy="6768121"/>
            </a:xfrm>
            <a:custGeom>
              <a:avLst/>
              <a:gdLst/>
              <a:ahLst/>
              <a:cxnLst/>
              <a:rect l="l" t="t" r="r" b="b"/>
              <a:pathLst>
                <a:path w="5997097" h="6768121" extrusionOk="0">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50" name="Google Shape;250;p12"/>
            <p:cNvSpPr/>
            <p:nvPr/>
          </p:nvSpPr>
          <p:spPr>
            <a:xfrm>
              <a:off x="0" y="726"/>
              <a:ext cx="6423049" cy="6857275"/>
            </a:xfrm>
            <a:custGeom>
              <a:avLst/>
              <a:gdLst/>
              <a:ahLst/>
              <a:cxnLst/>
              <a:rect l="l" t="t" r="r" b="b"/>
              <a:pathLst>
                <a:path w="6423049" h="6857275" extrusionOk="0">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51" name="Google Shape;251;p12"/>
            <p:cNvSpPr/>
            <p:nvPr/>
          </p:nvSpPr>
          <p:spPr>
            <a:xfrm>
              <a:off x="0" y="726"/>
              <a:ext cx="6158587" cy="6857275"/>
            </a:xfrm>
            <a:custGeom>
              <a:avLst/>
              <a:gdLst/>
              <a:ahLst/>
              <a:cxnLst/>
              <a:rect l="l" t="t" r="r" b="b"/>
              <a:pathLst>
                <a:path w="6158587" h="6857275" extrusionOk="0">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grpSp>
      <p:sp>
        <p:nvSpPr>
          <p:cNvPr id="252" name="Google Shape;2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GSCALE full form and date</a:t>
            </a:r>
            <a:endParaRPr/>
          </a:p>
        </p:txBody>
      </p:sp>
      <p:pic>
        <p:nvPicPr>
          <p:cNvPr id="253" name="Google Shape;253;p12"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54" name="Google Shape;254;p12"/>
          <p:cNvSpPr txBox="1">
            <a:spLocks noGrp="1"/>
          </p:cNvSpPr>
          <p:nvPr>
            <p:ph type="title"/>
          </p:nvPr>
        </p:nvSpPr>
        <p:spPr>
          <a:xfrm>
            <a:off x="3900566" y="44352"/>
            <a:ext cx="6858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ahoma"/>
              <a:buNone/>
            </a:pPr>
            <a:r>
              <a:rPr lang="en-US" sz="2800" b="1">
                <a:latin typeface="Tahoma"/>
                <a:ea typeface="Tahoma"/>
                <a:cs typeface="Tahoma"/>
                <a:sym typeface="Tahoma"/>
              </a:rPr>
              <a:t>Concept and Definition for (LO-2) </a:t>
            </a:r>
            <a:endParaRPr sz="2800" b="1">
              <a:latin typeface="Tahoma"/>
              <a:ea typeface="Tahoma"/>
              <a:cs typeface="Tahoma"/>
              <a:sym typeface="Tahoma"/>
            </a:endParaRPr>
          </a:p>
        </p:txBody>
      </p:sp>
      <p:sp>
        <p:nvSpPr>
          <p:cNvPr id="255" name="Google Shape;255;p12"/>
          <p:cNvSpPr txBox="1"/>
          <p:nvPr/>
        </p:nvSpPr>
        <p:spPr>
          <a:xfrm>
            <a:off x="838200" y="1065690"/>
            <a:ext cx="10795098" cy="212365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b="1">
              <a:solidFill>
                <a:schemeClr val="dk1"/>
              </a:solidFill>
              <a:latin typeface="Arial"/>
              <a:ea typeface="Arial"/>
              <a:cs typeface="Arial"/>
              <a:sym typeface="Arial"/>
            </a:endParaRPr>
          </a:p>
          <a:p>
            <a:pPr marL="0" marR="0" lvl="0" indent="0" algn="l" rtl="0">
              <a:spcBef>
                <a:spcPts val="0"/>
              </a:spcBef>
              <a:spcAft>
                <a:spcPts val="0"/>
              </a:spcAft>
              <a:buNone/>
            </a:pPr>
            <a:r>
              <a:rPr lang="en-US" sz="2800" b="1">
                <a:solidFill>
                  <a:schemeClr val="dk1"/>
                </a:solidFill>
                <a:latin typeface="Arial"/>
                <a:ea typeface="Arial"/>
                <a:cs typeface="Arial"/>
                <a:sym typeface="Arial"/>
              </a:rPr>
              <a:t>Traversal of Singly Linked List</a:t>
            </a:r>
            <a:endParaRPr/>
          </a:p>
          <a:p>
            <a:pPr marL="0" marR="0" lvl="0" indent="0" algn="l" rtl="0">
              <a:spcBef>
                <a:spcPts val="0"/>
              </a:spcBef>
              <a:spcAft>
                <a:spcPts val="0"/>
              </a:spcAft>
              <a:buNone/>
            </a:pPr>
            <a:endParaRPr sz="2800" b="1">
              <a:solidFill>
                <a:schemeClr val="dk1"/>
              </a:solidFill>
              <a:latin typeface="Arial"/>
              <a:ea typeface="Arial"/>
              <a:cs typeface="Arial"/>
              <a:sym typeface="Arial"/>
            </a:endParaRPr>
          </a:p>
          <a:p>
            <a:pPr marL="0" marR="0" lvl="0" indent="0" algn="l" rtl="0">
              <a:spcBef>
                <a:spcPts val="0"/>
              </a:spcBef>
              <a:spcAft>
                <a:spcPts val="0"/>
              </a:spcAft>
              <a:buNone/>
            </a:pPr>
            <a:r>
              <a:rPr lang="en-US" sz="2400">
                <a:solidFill>
                  <a:schemeClr val="dk1"/>
                </a:solidFill>
                <a:latin typeface="Arial"/>
                <a:ea typeface="Arial"/>
                <a:cs typeface="Arial"/>
                <a:sym typeface="Arial"/>
              </a:rPr>
              <a:t>Traversal of Singly Linked List is one of the fundamental operations, where we traverse or visit each node of the linked list. </a:t>
            </a:r>
            <a:endParaRPr/>
          </a:p>
        </p:txBody>
      </p:sp>
      <p:pic>
        <p:nvPicPr>
          <p:cNvPr id="256" name="Google Shape;256;p12"/>
          <p:cNvPicPr preferRelativeResize="0"/>
          <p:nvPr/>
        </p:nvPicPr>
        <p:blipFill rotWithShape="1">
          <a:blip r:embed="rId4">
            <a:alphaModFix/>
          </a:blip>
          <a:srcRect/>
          <a:stretch/>
        </p:blipFill>
        <p:spPr>
          <a:xfrm>
            <a:off x="104932" y="215802"/>
            <a:ext cx="3795634" cy="74023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0"/>
        <p:cNvGrpSpPr/>
        <p:nvPr/>
      </p:nvGrpSpPr>
      <p:grpSpPr>
        <a:xfrm>
          <a:off x="0" y="0"/>
          <a:ext cx="0" cy="0"/>
          <a:chOff x="0" y="0"/>
          <a:chExt cx="0" cy="0"/>
        </a:xfrm>
      </p:grpSpPr>
      <p:sp>
        <p:nvSpPr>
          <p:cNvPr id="261" name="Google Shape;261;p13"/>
          <p:cNvSpPr/>
          <p:nvPr/>
        </p:nvSpPr>
        <p:spPr>
          <a:xfrm>
            <a:off x="0" y="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62" name="Google Shape;262;p13"/>
          <p:cNvGrpSpPr/>
          <p:nvPr/>
        </p:nvGrpSpPr>
        <p:grpSpPr>
          <a:xfrm>
            <a:off x="0" y="0"/>
            <a:ext cx="6423049" cy="6858001"/>
            <a:chOff x="0" y="0"/>
            <a:chExt cx="6423049" cy="6858001"/>
          </a:xfrm>
        </p:grpSpPr>
        <p:sp>
          <p:nvSpPr>
            <p:cNvPr id="263" name="Google Shape;263;p13"/>
            <p:cNvSpPr/>
            <p:nvPr/>
          </p:nvSpPr>
          <p:spPr>
            <a:xfrm>
              <a:off x="0" y="0"/>
              <a:ext cx="6018714" cy="6858000"/>
            </a:xfrm>
            <a:custGeom>
              <a:avLst/>
              <a:gdLst/>
              <a:ahLst/>
              <a:cxnLst/>
              <a:rect l="l" t="t" r="r" b="b"/>
              <a:pathLst>
                <a:path w="6018714" h="6858000" extrusionOk="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64" name="Google Shape;264;p13"/>
            <p:cNvSpPr/>
            <p:nvPr/>
          </p:nvSpPr>
          <p:spPr>
            <a:xfrm>
              <a:off x="0" y="38834"/>
              <a:ext cx="6015920" cy="6819166"/>
            </a:xfrm>
            <a:custGeom>
              <a:avLst/>
              <a:gdLst/>
              <a:ahLst/>
              <a:cxnLst/>
              <a:rect l="l" t="t" r="r" b="b"/>
              <a:pathLst>
                <a:path w="6015920" h="6819166" extrusionOk="0">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65" name="Google Shape;265;p13"/>
            <p:cNvSpPr/>
            <p:nvPr/>
          </p:nvSpPr>
          <p:spPr>
            <a:xfrm>
              <a:off x="0" y="89880"/>
              <a:ext cx="5997097" cy="6768121"/>
            </a:xfrm>
            <a:custGeom>
              <a:avLst/>
              <a:gdLst/>
              <a:ahLst/>
              <a:cxnLst/>
              <a:rect l="l" t="t" r="r" b="b"/>
              <a:pathLst>
                <a:path w="5997097" h="6768121" extrusionOk="0">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66" name="Google Shape;266;p13"/>
            <p:cNvSpPr/>
            <p:nvPr/>
          </p:nvSpPr>
          <p:spPr>
            <a:xfrm>
              <a:off x="0" y="726"/>
              <a:ext cx="6423049" cy="6857275"/>
            </a:xfrm>
            <a:custGeom>
              <a:avLst/>
              <a:gdLst/>
              <a:ahLst/>
              <a:cxnLst/>
              <a:rect l="l" t="t" r="r" b="b"/>
              <a:pathLst>
                <a:path w="6423049" h="6857275" extrusionOk="0">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67" name="Google Shape;267;p13"/>
            <p:cNvSpPr/>
            <p:nvPr/>
          </p:nvSpPr>
          <p:spPr>
            <a:xfrm>
              <a:off x="0" y="726"/>
              <a:ext cx="6158587" cy="6857275"/>
            </a:xfrm>
            <a:custGeom>
              <a:avLst/>
              <a:gdLst/>
              <a:ahLst/>
              <a:cxnLst/>
              <a:rect l="l" t="t" r="r" b="b"/>
              <a:pathLst>
                <a:path w="6158587" h="6857275" extrusionOk="0">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grpSp>
      <p:sp>
        <p:nvSpPr>
          <p:cNvPr id="268" name="Google Shape;26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GSCALE full form and date</a:t>
            </a:r>
            <a:endParaRPr/>
          </a:p>
        </p:txBody>
      </p:sp>
      <p:pic>
        <p:nvPicPr>
          <p:cNvPr id="269" name="Google Shape;269;p13"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70" name="Google Shape;270;p13"/>
          <p:cNvSpPr txBox="1">
            <a:spLocks noGrp="1"/>
          </p:cNvSpPr>
          <p:nvPr>
            <p:ph type="title"/>
          </p:nvPr>
        </p:nvSpPr>
        <p:spPr>
          <a:xfrm>
            <a:off x="3900566" y="44352"/>
            <a:ext cx="6858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ahoma"/>
              <a:buNone/>
            </a:pPr>
            <a:r>
              <a:rPr lang="en-US" sz="2800" b="1">
                <a:latin typeface="Tahoma"/>
                <a:ea typeface="Tahoma"/>
                <a:cs typeface="Tahoma"/>
                <a:sym typeface="Tahoma"/>
              </a:rPr>
              <a:t>Concept and Definition for (LO-2) </a:t>
            </a:r>
            <a:endParaRPr sz="2800" b="1">
              <a:latin typeface="Tahoma"/>
              <a:ea typeface="Tahoma"/>
              <a:cs typeface="Tahoma"/>
              <a:sym typeface="Tahoma"/>
            </a:endParaRPr>
          </a:p>
        </p:txBody>
      </p:sp>
      <p:sp>
        <p:nvSpPr>
          <p:cNvPr id="271" name="Google Shape;271;p13"/>
          <p:cNvSpPr txBox="1"/>
          <p:nvPr/>
        </p:nvSpPr>
        <p:spPr>
          <a:xfrm>
            <a:off x="838200" y="1065690"/>
            <a:ext cx="10795098" cy="1384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b="1">
              <a:solidFill>
                <a:schemeClr val="dk1"/>
              </a:solidFill>
              <a:latin typeface="Arial"/>
              <a:ea typeface="Arial"/>
              <a:cs typeface="Arial"/>
              <a:sym typeface="Arial"/>
            </a:endParaRPr>
          </a:p>
          <a:p>
            <a:pPr marL="0" marR="0" lvl="0" indent="0" algn="l" rtl="0">
              <a:spcBef>
                <a:spcPts val="0"/>
              </a:spcBef>
              <a:spcAft>
                <a:spcPts val="0"/>
              </a:spcAft>
              <a:buNone/>
            </a:pPr>
            <a:r>
              <a:rPr lang="en-US" sz="2800" b="1">
                <a:solidFill>
                  <a:schemeClr val="dk1"/>
                </a:solidFill>
                <a:latin typeface="Arial"/>
                <a:ea typeface="Arial"/>
                <a:cs typeface="Arial"/>
                <a:sym typeface="Arial"/>
              </a:rPr>
              <a:t>Traversal of Singly Linked List (Example)</a:t>
            </a:r>
            <a:endParaRPr/>
          </a:p>
          <a:p>
            <a:pPr marL="0" marR="0" lvl="0" indent="0" algn="l" rtl="0">
              <a:spcBef>
                <a:spcPts val="0"/>
              </a:spcBef>
              <a:spcAft>
                <a:spcPts val="0"/>
              </a:spcAft>
              <a:buNone/>
            </a:pPr>
            <a:endParaRPr sz="2800" b="1">
              <a:solidFill>
                <a:schemeClr val="dk1"/>
              </a:solidFill>
              <a:latin typeface="Arial"/>
              <a:ea typeface="Arial"/>
              <a:cs typeface="Arial"/>
              <a:sym typeface="Arial"/>
            </a:endParaRPr>
          </a:p>
        </p:txBody>
      </p:sp>
      <p:pic>
        <p:nvPicPr>
          <p:cNvPr id="272" name="Google Shape;272;p13"/>
          <p:cNvPicPr preferRelativeResize="0"/>
          <p:nvPr/>
        </p:nvPicPr>
        <p:blipFill rotWithShape="1">
          <a:blip r:embed="rId4">
            <a:alphaModFix/>
          </a:blip>
          <a:srcRect/>
          <a:stretch/>
        </p:blipFill>
        <p:spPr>
          <a:xfrm>
            <a:off x="104932" y="215802"/>
            <a:ext cx="3795634" cy="740238"/>
          </a:xfrm>
          <a:prstGeom prst="rect">
            <a:avLst/>
          </a:prstGeom>
          <a:noFill/>
          <a:ln>
            <a:noFill/>
          </a:ln>
        </p:spPr>
      </p:pic>
      <p:pic>
        <p:nvPicPr>
          <p:cNvPr id="273" name="Google Shape;273;p13"/>
          <p:cNvPicPr preferRelativeResize="0"/>
          <p:nvPr/>
        </p:nvPicPr>
        <p:blipFill rotWithShape="1">
          <a:blip r:embed="rId5">
            <a:alphaModFix/>
          </a:blip>
          <a:srcRect/>
          <a:stretch/>
        </p:blipFill>
        <p:spPr>
          <a:xfrm>
            <a:off x="1236724" y="2697735"/>
            <a:ext cx="7791450" cy="923925"/>
          </a:xfrm>
          <a:prstGeom prst="rect">
            <a:avLst/>
          </a:prstGeom>
          <a:noFill/>
          <a:ln>
            <a:noFill/>
          </a:ln>
        </p:spPr>
      </p:pic>
      <p:sp>
        <p:nvSpPr>
          <p:cNvPr id="274" name="Google Shape;274;p13"/>
          <p:cNvSpPr txBox="1"/>
          <p:nvPr/>
        </p:nvSpPr>
        <p:spPr>
          <a:xfrm>
            <a:off x="1442803" y="3985046"/>
            <a:ext cx="958995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1">
                <a:solidFill>
                  <a:srgbClr val="273239"/>
                </a:solidFill>
                <a:latin typeface="Nunito"/>
                <a:ea typeface="Nunito"/>
                <a:cs typeface="Nunito"/>
                <a:sym typeface="Nunito"/>
              </a:rPr>
              <a:t>Output: </a:t>
            </a:r>
            <a:r>
              <a:rPr lang="en-US" sz="1800" b="0">
                <a:solidFill>
                  <a:srgbClr val="273239"/>
                </a:solidFill>
                <a:latin typeface="Nunito"/>
                <a:ea typeface="Nunito"/>
                <a:cs typeface="Nunito"/>
                <a:sym typeface="Nunito"/>
              </a:rPr>
              <a:t>10 -&gt; 20 -&gt; 30 -&gt; 40 -&gt; 50</a:t>
            </a:r>
            <a:br>
              <a:rPr lang="en-US" sz="1800">
                <a:solidFill>
                  <a:schemeClr val="dk1"/>
                </a:solidFill>
                <a:latin typeface="Arial"/>
                <a:ea typeface="Arial"/>
                <a:cs typeface="Arial"/>
                <a:sym typeface="Arial"/>
              </a:rPr>
            </a:br>
            <a:r>
              <a:rPr lang="en-US" sz="1800" b="1" i="1">
                <a:solidFill>
                  <a:srgbClr val="273239"/>
                </a:solidFill>
                <a:latin typeface="Nunito"/>
                <a:ea typeface="Nunito"/>
                <a:cs typeface="Nunito"/>
                <a:sym typeface="Nunito"/>
              </a:rPr>
              <a:t>Explanation: </a:t>
            </a:r>
            <a:r>
              <a:rPr lang="en-US" sz="1800" b="0">
                <a:solidFill>
                  <a:srgbClr val="273239"/>
                </a:solidFill>
                <a:latin typeface="Nunito"/>
                <a:ea typeface="Nunito"/>
                <a:cs typeface="Nunito"/>
                <a:sym typeface="Nunito"/>
              </a:rPr>
              <a:t>Every element of each node from head node to last node is printed which means we have traversed each node successfully.</a:t>
            </a:r>
            <a:endParaRPr sz="18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8"/>
        <p:cNvGrpSpPr/>
        <p:nvPr/>
      </p:nvGrpSpPr>
      <p:grpSpPr>
        <a:xfrm>
          <a:off x="0" y="0"/>
          <a:ext cx="0" cy="0"/>
          <a:chOff x="0" y="0"/>
          <a:chExt cx="0" cy="0"/>
        </a:xfrm>
      </p:grpSpPr>
      <p:sp>
        <p:nvSpPr>
          <p:cNvPr id="279" name="Google Shape;279;p14"/>
          <p:cNvSpPr/>
          <p:nvPr/>
        </p:nvSpPr>
        <p:spPr>
          <a:xfrm>
            <a:off x="0" y="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80" name="Google Shape;280;p14"/>
          <p:cNvGrpSpPr/>
          <p:nvPr/>
        </p:nvGrpSpPr>
        <p:grpSpPr>
          <a:xfrm>
            <a:off x="0" y="0"/>
            <a:ext cx="6423049" cy="6858001"/>
            <a:chOff x="0" y="0"/>
            <a:chExt cx="6423049" cy="6858001"/>
          </a:xfrm>
        </p:grpSpPr>
        <p:sp>
          <p:nvSpPr>
            <p:cNvPr id="281" name="Google Shape;281;p14"/>
            <p:cNvSpPr/>
            <p:nvPr/>
          </p:nvSpPr>
          <p:spPr>
            <a:xfrm>
              <a:off x="0" y="0"/>
              <a:ext cx="6018714" cy="6858000"/>
            </a:xfrm>
            <a:custGeom>
              <a:avLst/>
              <a:gdLst/>
              <a:ahLst/>
              <a:cxnLst/>
              <a:rect l="l" t="t" r="r" b="b"/>
              <a:pathLst>
                <a:path w="6018714" h="6858000" extrusionOk="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82" name="Google Shape;282;p14"/>
            <p:cNvSpPr/>
            <p:nvPr/>
          </p:nvSpPr>
          <p:spPr>
            <a:xfrm>
              <a:off x="0" y="38834"/>
              <a:ext cx="6015920" cy="6819166"/>
            </a:xfrm>
            <a:custGeom>
              <a:avLst/>
              <a:gdLst/>
              <a:ahLst/>
              <a:cxnLst/>
              <a:rect l="l" t="t" r="r" b="b"/>
              <a:pathLst>
                <a:path w="6015920" h="6819166" extrusionOk="0">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83" name="Google Shape;283;p14"/>
            <p:cNvSpPr/>
            <p:nvPr/>
          </p:nvSpPr>
          <p:spPr>
            <a:xfrm>
              <a:off x="0" y="89880"/>
              <a:ext cx="5997097" cy="6768121"/>
            </a:xfrm>
            <a:custGeom>
              <a:avLst/>
              <a:gdLst/>
              <a:ahLst/>
              <a:cxnLst/>
              <a:rect l="l" t="t" r="r" b="b"/>
              <a:pathLst>
                <a:path w="5997097" h="6768121" extrusionOk="0">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84" name="Google Shape;284;p14"/>
            <p:cNvSpPr/>
            <p:nvPr/>
          </p:nvSpPr>
          <p:spPr>
            <a:xfrm>
              <a:off x="0" y="726"/>
              <a:ext cx="6423049" cy="6857275"/>
            </a:xfrm>
            <a:custGeom>
              <a:avLst/>
              <a:gdLst/>
              <a:ahLst/>
              <a:cxnLst/>
              <a:rect l="l" t="t" r="r" b="b"/>
              <a:pathLst>
                <a:path w="6423049" h="6857275" extrusionOk="0">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85" name="Google Shape;285;p14"/>
            <p:cNvSpPr/>
            <p:nvPr/>
          </p:nvSpPr>
          <p:spPr>
            <a:xfrm>
              <a:off x="0" y="726"/>
              <a:ext cx="6158587" cy="6857275"/>
            </a:xfrm>
            <a:custGeom>
              <a:avLst/>
              <a:gdLst/>
              <a:ahLst/>
              <a:cxnLst/>
              <a:rect l="l" t="t" r="r" b="b"/>
              <a:pathLst>
                <a:path w="6158587" h="6857275" extrusionOk="0">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grpSp>
      <p:sp>
        <p:nvSpPr>
          <p:cNvPr id="286" name="Google Shape;28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GSCALE full form and date</a:t>
            </a:r>
            <a:endParaRPr/>
          </a:p>
        </p:txBody>
      </p:sp>
      <p:pic>
        <p:nvPicPr>
          <p:cNvPr id="287" name="Google Shape;287;p14"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88" name="Google Shape;288;p14"/>
          <p:cNvSpPr txBox="1">
            <a:spLocks noGrp="1"/>
          </p:cNvSpPr>
          <p:nvPr>
            <p:ph type="title"/>
          </p:nvPr>
        </p:nvSpPr>
        <p:spPr>
          <a:xfrm>
            <a:off x="3900566" y="44352"/>
            <a:ext cx="6858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Tahoma"/>
              <a:buNone/>
            </a:pPr>
            <a:r>
              <a:rPr lang="en-US" sz="2800" b="1">
                <a:latin typeface="Tahoma"/>
                <a:ea typeface="Tahoma"/>
                <a:cs typeface="Tahoma"/>
                <a:sym typeface="Tahoma"/>
              </a:rPr>
              <a:t>Concept and Definition for (LO-2) </a:t>
            </a:r>
            <a:endParaRPr sz="2800" b="1">
              <a:latin typeface="Tahoma"/>
              <a:ea typeface="Tahoma"/>
              <a:cs typeface="Tahoma"/>
              <a:sym typeface="Tahoma"/>
            </a:endParaRPr>
          </a:p>
        </p:txBody>
      </p:sp>
      <p:sp>
        <p:nvSpPr>
          <p:cNvPr id="289" name="Google Shape;289;p14"/>
          <p:cNvSpPr txBox="1"/>
          <p:nvPr/>
        </p:nvSpPr>
        <p:spPr>
          <a:xfrm>
            <a:off x="838200" y="1065690"/>
            <a:ext cx="10795098" cy="1384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800" b="1">
              <a:solidFill>
                <a:schemeClr val="dk1"/>
              </a:solidFill>
              <a:latin typeface="Arial"/>
              <a:ea typeface="Arial"/>
              <a:cs typeface="Arial"/>
              <a:sym typeface="Arial"/>
            </a:endParaRPr>
          </a:p>
          <a:p>
            <a:pPr marL="0" marR="0" lvl="0" indent="0" algn="l" rtl="0">
              <a:spcBef>
                <a:spcPts val="0"/>
              </a:spcBef>
              <a:spcAft>
                <a:spcPts val="0"/>
              </a:spcAft>
              <a:buNone/>
            </a:pPr>
            <a:r>
              <a:rPr lang="en-US" sz="2800" b="1">
                <a:solidFill>
                  <a:schemeClr val="dk1"/>
                </a:solidFill>
                <a:latin typeface="Arial"/>
                <a:ea typeface="Arial"/>
                <a:cs typeface="Arial"/>
                <a:sym typeface="Arial"/>
              </a:rPr>
              <a:t>Traversal of Singly Linked List (Code)</a:t>
            </a:r>
            <a:endParaRPr/>
          </a:p>
          <a:p>
            <a:pPr marL="0" marR="0" lvl="0" indent="0" algn="l" rtl="0">
              <a:spcBef>
                <a:spcPts val="0"/>
              </a:spcBef>
              <a:spcAft>
                <a:spcPts val="0"/>
              </a:spcAft>
              <a:buNone/>
            </a:pPr>
            <a:endParaRPr sz="2800" b="1">
              <a:solidFill>
                <a:schemeClr val="dk1"/>
              </a:solidFill>
              <a:latin typeface="Arial"/>
              <a:ea typeface="Arial"/>
              <a:cs typeface="Arial"/>
              <a:sym typeface="Arial"/>
            </a:endParaRPr>
          </a:p>
        </p:txBody>
      </p:sp>
      <p:pic>
        <p:nvPicPr>
          <p:cNvPr id="290" name="Google Shape;290;p14"/>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291" name="Google Shape;291;p14"/>
          <p:cNvSpPr txBox="1"/>
          <p:nvPr/>
        </p:nvSpPr>
        <p:spPr>
          <a:xfrm>
            <a:off x="2934674" y="2391253"/>
            <a:ext cx="6093500"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struct Node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int data;</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struct Node* next;</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void traverse(struct Node* head)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struct Node* temp = head;</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while (temp != NULL)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printf("%d ", temp-&gt;data);  // Process data</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temp = temp-&gt;next;          // Move to next node</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97" name="Google Shape;29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pic>
        <p:nvPicPr>
          <p:cNvPr id="298" name="Google Shape;298;p15"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299" name="Google Shape;299;p15"/>
          <p:cNvSpPr txBox="1"/>
          <p:nvPr/>
        </p:nvSpPr>
        <p:spPr>
          <a:xfrm>
            <a:off x="3169170" y="899733"/>
            <a:ext cx="6093500" cy="107721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dk1"/>
                </a:solidFill>
                <a:latin typeface="Tahoma"/>
                <a:ea typeface="Tahoma"/>
                <a:cs typeface="Tahoma"/>
                <a:sym typeface="Tahoma"/>
              </a:rPr>
              <a:t>Post-class Assessment</a:t>
            </a:r>
            <a:endParaRPr/>
          </a:p>
          <a:p>
            <a:pPr marL="0" marR="0" lvl="0" indent="0" algn="ctr" rtl="0">
              <a:spcBef>
                <a:spcPts val="0"/>
              </a:spcBef>
              <a:spcAft>
                <a:spcPts val="0"/>
              </a:spcAft>
              <a:buNone/>
            </a:pPr>
            <a:endParaRPr sz="3600">
              <a:solidFill>
                <a:schemeClr val="dk1"/>
              </a:solidFill>
              <a:latin typeface="Tahoma"/>
              <a:ea typeface="Tahoma"/>
              <a:cs typeface="Tahoma"/>
              <a:sym typeface="Tahoma"/>
            </a:endParaRPr>
          </a:p>
        </p:txBody>
      </p:sp>
      <p:pic>
        <p:nvPicPr>
          <p:cNvPr id="300" name="Google Shape;300;p15"/>
          <p:cNvPicPr preferRelativeResize="0"/>
          <p:nvPr/>
        </p:nvPicPr>
        <p:blipFill rotWithShape="1">
          <a:blip r:embed="rId4">
            <a:alphaModFix/>
          </a:blip>
          <a:srcRect/>
          <a:stretch/>
        </p:blipFill>
        <p:spPr>
          <a:xfrm>
            <a:off x="104932" y="215802"/>
            <a:ext cx="3795634" cy="740238"/>
          </a:xfrm>
          <a:prstGeom prst="rect">
            <a:avLst/>
          </a:prstGeom>
          <a:noFill/>
          <a:ln>
            <a:noFill/>
          </a:ln>
        </p:spPr>
      </p:pic>
      <p:pic>
        <p:nvPicPr>
          <p:cNvPr id="3" name="Picture 2">
            <a:extLst>
              <a:ext uri="{FF2B5EF4-FFF2-40B4-BE49-F238E27FC236}">
                <a16:creationId xmlns:a16="http://schemas.microsoft.com/office/drawing/2014/main" id="{ED8A7B5B-94D0-1849-23DF-CFEEF4E2CA2E}"/>
              </a:ext>
            </a:extLst>
          </p:cNvPr>
          <p:cNvPicPr>
            <a:picLocks noChangeAspect="1"/>
          </p:cNvPicPr>
          <p:nvPr/>
        </p:nvPicPr>
        <p:blipFill>
          <a:blip r:embed="rId5"/>
          <a:stretch>
            <a:fillRect/>
          </a:stretch>
        </p:blipFill>
        <p:spPr>
          <a:xfrm>
            <a:off x="1534886" y="1571529"/>
            <a:ext cx="8937171" cy="46893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307" name="Google Shape;30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pic>
        <p:nvPicPr>
          <p:cNvPr id="308" name="Google Shape;308;p16"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309" name="Google Shape;309;p16"/>
          <p:cNvSpPr txBox="1"/>
          <p:nvPr/>
        </p:nvSpPr>
        <p:spPr>
          <a:xfrm>
            <a:off x="822739" y="821384"/>
            <a:ext cx="10373193"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600" b="0" i="0" u="none" strike="noStrike" cap="none">
                <a:solidFill>
                  <a:srgbClr val="000000"/>
                </a:solidFill>
                <a:latin typeface="Tahoma"/>
                <a:ea typeface="Tahoma"/>
                <a:cs typeface="Tahoma"/>
                <a:sym typeface="Tahoma"/>
              </a:rPr>
              <a:t>Summary</a:t>
            </a:r>
            <a:endParaRPr/>
          </a:p>
        </p:txBody>
      </p:sp>
      <p:sp>
        <p:nvSpPr>
          <p:cNvPr id="310" name="Google Shape;310;p16"/>
          <p:cNvSpPr/>
          <p:nvPr/>
        </p:nvSpPr>
        <p:spPr>
          <a:xfrm>
            <a:off x="10671589" y="1051486"/>
            <a:ext cx="104868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00"/>
                </a:solidFill>
                <a:latin typeface="Tahoma"/>
                <a:ea typeface="Tahoma"/>
                <a:cs typeface="Tahoma"/>
                <a:sym typeface="Tahoma"/>
              </a:rPr>
              <a:t>[1-mins]</a:t>
            </a:r>
            <a:endParaRPr/>
          </a:p>
        </p:txBody>
      </p:sp>
      <p:pic>
        <p:nvPicPr>
          <p:cNvPr id="311" name="Google Shape;311;p16"/>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312" name="Google Shape;312;p16"/>
          <p:cNvSpPr txBox="1"/>
          <p:nvPr/>
        </p:nvSpPr>
        <p:spPr>
          <a:xfrm>
            <a:off x="1109272" y="1843790"/>
            <a:ext cx="9371159" cy="35394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a:solidFill>
                  <a:schemeClr val="dk1"/>
                </a:solidFill>
                <a:latin typeface="Arial"/>
                <a:ea typeface="Arial"/>
                <a:cs typeface="Arial"/>
                <a:sym typeface="Arial"/>
              </a:rPr>
              <a:t>Traversal is the process of moving through a linked list starting from the </a:t>
            </a:r>
            <a:r>
              <a:rPr lang="en-US" sz="2800" b="1">
                <a:solidFill>
                  <a:schemeClr val="dk1"/>
                </a:solidFill>
                <a:latin typeface="Arial"/>
                <a:ea typeface="Arial"/>
                <a:cs typeface="Arial"/>
                <a:sym typeface="Arial"/>
              </a:rPr>
              <a:t>head</a:t>
            </a:r>
            <a:r>
              <a:rPr lang="en-US" sz="2800">
                <a:solidFill>
                  <a:schemeClr val="dk1"/>
                </a:solidFill>
                <a:latin typeface="Arial"/>
                <a:ea typeface="Arial"/>
                <a:cs typeface="Arial"/>
                <a:sym typeface="Arial"/>
              </a:rPr>
              <a:t> node and visiting every node until the </a:t>
            </a:r>
            <a:r>
              <a:rPr lang="en-US" sz="2800" b="1">
                <a:solidFill>
                  <a:schemeClr val="dk1"/>
                </a:solidFill>
                <a:latin typeface="Arial"/>
                <a:ea typeface="Arial"/>
                <a:cs typeface="Arial"/>
                <a:sym typeface="Arial"/>
              </a:rPr>
              <a:t>end</a:t>
            </a:r>
            <a:r>
              <a:rPr lang="en-US" sz="2800">
                <a:solidFill>
                  <a:schemeClr val="dk1"/>
                </a:solidFill>
                <a:latin typeface="Arial"/>
                <a:ea typeface="Arial"/>
                <a:cs typeface="Arial"/>
                <a:sym typeface="Arial"/>
              </a:rPr>
              <a:t> (NULL).</a:t>
            </a:r>
            <a:endParaRPr/>
          </a:p>
          <a:p>
            <a:pPr marL="0" marR="0" lvl="0" indent="0" algn="just" rtl="0">
              <a:spcBef>
                <a:spcPts val="0"/>
              </a:spcBef>
              <a:spcAft>
                <a:spcPts val="0"/>
              </a:spcAft>
              <a:buNone/>
            </a:pPr>
            <a:endParaRPr sz="2800">
              <a:solidFill>
                <a:schemeClr val="dk1"/>
              </a:solidFill>
              <a:latin typeface="Arial"/>
              <a:ea typeface="Arial"/>
              <a:cs typeface="Arial"/>
              <a:sym typeface="Arial"/>
            </a:endParaRPr>
          </a:p>
          <a:p>
            <a:pPr marL="457200" marR="0" lvl="0" indent="-457200" algn="just" rtl="0">
              <a:spcBef>
                <a:spcPts val="0"/>
              </a:spcBef>
              <a:spcAft>
                <a:spcPts val="0"/>
              </a:spcAft>
              <a:buClr>
                <a:schemeClr val="dk1"/>
              </a:buClr>
              <a:buSzPts val="2800"/>
              <a:buFont typeface="Noto Sans Symbols"/>
              <a:buChar char="❖"/>
            </a:pPr>
            <a:r>
              <a:rPr lang="en-US" sz="2800">
                <a:solidFill>
                  <a:schemeClr val="dk1"/>
                </a:solidFill>
                <a:latin typeface="Arial"/>
                <a:ea typeface="Arial"/>
                <a:cs typeface="Arial"/>
                <a:sym typeface="Arial"/>
              </a:rPr>
              <a:t>Printing elements: Displaying the data stored in each node.</a:t>
            </a:r>
            <a:endParaRPr/>
          </a:p>
          <a:p>
            <a:pPr marL="457200" marR="0" lvl="0" indent="-457200" algn="just" rtl="0">
              <a:spcBef>
                <a:spcPts val="0"/>
              </a:spcBef>
              <a:spcAft>
                <a:spcPts val="0"/>
              </a:spcAft>
              <a:buClr>
                <a:schemeClr val="dk1"/>
              </a:buClr>
              <a:buSzPts val="2800"/>
              <a:buFont typeface="Noto Sans Symbols"/>
              <a:buChar char="❖"/>
            </a:pPr>
            <a:r>
              <a:rPr lang="en-US" sz="2800">
                <a:solidFill>
                  <a:schemeClr val="dk1"/>
                </a:solidFill>
                <a:latin typeface="Arial"/>
                <a:ea typeface="Arial"/>
                <a:cs typeface="Arial"/>
                <a:sym typeface="Arial"/>
              </a:rPr>
              <a:t>Searching: Locating a specific node based on its data value.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318" name="Google Shape;31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pic>
        <p:nvPicPr>
          <p:cNvPr id="319" name="Google Shape;319;p17"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320" name="Google Shape;320;p17"/>
          <p:cNvSpPr txBox="1">
            <a:spLocks noGrp="1"/>
          </p:cNvSpPr>
          <p:nvPr>
            <p:ph type="body" idx="1"/>
          </p:nvPr>
        </p:nvSpPr>
        <p:spPr>
          <a:xfrm>
            <a:off x="375532" y="1076886"/>
            <a:ext cx="10820400" cy="5323913"/>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3200"/>
              <a:buNone/>
            </a:pPr>
            <a:r>
              <a:rPr lang="en-US" sz="3200" b="1">
                <a:latin typeface="Tahoma"/>
                <a:ea typeface="Tahoma"/>
                <a:cs typeface="Tahoma"/>
                <a:sym typeface="Tahoma"/>
              </a:rPr>
              <a:t>Ensure attainment of LO’s in alignment to the learning activities: </a:t>
            </a:r>
            <a:endParaRPr/>
          </a:p>
          <a:p>
            <a:pPr marL="0" lvl="0" indent="0" algn="just" rtl="0">
              <a:lnSpc>
                <a:spcPct val="90000"/>
              </a:lnSpc>
              <a:spcBef>
                <a:spcPts val="1000"/>
              </a:spcBef>
              <a:spcAft>
                <a:spcPts val="0"/>
              </a:spcAft>
              <a:buClr>
                <a:schemeClr val="dk1"/>
              </a:buClr>
              <a:buSzPts val="3200"/>
              <a:buNone/>
            </a:pPr>
            <a:endParaRPr sz="3200" b="1">
              <a:latin typeface="Tahoma"/>
              <a:ea typeface="Tahoma"/>
              <a:cs typeface="Tahoma"/>
              <a:sym typeface="Tahoma"/>
            </a:endParaRPr>
          </a:p>
        </p:txBody>
      </p:sp>
      <p:sp>
        <p:nvSpPr>
          <p:cNvPr id="321" name="Google Shape;321;p17"/>
          <p:cNvSpPr/>
          <p:nvPr/>
        </p:nvSpPr>
        <p:spPr>
          <a:xfrm>
            <a:off x="10671589" y="1065923"/>
            <a:ext cx="104868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00"/>
                </a:solidFill>
                <a:latin typeface="Tahoma"/>
                <a:ea typeface="Tahoma"/>
                <a:cs typeface="Tahoma"/>
                <a:sym typeface="Tahoma"/>
              </a:rPr>
              <a:t>[2-mins]</a:t>
            </a:r>
            <a:endParaRPr/>
          </a:p>
        </p:txBody>
      </p:sp>
      <p:grpSp>
        <p:nvGrpSpPr>
          <p:cNvPr id="322" name="Google Shape;322;p17"/>
          <p:cNvGrpSpPr/>
          <p:nvPr/>
        </p:nvGrpSpPr>
        <p:grpSpPr>
          <a:xfrm>
            <a:off x="297092" y="2287442"/>
            <a:ext cx="10927829" cy="3686077"/>
            <a:chOff x="0" y="1663"/>
            <a:chExt cx="10927829" cy="3686077"/>
          </a:xfrm>
        </p:grpSpPr>
        <p:sp>
          <p:nvSpPr>
            <p:cNvPr id="323" name="Google Shape;323;p17"/>
            <p:cNvSpPr/>
            <p:nvPr/>
          </p:nvSpPr>
          <p:spPr>
            <a:xfrm>
              <a:off x="0" y="2226751"/>
              <a:ext cx="10927829" cy="1460989"/>
            </a:xfrm>
            <a:prstGeom prst="rect">
              <a:avLst/>
            </a:prstGeom>
            <a:solidFill>
              <a:srgbClr val="E9713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7"/>
            <p:cNvSpPr txBox="1"/>
            <p:nvPr/>
          </p:nvSpPr>
          <p:spPr>
            <a:xfrm>
              <a:off x="0" y="2226751"/>
              <a:ext cx="10927829" cy="1460989"/>
            </a:xfrm>
            <a:prstGeom prst="rect">
              <a:avLst/>
            </a:prstGeom>
            <a:noFill/>
            <a:ln>
              <a:noFill/>
            </a:ln>
          </p:spPr>
          <p:txBody>
            <a:bodyPr spcFirstLastPara="1" wrap="square" lIns="256025" tIns="256025" rIns="256025" bIns="256025" anchor="ctr" anchorCtr="0">
              <a:noAutofit/>
            </a:bodyPr>
            <a:lstStyle/>
            <a:p>
              <a:pPr marL="0" marR="0" lvl="0" indent="0" algn="ctr" rtl="0">
                <a:lnSpc>
                  <a:spcPct val="90000"/>
                </a:lnSpc>
                <a:spcBef>
                  <a:spcPts val="0"/>
                </a:spcBef>
                <a:spcAft>
                  <a:spcPts val="0"/>
                </a:spcAft>
                <a:buClr>
                  <a:schemeClr val="lt1"/>
                </a:buClr>
                <a:buSzPts val="3600"/>
                <a:buFont typeface="Arial"/>
                <a:buNone/>
              </a:pPr>
              <a:r>
                <a:rPr lang="en-US" sz="3600">
                  <a:solidFill>
                    <a:schemeClr val="lt1"/>
                  </a:solidFill>
                  <a:latin typeface="Arial"/>
                  <a:ea typeface="Arial"/>
                  <a:cs typeface="Arial"/>
                  <a:sym typeface="Arial"/>
                </a:rPr>
                <a:t>Define the role of traversal in operations such as searching, deletion, and counting nodes.</a:t>
              </a:r>
              <a:endParaRPr sz="3600">
                <a:solidFill>
                  <a:srgbClr val="FFFFFF"/>
                </a:solidFill>
                <a:latin typeface="Arial"/>
                <a:ea typeface="Arial"/>
                <a:cs typeface="Arial"/>
                <a:sym typeface="Arial"/>
              </a:endParaRPr>
            </a:p>
          </p:txBody>
        </p:sp>
        <p:sp>
          <p:nvSpPr>
            <p:cNvPr id="325" name="Google Shape;325;p17"/>
            <p:cNvSpPr/>
            <p:nvPr/>
          </p:nvSpPr>
          <p:spPr>
            <a:xfrm rot="10800000">
              <a:off x="0" y="1663"/>
              <a:ext cx="10927829" cy="2247002"/>
            </a:xfrm>
            <a:prstGeom prst="upArrowCallout">
              <a:avLst>
                <a:gd name="adj1" fmla="val 25000"/>
                <a:gd name="adj2" fmla="val 25000"/>
                <a:gd name="adj3" fmla="val 25000"/>
                <a:gd name="adj4" fmla="val 64977"/>
              </a:avLst>
            </a:prstGeom>
            <a:solidFill>
              <a:srgbClr val="18692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7"/>
            <p:cNvSpPr txBox="1"/>
            <p:nvPr/>
          </p:nvSpPr>
          <p:spPr>
            <a:xfrm>
              <a:off x="0" y="1663"/>
              <a:ext cx="10927829" cy="1460034"/>
            </a:xfrm>
            <a:prstGeom prst="rect">
              <a:avLst/>
            </a:prstGeom>
            <a:noFill/>
            <a:ln>
              <a:noFill/>
            </a:ln>
          </p:spPr>
          <p:txBody>
            <a:bodyPr spcFirstLastPara="1" wrap="square" lIns="256025" tIns="256025" rIns="256025" bIns="256025" anchor="ctr" anchorCtr="0">
              <a:noAutofit/>
            </a:bodyPr>
            <a:lstStyle/>
            <a:p>
              <a:pPr marL="0" marR="0" lvl="0" indent="0" algn="ctr" rtl="0">
                <a:lnSpc>
                  <a:spcPct val="90000"/>
                </a:lnSpc>
                <a:spcBef>
                  <a:spcPts val="0"/>
                </a:spcBef>
                <a:spcAft>
                  <a:spcPts val="0"/>
                </a:spcAft>
                <a:buClr>
                  <a:schemeClr val="lt1"/>
                </a:buClr>
                <a:buSzPts val="3600"/>
                <a:buFont typeface="Arial"/>
                <a:buNone/>
              </a:pPr>
              <a:r>
                <a:rPr lang="en-US" sz="3600">
                  <a:solidFill>
                    <a:schemeClr val="lt1"/>
                  </a:solidFill>
                  <a:latin typeface="Arial"/>
                  <a:ea typeface="Arial"/>
                  <a:cs typeface="Arial"/>
                  <a:sym typeface="Arial"/>
                </a:rPr>
                <a:t>Describe the structure and components of a </a:t>
              </a:r>
              <a:r>
                <a:rPr lang="en-US" sz="3600" b="1">
                  <a:solidFill>
                    <a:schemeClr val="lt1"/>
                  </a:solidFill>
                  <a:latin typeface="Arial"/>
                  <a:ea typeface="Arial"/>
                  <a:cs typeface="Arial"/>
                  <a:sym typeface="Arial"/>
                </a:rPr>
                <a:t>singly linked list</a:t>
              </a:r>
              <a:r>
                <a:rPr lang="en-US" sz="3600">
                  <a:solidFill>
                    <a:schemeClr val="lt1"/>
                  </a:solidFill>
                  <a:latin typeface="Arial"/>
                  <a:ea typeface="Arial"/>
                  <a:cs typeface="Arial"/>
                  <a:sym typeface="Arial"/>
                </a:rPr>
                <a:t> (nodes, data, pointer).</a:t>
              </a:r>
              <a:endParaRPr/>
            </a:p>
          </p:txBody>
        </p:sp>
      </p:grpSp>
      <p:pic>
        <p:nvPicPr>
          <p:cNvPr id="327" name="Google Shape;327;p17"/>
          <p:cNvPicPr preferRelativeResize="0"/>
          <p:nvPr/>
        </p:nvPicPr>
        <p:blipFill rotWithShape="1">
          <a:blip r:embed="rId4">
            <a:alphaModFix/>
          </a:blip>
          <a:srcRect/>
          <a:stretch/>
        </p:blipFill>
        <p:spPr>
          <a:xfrm>
            <a:off x="104932" y="215802"/>
            <a:ext cx="3795634" cy="74023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333" name="Google Shape;33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pic>
        <p:nvPicPr>
          <p:cNvPr id="334" name="Google Shape;334;p18"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335" name="Google Shape;335;p18"/>
          <p:cNvSpPr/>
          <p:nvPr/>
        </p:nvSpPr>
        <p:spPr>
          <a:xfrm>
            <a:off x="10722885" y="1022415"/>
            <a:ext cx="946092"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00"/>
                </a:solidFill>
                <a:latin typeface="Tahoma"/>
                <a:ea typeface="Tahoma"/>
                <a:cs typeface="Tahoma"/>
                <a:sym typeface="Tahoma"/>
              </a:rPr>
              <a:t>[1-min]</a:t>
            </a:r>
            <a:endParaRPr/>
          </a:p>
        </p:txBody>
      </p:sp>
      <p:pic>
        <p:nvPicPr>
          <p:cNvPr id="336" name="Google Shape;336;p18"/>
          <p:cNvPicPr preferRelativeResize="0"/>
          <p:nvPr/>
        </p:nvPicPr>
        <p:blipFill rotWithShape="1">
          <a:blip r:embed="rId4">
            <a:alphaModFix/>
          </a:blip>
          <a:srcRect/>
          <a:stretch/>
        </p:blipFill>
        <p:spPr>
          <a:xfrm>
            <a:off x="104932" y="165002"/>
            <a:ext cx="3795634" cy="740238"/>
          </a:xfrm>
          <a:prstGeom prst="rect">
            <a:avLst/>
          </a:prstGeom>
          <a:noFill/>
          <a:ln>
            <a:noFill/>
          </a:ln>
        </p:spPr>
      </p:pic>
      <p:sp>
        <p:nvSpPr>
          <p:cNvPr id="337" name="Google Shape;337;p18"/>
          <p:cNvSpPr/>
          <p:nvPr/>
        </p:nvSpPr>
        <p:spPr>
          <a:xfrm>
            <a:off x="852566" y="1697335"/>
            <a:ext cx="9906000"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rial"/>
                <a:ea typeface="Arial"/>
                <a:cs typeface="Arial"/>
                <a:sym typeface="Arial"/>
              </a:rPr>
              <a:t>Next Session:</a:t>
            </a:r>
            <a:endParaRPr/>
          </a:p>
          <a:p>
            <a:pPr marL="0" marR="0" lvl="0" indent="0" algn="l" rtl="0">
              <a:spcBef>
                <a:spcPts val="0"/>
              </a:spcBef>
              <a:spcAft>
                <a:spcPts val="0"/>
              </a:spcAft>
              <a:buNone/>
            </a:pPr>
            <a:endParaRPr sz="3200">
              <a:solidFill>
                <a:schemeClr val="dk1"/>
              </a:solidFill>
              <a:latin typeface="Arial"/>
              <a:ea typeface="Arial"/>
              <a:cs typeface="Arial"/>
              <a:sym typeface="Arial"/>
            </a:endParaRPr>
          </a:p>
          <a:p>
            <a:pPr marL="0" marR="0" lvl="0" indent="0" algn="l" rtl="0">
              <a:spcBef>
                <a:spcPts val="0"/>
              </a:spcBef>
              <a:spcAft>
                <a:spcPts val="0"/>
              </a:spcAft>
              <a:buNone/>
            </a:pPr>
            <a:r>
              <a:rPr lang="en-US" sz="3200">
                <a:solidFill>
                  <a:schemeClr val="dk1"/>
                </a:solidFill>
                <a:latin typeface="Arial"/>
                <a:ea typeface="Arial"/>
                <a:cs typeface="Arial"/>
                <a:sym typeface="Arial"/>
              </a:rPr>
              <a:t>Single Linked List: Concept of Deletion </a:t>
            </a:r>
            <a:endParaRPr sz="3200">
              <a:solidFill>
                <a:schemeClr val="dk1"/>
              </a:solidFill>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343" name="Google Shape;34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pic>
        <p:nvPicPr>
          <p:cNvPr id="344" name="Google Shape;344;p19"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45" name="Google Shape;345;p19"/>
          <p:cNvPicPr preferRelativeResize="0"/>
          <p:nvPr/>
        </p:nvPicPr>
        <p:blipFill rotWithShape="1">
          <a:blip r:embed="rId4">
            <a:alphaModFix/>
          </a:blip>
          <a:srcRect/>
          <a:stretch/>
        </p:blipFill>
        <p:spPr>
          <a:xfrm>
            <a:off x="104932" y="165002"/>
            <a:ext cx="3795634" cy="740238"/>
          </a:xfrm>
          <a:prstGeom prst="rect">
            <a:avLst/>
          </a:prstGeom>
          <a:noFill/>
          <a:ln>
            <a:noFill/>
          </a:ln>
        </p:spPr>
      </p:pic>
      <p:sp>
        <p:nvSpPr>
          <p:cNvPr id="346" name="Google Shape;346;p19"/>
          <p:cNvSpPr txBox="1"/>
          <p:nvPr/>
        </p:nvSpPr>
        <p:spPr>
          <a:xfrm>
            <a:off x="674912" y="1071593"/>
            <a:ext cx="10282898" cy="4504748"/>
          </a:xfrm>
          <a:prstGeom prst="rect">
            <a:avLst/>
          </a:prstGeom>
          <a:noFill/>
          <a:ln>
            <a:noFill/>
          </a:ln>
        </p:spPr>
        <p:txBody>
          <a:bodyPr spcFirstLastPara="1" wrap="square" lIns="91425" tIns="45700" rIns="91425" bIns="45700" anchor="t" anchorCtr="0">
            <a:normAutofit fontScale="97500"/>
          </a:bodyPr>
          <a:lstStyle/>
          <a:p>
            <a:pPr marL="0" marR="0" lvl="0" indent="0" algn="ctr" rtl="0">
              <a:lnSpc>
                <a:spcPct val="90000"/>
              </a:lnSpc>
              <a:spcBef>
                <a:spcPts val="0"/>
              </a:spcBef>
              <a:spcAft>
                <a:spcPts val="0"/>
              </a:spcAft>
              <a:buClr>
                <a:schemeClr val="dk2"/>
              </a:buClr>
              <a:buSzPct val="100000"/>
              <a:buFont typeface="Play"/>
              <a:buNone/>
            </a:pPr>
            <a:r>
              <a:rPr lang="en-US" sz="3300" b="1">
                <a:solidFill>
                  <a:schemeClr val="dk2"/>
                </a:solidFill>
                <a:latin typeface="Play"/>
                <a:ea typeface="Play"/>
                <a:cs typeface="Play"/>
                <a:sym typeface="Play"/>
              </a:rPr>
              <a:t>Review and Reflection from students</a:t>
            </a:r>
            <a:endParaRPr/>
          </a:p>
          <a:p>
            <a:pPr marL="0" marR="0" lvl="0" indent="0" algn="ctr" rtl="0">
              <a:lnSpc>
                <a:spcPct val="90000"/>
              </a:lnSpc>
              <a:spcBef>
                <a:spcPts val="0"/>
              </a:spcBef>
              <a:spcAft>
                <a:spcPts val="0"/>
              </a:spcAft>
              <a:buClr>
                <a:schemeClr val="dk1"/>
              </a:buClr>
              <a:buSzPct val="100000"/>
              <a:buFont typeface="Play"/>
              <a:buNone/>
            </a:pPr>
            <a:endParaRPr sz="4000">
              <a:solidFill>
                <a:schemeClr val="dk2"/>
              </a:solidFill>
              <a:latin typeface="Play"/>
              <a:ea typeface="Play"/>
              <a:cs typeface="Play"/>
              <a:sym typeface="Play"/>
            </a:endParaRPr>
          </a:p>
          <a:p>
            <a:pPr marL="0" marR="0" lvl="0" indent="0" algn="ctr" rtl="0">
              <a:lnSpc>
                <a:spcPct val="90000"/>
              </a:lnSpc>
              <a:spcBef>
                <a:spcPts val="0"/>
              </a:spcBef>
              <a:spcAft>
                <a:spcPts val="0"/>
              </a:spcAft>
              <a:buClr>
                <a:schemeClr val="dk1"/>
              </a:buClr>
              <a:buSzPct val="100000"/>
              <a:buFont typeface="Play"/>
              <a:buNone/>
            </a:pPr>
            <a:endParaRPr sz="4000">
              <a:solidFill>
                <a:schemeClr val="dk2"/>
              </a:solidFill>
              <a:latin typeface="Play"/>
              <a:ea typeface="Play"/>
              <a:cs typeface="Play"/>
              <a:sym typeface="Play"/>
            </a:endParaRPr>
          </a:p>
          <a:p>
            <a:pPr marL="0" marR="0" lvl="0" indent="0" algn="ctr" rtl="0">
              <a:lnSpc>
                <a:spcPct val="90000"/>
              </a:lnSpc>
              <a:spcBef>
                <a:spcPts val="0"/>
              </a:spcBef>
              <a:spcAft>
                <a:spcPts val="0"/>
              </a:spcAft>
              <a:buClr>
                <a:schemeClr val="dk2"/>
              </a:buClr>
              <a:buSzPct val="100000"/>
              <a:buFont typeface="Play"/>
              <a:buNone/>
            </a:pPr>
            <a:r>
              <a:rPr lang="en-US" sz="3300">
                <a:solidFill>
                  <a:schemeClr val="dk2"/>
                </a:solidFill>
                <a:latin typeface="Play"/>
                <a:ea typeface="Play"/>
                <a:cs typeface="Play"/>
                <a:sym typeface="Play"/>
              </a:rPr>
              <a:t>What was the most interesting concept you learn today?</a:t>
            </a:r>
            <a:endParaRPr/>
          </a:p>
          <a:p>
            <a:pPr marL="0" marR="0" lvl="0" indent="0" algn="ctr" rtl="0">
              <a:lnSpc>
                <a:spcPct val="90000"/>
              </a:lnSpc>
              <a:spcBef>
                <a:spcPts val="0"/>
              </a:spcBef>
              <a:spcAft>
                <a:spcPts val="0"/>
              </a:spcAft>
              <a:buClr>
                <a:schemeClr val="dk1"/>
              </a:buClr>
              <a:buSzPct val="100000"/>
              <a:buFont typeface="Play"/>
              <a:buNone/>
            </a:pPr>
            <a:endParaRPr sz="3300">
              <a:solidFill>
                <a:schemeClr val="dk2"/>
              </a:solidFill>
              <a:latin typeface="Play"/>
              <a:ea typeface="Play"/>
              <a:cs typeface="Play"/>
              <a:sym typeface="Play"/>
            </a:endParaRPr>
          </a:p>
          <a:p>
            <a:pPr marL="0" marR="0" lvl="0" indent="0" algn="ctr" rtl="0">
              <a:lnSpc>
                <a:spcPct val="90000"/>
              </a:lnSpc>
              <a:spcBef>
                <a:spcPts val="0"/>
              </a:spcBef>
              <a:spcAft>
                <a:spcPts val="0"/>
              </a:spcAft>
              <a:buClr>
                <a:schemeClr val="dk2"/>
              </a:buClr>
              <a:buSzPct val="100000"/>
              <a:buFont typeface="Play"/>
              <a:buNone/>
            </a:pPr>
            <a:r>
              <a:rPr lang="en-US" sz="3300" b="1">
                <a:solidFill>
                  <a:schemeClr val="dk2"/>
                </a:solidFill>
                <a:latin typeface="Play"/>
                <a:ea typeface="Play"/>
                <a:cs typeface="Play"/>
                <a:sym typeface="Play"/>
              </a:rPr>
              <a:t>Go to the LMS and fill out the feedback form</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816</Words>
  <Application>Microsoft Office PowerPoint</Application>
  <PresentationFormat>Widescreen</PresentationFormat>
  <Paragraphs>116</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Calibri</vt:lpstr>
      <vt:lpstr>Georgia</vt:lpstr>
      <vt:lpstr>Tahoma</vt:lpstr>
      <vt:lpstr>Play</vt:lpstr>
      <vt:lpstr>Noto Sans Symbols</vt:lpstr>
      <vt:lpstr>Nunito</vt:lpstr>
      <vt:lpstr>Arial</vt:lpstr>
      <vt:lpstr>Times New Roman</vt:lpstr>
      <vt:lpstr>Office Theme</vt:lpstr>
      <vt:lpstr>Single Linked List: Insert &amp; Traversal   Session No.: 18 Course Name: Data Structures Course Code: R1UC308B   Instructor Name: Akhilesh Kumar Tripathi Duration: 50 mins Date of Conduction of Class: </vt:lpstr>
      <vt:lpstr>PowerPoint Presentation</vt:lpstr>
      <vt:lpstr>PowerPoint Presentation</vt:lpstr>
      <vt:lpstr>PowerPoint Presentation</vt:lpstr>
      <vt:lpstr>Learning Outcomes</vt:lpstr>
      <vt:lpstr>PowerPoint Presentation</vt:lpstr>
      <vt:lpstr>PowerPoint Presentation</vt:lpstr>
      <vt:lpstr>Concept and Definition for (LO-1) </vt:lpstr>
      <vt:lpstr>Concept and Definition for (LO-1) </vt:lpstr>
      <vt:lpstr>Concept and Definition for (LO-1) </vt:lpstr>
      <vt:lpstr>Concept and Definition for (LO-1) </vt:lpstr>
      <vt:lpstr>Concept and Definition for (LO-2) </vt:lpstr>
      <vt:lpstr>Concept and Definition for (LO-2) </vt:lpstr>
      <vt:lpstr>Concept and Definition for (LO-2)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Deepak Gupta</dc:creator>
  <cp:lastModifiedBy>akhilesh tripathi</cp:lastModifiedBy>
  <cp:revision>3</cp:revision>
  <dcterms:created xsi:type="dcterms:W3CDTF">2024-08-22T06:33:55Z</dcterms:created>
  <dcterms:modified xsi:type="dcterms:W3CDTF">2025-10-15T23:29:17Z</dcterms:modified>
</cp:coreProperties>
</file>