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82" r:id="rId3"/>
    <p:sldId id="297" r:id="rId4"/>
    <p:sldId id="293" r:id="rId5"/>
    <p:sldId id="290" r:id="rId6"/>
    <p:sldId id="314" r:id="rId7"/>
    <p:sldId id="260" r:id="rId8"/>
    <p:sldId id="315" r:id="rId9"/>
    <p:sldId id="316" r:id="rId10"/>
    <p:sldId id="307" r:id="rId11"/>
    <p:sldId id="308" r:id="rId12"/>
    <p:sldId id="317" r:id="rId13"/>
    <p:sldId id="318" r:id="rId14"/>
    <p:sldId id="319" r:id="rId15"/>
    <p:sldId id="310" r:id="rId16"/>
    <p:sldId id="304" r:id="rId17"/>
    <p:sldId id="320" r:id="rId18"/>
    <p:sldId id="321" r:id="rId19"/>
    <p:sldId id="322" r:id="rId20"/>
    <p:sldId id="323" r:id="rId21"/>
    <p:sldId id="324" r:id="rId22"/>
    <p:sldId id="325" r:id="rId23"/>
    <p:sldId id="326" r:id="rId24"/>
    <p:sldId id="327" r:id="rId25"/>
    <p:sldId id="312" r:id="rId26"/>
    <p:sldId id="328" r:id="rId27"/>
    <p:sldId id="295" r:id="rId28"/>
    <p:sldId id="313" r:id="rId29"/>
    <p:sldId id="329" r:id="rId30"/>
    <p:sldId id="299" r:id="rId31"/>
    <p:sldId id="300" r:id="rId32"/>
    <p:sldId id="301" r:id="rId33"/>
    <p:sldId id="30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nupam Kumar Sharma" userId="550e56936179f404" providerId="LiveId" clId="{A3230177-DABA-49D4-AB5C-04BB74AFD6EE}"/>
    <pc:docChg chg="modSld">
      <pc:chgData name="Dr. Anupam Kumar Sharma" userId="550e56936179f404" providerId="LiveId" clId="{A3230177-DABA-49D4-AB5C-04BB74AFD6EE}" dt="2025-02-08T06:24:43.247" v="62" actId="20577"/>
      <pc:docMkLst>
        <pc:docMk/>
      </pc:docMkLst>
      <pc:sldChg chg="modSp mod">
        <pc:chgData name="Dr. Anupam Kumar Sharma" userId="550e56936179f404" providerId="LiveId" clId="{A3230177-DABA-49D4-AB5C-04BB74AFD6EE}" dt="2025-02-08T06:23:49.386" v="0" actId="20577"/>
        <pc:sldMkLst>
          <pc:docMk/>
          <pc:sldMk cId="2766167463" sldId="262"/>
        </pc:sldMkLst>
        <pc:spChg chg="mod">
          <ac:chgData name="Dr. Anupam Kumar Sharma" userId="550e56936179f404" providerId="LiveId" clId="{A3230177-DABA-49D4-AB5C-04BB74AFD6EE}" dt="2025-02-08T06:23:49.386" v="0" actId="20577"/>
          <ac:spMkLst>
            <pc:docMk/>
            <pc:sldMk cId="2766167463" sldId="262"/>
            <ac:spMk id="4" creationId="{C97E1C1E-F10A-E4F4-6797-225812D669BF}"/>
          </ac:spMkLst>
        </pc:spChg>
      </pc:sldChg>
      <pc:sldChg chg="modSp mod">
        <pc:chgData name="Dr. Anupam Kumar Sharma" userId="550e56936179f404" providerId="LiveId" clId="{A3230177-DABA-49D4-AB5C-04BB74AFD6EE}" dt="2025-02-08T06:24:43.247" v="62" actId="20577"/>
        <pc:sldMkLst>
          <pc:docMk/>
          <pc:sldMk cId="1311328748" sldId="284"/>
        </pc:sldMkLst>
        <pc:spChg chg="mod">
          <ac:chgData name="Dr. Anupam Kumar Sharma" userId="550e56936179f404" providerId="LiveId" clId="{A3230177-DABA-49D4-AB5C-04BB74AFD6EE}" dt="2025-02-08T06:24:43.247" v="62" actId="20577"/>
          <ac:spMkLst>
            <pc:docMk/>
            <pc:sldMk cId="1311328748" sldId="284"/>
            <ac:spMk id="10" creationId="{A92BCC8A-DA75-739D-5118-196EB9E2238A}"/>
          </ac:spMkLst>
        </pc:spChg>
      </pc:sldChg>
    </pc:docChg>
  </pc:docChgLst>
  <pc:docChgLst>
    <pc:chgData name="Deepak Gupta" userId="f4ce486c0feb88f7" providerId="LiveId" clId="{677CE2BF-E837-4849-B11C-0944C199F6A4}"/>
    <pc:docChg chg="undo custSel addSld delSld modSld sldOrd">
      <pc:chgData name="Deepak Gupta" userId="f4ce486c0feb88f7" providerId="LiveId" clId="{677CE2BF-E837-4849-B11C-0944C199F6A4}" dt="2024-09-19T16:05:47.471" v="1042" actId="20577"/>
      <pc:docMkLst>
        <pc:docMk/>
      </pc:docMkLst>
      <pc:sldChg chg="addSp delSp modSp mod">
        <pc:chgData name="Deepak Gupta" userId="f4ce486c0feb88f7" providerId="LiveId" clId="{677CE2BF-E837-4849-B11C-0944C199F6A4}" dt="2024-09-19T10:54:48.137" v="896" actId="14100"/>
        <pc:sldMkLst>
          <pc:docMk/>
          <pc:sldMk cId="2827898987" sldId="256"/>
        </pc:sldMkLst>
      </pc:sldChg>
      <pc:sldChg chg="addSp delSp modSp mod">
        <pc:chgData name="Deepak Gupta" userId="f4ce486c0feb88f7" providerId="LiveId" clId="{677CE2BF-E837-4849-B11C-0944C199F6A4}" dt="2024-09-19T13:17:37.213" v="905" actId="20577"/>
        <pc:sldMkLst>
          <pc:docMk/>
          <pc:sldMk cId="2304652768" sldId="257"/>
        </pc:sldMkLst>
      </pc:sldChg>
      <pc:sldChg chg="addSp delSp modSp del mod">
        <pc:chgData name="Deepak Gupta" userId="f4ce486c0feb88f7" providerId="LiveId" clId="{677CE2BF-E837-4849-B11C-0944C199F6A4}" dt="2024-09-19T10:28:20.262" v="603" actId="47"/>
        <pc:sldMkLst>
          <pc:docMk/>
          <pc:sldMk cId="2082919323" sldId="258"/>
        </pc:sldMkLst>
      </pc:sldChg>
      <pc:sldChg chg="addSp delSp modSp mod">
        <pc:chgData name="Deepak Gupta" userId="f4ce486c0feb88f7" providerId="LiveId" clId="{677CE2BF-E837-4849-B11C-0944C199F6A4}" dt="2024-09-19T16:05:37.951" v="1041" actId="20577"/>
        <pc:sldMkLst>
          <pc:docMk/>
          <pc:sldMk cId="2838591685" sldId="259"/>
        </pc:sldMkLst>
      </pc:sldChg>
      <pc:sldChg chg="addSp delSp modSp mod ord">
        <pc:chgData name="Deepak Gupta" userId="f4ce486c0feb88f7" providerId="LiveId" clId="{677CE2BF-E837-4849-B11C-0944C199F6A4}" dt="2024-09-19T13:19:05.241" v="971" actId="20577"/>
        <pc:sldMkLst>
          <pc:docMk/>
          <pc:sldMk cId="3872618460" sldId="260"/>
        </pc:sldMkLst>
      </pc:sldChg>
      <pc:sldChg chg="addSp delSp modSp mod">
        <pc:chgData name="Deepak Gupta" userId="f4ce486c0feb88f7" providerId="LiveId" clId="{677CE2BF-E837-4849-B11C-0944C199F6A4}" dt="2024-09-19T10:49:45.066" v="860" actId="1076"/>
        <pc:sldMkLst>
          <pc:docMk/>
          <pc:sldMk cId="3459659325" sldId="261"/>
        </pc:sldMkLst>
      </pc:sldChg>
      <pc:sldChg chg="addSp delSp modSp mod ord modAnim">
        <pc:chgData name="Deepak Gupta" userId="f4ce486c0feb88f7" providerId="LiveId" clId="{677CE2BF-E837-4849-B11C-0944C199F6A4}" dt="2024-09-19T10:42:32.396" v="827" actId="20577"/>
        <pc:sldMkLst>
          <pc:docMk/>
          <pc:sldMk cId="2766167463" sldId="262"/>
        </pc:sldMkLst>
      </pc:sldChg>
      <pc:sldChg chg="addSp delSp modSp add del mod ord">
        <pc:chgData name="Deepak Gupta" userId="f4ce486c0feb88f7" providerId="LiveId" clId="{677CE2BF-E837-4849-B11C-0944C199F6A4}" dt="2024-09-19T10:49:48.904" v="861" actId="1076"/>
        <pc:sldMkLst>
          <pc:docMk/>
          <pc:sldMk cId="910051450" sldId="263"/>
        </pc:sldMkLst>
      </pc:sldChg>
      <pc:sldChg chg="addSp modSp del">
        <pc:chgData name="Deepak Gupta" userId="f4ce486c0feb88f7" providerId="LiveId" clId="{677CE2BF-E837-4849-B11C-0944C199F6A4}" dt="2024-09-19T09:07:04.651" v="356" actId="47"/>
        <pc:sldMkLst>
          <pc:docMk/>
          <pc:sldMk cId="451014338" sldId="264"/>
        </pc:sldMkLst>
      </pc:sldChg>
      <pc:sldChg chg="addSp delSp modSp del mod modShow">
        <pc:chgData name="Deepak Gupta" userId="f4ce486c0feb88f7" providerId="LiveId" clId="{677CE2BF-E837-4849-B11C-0944C199F6A4}" dt="2024-09-19T10:43:05.663" v="830" actId="47"/>
        <pc:sldMkLst>
          <pc:docMk/>
          <pc:sldMk cId="2876040498" sldId="265"/>
        </pc:sldMkLst>
      </pc:sldChg>
      <pc:sldChg chg="del">
        <pc:chgData name="Deepak Gupta" userId="f4ce486c0feb88f7" providerId="LiveId" clId="{677CE2BF-E837-4849-B11C-0944C199F6A4}" dt="2024-09-19T10:43:05.663" v="830" actId="47"/>
        <pc:sldMkLst>
          <pc:docMk/>
          <pc:sldMk cId="4107507446" sldId="266"/>
        </pc:sldMkLst>
      </pc:sldChg>
      <pc:sldChg chg="del">
        <pc:chgData name="Deepak Gupta" userId="f4ce486c0feb88f7" providerId="LiveId" clId="{677CE2BF-E837-4849-B11C-0944C199F6A4}" dt="2024-09-19T10:43:05.663" v="830" actId="47"/>
        <pc:sldMkLst>
          <pc:docMk/>
          <pc:sldMk cId="4213006857" sldId="267"/>
        </pc:sldMkLst>
      </pc:sldChg>
      <pc:sldChg chg="del">
        <pc:chgData name="Deepak Gupta" userId="f4ce486c0feb88f7" providerId="LiveId" clId="{677CE2BF-E837-4849-B11C-0944C199F6A4}" dt="2024-09-19T10:43:05.663" v="830" actId="47"/>
        <pc:sldMkLst>
          <pc:docMk/>
          <pc:sldMk cId="1424160661" sldId="268"/>
        </pc:sldMkLst>
      </pc:sldChg>
      <pc:sldChg chg="del">
        <pc:chgData name="Deepak Gupta" userId="f4ce486c0feb88f7" providerId="LiveId" clId="{677CE2BF-E837-4849-B11C-0944C199F6A4}" dt="2024-09-19T10:43:05.663" v="830" actId="47"/>
        <pc:sldMkLst>
          <pc:docMk/>
          <pc:sldMk cId="4137767190" sldId="269"/>
        </pc:sldMkLst>
      </pc:sldChg>
      <pc:sldChg chg="del">
        <pc:chgData name="Deepak Gupta" userId="f4ce486c0feb88f7" providerId="LiveId" clId="{677CE2BF-E837-4849-B11C-0944C199F6A4}" dt="2024-09-19T10:43:05.663" v="830" actId="47"/>
        <pc:sldMkLst>
          <pc:docMk/>
          <pc:sldMk cId="2876323008" sldId="270"/>
        </pc:sldMkLst>
      </pc:sldChg>
      <pc:sldChg chg="del">
        <pc:chgData name="Deepak Gupta" userId="f4ce486c0feb88f7" providerId="LiveId" clId="{677CE2BF-E837-4849-B11C-0944C199F6A4}" dt="2024-09-19T10:43:05.663" v="830" actId="47"/>
        <pc:sldMkLst>
          <pc:docMk/>
          <pc:sldMk cId="1915059173" sldId="271"/>
        </pc:sldMkLst>
      </pc:sldChg>
      <pc:sldChg chg="del">
        <pc:chgData name="Deepak Gupta" userId="f4ce486c0feb88f7" providerId="LiveId" clId="{677CE2BF-E837-4849-B11C-0944C199F6A4}" dt="2024-09-19T10:43:05.663" v="830" actId="47"/>
        <pc:sldMkLst>
          <pc:docMk/>
          <pc:sldMk cId="1361921725" sldId="272"/>
        </pc:sldMkLst>
      </pc:sldChg>
      <pc:sldChg chg="delSp del mod">
        <pc:chgData name="Deepak Gupta" userId="f4ce486c0feb88f7" providerId="LiveId" clId="{677CE2BF-E837-4849-B11C-0944C199F6A4}" dt="2024-09-19T10:43:05.663" v="830" actId="47"/>
        <pc:sldMkLst>
          <pc:docMk/>
          <pc:sldMk cId="1087418707" sldId="273"/>
        </pc:sldMkLst>
      </pc:sldChg>
      <pc:sldChg chg="delSp del mod">
        <pc:chgData name="Deepak Gupta" userId="f4ce486c0feb88f7" providerId="LiveId" clId="{677CE2BF-E837-4849-B11C-0944C199F6A4}" dt="2024-09-19T10:43:05.663" v="830" actId="47"/>
        <pc:sldMkLst>
          <pc:docMk/>
          <pc:sldMk cId="556051784" sldId="274"/>
        </pc:sldMkLst>
      </pc:sldChg>
      <pc:sldChg chg="delSp del mod">
        <pc:chgData name="Deepak Gupta" userId="f4ce486c0feb88f7" providerId="LiveId" clId="{677CE2BF-E837-4849-B11C-0944C199F6A4}" dt="2024-09-19T10:43:05.663" v="830" actId="47"/>
        <pc:sldMkLst>
          <pc:docMk/>
          <pc:sldMk cId="1956341652" sldId="275"/>
        </pc:sldMkLst>
      </pc:sldChg>
      <pc:sldChg chg="addSp delSp modSp mod">
        <pc:chgData name="Deepak Gupta" userId="f4ce486c0feb88f7" providerId="LiveId" clId="{677CE2BF-E837-4849-B11C-0944C199F6A4}" dt="2024-09-19T16:02:44.941" v="1020" actId="20577"/>
        <pc:sldMkLst>
          <pc:docMk/>
          <pc:sldMk cId="3038196460" sldId="276"/>
        </pc:sldMkLst>
      </pc:sldChg>
      <pc:sldChg chg="addSp delSp modSp mod ord">
        <pc:chgData name="Deepak Gupta" userId="f4ce486c0feb88f7" providerId="LiveId" clId="{677CE2BF-E837-4849-B11C-0944C199F6A4}" dt="2024-09-19T16:05:12.490" v="1039" actId="122"/>
        <pc:sldMkLst>
          <pc:docMk/>
          <pc:sldMk cId="571638906" sldId="277"/>
        </pc:sldMkLst>
      </pc:sldChg>
      <pc:sldChg chg="delSp del mod modShow">
        <pc:chgData name="Deepak Gupta" userId="f4ce486c0feb88f7" providerId="LiveId" clId="{677CE2BF-E837-4849-B11C-0944C199F6A4}" dt="2024-09-19T10:43:09.124" v="831" actId="47"/>
        <pc:sldMkLst>
          <pc:docMk/>
          <pc:sldMk cId="2898612680" sldId="279"/>
        </pc:sldMkLst>
      </pc:sldChg>
      <pc:sldChg chg="modSp del mod">
        <pc:chgData name="Deepak Gupta" userId="f4ce486c0feb88f7" providerId="LiveId" clId="{677CE2BF-E837-4849-B11C-0944C199F6A4}" dt="2024-09-19T09:07:48.008" v="370" actId="47"/>
        <pc:sldMkLst>
          <pc:docMk/>
          <pc:sldMk cId="2971570162" sldId="280"/>
        </pc:sldMkLst>
      </pc:sldChg>
      <pc:sldChg chg="addSp delSp modSp mod">
        <pc:chgData name="Deepak Gupta" userId="f4ce486c0feb88f7" providerId="LiveId" clId="{677CE2BF-E837-4849-B11C-0944C199F6A4}" dt="2024-09-19T16:04:53.675" v="1036" actId="1076"/>
        <pc:sldMkLst>
          <pc:docMk/>
          <pc:sldMk cId="504224323" sldId="281"/>
        </pc:sldMkLst>
      </pc:sldChg>
      <pc:sldChg chg="addSp delSp modSp mod">
        <pc:chgData name="Deepak Gupta" userId="f4ce486c0feb88f7" providerId="LiveId" clId="{677CE2BF-E837-4849-B11C-0944C199F6A4}" dt="2024-09-19T13:17:44.328" v="912" actId="20577"/>
        <pc:sldMkLst>
          <pc:docMk/>
          <pc:sldMk cId="2767214766" sldId="282"/>
        </pc:sldMkLst>
      </pc:sldChg>
      <pc:sldChg chg="addSp delSp modSp mod">
        <pc:chgData name="Deepak Gupta" userId="f4ce486c0feb88f7" providerId="LiveId" clId="{677CE2BF-E837-4849-B11C-0944C199F6A4}" dt="2024-09-19T09:15:18.724" v="428"/>
        <pc:sldMkLst>
          <pc:docMk/>
          <pc:sldMk cId="2892535565" sldId="283"/>
        </pc:sldMkLst>
      </pc:sldChg>
      <pc:sldChg chg="modSp del mod">
        <pc:chgData name="Deepak Gupta" userId="f4ce486c0feb88f7" providerId="LiveId" clId="{677CE2BF-E837-4849-B11C-0944C199F6A4}" dt="2024-09-19T08:51:09.163" v="57" actId="47"/>
        <pc:sldMkLst>
          <pc:docMk/>
          <pc:sldMk cId="194486472" sldId="284"/>
        </pc:sldMkLst>
      </pc:sldChg>
      <pc:sldChg chg="addSp delSp modSp add mod ord">
        <pc:chgData name="Deepak Gupta" userId="f4ce486c0feb88f7" providerId="LiveId" clId="{677CE2BF-E837-4849-B11C-0944C199F6A4}" dt="2024-09-19T09:16:49.650" v="447"/>
        <pc:sldMkLst>
          <pc:docMk/>
          <pc:sldMk cId="1311328748" sldId="284"/>
        </pc:sldMkLst>
      </pc:sldChg>
      <pc:sldChg chg="addSp delSp modSp new mod setBg">
        <pc:chgData name="Deepak Gupta" userId="f4ce486c0feb88f7" providerId="LiveId" clId="{677CE2BF-E837-4849-B11C-0944C199F6A4}" dt="2024-09-19T16:05:47.471" v="1042" actId="20577"/>
        <pc:sldMkLst>
          <pc:docMk/>
          <pc:sldMk cId="1142559352" sldId="285"/>
        </pc:sldMkLst>
      </pc:sldChg>
      <pc:sldChg chg="addSp delSp modSp add mod setBg delDesignElem">
        <pc:chgData name="Deepak Gupta" userId="f4ce486c0feb88f7" providerId="LiveId" clId="{677CE2BF-E837-4849-B11C-0944C199F6A4}" dt="2024-09-19T10:38:39.066" v="792" actId="20577"/>
        <pc:sldMkLst>
          <pc:docMk/>
          <pc:sldMk cId="2450607305" sldId="286"/>
        </pc:sldMkLst>
      </pc:sldChg>
      <pc:sldChg chg="delSp modSp add del mod setBg delDesignElem">
        <pc:chgData name="Deepak Gupta" userId="f4ce486c0feb88f7" providerId="LiveId" clId="{677CE2BF-E837-4849-B11C-0944C199F6A4}" dt="2024-09-19T09:06:57.341" v="354" actId="47"/>
        <pc:sldMkLst>
          <pc:docMk/>
          <pc:sldMk cId="1874929756" sldId="287"/>
        </pc:sldMkLst>
      </pc:sldChg>
      <pc:sldChg chg="addSp delSp modSp add mod setBg modAnim delDesignElem">
        <pc:chgData name="Deepak Gupta" userId="f4ce486c0feb88f7" providerId="LiveId" clId="{677CE2BF-E837-4849-B11C-0944C199F6A4}" dt="2024-09-19T10:42:45.558" v="829" actId="20577"/>
        <pc:sldMkLst>
          <pc:docMk/>
          <pc:sldMk cId="1420671087" sldId="288"/>
        </pc:sldMkLst>
      </pc:sldChg>
      <pc:sldChg chg="addSp delSp modSp add mod setBg delDesignElem">
        <pc:chgData name="Deepak Gupta" userId="f4ce486c0feb88f7" providerId="LiveId" clId="{677CE2BF-E837-4849-B11C-0944C199F6A4}" dt="2024-09-19T16:03:56.052" v="1030" actId="20577"/>
        <pc:sldMkLst>
          <pc:docMk/>
          <pc:sldMk cId="3874097403" sldId="289"/>
        </pc:sldMkLst>
      </pc:sldChg>
      <pc:sldChg chg="modSp add mod ord">
        <pc:chgData name="Deepak Gupta" userId="f4ce486c0feb88f7" providerId="LiveId" clId="{677CE2BF-E837-4849-B11C-0944C199F6A4}" dt="2024-09-19T16:04:30.742" v="1032" actId="404"/>
        <pc:sldMkLst>
          <pc:docMk/>
          <pc:sldMk cId="398271834" sldId="29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US" sz="2800" dirty="0">
              <a:latin typeface="Times New Roman" panose="02020603050405020304" pitchFamily="18" charset="0"/>
              <a:cs typeface="Times New Roman" panose="02020603050405020304" pitchFamily="18" charset="0"/>
            </a:rPr>
            <a:t>To explain how elements are inserted into their correct positions step by step, and to explain its algorithm, </a:t>
          </a:r>
          <a:r>
            <a:rPr lang="en-US" sz="2800" dirty="0" err="1">
              <a:latin typeface="Times New Roman" panose="02020603050405020304" pitchFamily="18" charset="0"/>
              <a:cs typeface="Times New Roman" panose="02020603050405020304" pitchFamily="18" charset="0"/>
            </a:rPr>
            <a:t>pseudocode</a:t>
          </a:r>
          <a:r>
            <a:rPr lang="en-US" sz="2800" dirty="0">
              <a:latin typeface="Times New Roman" panose="02020603050405020304" pitchFamily="18" charset="0"/>
              <a:cs typeface="Times New Roman" panose="02020603050405020304" pitchFamily="18" charset="0"/>
            </a:rPr>
            <a:t>, and efficiency analysis.</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lgn="just">
            <a:tabLst>
              <a:tab pos="5994400" algn="l"/>
            </a:tabLst>
          </a:pPr>
          <a:r>
            <a:rPr lang="en-US" sz="2800" dirty="0">
              <a:latin typeface="Times New Roman" panose="02020603050405020304" pitchFamily="18" charset="0"/>
              <a:cs typeface="Times New Roman" panose="02020603050405020304" pitchFamily="18" charset="0"/>
            </a:rPr>
            <a:t>To explain how the smallest (or largest) element is repeatedly selected and placed in its correct position, and to explain its algorithm, </a:t>
          </a:r>
          <a:r>
            <a:rPr lang="en-US" sz="2800" dirty="0" err="1">
              <a:latin typeface="Times New Roman" panose="02020603050405020304" pitchFamily="18" charset="0"/>
              <a:cs typeface="Times New Roman" panose="02020603050405020304" pitchFamily="18" charset="0"/>
            </a:rPr>
            <a:t>pseudocode</a:t>
          </a:r>
          <a:r>
            <a:rPr lang="en-US" sz="2800" dirty="0">
              <a:latin typeface="Times New Roman" panose="02020603050405020304" pitchFamily="18" charset="0"/>
              <a:cs typeface="Times New Roman" panose="02020603050405020304" pitchFamily="18" charset="0"/>
            </a:rPr>
            <a:t>, and performance analysis.</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custLinFactNeighborX="718" custLinFactNeighborY="1272"/>
      <dgm:spPr/>
    </dgm:pt>
  </dgm:ptLst>
  <dgm:cxnLst>
    <dgm:cxn modelId="{7186EF2C-C889-49EC-A156-5A68AD0A3CF6}" type="presOf" srcId="{DFBD6BAB-0140-48B9-9073-E08FDCB01885}" destId="{0E541A4F-E68B-477F-BCA6-83AC868DBBCC}" srcOrd="0" destOrd="0" presId="urn:microsoft.com/office/officeart/2005/8/layout/process4"/>
    <dgm:cxn modelId="{BFCB0464-37EB-4B41-A633-D832506204D5}" type="presOf" srcId="{A3B4F848-7886-4B10-8E34-39E0B844A474}" destId="{9F756ADD-FC73-43E2-8907-B49F92DEF8EA}" srcOrd="0" destOrd="0" presId="urn:microsoft.com/office/officeart/2005/8/layout/process4"/>
    <dgm:cxn modelId="{602ADD9D-D77C-4864-85DE-6F786E0BA06C}" type="presOf" srcId="{B7ED251F-A7A3-4D25-B004-4241BE03EDC3}" destId="{BCA40D55-9F97-4CA4-8859-68C842EAE88F}"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9860929F-5D96-4F82-A2F6-03F0C13F45CA}" type="presParOf" srcId="{BCA40D55-9F97-4CA4-8859-68C842EAE88F}" destId="{3450E454-19DE-4E8A-ADE0-3AFF41C6C69B}" srcOrd="0" destOrd="0" presId="urn:microsoft.com/office/officeart/2005/8/layout/process4"/>
    <dgm:cxn modelId="{81075B5D-B3C8-4153-A2C9-6C4D6353CB34}" type="presParOf" srcId="{3450E454-19DE-4E8A-ADE0-3AFF41C6C69B}" destId="{9F756ADD-FC73-43E2-8907-B49F92DEF8EA}" srcOrd="0" destOrd="0" presId="urn:microsoft.com/office/officeart/2005/8/layout/process4"/>
    <dgm:cxn modelId="{8914EA88-2853-4546-98B8-ABA4ED7CAF84}" type="presParOf" srcId="{BCA40D55-9F97-4CA4-8859-68C842EAE88F}" destId="{33B2812D-626E-40CB-8956-89B965634A15}" srcOrd="1" destOrd="0" presId="urn:microsoft.com/office/officeart/2005/8/layout/process4"/>
    <dgm:cxn modelId="{205F827C-DA08-4001-BBA3-EAB63BA21781}" type="presParOf" srcId="{BCA40D55-9F97-4CA4-8859-68C842EAE88F}" destId="{14438BF2-0C50-4C1B-A99E-B1909E184016}" srcOrd="2" destOrd="0" presId="urn:microsoft.com/office/officeart/2005/8/layout/process4"/>
    <dgm:cxn modelId="{A6891BF9-7CFD-4CF1-B514-10FEBA6D9D6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pPr algn="just"/>
          <a:r>
            <a:rPr lang="en-US" sz="2800" dirty="0">
              <a:latin typeface="Times New Roman" panose="02020603050405020304" pitchFamily="18" charset="0"/>
              <a:cs typeface="Times New Roman" panose="02020603050405020304" pitchFamily="18" charset="0"/>
            </a:rPr>
            <a:t>To explain how elements are inserted into their correct positions step by step, and to explain its algorithm, </a:t>
          </a:r>
          <a:r>
            <a:rPr lang="en-US" sz="2800" dirty="0" err="1">
              <a:latin typeface="Times New Roman" panose="02020603050405020304" pitchFamily="18" charset="0"/>
              <a:cs typeface="Times New Roman" panose="02020603050405020304" pitchFamily="18" charset="0"/>
            </a:rPr>
            <a:t>pseudocode</a:t>
          </a:r>
          <a:r>
            <a:rPr lang="en-US" sz="2800" dirty="0">
              <a:latin typeface="Times New Roman" panose="02020603050405020304" pitchFamily="18" charset="0"/>
              <a:cs typeface="Times New Roman" panose="02020603050405020304" pitchFamily="18" charset="0"/>
            </a:rPr>
            <a:t>, and efficiency analysis.</a:t>
          </a:r>
          <a:endParaRPr lang="en-US" sz="2800" dirty="0"/>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lgn="just">
            <a:tabLst>
              <a:tab pos="5994400" algn="l"/>
            </a:tabLst>
          </a:pPr>
          <a:r>
            <a:rPr lang="en-US" sz="2800" dirty="0">
              <a:latin typeface="Times New Roman" panose="02020603050405020304" pitchFamily="18" charset="0"/>
              <a:cs typeface="Times New Roman" panose="02020603050405020304" pitchFamily="18" charset="0"/>
            </a:rPr>
            <a:t>To explain how the smallest (or largest) element is repeatedly selected and placed in its correct position, and to explain its algorithm, </a:t>
          </a:r>
          <a:r>
            <a:rPr lang="en-US" sz="2800" dirty="0" err="1">
              <a:latin typeface="Times New Roman" panose="02020603050405020304" pitchFamily="18" charset="0"/>
              <a:cs typeface="Times New Roman" panose="02020603050405020304" pitchFamily="18" charset="0"/>
            </a:rPr>
            <a:t>pseudocode</a:t>
          </a:r>
          <a:r>
            <a:rPr lang="en-US" sz="2800" dirty="0">
              <a:latin typeface="Times New Roman" panose="02020603050405020304" pitchFamily="18" charset="0"/>
              <a:cs typeface="Times New Roman" panose="02020603050405020304" pitchFamily="18" charset="0"/>
            </a:rPr>
            <a:t>, and performance analysis.</a:t>
          </a:r>
          <a:endParaRPr lang="en-US" sz="2800" dirty="0"/>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custLinFactNeighborX="-265" custLinFactNeighborY="8241"/>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custScaleY="93681" custLinFactNeighborX="718" custLinFactNeighborY="5839"/>
      <dgm:spPr/>
    </dgm:pt>
  </dgm:ptLst>
  <dgm:cxnLst>
    <dgm:cxn modelId="{69F988A5-C88A-400D-9852-9EC47893A15C}" type="presOf" srcId="{A3B4F848-7886-4B10-8E34-39E0B844A474}" destId="{9F756ADD-FC73-43E2-8907-B49F92DEF8EA}" srcOrd="0" destOrd="0" presId="urn:microsoft.com/office/officeart/2005/8/layout/process4"/>
    <dgm:cxn modelId="{A14FC7AC-96A7-4051-B6F7-4E1DD1125A2E}" type="presOf" srcId="{DFBD6BAB-0140-48B9-9073-E08FDCB01885}" destId="{0E541A4F-E68B-477F-BCA6-83AC868DBBCC}"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BE6D69F1-F909-4992-A5BF-73AE23D01340}" type="presOf" srcId="{B7ED251F-A7A3-4D25-B004-4241BE03EDC3}" destId="{BCA40D55-9F97-4CA4-8859-68C842EAE88F}" srcOrd="0" destOrd="0" presId="urn:microsoft.com/office/officeart/2005/8/layout/process4"/>
    <dgm:cxn modelId="{7950397E-3C1E-4B8E-8DAC-E93F64248EFA}" type="presParOf" srcId="{BCA40D55-9F97-4CA4-8859-68C842EAE88F}" destId="{3450E454-19DE-4E8A-ADE0-3AFF41C6C69B}" srcOrd="0" destOrd="0" presId="urn:microsoft.com/office/officeart/2005/8/layout/process4"/>
    <dgm:cxn modelId="{90E9A7F7-DF4E-4F6A-9760-1233922CD137}" type="presParOf" srcId="{3450E454-19DE-4E8A-ADE0-3AFF41C6C69B}" destId="{9F756ADD-FC73-43E2-8907-B49F92DEF8EA}" srcOrd="0" destOrd="0" presId="urn:microsoft.com/office/officeart/2005/8/layout/process4"/>
    <dgm:cxn modelId="{1EAE5E73-D912-4D41-9298-ED8D50B26A70}" type="presParOf" srcId="{BCA40D55-9F97-4CA4-8859-68C842EAE88F}" destId="{33B2812D-626E-40CB-8956-89B965634A15}" srcOrd="1" destOrd="0" presId="urn:microsoft.com/office/officeart/2005/8/layout/process4"/>
    <dgm:cxn modelId="{5C2BB63B-2B36-4FAD-8B8B-527EC9BC664E}" type="presParOf" srcId="{BCA40D55-9F97-4CA4-8859-68C842EAE88F}" destId="{14438BF2-0C50-4C1B-A99E-B1909E184016}" srcOrd="2" destOrd="0" presId="urn:microsoft.com/office/officeart/2005/8/layout/process4"/>
    <dgm:cxn modelId="{7B96C8D1-A7F8-4346-BB85-B3A5C0B9452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just" defTabSz="1244600">
            <a:lnSpc>
              <a:spcPct val="90000"/>
            </a:lnSpc>
            <a:spcBef>
              <a:spcPct val="0"/>
            </a:spcBef>
            <a:spcAft>
              <a:spcPct val="35000"/>
            </a:spcAft>
            <a:buNone/>
            <a:tabLst>
              <a:tab pos="5994400" algn="l"/>
            </a:tabLst>
          </a:pPr>
          <a:r>
            <a:rPr lang="en-US" sz="2800" kern="1200" dirty="0">
              <a:latin typeface="Times New Roman" panose="02020603050405020304" pitchFamily="18" charset="0"/>
              <a:cs typeface="Times New Roman" panose="02020603050405020304" pitchFamily="18" charset="0"/>
            </a:rPr>
            <a:t>To explain how the smallest (or largest) element is repeatedly selected and placed in its correct position, and to explain its algorithm, </a:t>
          </a:r>
          <a:r>
            <a:rPr lang="en-US" sz="2800" kern="1200" dirty="0" err="1">
              <a:latin typeface="Times New Roman" panose="02020603050405020304" pitchFamily="18" charset="0"/>
              <a:cs typeface="Times New Roman" panose="02020603050405020304" pitchFamily="18" charset="0"/>
            </a:rPr>
            <a:t>pseudocode</a:t>
          </a:r>
          <a:r>
            <a:rPr lang="en-US" sz="2800" kern="1200" dirty="0">
              <a:latin typeface="Times New Roman" panose="02020603050405020304" pitchFamily="18" charset="0"/>
              <a:cs typeface="Times New Roman" panose="02020603050405020304" pitchFamily="18" charset="0"/>
            </a:rPr>
            <a:t>, and performance analysis.</a:t>
          </a:r>
        </a:p>
      </dsp:txBody>
      <dsp:txXfrm>
        <a:off x="0" y="2226751"/>
        <a:ext cx="10927829" cy="1460989"/>
      </dsp:txXfrm>
    </dsp:sp>
    <dsp:sp modelId="{0E541A4F-E68B-477F-BCA6-83AC868DBBCC}">
      <dsp:nvSpPr>
        <dsp:cNvPr id="0" name=""/>
        <dsp:cNvSpPr/>
      </dsp:nvSpPr>
      <dsp:spPr>
        <a:xfrm rot="10800000">
          <a:off x="0" y="30245"/>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To explain how elements are inserted into their correct positions step by step, and to explain its algorithm, </a:t>
          </a:r>
          <a:r>
            <a:rPr lang="en-US" sz="2800" kern="1200" dirty="0" err="1">
              <a:latin typeface="Times New Roman" panose="02020603050405020304" pitchFamily="18" charset="0"/>
              <a:cs typeface="Times New Roman" panose="02020603050405020304" pitchFamily="18" charset="0"/>
            </a:rPr>
            <a:t>pseudocode</a:t>
          </a:r>
          <a:r>
            <a:rPr lang="en-US" sz="2800" kern="1200" dirty="0">
              <a:latin typeface="Times New Roman" panose="02020603050405020304" pitchFamily="18" charset="0"/>
              <a:cs typeface="Times New Roman" panose="02020603050405020304" pitchFamily="18" charset="0"/>
            </a:rPr>
            <a:t>, and efficiency analysis.</a:t>
          </a:r>
        </a:p>
      </dsp:txBody>
      <dsp:txXfrm rot="10800000">
        <a:off x="0" y="30245"/>
        <a:ext cx="10927829" cy="1460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362024"/>
          <a:ext cx="10927829" cy="165577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just" defTabSz="1244600">
            <a:lnSpc>
              <a:spcPct val="90000"/>
            </a:lnSpc>
            <a:spcBef>
              <a:spcPct val="0"/>
            </a:spcBef>
            <a:spcAft>
              <a:spcPct val="35000"/>
            </a:spcAft>
            <a:buNone/>
            <a:tabLst>
              <a:tab pos="5994400" algn="l"/>
            </a:tabLst>
          </a:pPr>
          <a:r>
            <a:rPr lang="en-US" sz="2800" kern="1200" dirty="0">
              <a:latin typeface="Times New Roman" panose="02020603050405020304" pitchFamily="18" charset="0"/>
              <a:cs typeface="Times New Roman" panose="02020603050405020304" pitchFamily="18" charset="0"/>
            </a:rPr>
            <a:t>To explain how the smallest (or largest) element is repeatedly selected and placed in its correct position, and to explain its algorithm, </a:t>
          </a:r>
          <a:r>
            <a:rPr lang="en-US" sz="2800" kern="1200" dirty="0" err="1">
              <a:latin typeface="Times New Roman" panose="02020603050405020304" pitchFamily="18" charset="0"/>
              <a:cs typeface="Times New Roman" panose="02020603050405020304" pitchFamily="18" charset="0"/>
            </a:rPr>
            <a:t>pseudocode</a:t>
          </a:r>
          <a:r>
            <a:rPr lang="en-US" sz="2800" kern="1200" dirty="0">
              <a:latin typeface="Times New Roman" panose="02020603050405020304" pitchFamily="18" charset="0"/>
              <a:cs typeface="Times New Roman" panose="02020603050405020304" pitchFamily="18" charset="0"/>
            </a:rPr>
            <a:t>, and performance analysis.</a:t>
          </a:r>
          <a:endParaRPr lang="en-US" sz="2800" kern="1200" dirty="0"/>
        </a:p>
      </dsp:txBody>
      <dsp:txXfrm>
        <a:off x="0" y="2362024"/>
        <a:ext cx="10927829" cy="1655771"/>
      </dsp:txXfrm>
    </dsp:sp>
    <dsp:sp modelId="{0E541A4F-E68B-477F-BCA6-83AC868DBBCC}">
      <dsp:nvSpPr>
        <dsp:cNvPr id="0" name=""/>
        <dsp:cNvSpPr/>
      </dsp:nvSpPr>
      <dsp:spPr>
        <a:xfrm rot="10800000">
          <a:off x="0" y="149296"/>
          <a:ext cx="10927829" cy="2385658"/>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just"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To explain how elements are inserted into their correct positions step by step, and to explain its algorithm, </a:t>
          </a:r>
          <a:r>
            <a:rPr lang="en-US" sz="2800" kern="1200" dirty="0" err="1">
              <a:latin typeface="Times New Roman" panose="02020603050405020304" pitchFamily="18" charset="0"/>
              <a:cs typeface="Times New Roman" panose="02020603050405020304" pitchFamily="18" charset="0"/>
            </a:rPr>
            <a:t>pseudocode</a:t>
          </a:r>
          <a:r>
            <a:rPr lang="en-US" sz="2800" kern="1200" dirty="0">
              <a:latin typeface="Times New Roman" panose="02020603050405020304" pitchFamily="18" charset="0"/>
              <a:cs typeface="Times New Roman" panose="02020603050405020304" pitchFamily="18" charset="0"/>
            </a:rPr>
            <a:t>, and efficiency analysis.</a:t>
          </a:r>
          <a:endParaRPr lang="en-US" sz="2800" kern="1200" dirty="0"/>
        </a:p>
      </dsp:txBody>
      <dsp:txXfrm rot="10800000">
        <a:off x="0" y="149296"/>
        <a:ext cx="10927829" cy="1550129"/>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BC31-3F3F-40A8-84DF-BE3B4616B22A}" type="datetimeFigureOut">
              <a:rPr lang="en-IN" smtClean="0"/>
              <a:t>02-10-2025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FE326-85E6-4395-8F28-A8F972B7BB4E}" type="slidenum">
              <a:rPr lang="en-IN" smtClean="0"/>
              <a:t>‹#›</a:t>
            </a:fld>
            <a:endParaRPr lang="en-IN"/>
          </a:p>
        </p:txBody>
      </p:sp>
    </p:spTree>
    <p:extLst>
      <p:ext uri="{BB962C8B-B14F-4D97-AF65-F5344CB8AC3E}">
        <p14:creationId xmlns:p14="http://schemas.microsoft.com/office/powerpoint/2010/main" val="199376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9FE326-85E6-4395-8F28-A8F972B7BB4E}" type="slidenum">
              <a:rPr lang="en-IN" smtClean="0"/>
              <a:t>4</a:t>
            </a:fld>
            <a:endParaRPr lang="en-IN"/>
          </a:p>
        </p:txBody>
      </p:sp>
    </p:spTree>
    <p:extLst>
      <p:ext uri="{BB962C8B-B14F-4D97-AF65-F5344CB8AC3E}">
        <p14:creationId xmlns:p14="http://schemas.microsoft.com/office/powerpoint/2010/main" val="2641292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E9FE326-85E6-4395-8F28-A8F972B7BB4E}" type="slidenum">
              <a:rPr lang="en-IN" smtClean="0"/>
              <a:t>8</a:t>
            </a:fld>
            <a:endParaRPr lang="en-IN"/>
          </a:p>
        </p:txBody>
      </p:sp>
    </p:spTree>
    <p:extLst>
      <p:ext uri="{BB962C8B-B14F-4D97-AF65-F5344CB8AC3E}">
        <p14:creationId xmlns:p14="http://schemas.microsoft.com/office/powerpoint/2010/main" val="351988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19AD-E795-8469-CB7A-8D1393914F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09FC3E-A433-5720-2C47-B21810485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33EDBC-57D9-C6A6-6869-371DC35FAC4A}"/>
              </a:ext>
            </a:extLst>
          </p:cNvPr>
          <p:cNvSpPr>
            <a:spLocks noGrp="1"/>
          </p:cNvSpPr>
          <p:nvPr>
            <p:ph type="dt" sz="half" idx="10"/>
          </p:nvPr>
        </p:nvSpPr>
        <p:spPr/>
        <p:txBody>
          <a:bodyPr/>
          <a:lstStyle/>
          <a:p>
            <a:fld id="{CAB0B00A-0031-4EDD-BEBB-B131E3F68B8B}" type="datetime1">
              <a:rPr lang="en-IN" smtClean="0"/>
              <a:t>02-10-2025</a:t>
            </a:fld>
            <a:endParaRPr lang="en-IN"/>
          </a:p>
        </p:txBody>
      </p:sp>
      <p:sp>
        <p:nvSpPr>
          <p:cNvPr id="5" name="Footer Placeholder 4">
            <a:extLst>
              <a:ext uri="{FF2B5EF4-FFF2-40B4-BE49-F238E27FC236}">
                <a16:creationId xmlns:a16="http://schemas.microsoft.com/office/drawing/2014/main" id="{A8B1DC6D-FB05-89AF-D06E-2A214B26AC59}"/>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E5979841-7A1B-1D77-4E0D-F440971A186C}"/>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44741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841F-4D47-CCA2-58EC-D8D2EE9AF0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907BEF-2C9D-42DC-3411-00B3A39BC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36B5C3-B400-8ED2-C857-CC6B3B6EB6B7}"/>
              </a:ext>
            </a:extLst>
          </p:cNvPr>
          <p:cNvSpPr>
            <a:spLocks noGrp="1"/>
          </p:cNvSpPr>
          <p:nvPr>
            <p:ph type="dt" sz="half" idx="10"/>
          </p:nvPr>
        </p:nvSpPr>
        <p:spPr/>
        <p:txBody>
          <a:bodyPr/>
          <a:lstStyle/>
          <a:p>
            <a:fld id="{218D233B-F1E7-4818-B22D-9EDEAA6025FD}" type="datetime1">
              <a:rPr lang="en-IN" smtClean="0"/>
              <a:t>02-10-2025</a:t>
            </a:fld>
            <a:endParaRPr lang="en-IN"/>
          </a:p>
        </p:txBody>
      </p:sp>
      <p:sp>
        <p:nvSpPr>
          <p:cNvPr id="5" name="Footer Placeholder 4">
            <a:extLst>
              <a:ext uri="{FF2B5EF4-FFF2-40B4-BE49-F238E27FC236}">
                <a16:creationId xmlns:a16="http://schemas.microsoft.com/office/drawing/2014/main" id="{77C63E68-219E-B6BD-06FF-D09E8B6D7CE6}"/>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927A96D-72D0-92EE-3B5C-8BFD78B7D7AD}"/>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1233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2F04E-14BF-8146-F649-92765687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EC510D-E40E-01C5-FB7F-09741C6C9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E5ACC9-6839-7636-07F4-E47B104A0B91}"/>
              </a:ext>
            </a:extLst>
          </p:cNvPr>
          <p:cNvSpPr>
            <a:spLocks noGrp="1"/>
          </p:cNvSpPr>
          <p:nvPr>
            <p:ph type="dt" sz="half" idx="10"/>
          </p:nvPr>
        </p:nvSpPr>
        <p:spPr/>
        <p:txBody>
          <a:bodyPr/>
          <a:lstStyle/>
          <a:p>
            <a:fld id="{2A543A29-4BB0-4075-8E30-7986497052F0}" type="datetime1">
              <a:rPr lang="en-IN" smtClean="0"/>
              <a:t>02-10-2025</a:t>
            </a:fld>
            <a:endParaRPr lang="en-IN"/>
          </a:p>
        </p:txBody>
      </p:sp>
      <p:sp>
        <p:nvSpPr>
          <p:cNvPr id="5" name="Footer Placeholder 4">
            <a:extLst>
              <a:ext uri="{FF2B5EF4-FFF2-40B4-BE49-F238E27FC236}">
                <a16:creationId xmlns:a16="http://schemas.microsoft.com/office/drawing/2014/main" id="{331B4601-E63D-A03B-1DD8-CFB63233DA53}"/>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609B235-6487-BCE9-DFAA-764CDD446CF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3769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2733-E66D-2C01-CE97-F41A211F2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778475-62F3-3BA2-991E-7D770F7AA9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6E4499-7667-A5BF-CFBF-9B3734E04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E2D099-6445-5C93-00AE-432EFD0706EB}"/>
              </a:ext>
            </a:extLst>
          </p:cNvPr>
          <p:cNvSpPr>
            <a:spLocks noGrp="1"/>
          </p:cNvSpPr>
          <p:nvPr>
            <p:ph type="dt" sz="half" idx="10"/>
          </p:nvPr>
        </p:nvSpPr>
        <p:spPr/>
        <p:txBody>
          <a:bodyPr/>
          <a:lstStyle/>
          <a:p>
            <a:fld id="{C1228DEB-068D-4137-AD7C-2A99AB9732F4}" type="datetime1">
              <a:rPr lang="en-IN" smtClean="0"/>
              <a:t>02-10-2025</a:t>
            </a:fld>
            <a:endParaRPr lang="en-IN"/>
          </a:p>
        </p:txBody>
      </p:sp>
      <p:sp>
        <p:nvSpPr>
          <p:cNvPr id="6" name="Footer Placeholder 5">
            <a:extLst>
              <a:ext uri="{FF2B5EF4-FFF2-40B4-BE49-F238E27FC236}">
                <a16:creationId xmlns:a16="http://schemas.microsoft.com/office/drawing/2014/main" id="{6C5B21F9-91D3-7C2A-79CF-2138303F1B9C}"/>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A1F9FC0-4A14-8219-84DC-B1D61698EE4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04857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B0A1-9BD6-B0A3-1102-E0773ECBB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E87F29-AEDA-BDF7-8C0B-52CF6D178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AB8B1-DB15-81F7-48C3-A6308F8FE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0A757F-7720-AA2F-16DB-5B4172569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578B9F-AEC2-1CCB-17EA-93BC35E42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ADDEEA-4DF4-410A-B65E-F750E83FBB36}"/>
              </a:ext>
            </a:extLst>
          </p:cNvPr>
          <p:cNvSpPr>
            <a:spLocks noGrp="1"/>
          </p:cNvSpPr>
          <p:nvPr>
            <p:ph type="dt" sz="half" idx="10"/>
          </p:nvPr>
        </p:nvSpPr>
        <p:spPr/>
        <p:txBody>
          <a:bodyPr/>
          <a:lstStyle/>
          <a:p>
            <a:fld id="{040CC2F0-EA24-4949-874F-5F13F434AA44}" type="datetime1">
              <a:rPr lang="en-IN" smtClean="0"/>
              <a:t>02-10-2025</a:t>
            </a:fld>
            <a:endParaRPr lang="en-IN"/>
          </a:p>
        </p:txBody>
      </p:sp>
      <p:sp>
        <p:nvSpPr>
          <p:cNvPr id="8" name="Footer Placeholder 7">
            <a:extLst>
              <a:ext uri="{FF2B5EF4-FFF2-40B4-BE49-F238E27FC236}">
                <a16:creationId xmlns:a16="http://schemas.microsoft.com/office/drawing/2014/main" id="{90F839C7-3F7C-98F3-A612-DE6079BE9163}"/>
              </a:ext>
            </a:extLst>
          </p:cNvPr>
          <p:cNvSpPr>
            <a:spLocks noGrp="1"/>
          </p:cNvSpPr>
          <p:nvPr>
            <p:ph type="ftr" sz="quarter" idx="11"/>
          </p:nvPr>
        </p:nvSpPr>
        <p:spPr/>
        <p:txBody>
          <a:bodyPr/>
          <a:lstStyle/>
          <a:p>
            <a:r>
              <a:rPr lang="en-IN"/>
              <a:t>Galgotias University</a:t>
            </a:r>
          </a:p>
        </p:txBody>
      </p:sp>
      <p:sp>
        <p:nvSpPr>
          <p:cNvPr id="9" name="Slide Number Placeholder 8">
            <a:extLst>
              <a:ext uri="{FF2B5EF4-FFF2-40B4-BE49-F238E27FC236}">
                <a16:creationId xmlns:a16="http://schemas.microsoft.com/office/drawing/2014/main" id="{A6ED60D5-B96E-CB10-EF10-24D39020915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9361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85F8-3F04-96B2-DFBB-F5EA7C78F8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A8FDE9-0DB9-E2EC-9EDB-3F7928924032}"/>
              </a:ext>
            </a:extLst>
          </p:cNvPr>
          <p:cNvSpPr>
            <a:spLocks noGrp="1"/>
          </p:cNvSpPr>
          <p:nvPr>
            <p:ph type="dt" sz="half" idx="10"/>
          </p:nvPr>
        </p:nvSpPr>
        <p:spPr/>
        <p:txBody>
          <a:bodyPr/>
          <a:lstStyle/>
          <a:p>
            <a:fld id="{D9FCA4BE-841D-4DBA-BF59-98160D016E95}" type="datetime1">
              <a:rPr lang="en-IN" smtClean="0"/>
              <a:t>02-10-2025</a:t>
            </a:fld>
            <a:endParaRPr lang="en-IN"/>
          </a:p>
        </p:txBody>
      </p:sp>
      <p:sp>
        <p:nvSpPr>
          <p:cNvPr id="4" name="Footer Placeholder 3">
            <a:extLst>
              <a:ext uri="{FF2B5EF4-FFF2-40B4-BE49-F238E27FC236}">
                <a16:creationId xmlns:a16="http://schemas.microsoft.com/office/drawing/2014/main" id="{B76EA0CC-2F72-01A7-0018-794D28895805}"/>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D1946089-63E6-1B47-884D-22AD3D59DAD3}"/>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39517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68AA3-F340-1EBC-A758-E63E971B3C45}"/>
              </a:ext>
            </a:extLst>
          </p:cNvPr>
          <p:cNvSpPr>
            <a:spLocks noGrp="1"/>
          </p:cNvSpPr>
          <p:nvPr>
            <p:ph type="dt" sz="half" idx="10"/>
          </p:nvPr>
        </p:nvSpPr>
        <p:spPr/>
        <p:txBody>
          <a:bodyPr/>
          <a:lstStyle/>
          <a:p>
            <a:fld id="{2EA9DE3D-92F0-4B90-9BC3-DF561ACCB514}" type="datetime1">
              <a:rPr lang="en-IN" smtClean="0"/>
              <a:t>02-10-2025</a:t>
            </a:fld>
            <a:endParaRPr lang="en-IN"/>
          </a:p>
        </p:txBody>
      </p:sp>
      <p:sp>
        <p:nvSpPr>
          <p:cNvPr id="3" name="Footer Placeholder 2">
            <a:extLst>
              <a:ext uri="{FF2B5EF4-FFF2-40B4-BE49-F238E27FC236}">
                <a16:creationId xmlns:a16="http://schemas.microsoft.com/office/drawing/2014/main" id="{15C5A41D-81C9-E2BD-E9AF-3AA5DB41DC6F}"/>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F1F962B3-3ADB-9572-0FD2-4DB07FD876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75577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CF039-A9DA-5A12-2BF1-B6433B9DF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6751A8-C228-5300-A485-3F129FD36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584203-9632-6129-E4C9-0F99428BB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45EB5-72B0-9141-EA99-820C022CC386}"/>
              </a:ext>
            </a:extLst>
          </p:cNvPr>
          <p:cNvSpPr>
            <a:spLocks noGrp="1"/>
          </p:cNvSpPr>
          <p:nvPr>
            <p:ph type="dt" sz="half" idx="10"/>
          </p:nvPr>
        </p:nvSpPr>
        <p:spPr/>
        <p:txBody>
          <a:bodyPr/>
          <a:lstStyle/>
          <a:p>
            <a:fld id="{44A4D748-5313-48F5-9420-28CC4F9D5D65}" type="datetime1">
              <a:rPr lang="en-IN" smtClean="0"/>
              <a:t>02-10-2025</a:t>
            </a:fld>
            <a:endParaRPr lang="en-IN"/>
          </a:p>
        </p:txBody>
      </p:sp>
      <p:sp>
        <p:nvSpPr>
          <p:cNvPr id="6" name="Footer Placeholder 5">
            <a:extLst>
              <a:ext uri="{FF2B5EF4-FFF2-40B4-BE49-F238E27FC236}">
                <a16:creationId xmlns:a16="http://schemas.microsoft.com/office/drawing/2014/main" id="{A273D456-31B6-1D53-751D-AC82FEAB700D}"/>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BC32809-415E-2282-E04D-9B200C1C352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05967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906-117D-5407-AA07-22F539EE4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36F0D2-D921-4FA7-DA84-8E8520EED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D2AD95-AB02-5A07-7492-E9E0B8545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380F9-07CE-6F7A-6038-870977B023CB}"/>
              </a:ext>
            </a:extLst>
          </p:cNvPr>
          <p:cNvSpPr>
            <a:spLocks noGrp="1"/>
          </p:cNvSpPr>
          <p:nvPr>
            <p:ph type="dt" sz="half" idx="10"/>
          </p:nvPr>
        </p:nvSpPr>
        <p:spPr/>
        <p:txBody>
          <a:bodyPr/>
          <a:lstStyle/>
          <a:p>
            <a:fld id="{8E259F97-4389-4CF0-A3AF-539E1666475E}" type="datetime1">
              <a:rPr lang="en-IN" smtClean="0"/>
              <a:t>02-10-2025</a:t>
            </a:fld>
            <a:endParaRPr lang="en-IN"/>
          </a:p>
        </p:txBody>
      </p:sp>
      <p:sp>
        <p:nvSpPr>
          <p:cNvPr id="6" name="Footer Placeholder 5">
            <a:extLst>
              <a:ext uri="{FF2B5EF4-FFF2-40B4-BE49-F238E27FC236}">
                <a16:creationId xmlns:a16="http://schemas.microsoft.com/office/drawing/2014/main" id="{3B35F0A5-FF26-EF42-9F4E-7B487ABBDC60}"/>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A6CE9705-E90F-F624-39D6-6FCBE3A7BA4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83355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9D05-52FA-1788-519F-7A7F6048A0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2B93A4-5BFE-2E5E-89BD-A9A9F0DE2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D6E1C-2039-6998-16BF-892E575CFF2A}"/>
              </a:ext>
            </a:extLst>
          </p:cNvPr>
          <p:cNvSpPr>
            <a:spLocks noGrp="1"/>
          </p:cNvSpPr>
          <p:nvPr>
            <p:ph type="dt" sz="half" idx="10"/>
          </p:nvPr>
        </p:nvSpPr>
        <p:spPr/>
        <p:txBody>
          <a:bodyPr/>
          <a:lstStyle/>
          <a:p>
            <a:fld id="{C911ADB8-9CB7-40E6-87C8-C7EB8EBBAF06}" type="datetime1">
              <a:rPr lang="en-IN" smtClean="0"/>
              <a:t>02-10-2025</a:t>
            </a:fld>
            <a:endParaRPr lang="en-IN"/>
          </a:p>
        </p:txBody>
      </p:sp>
      <p:sp>
        <p:nvSpPr>
          <p:cNvPr id="5" name="Footer Placeholder 4">
            <a:extLst>
              <a:ext uri="{FF2B5EF4-FFF2-40B4-BE49-F238E27FC236}">
                <a16:creationId xmlns:a16="http://schemas.microsoft.com/office/drawing/2014/main" id="{BA389FC5-03A9-A2BE-8045-500B370839C0}"/>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8B4A79DC-4A34-B800-8BFC-C92A202FB94B}"/>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88750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66ADF1-8D2B-E20D-C592-6643F0F62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7D4B32-ED38-6AD9-3A88-BEE47D427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3D39A2-CFE5-7E4C-6E1A-FABC5CF177F3}"/>
              </a:ext>
            </a:extLst>
          </p:cNvPr>
          <p:cNvSpPr>
            <a:spLocks noGrp="1"/>
          </p:cNvSpPr>
          <p:nvPr>
            <p:ph type="dt" sz="half" idx="10"/>
          </p:nvPr>
        </p:nvSpPr>
        <p:spPr/>
        <p:txBody>
          <a:bodyPr/>
          <a:lstStyle/>
          <a:p>
            <a:fld id="{6903956E-FF61-4FBC-8614-5AF891B621A7}" type="datetime1">
              <a:rPr lang="en-IN" smtClean="0"/>
              <a:t>02-10-2025</a:t>
            </a:fld>
            <a:endParaRPr lang="en-IN"/>
          </a:p>
        </p:txBody>
      </p:sp>
      <p:sp>
        <p:nvSpPr>
          <p:cNvPr id="5" name="Footer Placeholder 4">
            <a:extLst>
              <a:ext uri="{FF2B5EF4-FFF2-40B4-BE49-F238E27FC236}">
                <a16:creationId xmlns:a16="http://schemas.microsoft.com/office/drawing/2014/main" id="{A758CE03-A02D-B61D-500E-33B067F58A15}"/>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32BFA42C-489C-58FC-CFE2-833549C6DC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4013312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AADD83-735E-A88A-3D7F-6385A1A74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67D101-3984-8795-F0E9-CFAF99A14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4624CD-D795-52B1-6203-0AF8F58B8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81F908-E6B3-4617-92D9-99814B0B813F}" type="datetime1">
              <a:rPr lang="en-IN" smtClean="0"/>
              <a:t>02-10-2025</a:t>
            </a:fld>
            <a:endParaRPr lang="en-IN"/>
          </a:p>
        </p:txBody>
      </p:sp>
      <p:sp>
        <p:nvSpPr>
          <p:cNvPr id="5" name="Footer Placeholder 4">
            <a:extLst>
              <a:ext uri="{FF2B5EF4-FFF2-40B4-BE49-F238E27FC236}">
                <a16:creationId xmlns:a16="http://schemas.microsoft.com/office/drawing/2014/main" id="{491CF967-AE37-65C8-EF03-EB7E3B912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Galgotias University</a:t>
            </a:r>
          </a:p>
        </p:txBody>
      </p:sp>
      <p:sp>
        <p:nvSpPr>
          <p:cNvPr id="6" name="Slide Number Placeholder 5">
            <a:extLst>
              <a:ext uri="{FF2B5EF4-FFF2-40B4-BE49-F238E27FC236}">
                <a16:creationId xmlns:a16="http://schemas.microsoft.com/office/drawing/2014/main" id="{C47BD2C0-494D-F5DE-E18D-99B852BA50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510230-8DD5-4BA5-AB2D-CA30FC08F9D7}" type="slidenum">
              <a:rPr lang="en-IN" smtClean="0"/>
              <a:t>‹#›</a:t>
            </a:fld>
            <a:endParaRPr lang="en-IN"/>
          </a:p>
        </p:txBody>
      </p:sp>
    </p:spTree>
    <p:extLst>
      <p:ext uri="{BB962C8B-B14F-4D97-AF65-F5344CB8AC3E}">
        <p14:creationId xmlns:p14="http://schemas.microsoft.com/office/powerpoint/2010/main" val="532666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geeksforgeeks.org/dsa/quick-sort-algorithm/" TargetMode="External"/><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hyperlink" Target="https://www.geeksforgeeks.org/dsa/merge-sort/"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purple dots&#10;&#10;Description automatically generated">
            <a:extLst>
              <a:ext uri="{FF2B5EF4-FFF2-40B4-BE49-F238E27FC236}">
                <a16:creationId xmlns:a16="http://schemas.microsoft.com/office/drawing/2014/main" id="{B854E15F-5609-7D3B-3655-6DE3E5980655}"/>
              </a:ext>
            </a:extLst>
          </p:cNvPr>
          <p:cNvPicPr>
            <a:picLocks noChangeAspect="1"/>
          </p:cNvPicPr>
          <p:nvPr/>
        </p:nvPicPr>
        <p:blipFill>
          <a:blip r:embed="rId2"/>
          <a:srcRect l="5200"/>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B4841D-4109-20CB-B253-8EF7C080604D}"/>
              </a:ext>
            </a:extLst>
          </p:cNvPr>
          <p:cNvSpPr>
            <a:spLocks noGrp="1"/>
          </p:cNvSpPr>
          <p:nvPr>
            <p:ph type="ctrTitle"/>
          </p:nvPr>
        </p:nvSpPr>
        <p:spPr>
          <a:xfrm>
            <a:off x="477981" y="1122362"/>
            <a:ext cx="8366216" cy="4909225"/>
          </a:xfrm>
        </p:spPr>
        <p:txBody>
          <a:bodyPr anchor="b">
            <a:normAutofit/>
          </a:bodyPr>
          <a:lstStyle/>
          <a:p>
            <a:pPr algn="l"/>
            <a:r>
              <a:rPr lang="en-IN" sz="3600" b="1" dirty="0">
                <a:solidFill>
                  <a:schemeClr val="bg1"/>
                </a:solidFill>
                <a:latin typeface="Georgia" panose="02040502050405020303" pitchFamily="18" charset="0"/>
                <a:cs typeface="Arial" panose="020B0604020202020204" pitchFamily="34" charset="0"/>
              </a:rPr>
              <a:t>Sorting : Insertion Sort, Selection Sort</a:t>
            </a:r>
            <a:br>
              <a:rPr lang="en-IN" sz="54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Session No.:14 </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Name: Data </a:t>
            </a:r>
            <a:r>
              <a:rPr lang="en-IN" sz="1800" b="1" dirty="0" err="1">
                <a:solidFill>
                  <a:schemeClr val="bg1"/>
                </a:solidFill>
                <a:latin typeface="Georgia" panose="02040502050405020303" pitchFamily="18" charset="0"/>
                <a:cs typeface="Arial" panose="020B0604020202020204" pitchFamily="34" charset="0"/>
              </a:rPr>
              <a:t>Strucutres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Code: </a:t>
            </a:r>
            <a:r>
              <a:rPr lang="en-IN" sz="1800" b="1" i="0" u="none" strike="noStrike" baseline="0" dirty="0">
                <a:solidFill>
                  <a:schemeClr val="bg1"/>
                </a:solidFill>
                <a:latin typeface="Times New Roman" panose="02020603050405020304" pitchFamily="18" charset="0"/>
              </a:rPr>
              <a:t>R1UC308B </a:t>
            </a:r>
            <a:r>
              <a:rPr lang="en-IN" sz="1800" b="0" i="0" u="none" strike="noStrike" baseline="0" dirty="0">
                <a:solidFill>
                  <a:schemeClr val="bg1"/>
                </a:solidFill>
                <a:latin typeface="Times New Roman" panose="02020603050405020304" pitchFamily="18" charset="0"/>
              </a:rPr>
              <a:t>	</a:t>
            </a:r>
            <a:br>
              <a:rPr lang="en-IN" sz="1800" b="0" i="0" u="none" strike="noStrike" baseline="0" dirty="0">
                <a:solidFill>
                  <a:schemeClr val="bg1"/>
                </a:solidFill>
                <a:latin typeface="Times New Roman" panose="02020603050405020304" pitchFamily="18" charset="0"/>
              </a:rPr>
            </a:br>
            <a:r>
              <a:rPr lang="en-IN" sz="1800" b="1" dirty="0">
                <a:solidFill>
                  <a:schemeClr val="bg1"/>
                </a:solidFill>
                <a:latin typeface="Georgia" panose="02040502050405020303" pitchFamily="18" charset="0"/>
                <a:cs typeface="Arial" panose="020B0604020202020204" pitchFamily="34" charset="0"/>
              </a:rPr>
              <a:t>Instructor Name: Akhilesh Tripathi</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Duration: 50 mins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Date of Conduction of Class: </a:t>
            </a:r>
            <a:endParaRPr lang="en-IN" sz="4800" b="1" dirty="0">
              <a:solidFill>
                <a:schemeClr val="bg1"/>
              </a:solidFill>
              <a:latin typeface="Georgia" panose="02040502050405020303" pitchFamily="18" charset="0"/>
              <a:cs typeface="Arial" panose="020B0604020202020204" pitchFamily="34" charset="0"/>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A2F329F-0D28-AAA9-6271-058B6B36CA1F}"/>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4D4B0897-FD56-B45E-C539-435F743AAB4C}"/>
              </a:ext>
            </a:extLst>
          </p:cNvPr>
          <p:cNvSpPr>
            <a:spLocks noGrp="1"/>
          </p:cNvSpPr>
          <p:nvPr>
            <p:ph type="sldNum" sz="quarter" idx="12"/>
          </p:nvPr>
        </p:nvSpPr>
        <p:spPr/>
        <p:txBody>
          <a:bodyPr/>
          <a:lstStyle/>
          <a:p>
            <a:fld id="{26510230-8DD5-4BA5-AB2D-CA30FC08F9D7}" type="slidenum">
              <a:rPr lang="en-IN" smtClean="0"/>
              <a:t>1</a:t>
            </a:fld>
            <a:endParaRPr lang="en-IN"/>
          </a:p>
        </p:txBody>
      </p:sp>
      <p:pic>
        <p:nvPicPr>
          <p:cNvPr id="10" name="Picture 9" descr="A blue circle with text and words&#10;&#10;Description automatically generated">
            <a:extLst>
              <a:ext uri="{FF2B5EF4-FFF2-40B4-BE49-F238E27FC236}">
                <a16:creationId xmlns:a16="http://schemas.microsoft.com/office/drawing/2014/main" id="{B8F66ABA-C07C-7B4E-0E32-86C3BB04AA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12" name="Picture 11">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317402"/>
            <a:ext cx="3795634" cy="740238"/>
          </a:xfrm>
          <a:prstGeom prst="rect">
            <a:avLst/>
          </a:prstGeom>
        </p:spPr>
      </p:pic>
    </p:spTree>
    <p:extLst>
      <p:ext uri="{BB962C8B-B14F-4D97-AF65-F5344CB8AC3E}">
        <p14:creationId xmlns:p14="http://schemas.microsoft.com/office/powerpoint/2010/main" val="282789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1354784"/>
            <a:ext cx="10810559" cy="2616101"/>
          </a:xfrm>
          <a:prstGeom prst="rect">
            <a:avLst/>
          </a:prstGeom>
          <a:noFill/>
        </p:spPr>
        <p:txBody>
          <a:bodyPr wrap="square">
            <a:spAutoFit/>
          </a:bodyPr>
          <a:lstStyle/>
          <a:p>
            <a:pPr algn="ctr"/>
            <a:r>
              <a:rPr lang="en-US" sz="2800" b="1" dirty="0"/>
              <a:t>Review</a:t>
            </a:r>
          </a:p>
          <a:p>
            <a:pPr algn="ctr"/>
            <a:endParaRPr lang="en-US" sz="2800" dirty="0"/>
          </a:p>
          <a:p>
            <a:r>
              <a:rPr lang="en-US" sz="2800" dirty="0"/>
              <a:t>Review of the key concepts of last session</a:t>
            </a:r>
          </a:p>
          <a:p>
            <a:pPr marL="342900" indent="-342900">
              <a:buFont typeface="Arial" panose="020B0604020202020204" pitchFamily="34" charset="0"/>
              <a:buChar char="•"/>
            </a:pPr>
            <a:r>
              <a:rPr lang="en-US" sz="2000" dirty="0"/>
              <a:t>Sorting arranges data in a specific order (ascending/descending).</a:t>
            </a:r>
          </a:p>
          <a:p>
            <a:pPr marL="342900" indent="-342900">
              <a:buFont typeface="Arial" panose="020B0604020202020204" pitchFamily="34" charset="0"/>
              <a:buChar char="•"/>
            </a:pPr>
            <a:r>
              <a:rPr lang="en-US" sz="2000" dirty="0"/>
              <a:t>Bubble Sort works by repeatedly swapping adjacent elements until the array is sorted.</a:t>
            </a:r>
          </a:p>
          <a:p>
            <a:pPr marL="342900" indent="-342900">
              <a:buFont typeface="Arial" panose="020B0604020202020204" pitchFamily="34" charset="0"/>
              <a:buChar char="•"/>
            </a:pPr>
            <a:r>
              <a:rPr lang="en-US" sz="2000" dirty="0"/>
              <a:t>After each pass, the largest element bubbles to its correct position.</a:t>
            </a:r>
            <a:br>
              <a:rPr lang="en-US" sz="2000" dirty="0"/>
            </a:br>
            <a:endParaRPr lang="en-US" sz="2000" b="1" dirty="0"/>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2767214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3</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Pre-Class Assessment</a:t>
            </a:r>
          </a:p>
        </p:txBody>
      </p:sp>
      <p:sp>
        <p:nvSpPr>
          <p:cNvPr id="2" name="Rectangle 1"/>
          <p:cNvSpPr/>
          <p:nvPr/>
        </p:nvSpPr>
        <p:spPr>
          <a:xfrm>
            <a:off x="10648330" y="1095420"/>
            <a:ext cx="1176692" cy="369332"/>
          </a:xfrm>
          <a:prstGeom prst="rect">
            <a:avLst/>
          </a:prstGeom>
        </p:spPr>
        <p:txBody>
          <a:bodyPr wrap="square">
            <a:spAutoFit/>
          </a:bodyPr>
          <a:lstStyle/>
          <a:p>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endParaRPr lang="en-US" dirty="0"/>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90402"/>
            <a:ext cx="3795634" cy="740238"/>
          </a:xfrm>
          <a:prstGeom prst="rect">
            <a:avLst/>
          </a:prstGeom>
        </p:spPr>
      </p:pic>
      <p:pic>
        <p:nvPicPr>
          <p:cNvPr id="6" name="Picture 5">
            <a:extLst>
              <a:ext uri="{FF2B5EF4-FFF2-40B4-BE49-F238E27FC236}">
                <a16:creationId xmlns:a16="http://schemas.microsoft.com/office/drawing/2014/main" id="{85C62B6D-FE06-DAAD-3F71-1D0865512F4B}"/>
              </a:ext>
            </a:extLst>
          </p:cNvPr>
          <p:cNvPicPr>
            <a:picLocks noChangeAspect="1"/>
          </p:cNvPicPr>
          <p:nvPr/>
        </p:nvPicPr>
        <p:blipFill>
          <a:blip r:embed="rId4"/>
          <a:stretch>
            <a:fillRect/>
          </a:stretch>
        </p:blipFill>
        <p:spPr>
          <a:xfrm>
            <a:off x="777601" y="1819192"/>
            <a:ext cx="10636797" cy="4120929"/>
          </a:xfrm>
          <a:prstGeom prst="rect">
            <a:avLst/>
          </a:prstGeom>
        </p:spPr>
      </p:pic>
    </p:spTree>
    <p:extLst>
      <p:ext uri="{BB962C8B-B14F-4D97-AF65-F5344CB8AC3E}">
        <p14:creationId xmlns:p14="http://schemas.microsoft.com/office/powerpoint/2010/main" val="1671380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590906B-7B28-4168-875C-2821760FE6B8}"/>
              </a:ext>
            </a:extLst>
          </p:cNvPr>
          <p:cNvSpPr>
            <a:spLocks noGrp="1"/>
          </p:cNvSpPr>
          <p:nvPr>
            <p:ph type="title"/>
          </p:nvPr>
        </p:nvSpPr>
        <p:spPr>
          <a:xfrm>
            <a:off x="3890330" y="483460"/>
            <a:ext cx="5017695" cy="1136052"/>
          </a:xfrm>
        </p:spPr>
        <p:txBody>
          <a:bodyPr>
            <a:normAutofit/>
          </a:bodyPr>
          <a:lstStyle/>
          <a:p>
            <a:r>
              <a:rPr lang="en-IN" sz="3600" dirty="0">
                <a:latin typeface="Tahoma" panose="020B0604030504040204" pitchFamily="34" charset="0"/>
                <a:ea typeface="Tahoma" panose="020B0604030504040204" pitchFamily="34" charset="0"/>
                <a:cs typeface="Tahoma" panose="020B0604030504040204" pitchFamily="34" charset="0"/>
              </a:rPr>
              <a:t>Learning Outcomes</a:t>
            </a:r>
          </a:p>
        </p:txBody>
      </p:sp>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4</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435255"/>
            <a:ext cx="10820400" cy="4351338"/>
          </a:xfrm>
        </p:spPr>
        <p:txBody>
          <a:bodyPr/>
          <a:lstStyle/>
          <a:p>
            <a:pPr marL="0" indent="0" algn="just">
              <a:buNone/>
            </a:pPr>
            <a:r>
              <a:rPr lang="en-US" sz="3200" b="1" u="sng" dirty="0">
                <a:latin typeface="Tahoma" panose="020B0604030504040204" pitchFamily="34" charset="0"/>
                <a:ea typeface="Tahoma" panose="020B0604030504040204" pitchFamily="34" charset="0"/>
                <a:cs typeface="Tahoma" panose="020B0604030504040204" pitchFamily="34" charset="0"/>
              </a:rPr>
              <a:t>By the end of this session, You will be able to:</a:t>
            </a: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1856117823"/>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143805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5</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727756" y="1219889"/>
            <a:ext cx="10468176" cy="3231654"/>
          </a:xfrm>
          <a:prstGeom prst="rect">
            <a:avLst/>
          </a:prstGeom>
          <a:noFill/>
        </p:spPr>
        <p:txBody>
          <a:bodyPr wrap="square">
            <a:spAutoFit/>
          </a:bodyPr>
          <a:lstStyle/>
          <a:p>
            <a:pPr algn="ctr"/>
            <a:r>
              <a:rPr lang="en-US" sz="3200" b="1" dirty="0"/>
              <a:t>Session Outline</a:t>
            </a:r>
          </a:p>
          <a:p>
            <a:pPr algn="ctr"/>
            <a:endParaRPr lang="en-US" sz="3200" dirty="0"/>
          </a:p>
          <a:p>
            <a:pPr marL="342900" indent="-342900">
              <a:buFont typeface="Arial" pitchFamily="34" charset="0"/>
              <a:buChar char="•"/>
            </a:pPr>
            <a:r>
              <a:rPr lang="en-US" sz="2800" dirty="0"/>
              <a:t>Insertion Sort – Concept with playing card analogy, algorithm, </a:t>
            </a:r>
            <a:r>
              <a:rPr lang="en-US" sz="2800" dirty="0" err="1"/>
              <a:t>pseudocode</a:t>
            </a:r>
            <a:r>
              <a:rPr lang="en-US" sz="2800" dirty="0"/>
              <a:t>, example walkthrough, and complexity analysis</a:t>
            </a:r>
          </a:p>
          <a:p>
            <a:pPr marL="342900" indent="-342900">
              <a:buFont typeface="Arial" pitchFamily="34" charset="0"/>
              <a:buChar char="•"/>
            </a:pPr>
            <a:r>
              <a:rPr lang="en-US" sz="2800" dirty="0"/>
              <a:t>Selection Sort – Concept, algorithm, </a:t>
            </a:r>
            <a:r>
              <a:rPr lang="en-US" sz="2800" dirty="0" err="1"/>
              <a:t>pseudocode</a:t>
            </a:r>
            <a:r>
              <a:rPr lang="en-US" sz="2800" dirty="0"/>
              <a:t>, example walkthrough, and complexity analysis</a:t>
            </a:r>
          </a:p>
          <a:p>
            <a:pPr marL="342900" indent="-342900">
              <a:buFont typeface="Arial" pitchFamily="34" charset="0"/>
              <a:buChar char="•"/>
            </a:pPr>
            <a:r>
              <a:rPr lang="en-US" sz="2800" dirty="0"/>
              <a:t>Summary &amp; Q/A</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Tree>
    <p:extLst>
      <p:ext uri="{BB962C8B-B14F-4D97-AF65-F5344CB8AC3E}">
        <p14:creationId xmlns:p14="http://schemas.microsoft.com/office/powerpoint/2010/main" val="3560614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6</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
        <p:nvSpPr>
          <p:cNvPr id="4" name="TextBox 3"/>
          <p:cNvSpPr txBox="1"/>
          <p:nvPr/>
        </p:nvSpPr>
        <p:spPr>
          <a:xfrm>
            <a:off x="1514475" y="1400175"/>
            <a:ext cx="9401175" cy="4308872"/>
          </a:xfrm>
          <a:prstGeom prst="rect">
            <a:avLst/>
          </a:prstGeom>
          <a:noFill/>
        </p:spPr>
        <p:txBody>
          <a:bodyPr wrap="square" rtlCol="0">
            <a:spAutoFit/>
          </a:bodyPr>
          <a:lstStyle/>
          <a:p>
            <a:r>
              <a:rPr lang="en-US" b="1" dirty="0">
                <a:solidFill>
                  <a:srgbClr val="25265E"/>
                </a:solidFill>
                <a:latin typeface="euclid_circular_a"/>
              </a:rPr>
              <a:t>Different Sorting Algorithms</a:t>
            </a:r>
          </a:p>
          <a:p>
            <a:endParaRPr lang="en-US" sz="2000" b="1" dirty="0">
              <a:solidFill>
                <a:srgbClr val="25265E"/>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solidFill>
                  <a:srgbClr val="00B0F0"/>
                </a:solidFill>
                <a:latin typeface="Times New Roman" panose="02020603050405020304" pitchFamily="18" charset="0"/>
                <a:cs typeface="Times New Roman" panose="02020603050405020304" pitchFamily="18" charset="0"/>
              </a:rPr>
              <a:t>Bubble Sort</a:t>
            </a:r>
          </a:p>
          <a:p>
            <a:pPr>
              <a:buFont typeface="Arial" panose="020B0604020202020204" pitchFamily="34" charset="0"/>
              <a:buChar char="•"/>
            </a:pPr>
            <a:r>
              <a:rPr lang="en-US" sz="2000" dirty="0">
                <a:solidFill>
                  <a:schemeClr val="accent1"/>
                </a:solidFill>
                <a:latin typeface="Times New Roman" panose="02020603050405020304" pitchFamily="18" charset="0"/>
                <a:cs typeface="Times New Roman" panose="02020603050405020304" pitchFamily="18" charset="0"/>
              </a:rPr>
              <a:t>Selection Sort</a:t>
            </a:r>
          </a:p>
          <a:p>
            <a:pPr>
              <a:buFont typeface="Arial" panose="020B0604020202020204" pitchFamily="34" charset="0"/>
              <a:buChar char="•"/>
            </a:pPr>
            <a:r>
              <a:rPr lang="en-US" sz="2000" dirty="0">
                <a:solidFill>
                  <a:schemeClr val="accent1"/>
                </a:solidFill>
                <a:latin typeface="Times New Roman" panose="02020603050405020304" pitchFamily="18" charset="0"/>
                <a:cs typeface="Times New Roman" panose="02020603050405020304" pitchFamily="18" charset="0"/>
              </a:rPr>
              <a:t>Insertion Sort</a:t>
            </a:r>
          </a:p>
          <a:p>
            <a:pPr>
              <a:buFont typeface="Arial" panose="020B0604020202020204" pitchFamily="34" charset="0"/>
              <a:buChar char="•"/>
            </a:pPr>
            <a:r>
              <a:rPr lang="en-US" sz="2000" dirty="0">
                <a:solidFill>
                  <a:srgbClr val="00B0F0"/>
                </a:solidFill>
                <a:latin typeface="Times New Roman" panose="02020603050405020304" pitchFamily="18" charset="0"/>
                <a:cs typeface="Times New Roman" panose="02020603050405020304" pitchFamily="18" charset="0"/>
              </a:rPr>
              <a:t>Merge Sort</a:t>
            </a:r>
          </a:p>
          <a:p>
            <a:pPr>
              <a:buFont typeface="Arial" panose="020B0604020202020204" pitchFamily="34" charset="0"/>
              <a:buChar char="•"/>
            </a:pPr>
            <a:r>
              <a:rPr lang="en-US" sz="2000" dirty="0">
                <a:solidFill>
                  <a:srgbClr val="00B0F0"/>
                </a:solidFill>
                <a:latin typeface="Times New Roman" panose="02020603050405020304" pitchFamily="18" charset="0"/>
                <a:cs typeface="Times New Roman" panose="02020603050405020304" pitchFamily="18" charset="0"/>
              </a:rPr>
              <a:t>Quicksort</a:t>
            </a:r>
          </a:p>
          <a:p>
            <a:pPr>
              <a:buFont typeface="Arial" panose="020B0604020202020204" pitchFamily="34" charset="0"/>
              <a:buChar char="•"/>
            </a:pPr>
            <a:r>
              <a:rPr lang="en-US" sz="2000" dirty="0">
                <a:solidFill>
                  <a:srgbClr val="00B0F0"/>
                </a:solidFill>
                <a:latin typeface="Times New Roman" panose="02020603050405020304" pitchFamily="18" charset="0"/>
                <a:cs typeface="Times New Roman" panose="02020603050405020304" pitchFamily="18" charset="0"/>
              </a:rPr>
              <a:t>Counting Sort</a:t>
            </a:r>
          </a:p>
          <a:p>
            <a:pPr>
              <a:buFont typeface="Arial" panose="020B0604020202020204" pitchFamily="34" charset="0"/>
              <a:buChar char="•"/>
            </a:pPr>
            <a:r>
              <a:rPr lang="en-US" sz="2000" dirty="0">
                <a:solidFill>
                  <a:srgbClr val="00B0F0"/>
                </a:solidFill>
                <a:latin typeface="Times New Roman" panose="02020603050405020304" pitchFamily="18" charset="0"/>
                <a:cs typeface="Times New Roman" panose="02020603050405020304" pitchFamily="18" charset="0"/>
              </a:rPr>
              <a:t>Radix Sort</a:t>
            </a:r>
          </a:p>
          <a:p>
            <a:pPr>
              <a:buFont typeface="Arial" panose="020B0604020202020204" pitchFamily="34" charset="0"/>
              <a:buChar char="•"/>
            </a:pPr>
            <a:r>
              <a:rPr lang="en-US" sz="2000" dirty="0">
                <a:solidFill>
                  <a:srgbClr val="00B0F0"/>
                </a:solidFill>
                <a:latin typeface="Times New Roman" panose="02020603050405020304" pitchFamily="18" charset="0"/>
                <a:cs typeface="Times New Roman" panose="02020603050405020304" pitchFamily="18" charset="0"/>
              </a:rPr>
              <a:t>Bucket Sort</a:t>
            </a:r>
          </a:p>
          <a:p>
            <a:pPr>
              <a:buFont typeface="Arial" panose="020B0604020202020204" pitchFamily="34" charset="0"/>
              <a:buChar char="•"/>
            </a:pPr>
            <a:r>
              <a:rPr lang="en-US" sz="2000" dirty="0">
                <a:solidFill>
                  <a:srgbClr val="00B0F0"/>
                </a:solidFill>
                <a:latin typeface="Times New Roman" panose="02020603050405020304" pitchFamily="18" charset="0"/>
                <a:cs typeface="Times New Roman" panose="02020603050405020304" pitchFamily="18" charset="0"/>
              </a:rPr>
              <a:t>Heap Sort</a:t>
            </a:r>
          </a:p>
          <a:p>
            <a:pPr>
              <a:buFont typeface="Arial" panose="020B0604020202020204" pitchFamily="34" charset="0"/>
              <a:buChar char="•"/>
            </a:pPr>
            <a:r>
              <a:rPr lang="en-US" sz="2000" dirty="0">
                <a:solidFill>
                  <a:srgbClr val="00B0F0"/>
                </a:solidFill>
                <a:latin typeface="Times New Roman" panose="02020603050405020304" pitchFamily="18" charset="0"/>
                <a:cs typeface="Times New Roman" panose="02020603050405020304" pitchFamily="18" charset="0"/>
              </a:rPr>
              <a:t>Shell Sort</a:t>
            </a:r>
          </a:p>
          <a:p>
            <a:br>
              <a:rPr lang="en-US" dirty="0"/>
            </a:br>
            <a:endParaRPr lang="en-US" b="1" i="0" dirty="0">
              <a:solidFill>
                <a:srgbClr val="25265E"/>
              </a:solidFill>
              <a:effectLst/>
              <a:latin typeface="euclid_circular_a"/>
            </a:endParaRPr>
          </a:p>
        </p:txBody>
      </p:sp>
    </p:spTree>
    <p:extLst>
      <p:ext uri="{BB962C8B-B14F-4D97-AF65-F5344CB8AC3E}">
        <p14:creationId xmlns:p14="http://schemas.microsoft.com/office/powerpoint/2010/main" val="338602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7</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23333" y="1854964"/>
            <a:ext cx="10795098" cy="2800767"/>
          </a:xfrm>
          <a:prstGeom prst="rect">
            <a:avLst/>
          </a:prstGeom>
          <a:noFill/>
        </p:spPr>
        <p:txBody>
          <a:bodyPr wrap="square">
            <a:spAutoFit/>
          </a:bodyPr>
          <a:lstStyle/>
          <a:p>
            <a:pPr lvl="0"/>
            <a:r>
              <a:rPr lang="en-US" sz="2800" dirty="0">
                <a:latin typeface="Times New Roman" panose="02020603050405020304" pitchFamily="18" charset="0"/>
                <a:cs typeface="Times New Roman" panose="02020603050405020304" pitchFamily="18" charset="0"/>
              </a:rPr>
              <a:t>What is Insertion Sort?</a:t>
            </a:r>
          </a:p>
          <a:p>
            <a:pPr marL="457200" lvl="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Insertion sort is a simple sorting algorithm that works by iteratively inserting each element of an unsorted list into its correct position in a sorted portion of the list. It is like sorting playing cards in your hands. You split the cards into two groups: the sorted cards and the unsorted cards. Then, you pick a card from the unsorted group and put it in the right place in the sorted group.</a:t>
            </a:r>
          </a:p>
          <a:p>
            <a:pPr marL="457200" lvl="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872618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8</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38200" y="1652040"/>
            <a:ext cx="10795098" cy="3539430"/>
          </a:xfrm>
          <a:prstGeom prst="rect">
            <a:avLst/>
          </a:prstGeom>
          <a:noFill/>
        </p:spPr>
        <p:txBody>
          <a:bodyPr wrap="square">
            <a:spAutoFit/>
          </a:bodyPr>
          <a:lstStyle/>
          <a:p>
            <a:pPr lvl="0"/>
            <a:r>
              <a:rPr lang="en-US" sz="2800" dirty="0">
                <a:latin typeface="Times New Roman" panose="02020603050405020304" pitchFamily="18" charset="0"/>
                <a:cs typeface="Times New Roman" panose="02020603050405020304" pitchFamily="18" charset="0"/>
              </a:rPr>
              <a:t>Insertion Sort Algorithm</a:t>
            </a:r>
          </a:p>
          <a:p>
            <a:r>
              <a:rPr lang="en-US" sz="2400" b="1" dirty="0">
                <a:solidFill>
                  <a:srgbClr val="000000"/>
                </a:solidFill>
                <a:latin typeface="Times New Roman" panose="02020603050405020304" pitchFamily="18" charset="0"/>
                <a:cs typeface="Times New Roman" panose="02020603050405020304" pitchFamily="18" charset="0"/>
              </a:rPr>
              <a:t>Step 1 </a:t>
            </a:r>
            <a:r>
              <a:rPr lang="en-US" sz="2400" dirty="0">
                <a:solidFill>
                  <a:srgbClr val="000000"/>
                </a:solidFill>
                <a:latin typeface="Times New Roman" panose="02020603050405020304" pitchFamily="18" charset="0"/>
                <a:cs typeface="Times New Roman" panose="02020603050405020304" pitchFamily="18" charset="0"/>
              </a:rPr>
              <a:t>− If it is the first element, it is already sorted. return 1;</a:t>
            </a:r>
          </a:p>
          <a:p>
            <a:r>
              <a:rPr lang="en-US" sz="2400" b="1" dirty="0">
                <a:solidFill>
                  <a:srgbClr val="000000"/>
                </a:solidFill>
                <a:latin typeface="Times New Roman" panose="02020603050405020304" pitchFamily="18" charset="0"/>
                <a:cs typeface="Times New Roman" panose="02020603050405020304" pitchFamily="18" charset="0"/>
              </a:rPr>
              <a:t>Step 2 </a:t>
            </a:r>
            <a:r>
              <a:rPr lang="en-US" sz="2400" dirty="0">
                <a:solidFill>
                  <a:srgbClr val="000000"/>
                </a:solidFill>
                <a:latin typeface="Times New Roman" panose="02020603050405020304" pitchFamily="18" charset="0"/>
                <a:cs typeface="Times New Roman" panose="02020603050405020304" pitchFamily="18" charset="0"/>
              </a:rPr>
              <a:t>− Pick next element</a:t>
            </a:r>
          </a:p>
          <a:p>
            <a:r>
              <a:rPr lang="en-US" sz="2400" b="1" dirty="0">
                <a:solidFill>
                  <a:srgbClr val="000000"/>
                </a:solidFill>
                <a:latin typeface="Times New Roman" panose="02020603050405020304" pitchFamily="18" charset="0"/>
                <a:cs typeface="Times New Roman" panose="02020603050405020304" pitchFamily="18" charset="0"/>
              </a:rPr>
              <a:t>Step 3 </a:t>
            </a:r>
            <a:r>
              <a:rPr lang="en-US" sz="2400" dirty="0">
                <a:solidFill>
                  <a:srgbClr val="000000"/>
                </a:solidFill>
                <a:latin typeface="Times New Roman" panose="02020603050405020304" pitchFamily="18" charset="0"/>
                <a:cs typeface="Times New Roman" panose="02020603050405020304" pitchFamily="18" charset="0"/>
              </a:rPr>
              <a:t>− Compare with all elements in the sorted sub-list</a:t>
            </a:r>
          </a:p>
          <a:p>
            <a:r>
              <a:rPr lang="en-US" sz="2400" b="1" dirty="0">
                <a:solidFill>
                  <a:srgbClr val="000000"/>
                </a:solidFill>
                <a:latin typeface="Times New Roman" panose="02020603050405020304" pitchFamily="18" charset="0"/>
                <a:cs typeface="Times New Roman" panose="02020603050405020304" pitchFamily="18" charset="0"/>
              </a:rPr>
              <a:t>Step 4 </a:t>
            </a:r>
            <a:r>
              <a:rPr lang="en-US" sz="2400" dirty="0">
                <a:solidFill>
                  <a:srgbClr val="000000"/>
                </a:solidFill>
                <a:latin typeface="Times New Roman" panose="02020603050405020304" pitchFamily="18" charset="0"/>
                <a:cs typeface="Times New Roman" panose="02020603050405020304" pitchFamily="18" charset="0"/>
              </a:rPr>
              <a:t>− Shift all the elements in the sorted sub-list that is greater than the value to be sorted</a:t>
            </a:r>
          </a:p>
          <a:p>
            <a:r>
              <a:rPr lang="en-US" sz="2400" b="1" dirty="0">
                <a:solidFill>
                  <a:srgbClr val="000000"/>
                </a:solidFill>
                <a:latin typeface="Times New Roman" panose="02020603050405020304" pitchFamily="18" charset="0"/>
                <a:cs typeface="Times New Roman" panose="02020603050405020304" pitchFamily="18" charset="0"/>
              </a:rPr>
              <a:t>Step 5 </a:t>
            </a:r>
            <a:r>
              <a:rPr lang="en-US" sz="2400" dirty="0">
                <a:solidFill>
                  <a:srgbClr val="000000"/>
                </a:solidFill>
                <a:latin typeface="Times New Roman" panose="02020603050405020304" pitchFamily="18" charset="0"/>
                <a:cs typeface="Times New Roman" panose="02020603050405020304" pitchFamily="18" charset="0"/>
              </a:rPr>
              <a:t>− Insert the value</a:t>
            </a:r>
          </a:p>
          <a:p>
            <a:r>
              <a:rPr lang="en-US" sz="2400" b="1" dirty="0">
                <a:solidFill>
                  <a:srgbClr val="000000"/>
                </a:solidFill>
                <a:latin typeface="Times New Roman" panose="02020603050405020304" pitchFamily="18" charset="0"/>
                <a:cs typeface="Times New Roman" panose="02020603050405020304" pitchFamily="18" charset="0"/>
              </a:rPr>
              <a:t>Step 6 </a:t>
            </a:r>
            <a:r>
              <a:rPr lang="en-US" sz="2400" dirty="0">
                <a:solidFill>
                  <a:srgbClr val="000000"/>
                </a:solidFill>
                <a:latin typeface="Times New Roman" panose="02020603050405020304" pitchFamily="18" charset="0"/>
                <a:cs typeface="Times New Roman" panose="02020603050405020304" pitchFamily="18" charset="0"/>
              </a:rPr>
              <a:t>− Repeat until list is sorted</a:t>
            </a:r>
          </a:p>
          <a:p>
            <a:pPr marL="457200" lvl="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2602571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9</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2" name="Picture 1"/>
          <p:cNvPicPr>
            <a:picLocks noChangeAspect="1"/>
          </p:cNvPicPr>
          <p:nvPr/>
        </p:nvPicPr>
        <p:blipFill>
          <a:blip r:embed="rId4"/>
          <a:stretch>
            <a:fillRect/>
          </a:stretch>
        </p:blipFill>
        <p:spPr>
          <a:xfrm>
            <a:off x="2297299" y="1958132"/>
            <a:ext cx="7620000" cy="3810000"/>
          </a:xfrm>
          <a:prstGeom prst="rect">
            <a:avLst/>
          </a:prstGeom>
        </p:spPr>
      </p:pic>
    </p:spTree>
    <p:extLst>
      <p:ext uri="{BB962C8B-B14F-4D97-AF65-F5344CB8AC3E}">
        <p14:creationId xmlns:p14="http://schemas.microsoft.com/office/powerpoint/2010/main" val="2861441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10</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3" name="Picture 2"/>
          <p:cNvPicPr>
            <a:picLocks noChangeAspect="1"/>
          </p:cNvPicPr>
          <p:nvPr/>
        </p:nvPicPr>
        <p:blipFill>
          <a:blip r:embed="rId4"/>
          <a:stretch>
            <a:fillRect/>
          </a:stretch>
        </p:blipFill>
        <p:spPr>
          <a:xfrm>
            <a:off x="2286000" y="1524000"/>
            <a:ext cx="7620000" cy="3810000"/>
          </a:xfrm>
          <a:prstGeom prst="rect">
            <a:avLst/>
          </a:prstGeom>
        </p:spPr>
      </p:pic>
    </p:spTree>
    <p:extLst>
      <p:ext uri="{BB962C8B-B14F-4D97-AF65-F5344CB8AC3E}">
        <p14:creationId xmlns:p14="http://schemas.microsoft.com/office/powerpoint/2010/main" val="2903124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11</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4" name="Picture 3"/>
          <p:cNvPicPr>
            <a:picLocks noChangeAspect="1"/>
          </p:cNvPicPr>
          <p:nvPr/>
        </p:nvPicPr>
        <p:blipFill>
          <a:blip r:embed="rId4"/>
          <a:stretch>
            <a:fillRect/>
          </a:stretch>
        </p:blipFill>
        <p:spPr>
          <a:xfrm>
            <a:off x="2285847" y="1765810"/>
            <a:ext cx="7620000" cy="3810000"/>
          </a:xfrm>
          <a:prstGeom prst="rect">
            <a:avLst/>
          </a:prstGeom>
        </p:spPr>
      </p:pic>
    </p:spTree>
    <p:extLst>
      <p:ext uri="{BB962C8B-B14F-4D97-AF65-F5344CB8AC3E}">
        <p14:creationId xmlns:p14="http://schemas.microsoft.com/office/powerpoint/2010/main" val="3063067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12</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2" name="Picture 1"/>
          <p:cNvPicPr>
            <a:picLocks noChangeAspect="1"/>
          </p:cNvPicPr>
          <p:nvPr/>
        </p:nvPicPr>
        <p:blipFill>
          <a:blip r:embed="rId4"/>
          <a:stretch>
            <a:fillRect/>
          </a:stretch>
        </p:blipFill>
        <p:spPr>
          <a:xfrm>
            <a:off x="2285847" y="1663946"/>
            <a:ext cx="7620000" cy="3810000"/>
          </a:xfrm>
          <a:prstGeom prst="rect">
            <a:avLst/>
          </a:prstGeom>
        </p:spPr>
      </p:pic>
    </p:spTree>
    <p:extLst>
      <p:ext uri="{BB962C8B-B14F-4D97-AF65-F5344CB8AC3E}">
        <p14:creationId xmlns:p14="http://schemas.microsoft.com/office/powerpoint/2010/main" val="1947721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13</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3" name="Picture 2"/>
          <p:cNvPicPr>
            <a:picLocks noChangeAspect="1"/>
          </p:cNvPicPr>
          <p:nvPr/>
        </p:nvPicPr>
        <p:blipFill>
          <a:blip r:embed="rId4"/>
          <a:stretch>
            <a:fillRect/>
          </a:stretch>
        </p:blipFill>
        <p:spPr>
          <a:xfrm>
            <a:off x="2362200" y="1765810"/>
            <a:ext cx="7620000" cy="3810000"/>
          </a:xfrm>
          <a:prstGeom prst="rect">
            <a:avLst/>
          </a:prstGeom>
        </p:spPr>
      </p:pic>
    </p:spTree>
    <p:extLst>
      <p:ext uri="{BB962C8B-B14F-4D97-AF65-F5344CB8AC3E}">
        <p14:creationId xmlns:p14="http://schemas.microsoft.com/office/powerpoint/2010/main" val="3563637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14</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4457700" y="485775"/>
            <a:ext cx="6300866" cy="884140"/>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4" name="TextBox 3"/>
          <p:cNvSpPr txBox="1"/>
          <p:nvPr/>
        </p:nvSpPr>
        <p:spPr>
          <a:xfrm>
            <a:off x="2002749" y="1369915"/>
            <a:ext cx="7226976" cy="369332"/>
          </a:xfrm>
          <a:prstGeom prst="rect">
            <a:avLst/>
          </a:prstGeom>
          <a:noFill/>
        </p:spPr>
        <p:txBody>
          <a:bodyPr wrap="square" rtlCol="0">
            <a:spAutoFit/>
          </a:bodyPr>
          <a:lstStyle/>
          <a:p>
            <a:r>
              <a:rPr lang="en-US" dirty="0"/>
              <a:t>Activity 1: Think-Pair Share Activity</a:t>
            </a:r>
          </a:p>
        </p:txBody>
      </p:sp>
      <p:pic>
        <p:nvPicPr>
          <p:cNvPr id="16" name="Picture 15">
            <a:extLst>
              <a:ext uri="{FF2B5EF4-FFF2-40B4-BE49-F238E27FC236}">
                <a16:creationId xmlns:a16="http://schemas.microsoft.com/office/drawing/2014/main" id="{7194518B-E1B7-CB36-CA43-B1BF3000A9AF}"/>
              </a:ext>
            </a:extLst>
          </p:cNvPr>
          <p:cNvPicPr>
            <a:picLocks noChangeAspect="1"/>
          </p:cNvPicPr>
          <p:nvPr/>
        </p:nvPicPr>
        <p:blipFill>
          <a:blip r:embed="rId4"/>
          <a:stretch>
            <a:fillRect/>
          </a:stretch>
        </p:blipFill>
        <p:spPr>
          <a:xfrm>
            <a:off x="891907" y="2025577"/>
            <a:ext cx="10408185" cy="3798279"/>
          </a:xfrm>
          <a:prstGeom prst="rect">
            <a:avLst/>
          </a:prstGeom>
        </p:spPr>
      </p:pic>
    </p:spTree>
    <p:extLst>
      <p:ext uri="{BB962C8B-B14F-4D97-AF65-F5344CB8AC3E}">
        <p14:creationId xmlns:p14="http://schemas.microsoft.com/office/powerpoint/2010/main" val="3630834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15</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latin typeface="Tahoma" panose="020B0604030504040204" pitchFamily="34" charset="0"/>
                <a:ea typeface="Tahoma" panose="020B0604030504040204" pitchFamily="34" charset="0"/>
                <a:cs typeface="Tahoma" panose="020B0604030504040204" pitchFamily="34" charset="0"/>
              </a:rPr>
              <a:t>Insertion Sort </a:t>
            </a:r>
            <a:r>
              <a:rPr lang="en-US" sz="2800" b="1" dirty="0" err="1">
                <a:latin typeface="Tahoma" panose="020B0604030504040204" pitchFamily="34" charset="0"/>
                <a:ea typeface="Tahoma" panose="020B0604030504040204" pitchFamily="34" charset="0"/>
                <a:cs typeface="Tahoma" panose="020B0604030504040204" pitchFamily="34" charset="0"/>
              </a:rPr>
              <a:t>Psuedocode</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38200" y="1256190"/>
            <a:ext cx="10795098" cy="523220"/>
          </a:xfrm>
          <a:prstGeom prst="rect">
            <a:avLst/>
          </a:prstGeom>
          <a:noFill/>
        </p:spPr>
        <p:txBody>
          <a:bodyPr wrap="square">
            <a:spAutoFit/>
          </a:bodyPr>
          <a:lstStyle/>
          <a:p>
            <a:endParaRPr lang="en-US" sz="2800" b="0" i="0" dirty="0">
              <a:solidFill>
                <a:srgbClr val="000000"/>
              </a:solidFill>
              <a:effectLst/>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3" name="Picture 2"/>
          <p:cNvPicPr>
            <a:picLocks noChangeAspect="1"/>
          </p:cNvPicPr>
          <p:nvPr/>
        </p:nvPicPr>
        <p:blipFill>
          <a:blip r:embed="rId4"/>
          <a:stretch>
            <a:fillRect/>
          </a:stretch>
        </p:blipFill>
        <p:spPr>
          <a:xfrm>
            <a:off x="1780385" y="1408023"/>
            <a:ext cx="9035055" cy="5272074"/>
          </a:xfrm>
          <a:prstGeom prst="rect">
            <a:avLst/>
          </a:prstGeom>
        </p:spPr>
      </p:pic>
    </p:spTree>
    <p:extLst>
      <p:ext uri="{BB962C8B-B14F-4D97-AF65-F5344CB8AC3E}">
        <p14:creationId xmlns:p14="http://schemas.microsoft.com/office/powerpoint/2010/main" val="3814612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16</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fontScale="90000"/>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t>Classification / Types of Data Structures</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2" name="TextBox 1"/>
          <p:cNvSpPr txBox="1"/>
          <p:nvPr/>
        </p:nvSpPr>
        <p:spPr>
          <a:xfrm>
            <a:off x="671513" y="1614488"/>
            <a:ext cx="10682287" cy="3139321"/>
          </a:xfrm>
          <a:prstGeom prst="rect">
            <a:avLst/>
          </a:prstGeom>
          <a:noFill/>
        </p:spPr>
        <p:txBody>
          <a:bodyPr wrap="square" rtlCol="0">
            <a:spAutoFit/>
          </a:bodyPr>
          <a:lstStyle/>
          <a:p>
            <a:pPr fontAlgn="base"/>
            <a:r>
              <a:rPr lang="en-US" b="1" dirty="0"/>
              <a:t>Complexity Analysis of Insertion Sort</a:t>
            </a:r>
          </a:p>
          <a:p>
            <a:pPr fontAlgn="base"/>
            <a:endParaRPr lang="en-US" b="1" dirty="0"/>
          </a:p>
          <a:p>
            <a:pPr fontAlgn="base"/>
            <a:r>
              <a:rPr lang="en-US" b="1" dirty="0"/>
              <a:t>Time Complexity</a:t>
            </a:r>
          </a:p>
          <a:p>
            <a:pPr fontAlgn="base"/>
            <a:endParaRPr lang="en-US" dirty="0"/>
          </a:p>
          <a:p>
            <a:pPr fontAlgn="base"/>
            <a:r>
              <a:rPr lang="en-US" b="1" dirty="0"/>
              <a:t>Best case: O(n)</a:t>
            </a:r>
            <a:r>
              <a:rPr lang="en-US" dirty="0"/>
              <a:t>, If the list is already sorted, where n is the number of elements in the list.</a:t>
            </a:r>
          </a:p>
          <a:p>
            <a:pPr fontAlgn="base"/>
            <a:r>
              <a:rPr lang="en-US" b="1" dirty="0"/>
              <a:t>Average case: O(n</a:t>
            </a:r>
            <a:r>
              <a:rPr lang="en-US" b="1" baseline="30000" dirty="0"/>
              <a:t>2</a:t>
            </a:r>
            <a:r>
              <a:rPr lang="en-US" b="1" dirty="0"/>
              <a:t>)</a:t>
            </a:r>
            <a:r>
              <a:rPr lang="en-US" dirty="0"/>
              <a:t>, If the list is randomly ordered</a:t>
            </a:r>
          </a:p>
          <a:p>
            <a:pPr fontAlgn="base"/>
            <a:r>
              <a:rPr lang="en-US" b="1" dirty="0"/>
              <a:t>Worst case: O(n</a:t>
            </a:r>
            <a:r>
              <a:rPr lang="en-US" b="1" baseline="30000" dirty="0"/>
              <a:t>2</a:t>
            </a:r>
            <a:r>
              <a:rPr lang="en-US" b="1" dirty="0"/>
              <a:t>)</a:t>
            </a:r>
            <a:r>
              <a:rPr lang="en-US" dirty="0"/>
              <a:t>, If the list is in reverse order</a:t>
            </a:r>
          </a:p>
          <a:p>
            <a:pPr fontAlgn="base"/>
            <a:r>
              <a:rPr lang="en-US" b="1" dirty="0"/>
              <a:t>Space Complexity</a:t>
            </a:r>
          </a:p>
          <a:p>
            <a:pPr fontAlgn="base"/>
            <a:endParaRPr lang="en-US" dirty="0"/>
          </a:p>
          <a:p>
            <a:pPr fontAlgn="base"/>
            <a:r>
              <a:rPr lang="en-US" b="1" dirty="0"/>
              <a:t>Auxiliary Space: </a:t>
            </a:r>
            <a:r>
              <a:rPr lang="en-US" dirty="0"/>
              <a:t>O(1), Insertion sort requires </a:t>
            </a:r>
            <a:r>
              <a:rPr lang="en-US" b="1" dirty="0"/>
              <a:t>O(1) </a:t>
            </a:r>
            <a:r>
              <a:rPr lang="en-US" dirty="0"/>
              <a:t>additional space, making it a space-efficient sorting algorithm.</a:t>
            </a:r>
          </a:p>
        </p:txBody>
      </p:sp>
    </p:spTree>
    <p:extLst>
      <p:ext uri="{BB962C8B-B14F-4D97-AF65-F5344CB8AC3E}">
        <p14:creationId xmlns:p14="http://schemas.microsoft.com/office/powerpoint/2010/main" val="20967146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17</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t>Selection Sort</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2" name="TextBox 1"/>
          <p:cNvSpPr txBox="1"/>
          <p:nvPr/>
        </p:nvSpPr>
        <p:spPr>
          <a:xfrm>
            <a:off x="671513" y="1614488"/>
            <a:ext cx="10682287" cy="1569660"/>
          </a:xfrm>
          <a:prstGeom prst="rect">
            <a:avLst/>
          </a:prstGeom>
          <a:noFill/>
        </p:spPr>
        <p:txBody>
          <a:bodyPr wrap="square" rtlCol="0">
            <a:spAutoFit/>
          </a:bodyPr>
          <a:lstStyle/>
          <a:p>
            <a:pPr algn="just" fontAlgn="base"/>
            <a:r>
              <a:rPr lang="en-US" sz="2400" b="1" dirty="0">
                <a:solidFill>
                  <a:srgbClr val="273239"/>
                </a:solidFill>
                <a:latin typeface="Times New Roman" panose="02020603050405020304" pitchFamily="18" charset="0"/>
                <a:cs typeface="Times New Roman" panose="02020603050405020304" pitchFamily="18" charset="0"/>
              </a:rPr>
              <a:t>Selection Sort</a:t>
            </a:r>
            <a:r>
              <a:rPr lang="en-US" sz="2400" dirty="0">
                <a:solidFill>
                  <a:srgbClr val="273239"/>
                </a:solidFill>
                <a:latin typeface="Times New Roman" panose="02020603050405020304" pitchFamily="18" charset="0"/>
                <a:cs typeface="Times New Roman" panose="02020603050405020304" pitchFamily="18" charset="0"/>
              </a:rPr>
              <a:t> is a comparison-based sorting algorithm. It sorts an array by repeatedly selecting the smallest (or largest) element from the unsorted portion and swapping it with the first unsorted element. This process continues until the entire array is sorted.</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188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18</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t>Selection Sort</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2" name="TextBox 1"/>
          <p:cNvSpPr txBox="1"/>
          <p:nvPr/>
        </p:nvSpPr>
        <p:spPr>
          <a:xfrm>
            <a:off x="671513" y="1614488"/>
            <a:ext cx="10682287" cy="4154984"/>
          </a:xfrm>
          <a:prstGeom prst="rect">
            <a:avLst/>
          </a:prstGeom>
          <a:noFill/>
        </p:spPr>
        <p:txBody>
          <a:bodyPr wrap="square" rtlCol="0">
            <a:spAutoFit/>
          </a:bodyPr>
          <a:lstStyle/>
          <a:p>
            <a:pPr algn="just" fontAlgn="base"/>
            <a:r>
              <a:rPr lang="en-US" sz="2400" b="1" dirty="0">
                <a:solidFill>
                  <a:srgbClr val="273239"/>
                </a:solidFill>
                <a:latin typeface="Times New Roman" panose="02020603050405020304" pitchFamily="18" charset="0"/>
                <a:cs typeface="Times New Roman" panose="02020603050405020304" pitchFamily="18" charset="0"/>
              </a:rPr>
              <a:t>Selection Sort</a:t>
            </a:r>
            <a:r>
              <a:rPr lang="en-US" sz="2400" dirty="0">
                <a:solidFill>
                  <a:srgbClr val="273239"/>
                </a:solidFill>
                <a:latin typeface="Times New Roman" panose="02020603050405020304" pitchFamily="18" charset="0"/>
                <a:cs typeface="Times New Roman" panose="02020603050405020304" pitchFamily="18" charset="0"/>
              </a:rPr>
              <a:t> is a comparison-based sorting algorithm. It sorts an array by repeatedly selecting the smallest (or largest) element from the unsorted portion and swapping it with the first unsorted element. This process continues until the entire array is sorted.</a:t>
            </a:r>
          </a:p>
          <a:p>
            <a:pPr algn="just" fontAlgn="base"/>
            <a:endParaRPr lang="en-US" sz="2400" dirty="0">
              <a:solidFill>
                <a:srgbClr val="273239"/>
              </a:solidFill>
              <a:latin typeface="Times New Roman" panose="02020603050405020304" pitchFamily="18" charset="0"/>
              <a:cs typeface="Times New Roman" panose="02020603050405020304" pitchFamily="18" charset="0"/>
            </a:endParaRPr>
          </a:p>
          <a:p>
            <a:pPr marL="342900" indent="-34290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First we find the smallest element and swap it with the first element. This way we get the smallest element at its correct position.</a:t>
            </a:r>
          </a:p>
          <a:p>
            <a:pPr marL="342900" indent="-34290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Then we find the smallest among remaining elements (or second smallest) and swap it with the second element.</a:t>
            </a:r>
          </a:p>
          <a:p>
            <a:pPr marL="342900" indent="-342900"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We keep doing this until we get all elements moved to correct position.</a:t>
            </a:r>
          </a:p>
          <a:p>
            <a:pPr algn="just" fontAlgn="base"/>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9016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19</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t>Selection Sort</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3" name="Picture 2"/>
          <p:cNvPicPr>
            <a:picLocks noChangeAspect="1"/>
          </p:cNvPicPr>
          <p:nvPr/>
        </p:nvPicPr>
        <p:blipFill>
          <a:blip r:embed="rId4"/>
          <a:stretch>
            <a:fillRect/>
          </a:stretch>
        </p:blipFill>
        <p:spPr>
          <a:xfrm>
            <a:off x="2002749" y="1771932"/>
            <a:ext cx="8510434" cy="4270176"/>
          </a:xfrm>
          <a:prstGeom prst="rect">
            <a:avLst/>
          </a:prstGeom>
        </p:spPr>
      </p:pic>
    </p:spTree>
    <p:extLst>
      <p:ext uri="{BB962C8B-B14F-4D97-AF65-F5344CB8AC3E}">
        <p14:creationId xmlns:p14="http://schemas.microsoft.com/office/powerpoint/2010/main" val="856572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20</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t>Selection Sort</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2" name="Picture 1"/>
          <p:cNvPicPr>
            <a:picLocks noChangeAspect="1"/>
          </p:cNvPicPr>
          <p:nvPr/>
        </p:nvPicPr>
        <p:blipFill>
          <a:blip r:embed="rId4"/>
          <a:stretch>
            <a:fillRect/>
          </a:stretch>
        </p:blipFill>
        <p:spPr>
          <a:xfrm>
            <a:off x="1834619" y="1648744"/>
            <a:ext cx="8772525" cy="4125339"/>
          </a:xfrm>
          <a:prstGeom prst="rect">
            <a:avLst/>
          </a:prstGeom>
        </p:spPr>
      </p:pic>
    </p:spTree>
    <p:extLst>
      <p:ext uri="{BB962C8B-B14F-4D97-AF65-F5344CB8AC3E}">
        <p14:creationId xmlns:p14="http://schemas.microsoft.com/office/powerpoint/2010/main" val="248965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21</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t>Selection Sort</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3" name="Picture 2"/>
          <p:cNvPicPr>
            <a:picLocks noChangeAspect="1"/>
          </p:cNvPicPr>
          <p:nvPr/>
        </p:nvPicPr>
        <p:blipFill>
          <a:blip r:embed="rId4"/>
          <a:stretch>
            <a:fillRect/>
          </a:stretch>
        </p:blipFill>
        <p:spPr>
          <a:xfrm>
            <a:off x="1943101" y="1495837"/>
            <a:ext cx="8215312" cy="4446638"/>
          </a:xfrm>
          <a:prstGeom prst="rect">
            <a:avLst/>
          </a:prstGeom>
        </p:spPr>
      </p:pic>
    </p:spTree>
    <p:extLst>
      <p:ext uri="{BB962C8B-B14F-4D97-AF65-F5344CB8AC3E}">
        <p14:creationId xmlns:p14="http://schemas.microsoft.com/office/powerpoint/2010/main" val="13692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22</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t>Selection Sort</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2" name="Picture 1"/>
          <p:cNvPicPr>
            <a:picLocks noChangeAspect="1"/>
          </p:cNvPicPr>
          <p:nvPr/>
        </p:nvPicPr>
        <p:blipFill>
          <a:blip r:embed="rId4"/>
          <a:stretch>
            <a:fillRect/>
          </a:stretch>
        </p:blipFill>
        <p:spPr>
          <a:xfrm>
            <a:off x="1957388" y="1690687"/>
            <a:ext cx="8386762" cy="4251788"/>
          </a:xfrm>
          <a:prstGeom prst="rect">
            <a:avLst/>
          </a:prstGeom>
        </p:spPr>
      </p:pic>
    </p:spTree>
    <p:extLst>
      <p:ext uri="{BB962C8B-B14F-4D97-AF65-F5344CB8AC3E}">
        <p14:creationId xmlns:p14="http://schemas.microsoft.com/office/powerpoint/2010/main" val="3238352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23</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t>Selection Sort</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3" name="Picture 2"/>
          <p:cNvPicPr>
            <a:picLocks noChangeAspect="1"/>
          </p:cNvPicPr>
          <p:nvPr/>
        </p:nvPicPr>
        <p:blipFill>
          <a:blip r:embed="rId4"/>
          <a:stretch>
            <a:fillRect/>
          </a:stretch>
        </p:blipFill>
        <p:spPr>
          <a:xfrm>
            <a:off x="2012243" y="1561658"/>
            <a:ext cx="8843962" cy="4380817"/>
          </a:xfrm>
          <a:prstGeom prst="rect">
            <a:avLst/>
          </a:prstGeom>
        </p:spPr>
      </p:pic>
    </p:spTree>
    <p:extLst>
      <p:ext uri="{BB962C8B-B14F-4D97-AF65-F5344CB8AC3E}">
        <p14:creationId xmlns:p14="http://schemas.microsoft.com/office/powerpoint/2010/main" val="3912091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24</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t>Selection Sort</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2" name="Picture 1"/>
          <p:cNvPicPr>
            <a:picLocks noChangeAspect="1"/>
          </p:cNvPicPr>
          <p:nvPr/>
        </p:nvPicPr>
        <p:blipFill>
          <a:blip r:embed="rId4"/>
          <a:stretch>
            <a:fillRect/>
          </a:stretch>
        </p:blipFill>
        <p:spPr>
          <a:xfrm>
            <a:off x="2263080" y="1801651"/>
            <a:ext cx="7629525" cy="3819525"/>
          </a:xfrm>
          <a:prstGeom prst="rect">
            <a:avLst/>
          </a:prstGeom>
        </p:spPr>
      </p:pic>
    </p:spTree>
    <p:extLst>
      <p:ext uri="{BB962C8B-B14F-4D97-AF65-F5344CB8AC3E}">
        <p14:creationId xmlns:p14="http://schemas.microsoft.com/office/powerpoint/2010/main" val="3542493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25</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r>
              <a:rPr lang="en-US" sz="2800" b="1" dirty="0">
                <a:latin typeface="Tahoma" panose="020B0604030504040204" pitchFamily="34" charset="0"/>
                <a:ea typeface="Tahoma" panose="020B0604030504040204" pitchFamily="34" charset="0"/>
                <a:cs typeface="Tahoma" panose="020B0604030504040204" pitchFamily="34" charset="0"/>
              </a:rPr>
              <a:t>Activity</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38200" y="1256190"/>
            <a:ext cx="10795098" cy="523220"/>
          </a:xfrm>
          <a:prstGeom prst="rect">
            <a:avLst/>
          </a:prstGeom>
          <a:noFill/>
        </p:spPr>
        <p:txBody>
          <a:bodyPr wrap="square">
            <a:spAutoFit/>
          </a:bodyPr>
          <a:lstStyle/>
          <a:p>
            <a:endParaRPr lang="en-US" sz="2800" b="0" i="0" dirty="0">
              <a:solidFill>
                <a:srgbClr val="000000"/>
              </a:solidFill>
              <a:effectLst/>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25026644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26</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br>
              <a:rPr lang="en-US" sz="2800" b="1" dirty="0">
                <a:latin typeface="Tahoma" panose="020B0604030504040204" pitchFamily="34" charset="0"/>
                <a:ea typeface="Tahoma" panose="020B0604030504040204" pitchFamily="34" charset="0"/>
                <a:cs typeface="Tahoma" panose="020B0604030504040204" pitchFamily="34" charset="0"/>
              </a:rPr>
            </a:b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838200" y="1256190"/>
            <a:ext cx="10795098" cy="523220"/>
          </a:xfrm>
          <a:prstGeom prst="rect">
            <a:avLst/>
          </a:prstGeom>
          <a:noFill/>
        </p:spPr>
        <p:txBody>
          <a:bodyPr wrap="square">
            <a:spAutoFit/>
          </a:bodyPr>
          <a:lstStyle/>
          <a:p>
            <a:endParaRPr lang="en-US" sz="2800" b="0" i="0" dirty="0">
              <a:solidFill>
                <a:srgbClr val="000000"/>
              </a:solidFill>
              <a:effectLst/>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4" name="Picture 3"/>
          <p:cNvPicPr>
            <a:picLocks noChangeAspect="1"/>
          </p:cNvPicPr>
          <p:nvPr/>
        </p:nvPicPr>
        <p:blipFill>
          <a:blip r:embed="rId4"/>
          <a:stretch>
            <a:fillRect/>
          </a:stretch>
        </p:blipFill>
        <p:spPr>
          <a:xfrm>
            <a:off x="1459119" y="1415443"/>
            <a:ext cx="9553260" cy="5218754"/>
          </a:xfrm>
          <a:prstGeom prst="rect">
            <a:avLst/>
          </a:prstGeom>
        </p:spPr>
      </p:pic>
    </p:spTree>
    <p:extLst>
      <p:ext uri="{BB962C8B-B14F-4D97-AF65-F5344CB8AC3E}">
        <p14:creationId xmlns:p14="http://schemas.microsoft.com/office/powerpoint/2010/main" val="28333547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27</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9" name="Content Placeholder 8">
            <a:extLst>
              <a:ext uri="{FF2B5EF4-FFF2-40B4-BE49-F238E27FC236}">
                <a16:creationId xmlns:a16="http://schemas.microsoft.com/office/drawing/2014/main" id="{FB266FDA-D995-346B-296F-823F9A02134C}"/>
              </a:ext>
            </a:extLst>
          </p:cNvPr>
          <p:cNvSpPr>
            <a:spLocks noGrp="1"/>
          </p:cNvSpPr>
          <p:nvPr>
            <p:ph idx="1"/>
          </p:nvPr>
        </p:nvSpPr>
        <p:spPr>
          <a:xfrm>
            <a:off x="1014187" y="1006840"/>
            <a:ext cx="9144225" cy="5344839"/>
          </a:xfrm>
          <a:noFill/>
          <a:ln>
            <a:noFill/>
          </a:ln>
        </p:spPr>
        <p:style>
          <a:lnRef idx="2">
            <a:schemeClr val="accent1"/>
          </a:lnRef>
          <a:fillRef idx="1">
            <a:schemeClr val="lt1"/>
          </a:fillRef>
          <a:effectRef idx="0">
            <a:schemeClr val="accent1"/>
          </a:effectRef>
          <a:fontRef idx="minor">
            <a:schemeClr val="dk1"/>
          </a:fontRef>
        </p:style>
        <p:txBody>
          <a:bodyPr>
            <a:noAutofit/>
          </a:bodyPr>
          <a:lstStyle/>
          <a:p>
            <a:pPr marL="0" indent="0" fontAlgn="base">
              <a:buNone/>
            </a:pPr>
            <a:r>
              <a:rPr lang="en-US" sz="2400" b="1" dirty="0">
                <a:solidFill>
                  <a:srgbClr val="273239"/>
                </a:solidFill>
                <a:latin typeface="Nunito"/>
              </a:rPr>
              <a:t>Advantages of Selection Sort</a:t>
            </a:r>
          </a:p>
          <a:p>
            <a:pPr fontAlgn="base"/>
            <a:r>
              <a:rPr lang="en-US" sz="2400" dirty="0">
                <a:solidFill>
                  <a:srgbClr val="273239"/>
                </a:solidFill>
                <a:latin typeface="Nunito"/>
              </a:rPr>
              <a:t>Easy to understand and implement, making it ideal for teaching basic sorting concepts.</a:t>
            </a:r>
          </a:p>
          <a:p>
            <a:pPr fontAlgn="base"/>
            <a:r>
              <a:rPr lang="en-US" sz="2400" dirty="0">
                <a:solidFill>
                  <a:srgbClr val="273239"/>
                </a:solidFill>
                <a:latin typeface="Nunito"/>
              </a:rPr>
              <a:t>Requires only a constant O(1) extra memory space.</a:t>
            </a:r>
          </a:p>
          <a:p>
            <a:pPr fontAlgn="base"/>
            <a:r>
              <a:rPr lang="en-US" sz="2400" dirty="0">
                <a:solidFill>
                  <a:srgbClr val="273239"/>
                </a:solidFill>
                <a:latin typeface="Nunito"/>
              </a:rPr>
              <a:t>It requires less number of swaps (or memory writes) compared to many other standard algorithms. </a:t>
            </a:r>
            <a:endParaRPr lang="en-US" sz="2400" b="0" i="0" dirty="0">
              <a:solidFill>
                <a:srgbClr val="273239"/>
              </a:solidFill>
              <a:effectLst/>
              <a:latin typeface="Nunito"/>
            </a:endParaRPr>
          </a:p>
        </p:txBody>
      </p:sp>
      <p:sp>
        <p:nvSpPr>
          <p:cNvPr id="3" name="Rectangle 2"/>
          <p:cNvSpPr/>
          <p:nvPr/>
        </p:nvSpPr>
        <p:spPr>
          <a:xfrm>
            <a:off x="10671589" y="1051175"/>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[5-mins]</a:t>
            </a:r>
          </a:p>
        </p:txBody>
      </p:sp>
      <p:pic>
        <p:nvPicPr>
          <p:cNvPr id="10" name="Picture 9">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2325537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28</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9" name="Content Placeholder 8">
            <a:extLst>
              <a:ext uri="{FF2B5EF4-FFF2-40B4-BE49-F238E27FC236}">
                <a16:creationId xmlns:a16="http://schemas.microsoft.com/office/drawing/2014/main" id="{FB266FDA-D995-346B-296F-823F9A02134C}"/>
              </a:ext>
            </a:extLst>
          </p:cNvPr>
          <p:cNvSpPr>
            <a:spLocks noGrp="1"/>
          </p:cNvSpPr>
          <p:nvPr>
            <p:ph idx="1"/>
          </p:nvPr>
        </p:nvSpPr>
        <p:spPr>
          <a:xfrm>
            <a:off x="1014187" y="1006840"/>
            <a:ext cx="9144225" cy="5344839"/>
          </a:xfrm>
          <a:noFill/>
          <a:ln>
            <a:noFill/>
          </a:ln>
        </p:spPr>
        <p:style>
          <a:lnRef idx="2">
            <a:schemeClr val="accent1"/>
          </a:lnRef>
          <a:fillRef idx="1">
            <a:schemeClr val="lt1"/>
          </a:fillRef>
          <a:effectRef idx="0">
            <a:schemeClr val="accent1"/>
          </a:effectRef>
          <a:fontRef idx="minor">
            <a:schemeClr val="dk1"/>
          </a:fontRef>
        </p:style>
        <p:txBody>
          <a:bodyPr>
            <a:noAutofit/>
          </a:bodyPr>
          <a:lstStyle/>
          <a:p>
            <a:pPr fontAlgn="base"/>
            <a:r>
              <a:rPr lang="en-US" sz="2400" b="1" dirty="0">
                <a:solidFill>
                  <a:srgbClr val="273239"/>
                </a:solidFill>
                <a:latin typeface="Nunito"/>
              </a:rPr>
              <a:t>Disadvantages of the Selection Sort</a:t>
            </a:r>
          </a:p>
          <a:p>
            <a:pPr fontAlgn="base"/>
            <a:r>
              <a:rPr lang="en-US" sz="2400" dirty="0">
                <a:solidFill>
                  <a:srgbClr val="273239"/>
                </a:solidFill>
                <a:latin typeface="Nunito"/>
              </a:rPr>
              <a:t>Selection sort has a time complexity of O(n^2) makes it slower compared to algorithms like </a:t>
            </a:r>
            <a:r>
              <a:rPr lang="en-US" sz="2400" u="sng" dirty="0">
                <a:solidFill>
                  <a:srgbClr val="357960"/>
                </a:solidFill>
                <a:latin typeface="Nunito"/>
                <a:hlinkClick r:id="rId3"/>
              </a:rPr>
              <a:t>Quick Sort</a:t>
            </a:r>
            <a:r>
              <a:rPr lang="en-US" sz="2400" dirty="0">
                <a:solidFill>
                  <a:srgbClr val="273239"/>
                </a:solidFill>
                <a:latin typeface="Nunito"/>
              </a:rPr>
              <a:t> or </a:t>
            </a:r>
            <a:r>
              <a:rPr lang="en-US" sz="2400" u="sng" dirty="0">
                <a:solidFill>
                  <a:srgbClr val="357960"/>
                </a:solidFill>
                <a:latin typeface="Nunito"/>
                <a:hlinkClick r:id="rId4"/>
              </a:rPr>
              <a:t>Merge Sort</a:t>
            </a:r>
            <a:r>
              <a:rPr lang="en-US" sz="2400" dirty="0">
                <a:solidFill>
                  <a:srgbClr val="273239"/>
                </a:solidFill>
                <a:latin typeface="Nunito"/>
              </a:rPr>
              <a:t>.</a:t>
            </a:r>
          </a:p>
          <a:p>
            <a:pPr fontAlgn="base"/>
            <a:r>
              <a:rPr lang="en-US" sz="2400" dirty="0">
                <a:solidFill>
                  <a:srgbClr val="273239"/>
                </a:solidFill>
                <a:latin typeface="Nunito"/>
              </a:rPr>
              <a:t>Does not maintain the relative order of equal elements which means it is not stable.</a:t>
            </a:r>
          </a:p>
          <a:p>
            <a:pPr marL="0" indent="0">
              <a:buNone/>
            </a:pPr>
            <a:br>
              <a:rPr lang="en-US" sz="2400" dirty="0">
                <a:solidFill>
                  <a:srgbClr val="273239"/>
                </a:solidFill>
                <a:latin typeface="Nunito"/>
              </a:rPr>
            </a:br>
            <a:endParaRPr lang="en-US" sz="2400" b="0" i="0" dirty="0">
              <a:solidFill>
                <a:srgbClr val="273239"/>
              </a:solidFill>
              <a:effectLst/>
              <a:latin typeface="Nunito"/>
            </a:endParaRPr>
          </a:p>
        </p:txBody>
      </p:sp>
      <p:sp>
        <p:nvSpPr>
          <p:cNvPr id="3" name="Rectangle 2"/>
          <p:cNvSpPr/>
          <p:nvPr/>
        </p:nvSpPr>
        <p:spPr>
          <a:xfrm>
            <a:off x="10671589" y="1051175"/>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[5-mins]</a:t>
            </a:r>
          </a:p>
        </p:txBody>
      </p:sp>
      <p:pic>
        <p:nvPicPr>
          <p:cNvPr id="10" name="Picture 9">
            <a:extLst>
              <a:ext uri="{FF2B5EF4-FFF2-40B4-BE49-F238E27FC236}">
                <a16:creationId xmlns:a16="http://schemas.microsoft.com/office/drawing/2014/main" id="{E28D1CBC-4D12-D9B9-CD23-7747F5D3D7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3568917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29</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9" name="Content Placeholder 8">
            <a:extLst>
              <a:ext uri="{FF2B5EF4-FFF2-40B4-BE49-F238E27FC236}">
                <a16:creationId xmlns:a16="http://schemas.microsoft.com/office/drawing/2014/main" id="{FB266FDA-D995-346B-296F-823F9A02134C}"/>
              </a:ext>
            </a:extLst>
          </p:cNvPr>
          <p:cNvSpPr>
            <a:spLocks noGrp="1"/>
          </p:cNvSpPr>
          <p:nvPr>
            <p:ph idx="1"/>
          </p:nvPr>
        </p:nvSpPr>
        <p:spPr>
          <a:xfrm>
            <a:off x="1014187" y="1006840"/>
            <a:ext cx="9144225" cy="5344839"/>
          </a:xfrm>
          <a:noFill/>
          <a:ln>
            <a:noFill/>
          </a:ln>
        </p:spPr>
        <p:style>
          <a:lnRef idx="2">
            <a:schemeClr val="accent1"/>
          </a:lnRef>
          <a:fillRef idx="1">
            <a:schemeClr val="lt1"/>
          </a:fillRef>
          <a:effectRef idx="0">
            <a:schemeClr val="accent1"/>
          </a:effectRef>
          <a:fontRef idx="minor">
            <a:schemeClr val="dk1"/>
          </a:fontRef>
        </p:style>
        <p:txBody>
          <a:bodyPr>
            <a:noAutofit/>
          </a:bodyPr>
          <a:lstStyle/>
          <a:p>
            <a:pPr fontAlgn="base"/>
            <a:r>
              <a:rPr lang="en-US" sz="2400" b="1" dirty="0">
                <a:solidFill>
                  <a:srgbClr val="273239"/>
                </a:solidFill>
                <a:latin typeface="Nunito"/>
              </a:rPr>
              <a:t>Complexity Analysis of Selection Sort</a:t>
            </a:r>
          </a:p>
          <a:p>
            <a:pPr fontAlgn="base"/>
            <a:r>
              <a:rPr lang="en-US" sz="2400" b="1" dirty="0">
                <a:solidFill>
                  <a:srgbClr val="273239"/>
                </a:solidFill>
                <a:latin typeface="Nunito"/>
              </a:rPr>
              <a:t>Time Complexity: O(n</a:t>
            </a:r>
            <a:r>
              <a:rPr lang="en-US" sz="2400" b="1" baseline="30000" dirty="0">
                <a:solidFill>
                  <a:srgbClr val="273239"/>
                </a:solidFill>
                <a:latin typeface="Nunito"/>
              </a:rPr>
              <a:t>2</a:t>
            </a:r>
            <a:r>
              <a:rPr lang="en-US" sz="2400" b="1" dirty="0">
                <a:solidFill>
                  <a:srgbClr val="273239"/>
                </a:solidFill>
                <a:latin typeface="Nunito"/>
              </a:rPr>
              <a:t>)</a:t>
            </a:r>
            <a:r>
              <a:rPr lang="en-US" sz="2400" dirty="0">
                <a:solidFill>
                  <a:srgbClr val="273239"/>
                </a:solidFill>
                <a:latin typeface="Nunito"/>
              </a:rPr>
              <a:t> ,as there are two nested loops:</a:t>
            </a:r>
          </a:p>
          <a:p>
            <a:pPr fontAlgn="base"/>
            <a:r>
              <a:rPr lang="en-US" sz="2400" dirty="0">
                <a:solidFill>
                  <a:srgbClr val="273239"/>
                </a:solidFill>
                <a:latin typeface="Nunito"/>
              </a:rPr>
              <a:t>One loop to select an element of Array one by one = O(n)</a:t>
            </a:r>
          </a:p>
          <a:p>
            <a:pPr fontAlgn="base"/>
            <a:r>
              <a:rPr lang="en-US" sz="2400" dirty="0">
                <a:solidFill>
                  <a:srgbClr val="273239"/>
                </a:solidFill>
                <a:latin typeface="Nunito"/>
              </a:rPr>
              <a:t>Another loop to compare that element with every other Array element = O(n)</a:t>
            </a:r>
          </a:p>
          <a:p>
            <a:pPr fontAlgn="base"/>
            <a:r>
              <a:rPr lang="en-US" sz="2400" dirty="0">
                <a:solidFill>
                  <a:srgbClr val="273239"/>
                </a:solidFill>
                <a:latin typeface="Nunito"/>
              </a:rPr>
              <a:t>Therefore overall complexity = O(n) * O(n) = O(n*n) = O(n</a:t>
            </a:r>
            <a:r>
              <a:rPr lang="en-US" sz="2400" baseline="30000" dirty="0">
                <a:solidFill>
                  <a:srgbClr val="273239"/>
                </a:solidFill>
                <a:latin typeface="Nunito"/>
              </a:rPr>
              <a:t>2</a:t>
            </a:r>
            <a:r>
              <a:rPr lang="en-US" sz="2400" dirty="0">
                <a:solidFill>
                  <a:srgbClr val="273239"/>
                </a:solidFill>
                <a:latin typeface="Nunito"/>
              </a:rPr>
              <a:t>)</a:t>
            </a:r>
          </a:p>
          <a:p>
            <a:pPr fontAlgn="base"/>
            <a:r>
              <a:rPr lang="en-US" sz="2400" b="1" dirty="0">
                <a:solidFill>
                  <a:srgbClr val="273239"/>
                </a:solidFill>
                <a:latin typeface="Nunito"/>
              </a:rPr>
              <a:t>Auxiliary Space:</a:t>
            </a:r>
            <a:r>
              <a:rPr lang="en-US" sz="2400" dirty="0">
                <a:solidFill>
                  <a:srgbClr val="273239"/>
                </a:solidFill>
                <a:latin typeface="Nunito"/>
              </a:rPr>
              <a:t> O(1) as the only extra memory used is for temporary variables.</a:t>
            </a:r>
          </a:p>
          <a:p>
            <a:pPr marL="0" indent="0">
              <a:buNone/>
            </a:pPr>
            <a:br>
              <a:rPr lang="en-US" sz="2400" dirty="0">
                <a:solidFill>
                  <a:srgbClr val="273239"/>
                </a:solidFill>
                <a:latin typeface="Nunito"/>
              </a:rPr>
            </a:br>
            <a:endParaRPr lang="en-US" sz="2400" b="0" i="0" dirty="0">
              <a:solidFill>
                <a:srgbClr val="273239"/>
              </a:solidFill>
              <a:effectLst/>
              <a:latin typeface="Nunito"/>
            </a:endParaRPr>
          </a:p>
        </p:txBody>
      </p:sp>
      <p:sp>
        <p:nvSpPr>
          <p:cNvPr id="3" name="Rectangle 2"/>
          <p:cNvSpPr/>
          <p:nvPr/>
        </p:nvSpPr>
        <p:spPr>
          <a:xfrm>
            <a:off x="10671589" y="1051175"/>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[5-mins]</a:t>
            </a:r>
          </a:p>
        </p:txBody>
      </p:sp>
      <p:pic>
        <p:nvPicPr>
          <p:cNvPr id="10" name="Picture 9">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14202"/>
            <a:ext cx="3795634" cy="740238"/>
          </a:xfrm>
          <a:prstGeom prst="rect">
            <a:avLst/>
          </a:prstGeom>
        </p:spPr>
      </p:pic>
    </p:spTree>
    <p:extLst>
      <p:ext uri="{BB962C8B-B14F-4D97-AF65-F5344CB8AC3E}">
        <p14:creationId xmlns:p14="http://schemas.microsoft.com/office/powerpoint/2010/main" val="2080793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30</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941796"/>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Summary</a:t>
            </a:r>
          </a:p>
          <a:p>
            <a:pPr marR="0" lvl="0" algn="ctr" defTabSz="457200" rtl="0" eaLnBrk="1" fontAlgn="auto" latinLnBrk="0" hangingPunct="1">
              <a:lnSpc>
                <a:spcPct val="100000"/>
              </a:lnSpc>
              <a:spcBef>
                <a:spcPct val="20000"/>
              </a:spcBef>
              <a:spcAft>
                <a:spcPts val="0"/>
              </a:spcAft>
              <a:buClrTx/>
              <a:buSzTx/>
              <a:tabLst/>
              <a:defRPr/>
            </a:pPr>
            <a:endPar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sp>
        <p:nvSpPr>
          <p:cNvPr id="2" name="Rectangle 1"/>
          <p:cNvSpPr/>
          <p:nvPr/>
        </p:nvSpPr>
        <p:spPr>
          <a:xfrm>
            <a:off x="10671589" y="1051486"/>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6" name="Picture 5"/>
          <p:cNvPicPr>
            <a:picLocks noChangeAspect="1"/>
          </p:cNvPicPr>
          <p:nvPr/>
        </p:nvPicPr>
        <p:blipFill>
          <a:blip r:embed="rId4"/>
          <a:stretch>
            <a:fillRect/>
          </a:stretch>
        </p:blipFill>
        <p:spPr>
          <a:xfrm>
            <a:off x="1914525" y="2114551"/>
            <a:ext cx="8529637" cy="3434659"/>
          </a:xfrm>
          <a:prstGeom prst="rect">
            <a:avLst/>
          </a:prstGeom>
        </p:spPr>
      </p:pic>
    </p:spTree>
    <p:extLst>
      <p:ext uri="{BB962C8B-B14F-4D97-AF65-F5344CB8AC3E}">
        <p14:creationId xmlns:p14="http://schemas.microsoft.com/office/powerpoint/2010/main" val="7249981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31</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076886"/>
            <a:ext cx="10820400" cy="5323913"/>
          </a:xfrm>
        </p:spPr>
        <p:txBody>
          <a:bodyPr/>
          <a:lstStyle/>
          <a:p>
            <a:pPr marL="0" indent="0" algn="just">
              <a:buNone/>
            </a:pPr>
            <a:r>
              <a:rPr lang="en-US" sz="3200" b="1" dirty="0">
                <a:latin typeface="Tahoma" panose="020B0604030504040204" pitchFamily="34" charset="0"/>
                <a:ea typeface="Tahoma" panose="020B0604030504040204" pitchFamily="34" charset="0"/>
                <a:cs typeface="Tahoma" panose="020B0604030504040204" pitchFamily="34" charset="0"/>
              </a:rPr>
              <a:t>Ensure attainment of LO’s in alignment to the learning activities: </a:t>
            </a:r>
          </a:p>
          <a:p>
            <a:pPr marL="0" indent="0" algn="just">
              <a:buNone/>
            </a:pPr>
            <a:endParaRPr lang="en-US" sz="3200" b="1" dirty="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2091409690"/>
              </p:ext>
            </p:extLst>
          </p:nvPr>
        </p:nvGraphicFramePr>
        <p:xfrm>
          <a:off x="268103" y="2128839"/>
          <a:ext cx="10927829" cy="40177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979080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32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4" name="Rectangle 3"/>
          <p:cNvSpPr/>
          <p:nvPr/>
        </p:nvSpPr>
        <p:spPr>
          <a:xfrm>
            <a:off x="10722885" y="1022415"/>
            <a:ext cx="946092"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8" name="Rectangle 7"/>
          <p:cNvSpPr/>
          <p:nvPr/>
        </p:nvSpPr>
        <p:spPr>
          <a:xfrm>
            <a:off x="852566" y="1697335"/>
            <a:ext cx="9906000" cy="584775"/>
          </a:xfrm>
          <a:prstGeom prst="rect">
            <a:avLst/>
          </a:prstGeom>
        </p:spPr>
        <p:txBody>
          <a:bodyPr wrap="square">
            <a:spAutoFit/>
          </a:bodyPr>
          <a:lstStyle/>
          <a:p>
            <a:r>
              <a:rPr lang="en-US" sz="3200" b="1" dirty="0"/>
              <a:t>Next Session: </a:t>
            </a:r>
            <a:r>
              <a:rPr lang="en-US" sz="3200" dirty="0">
                <a:latin typeface="Times New Roman" panose="02020603050405020304" pitchFamily="18" charset="0"/>
                <a:cs typeface="Times New Roman" panose="02020603050405020304" pitchFamily="18" charset="0"/>
              </a:rPr>
              <a:t>Quick Sort</a:t>
            </a:r>
          </a:p>
        </p:txBody>
      </p:sp>
    </p:spTree>
    <p:extLst>
      <p:ext uri="{BB962C8B-B14F-4D97-AF65-F5344CB8AC3E}">
        <p14:creationId xmlns:p14="http://schemas.microsoft.com/office/powerpoint/2010/main" val="20318083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33</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10" name="Title 1">
            <a:extLst>
              <a:ext uri="{FF2B5EF4-FFF2-40B4-BE49-F238E27FC236}">
                <a16:creationId xmlns:a16="http://schemas.microsoft.com/office/drawing/2014/main" id="{E4F6F593-41A2-5797-581D-24AD95F1C7D0}"/>
              </a:ext>
            </a:extLst>
          </p:cNvPr>
          <p:cNvSpPr txBox="1">
            <a:spLocks/>
          </p:cNvSpPr>
          <p:nvPr/>
        </p:nvSpPr>
        <p:spPr>
          <a:xfrm>
            <a:off x="3693002" y="2786093"/>
            <a:ext cx="4805996" cy="1297115"/>
          </a:xfrm>
          <a:prstGeom prst="rect">
            <a:avLst/>
          </a:prstGeom>
        </p:spPr>
        <p:txBody>
          <a:bodyPr vert="horz" lIns="91440" tIns="45720" rIns="91440" bIns="45720" rtlCol="0" anchor="t">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solidFill>
                  <a:schemeClr val="tx2"/>
                </a:solidFill>
              </a:rPr>
              <a:t>Review and Reflection from students</a:t>
            </a:r>
          </a:p>
        </p:txBody>
      </p:sp>
    </p:spTree>
    <p:extLst>
      <p:ext uri="{BB962C8B-B14F-4D97-AF65-F5344CB8AC3E}">
        <p14:creationId xmlns:p14="http://schemas.microsoft.com/office/powerpoint/2010/main" val="335645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3643</TotalTime>
  <Words>1277</Words>
  <Application>Microsoft Office PowerPoint</Application>
  <PresentationFormat>Widescreen</PresentationFormat>
  <Paragraphs>173</Paragraphs>
  <Slides>33</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Aptos</vt:lpstr>
      <vt:lpstr>Aptos Display</vt:lpstr>
      <vt:lpstr>Arial</vt:lpstr>
      <vt:lpstr>Calibri</vt:lpstr>
      <vt:lpstr>euclid_circular_a</vt:lpstr>
      <vt:lpstr>Georgia</vt:lpstr>
      <vt:lpstr>Nunito</vt:lpstr>
      <vt:lpstr>Tahoma</vt:lpstr>
      <vt:lpstr>Times New Roman</vt:lpstr>
      <vt:lpstr>Office Theme</vt:lpstr>
      <vt:lpstr>Sorting : Insertion Sort, Selection Sort   Session No.:14  Course Name: Data Strucutres Course Code: R1UC308B   Instructor Name: Akhilesh Tripathi Duration: 50 mins Date of Conduction of Class: </vt:lpstr>
      <vt:lpstr>PowerPoint Presentation</vt:lpstr>
      <vt:lpstr>PowerPoint Presentation</vt:lpstr>
      <vt:lpstr>Learning Outcomes</vt:lpstr>
      <vt:lpstr>PowerPoint Presentation</vt:lpstr>
      <vt:lpstr>PowerPoint Presentation</vt:lpstr>
      <vt:lpstr>Concept and Definition for (LO-1) </vt:lpstr>
      <vt:lpstr>Concept and Definition for (LO-1) </vt:lpstr>
      <vt:lpstr>Concept and Definition for (LO-1) </vt:lpstr>
      <vt:lpstr>Concept and Definition for (LO-1) </vt:lpstr>
      <vt:lpstr>Concept and Definition for (LO-1) </vt:lpstr>
      <vt:lpstr>Concept and Definition for (LO-1) </vt:lpstr>
      <vt:lpstr>Concept and Definition for (LO-1) </vt:lpstr>
      <vt:lpstr>Concept and Definition for (LO-1) </vt:lpstr>
      <vt:lpstr>Concept and Definition for (LO-1)   Insertion Sort Psuedocode</vt:lpstr>
      <vt:lpstr>Concept and Definition for (LO-1)   Classification / Types of Data Structures</vt:lpstr>
      <vt:lpstr>Concept and Definition for (LO-1)   Selection Sort</vt:lpstr>
      <vt:lpstr>Concept and Definition for (LO-1)   Selection Sort</vt:lpstr>
      <vt:lpstr>Concept and Definition for (LO-1)   Selection Sort</vt:lpstr>
      <vt:lpstr>Concept and Definition for (LO-1)   Selection Sort</vt:lpstr>
      <vt:lpstr>Concept and Definition for (LO-1)   Selection Sort</vt:lpstr>
      <vt:lpstr>Concept and Definition for (LO-1)   Selection Sort</vt:lpstr>
      <vt:lpstr>Concept and Definition for (LO-1)   Selection Sort</vt:lpstr>
      <vt:lpstr>Concept and Definition for (LO-1)   Selection Sort</vt:lpstr>
      <vt:lpstr>Concept and Definition for (LO-1)   Activity</vt:lpstr>
      <vt:lpstr>Concept and Definition for (LO-1)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Equilibrium Index    Session No.: 2 Course Name: Advanced Algorithmic Problem Solving Course Code: R1UC601B   Instructor Name: Dr. Subhash chandra Gupta</dc:title>
  <dc:creator>Deepak Gupta</dc:creator>
  <cp:lastModifiedBy>akhilesh tripathi</cp:lastModifiedBy>
  <cp:revision>123</cp:revision>
  <dcterms:created xsi:type="dcterms:W3CDTF">2024-08-22T06:33:55Z</dcterms:created>
  <dcterms:modified xsi:type="dcterms:W3CDTF">2025-10-02T01:45:58Z</dcterms:modified>
</cp:coreProperties>
</file>