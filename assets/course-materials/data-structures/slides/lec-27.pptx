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82" r:id="rId4"/>
    <p:sldId id="297" r:id="rId5"/>
    <p:sldId id="292" r:id="rId6"/>
    <p:sldId id="293" r:id="rId7"/>
    <p:sldId id="290" r:id="rId8"/>
    <p:sldId id="294" r:id="rId9"/>
    <p:sldId id="309" r:id="rId10"/>
    <p:sldId id="260" r:id="rId11"/>
    <p:sldId id="303" r:id="rId12"/>
    <p:sldId id="312" r:id="rId13"/>
    <p:sldId id="310" r:id="rId14"/>
    <p:sldId id="300" r:id="rId15"/>
    <p:sldId id="315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Outcome: </a:t>
          </a:r>
          <a:r>
            <a: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Evaluation of postfix expression</a:t>
          </a:r>
          <a:endParaRPr lang="en-US" alt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9F57-F0E9-4BC0-BE1B-B8F059C9E5B6}" type="parTrans" cxnId="{F0A4752A-470D-4A93-B2F6-8A852589023B}">
      <dgm:prSet/>
      <dgm:spPr/>
      <dgm:t>
        <a:bodyPr/>
        <a:lstStyle/>
        <a:p>
          <a:endParaRPr lang="en-US"/>
        </a:p>
      </dgm:t>
    </dgm:pt>
    <dgm:pt modelId="{0715BA3E-6351-4C71-A2A0-855403651045}" type="sibTrans" cxnId="{F0A4752A-470D-4A93-B2F6-8A852589023B}">
      <dgm:prSet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1E5116D5-9AF4-425C-9E32-F0681D764874}" type="pres">
      <dgm:prSet presAssocID="{B7ED251F-A7A3-4D25-B004-4241BE03EDC3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F0A4752A-470D-4A93-B2F6-8A852589023B}" srcId="{B7ED251F-A7A3-4D25-B004-4241BE03EDC3}" destId="{DFBD6BAB-0140-48B9-9073-E08FDCB01885}" srcOrd="0" destOrd="0" parTransId="{A7069F57-F0E9-4BC0-BE1B-B8F059C9E5B6}" sibTransId="{0715BA3E-6351-4C71-A2A0-855403651045}"/>
    <dgm:cxn modelId="{061B2F54-33B0-4A59-99E8-3310C8E6651E}" type="presOf" srcId="{DFBD6BAB-0140-48B9-9073-E08FDCB01885}" destId="{1E5116D5-9AF4-425C-9E32-F0681D764874}" srcOrd="0" destOrd="0" presId="urn:microsoft.com/office/officeart/2005/8/layout/vProcess5"/>
    <dgm:cxn modelId="{5DEA03CC-0B9E-4240-8EB7-C4888AF6E33A}" type="presOf" srcId="{B7ED251F-A7A3-4D25-B004-4241BE03EDC3}" destId="{E218E0F1-97EC-4D60-8F4A-A6E21D910199}" srcOrd="0" destOrd="0" presId="urn:microsoft.com/office/officeart/2005/8/layout/vProcess5"/>
    <dgm:cxn modelId="{43BEEBC9-75E3-4A47-8417-08D8270810D9}" type="presParOf" srcId="{E218E0F1-97EC-4D60-8F4A-A6E21D910199}" destId="{353F2BDB-A1CE-4ECD-BC0F-35AD5A327550}" srcOrd="0" destOrd="0" presId="urn:microsoft.com/office/officeart/2005/8/layout/vProcess5"/>
    <dgm:cxn modelId="{AC2A8BE2-878D-44AA-B4F9-16A198584145}" type="presParOf" srcId="{E218E0F1-97EC-4D60-8F4A-A6E21D910199}" destId="{1E5116D5-9AF4-425C-9E32-F0681D76487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2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Outcome: </a:t>
          </a:r>
          <a:r>
            <a: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Evaluation of postfix expression</a:t>
          </a:r>
          <a:endParaRPr lang="en-US" alt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9F57-F0E9-4BC0-BE1B-B8F059C9E5B6}" type="parTrans" cxnId="{596C52FF-5B77-4F07-BE0B-B201A2F80509}">
      <dgm:prSet/>
      <dgm:spPr/>
      <dgm:t>
        <a:bodyPr/>
        <a:lstStyle/>
        <a:p>
          <a:endParaRPr lang="en-US"/>
        </a:p>
      </dgm:t>
    </dgm:pt>
    <dgm:pt modelId="{0715BA3E-6351-4C71-A2A0-855403651045}" type="sibTrans" cxnId="{596C52FF-5B77-4F07-BE0B-B201A2F80509}">
      <dgm:prSet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1E5116D5-9AF4-425C-9E32-F0681D764874}" type="pres">
      <dgm:prSet presAssocID="{B7ED251F-A7A3-4D25-B004-4241BE03EDC3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5355F709-89E6-4F19-B2DE-9C19C7478BD4}" type="presOf" srcId="{DFBD6BAB-0140-48B9-9073-E08FDCB01885}" destId="{1E5116D5-9AF4-425C-9E32-F0681D764874}" srcOrd="0" destOrd="0" presId="urn:microsoft.com/office/officeart/2005/8/layout/vProcess5"/>
    <dgm:cxn modelId="{668BE384-7EBA-41C6-8B62-AD3A4232C6A0}" type="presOf" srcId="{B7ED251F-A7A3-4D25-B004-4241BE03EDC3}" destId="{E218E0F1-97EC-4D60-8F4A-A6E21D910199}" srcOrd="0" destOrd="0" presId="urn:microsoft.com/office/officeart/2005/8/layout/vProcess5"/>
    <dgm:cxn modelId="{596C52FF-5B77-4F07-BE0B-B201A2F80509}" srcId="{B7ED251F-A7A3-4D25-B004-4241BE03EDC3}" destId="{DFBD6BAB-0140-48B9-9073-E08FDCB01885}" srcOrd="0" destOrd="0" parTransId="{A7069F57-F0E9-4BC0-BE1B-B8F059C9E5B6}" sibTransId="{0715BA3E-6351-4C71-A2A0-855403651045}"/>
    <dgm:cxn modelId="{F4E757EF-AE77-43D3-BF1A-0D47A88FDEDB}" type="presParOf" srcId="{E218E0F1-97EC-4D60-8F4A-A6E21D910199}" destId="{353F2BDB-A1CE-4ECD-BC0F-35AD5A327550}" srcOrd="0" destOrd="0" presId="urn:microsoft.com/office/officeart/2005/8/layout/vProcess5"/>
    <dgm:cxn modelId="{854A99A1-35F4-48AE-AE8F-B0E40E28C9AA}" type="presParOf" srcId="{E218E0F1-97EC-4D60-8F4A-A6E21D910199}" destId="{1E5116D5-9AF4-425C-9E32-F0681D76487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116D5-9AF4-425C-9E32-F0681D764874}">
      <dsp:nvSpPr>
        <dsp:cNvPr id="0" name=""/>
        <dsp:cNvSpPr/>
      </dsp:nvSpPr>
      <dsp:spPr bwMode="white">
        <a:xfrm>
          <a:off x="0" y="922351"/>
          <a:ext cx="10927829" cy="18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Outcome: </a:t>
          </a:r>
          <a:r>
            <a:rPr lang="en-US" altLang="en-US" sz="47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Evaluation of postfix expression</a:t>
          </a:r>
          <a:endParaRPr lang="en-US" altLang="en-IN" sz="4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029" y="976380"/>
        <a:ext cx="10819771" cy="17366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116D5-9AF4-425C-9E32-F0681D764874}">
      <dsp:nvSpPr>
        <dsp:cNvPr id="0" name=""/>
        <dsp:cNvSpPr/>
      </dsp:nvSpPr>
      <dsp:spPr bwMode="white">
        <a:xfrm>
          <a:off x="0" y="688975"/>
          <a:ext cx="10927715" cy="1377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Outcome: </a:t>
          </a:r>
          <a:r>
            <a:rPr lang="en-US" altLang="en-US" sz="37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Evaluation of postfix expression</a:t>
          </a:r>
          <a:endParaRPr lang="en-US" altLang="en-IN" sz="3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359" y="729334"/>
        <a:ext cx="10846997" cy="1297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/>
          <p:cNvPicPr>
            <a:picLocks noChangeAspect="1"/>
          </p:cNvPicPr>
          <p:nvPr/>
        </p:nvPicPr>
        <p:blipFill>
          <a:blip r:embed="rId2"/>
          <a:srcRect l="520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altLang="en-US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Evaluation of postfix expression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</a:t>
            </a:r>
            <a:r>
              <a:rPr lang="en-US" alt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27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Conduction:</a:t>
            </a:r>
            <a:endParaRPr lang="en-US" altLang="en-IN" sz="1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334195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739" y="1354784"/>
            <a:ext cx="10810559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previous sessions, we discussed:
- Stack operations and their application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Infix, Prefix, and Postfix notations
     - Advantages of postfix notation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Conversion of infix to postfix with algorithm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739" y="821384"/>
            <a:ext cx="1037319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8377386-868D-2235-B98C-6EB6A920D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944" y="2020660"/>
            <a:ext cx="5174796" cy="363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8228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175" y="3088640"/>
            <a:ext cx="10995025" cy="3003550"/>
            <a:chOff x="0" y="1295056"/>
            <a:chExt cx="5239367" cy="3221990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1295056"/>
              <a:ext cx="5239367" cy="322199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endParaRPr lang="en-US" sz="3600" dirty="0"/>
            </a:p>
            <a:p>
              <a:pPr indent="0" algn="l">
                <a:buFont typeface="Arial" panose="020B0604020202020204" pitchFamily="34" charset="0"/>
                <a:buNone/>
              </a:pPr>
              <a:r>
                <a:rPr lang="en-US" sz="3600" dirty="0"/>
                <a:t>We have seen Perfix, Postfix and Infix notations, so what do you think how it will be useful for us?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900490" y="809850"/>
            <a:ext cx="5017695" cy="113605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706120" y="2338070"/>
            <a:ext cx="10927080" cy="80772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6" name="Title 1"/>
          <p:cNvGraphicFramePr/>
          <p:nvPr/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756" y="1219889"/>
            <a:ext cx="10468176" cy="495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Outline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 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(Think – Pair – Share)</a:t>
            </a:r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to postfix evaluation
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Algorithm explanation
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Example walkthrough
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 2 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ands-on activities and reinforce learning through an interactive Padlet tool.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5867" y="1095420"/>
            <a:ext cx="1040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[3-mins]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3719788" y="196842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6738948" y="1841492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04775" y="3977005"/>
            <a:ext cx="11529060" cy="1850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the expression: 5 1 2 + 4 * + 3 -
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Hint: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Use a stack and process from left to right.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09268" y="982470"/>
            <a:ext cx="668017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Activity-1 (Think – Pair – Share)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4290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06700" y="845185"/>
            <a:ext cx="6858000" cy="105791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ostfix </a:t>
            </a:r>
            <a:r>
              <a:rPr lang="en-US" alt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valuation
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8500" y="1942625"/>
            <a:ext cx="10795098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Postfix evaluation, also known as Reverse Polish Notation (RPN), is a method of evaluating mathematical expressions where operators follow their operands.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uses a stack data structure to efficiently determine the result without needing parentheses or operator precedence rules. 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16976" y="-98"/>
            <a:ext cx="68580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775" y="1180465"/>
            <a:ext cx="11894820" cy="54368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/>
            <a:r>
              <a:rPr lang="en-US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Scan from left to right: </a:t>
            </a:r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 the postfix expression token by token.</a:t>
            </a:r>
          </a:p>
          <a:p>
            <a:pPr lvl="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lvl="0" algn="just"/>
            <a:r>
              <a:rPr lang="en-US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Operands:</a:t>
            </a:r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If a token is an operand (a number), push it onto the stack. </a:t>
            </a:r>
          </a:p>
          <a:p>
            <a:pPr lvl="0" algn="just"/>
            <a:endParaRPr lang="en-US" alt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just"/>
            <a:r>
              <a:rPr lang="en-US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Operators:</a:t>
            </a:r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If a token is an operator, pop the top two operands from the stack,</a:t>
            </a:r>
          </a:p>
          <a:p>
            <a:pPr marL="457200" lvl="1" indent="45720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Operand 2 -&gt; Top element</a:t>
            </a:r>
          </a:p>
          <a:p>
            <a:pPr marL="457200" lvl="1" indent="45720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Operand 1 -&gt; Next to TOP element </a:t>
            </a:r>
          </a:p>
          <a:p>
            <a:pPr lvl="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 the operation as follows:-</a:t>
            </a:r>
          </a:p>
          <a:p>
            <a:pPr lvl="0" indent="45720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Result= Operand 1 Operation Operand 2</a:t>
            </a:r>
          </a:p>
          <a:p>
            <a:pPr lvl="0" algn="just"/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the result back onto the stack. </a:t>
            </a:r>
          </a:p>
          <a:p>
            <a:pPr lvl="0" algn="just"/>
            <a:endParaRPr lang="en-US" alt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just"/>
            <a:r>
              <a:rPr lang="en-US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Result:</a:t>
            </a:r>
            <a:r>
              <a:rPr lang="en-US" alt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After processing all tokens, the final result will be the only element remaining on the stack</a:t>
            </a:r>
            <a:r>
              <a:rPr lang="en-US" sz="2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00805" y="89535"/>
            <a:ext cx="5308600" cy="12807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walkthrough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 descr="postfix eval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" y="1545590"/>
            <a:ext cx="11967210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5867" y="1095420"/>
            <a:ext cx="1040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[3-mins]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86690" y="2084070"/>
            <a:ext cx="11741785" cy="2231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algn="l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the </a:t>
            </a:r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following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expression</a:t>
            </a:r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algn="l"/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(1) 2 3 1 * + 9 -</a:t>
            </a:r>
          </a:p>
          <a:p>
            <a:pPr algn="l"/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(2) 5 3 + 6 2 / * 3 5 * /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1668" y="760220"/>
            <a:ext cx="668017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Activity-2 (Hands on)</a:t>
            </a:r>
          </a:p>
        </p:txBody>
      </p:sp>
      <p:sp>
        <p:nvSpPr>
          <p:cNvPr id="3" name="Rectangle 15"/>
          <p:cNvSpPr/>
          <p:nvPr/>
        </p:nvSpPr>
        <p:spPr>
          <a:xfrm>
            <a:off x="187325" y="5056505"/>
            <a:ext cx="11741150" cy="12998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algn="just"/>
            <a:r>
              <a:rPr lang="en-US" altLang="en-IN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Note:</a:t>
            </a:r>
            <a:r>
              <a:rPr lang="en-US" altLang="en-IN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Students will solve the given problems in their notebook. </a:t>
            </a:r>
          </a:p>
          <a:p>
            <a:pPr algn="just"/>
            <a:r>
              <a:rPr lang="en-US" altLang="en-IN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After that they make PDF of their solutions and upload via padlet.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3940" y="365125"/>
            <a:ext cx="2663190" cy="1054100"/>
          </a:xfrm>
        </p:spPr>
        <p:txBody>
          <a:bodyPr/>
          <a:lstStyle/>
          <a:p>
            <a:r>
              <a:rPr lang="en-US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Summary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12" name="Picture 11" descr="A blue circle with text and words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3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4" name="Picture 13" descr="postfix ex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155" y="1540510"/>
            <a:ext cx="5403850" cy="4816475"/>
          </a:xfrm>
          <a:prstGeom prst="rect">
            <a:avLst/>
          </a:prstGeom>
        </p:spPr>
      </p:pic>
      <p:pic>
        <p:nvPicPr>
          <p:cNvPr id="17" name="Picture 16" descr="algo postfi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" y="1541145"/>
            <a:ext cx="5635625" cy="4815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375285" y="1701800"/>
            <a:ext cx="10820400" cy="50196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Ensure attainment of LO’s in alignment to the learning activities: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6" name="Title 1"/>
          <p:cNvGraphicFramePr/>
          <p:nvPr/>
        </p:nvGraphicFramePr>
        <p:xfrm>
          <a:off x="643890" y="2616200"/>
          <a:ext cx="10927715" cy="275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739" y="821384"/>
            <a:ext cx="10373193" cy="13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Quiz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AE39BF9-13DB-D196-4F59-339729BBE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2002971"/>
            <a:ext cx="5889171" cy="340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43305" y="2311400"/>
            <a:ext cx="9906000" cy="2235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3200" b="1" dirty="0"/>
              <a:t>Next Session:</a:t>
            </a:r>
            <a:endParaRPr lang="en-US" sz="3200" dirty="0"/>
          </a:p>
          <a:p>
            <a:pPr algn="ctr"/>
            <a:r>
              <a:rPr lang="en-US" altLang="en-US" sz="3200" dirty="0"/>
              <a:t>Queue</a:t>
            </a:r>
            <a:r>
              <a:rPr lang="en-US" sz="3200" dirty="0"/>
              <a:t> 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/>
          <p:cNvSpPr txBox="1"/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536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1_Office Theme</vt:lpstr>
      <vt:lpstr>Evaluation of postfix expression   Session No.: 27 Course Name: Data Strucutres Course Code: R1UC308B   Instructor Name: Akhilesh Tripathi Duration: 50 mins Date of Conduction: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Postfix Evaluation
</vt:lpstr>
      <vt:lpstr>Algorithm</vt:lpstr>
      <vt:lpstr>   Example walkthrough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110</cp:revision>
  <dcterms:created xsi:type="dcterms:W3CDTF">2024-08-22T06:33:00Z</dcterms:created>
  <dcterms:modified xsi:type="dcterms:W3CDTF">2025-12-04T00:12:29Z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CF94C38EF274477CBE9955BBE79B9BBF_13</vt:lpwstr>
  </property>
  <property fmtid="{D5CDD505-2E9C-101B-9397-08002B2CF9AE}" pid="3" name="KSOProductBuildVer">
    <vt:lpwstr>1033-12.2.0.21931</vt:lpwstr>
  </property>
</Properties>
</file>