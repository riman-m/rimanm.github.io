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82" r:id="rId3"/>
    <p:sldId id="297" r:id="rId4"/>
    <p:sldId id="292" r:id="rId5"/>
    <p:sldId id="293" r:id="rId6"/>
    <p:sldId id="290" r:id="rId7"/>
    <p:sldId id="294" r:id="rId8"/>
    <p:sldId id="318" r:id="rId9"/>
    <p:sldId id="323" r:id="rId10"/>
    <p:sldId id="283" r:id="rId11"/>
    <p:sldId id="284" r:id="rId12"/>
    <p:sldId id="285" r:id="rId13"/>
    <p:sldId id="286" r:id="rId14"/>
    <p:sldId id="287" r:id="rId15"/>
    <p:sldId id="291" r:id="rId16"/>
    <p:sldId id="321" r:id="rId17"/>
    <p:sldId id="295" r:id="rId18"/>
    <p:sldId id="296" r:id="rId19"/>
    <p:sldId id="288" r:id="rId20"/>
    <p:sldId id="299" r:id="rId21"/>
    <p:sldId id="322" r:id="rId22"/>
    <p:sldId id="302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54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ED251F-A7A3-4D25-B004-4241BE03EDC3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FBD6BAB-0140-48B9-9073-E08FDCB01885}">
      <dgm:prSet custT="1"/>
      <dgm:spPr/>
      <dgm:t>
        <a:bodyPr/>
        <a:lstStyle/>
        <a:p>
          <a:r>
            <a:rPr lang="en-US" sz="3600" dirty="0"/>
            <a:t>Explain Traversing in the Graph: BFS and DFS.</a:t>
          </a:r>
        </a:p>
      </dgm:t>
    </dgm:pt>
    <dgm:pt modelId="{A7069F57-F0E9-4BC0-BE1B-B8F059C9E5B6}" type="parTrans" cxnId="{32A129EE-3813-43B6-AF53-E9A6D3182FA2}">
      <dgm:prSet/>
      <dgm:spPr/>
      <dgm:t>
        <a:bodyPr/>
        <a:lstStyle/>
        <a:p>
          <a:endParaRPr lang="en-US"/>
        </a:p>
      </dgm:t>
    </dgm:pt>
    <dgm:pt modelId="{0715BA3E-6351-4C71-A2A0-855403651045}" type="sibTrans" cxnId="{32A129EE-3813-43B6-AF53-E9A6D3182FA2}">
      <dgm:prSet/>
      <dgm:spPr/>
      <dgm:t>
        <a:bodyPr/>
        <a:lstStyle/>
        <a:p>
          <a:endParaRPr lang="en-US"/>
        </a:p>
      </dgm:t>
    </dgm:pt>
    <dgm:pt modelId="{A3B4F848-7886-4B10-8E34-39E0B844A474}">
      <dgm:prSet custT="1"/>
      <dgm:spPr/>
      <dgm:t>
        <a:bodyPr/>
        <a:lstStyle/>
        <a:p>
          <a:pPr>
            <a:tabLst>
              <a:tab pos="5994400" algn="l"/>
            </a:tabLst>
          </a:pPr>
          <a:r>
            <a:rPr lang="en-US" sz="3600" dirty="0"/>
            <a:t>Apply BFS and DFS in graph for traversing.</a:t>
          </a:r>
        </a:p>
      </dgm:t>
    </dgm:pt>
    <dgm:pt modelId="{421929F8-4756-4702-AAD7-7A5185D82904}" type="parTrans" cxnId="{10F4C3C1-D8D4-465A-A58C-B8F418AC919B}">
      <dgm:prSet/>
      <dgm:spPr/>
      <dgm:t>
        <a:bodyPr/>
        <a:lstStyle/>
        <a:p>
          <a:endParaRPr lang="en-US"/>
        </a:p>
      </dgm:t>
    </dgm:pt>
    <dgm:pt modelId="{3DE2F17F-758E-4FA7-AB6B-444F38F1FFC4}" type="sibTrans" cxnId="{10F4C3C1-D8D4-465A-A58C-B8F418AC919B}">
      <dgm:prSet/>
      <dgm:spPr/>
      <dgm:t>
        <a:bodyPr/>
        <a:lstStyle/>
        <a:p>
          <a:endParaRPr lang="en-US"/>
        </a:p>
      </dgm:t>
    </dgm:pt>
    <dgm:pt modelId="{BCA40D55-9F97-4CA4-8859-68C842EAE88F}" type="pres">
      <dgm:prSet presAssocID="{B7ED251F-A7A3-4D25-B004-4241BE03EDC3}" presName="Name0" presStyleCnt="0">
        <dgm:presLayoutVars>
          <dgm:dir/>
          <dgm:animLvl val="lvl"/>
          <dgm:resizeHandles val="exact"/>
        </dgm:presLayoutVars>
      </dgm:prSet>
      <dgm:spPr/>
    </dgm:pt>
    <dgm:pt modelId="{3450E454-19DE-4E8A-ADE0-3AFF41C6C69B}" type="pres">
      <dgm:prSet presAssocID="{A3B4F848-7886-4B10-8E34-39E0B844A474}" presName="boxAndChildren" presStyleCnt="0"/>
      <dgm:spPr/>
    </dgm:pt>
    <dgm:pt modelId="{9F756ADD-FC73-43E2-8907-B49F92DEF8EA}" type="pres">
      <dgm:prSet presAssocID="{A3B4F848-7886-4B10-8E34-39E0B844A474}" presName="parentTextBox" presStyleLbl="node1" presStyleIdx="0" presStyleCnt="2"/>
      <dgm:spPr/>
    </dgm:pt>
    <dgm:pt modelId="{33B2812D-626E-40CB-8956-89B965634A15}" type="pres">
      <dgm:prSet presAssocID="{0715BA3E-6351-4C71-A2A0-855403651045}" presName="sp" presStyleCnt="0"/>
      <dgm:spPr/>
    </dgm:pt>
    <dgm:pt modelId="{14438BF2-0C50-4C1B-A99E-B1909E184016}" type="pres">
      <dgm:prSet presAssocID="{DFBD6BAB-0140-48B9-9073-E08FDCB01885}" presName="arrowAndChildren" presStyleCnt="0"/>
      <dgm:spPr/>
    </dgm:pt>
    <dgm:pt modelId="{0E541A4F-E68B-477F-BCA6-83AC868DBBCC}" type="pres">
      <dgm:prSet presAssocID="{DFBD6BAB-0140-48B9-9073-E08FDCB01885}" presName="parentTextArrow" presStyleLbl="node1" presStyleIdx="1" presStyleCnt="2"/>
      <dgm:spPr/>
    </dgm:pt>
  </dgm:ptLst>
  <dgm:cxnLst>
    <dgm:cxn modelId="{7186EF2C-C889-49EC-A156-5A68AD0A3CF6}" type="presOf" srcId="{DFBD6BAB-0140-48B9-9073-E08FDCB01885}" destId="{0E541A4F-E68B-477F-BCA6-83AC868DBBCC}" srcOrd="0" destOrd="0" presId="urn:microsoft.com/office/officeart/2005/8/layout/process4"/>
    <dgm:cxn modelId="{BFCB0464-37EB-4B41-A633-D832506204D5}" type="presOf" srcId="{A3B4F848-7886-4B10-8E34-39E0B844A474}" destId="{9F756ADD-FC73-43E2-8907-B49F92DEF8EA}" srcOrd="0" destOrd="0" presId="urn:microsoft.com/office/officeart/2005/8/layout/process4"/>
    <dgm:cxn modelId="{602ADD9D-D77C-4864-85DE-6F786E0BA06C}" type="presOf" srcId="{B7ED251F-A7A3-4D25-B004-4241BE03EDC3}" destId="{BCA40D55-9F97-4CA4-8859-68C842EAE88F}" srcOrd="0" destOrd="0" presId="urn:microsoft.com/office/officeart/2005/8/layout/process4"/>
    <dgm:cxn modelId="{10F4C3C1-D8D4-465A-A58C-B8F418AC919B}" srcId="{B7ED251F-A7A3-4D25-B004-4241BE03EDC3}" destId="{A3B4F848-7886-4B10-8E34-39E0B844A474}" srcOrd="1" destOrd="0" parTransId="{421929F8-4756-4702-AAD7-7A5185D82904}" sibTransId="{3DE2F17F-758E-4FA7-AB6B-444F38F1FFC4}"/>
    <dgm:cxn modelId="{32A129EE-3813-43B6-AF53-E9A6D3182FA2}" srcId="{B7ED251F-A7A3-4D25-B004-4241BE03EDC3}" destId="{DFBD6BAB-0140-48B9-9073-E08FDCB01885}" srcOrd="0" destOrd="0" parTransId="{A7069F57-F0E9-4BC0-BE1B-B8F059C9E5B6}" sibTransId="{0715BA3E-6351-4C71-A2A0-855403651045}"/>
    <dgm:cxn modelId="{9860929F-5D96-4F82-A2F6-03F0C13F45CA}" type="presParOf" srcId="{BCA40D55-9F97-4CA4-8859-68C842EAE88F}" destId="{3450E454-19DE-4E8A-ADE0-3AFF41C6C69B}" srcOrd="0" destOrd="0" presId="urn:microsoft.com/office/officeart/2005/8/layout/process4"/>
    <dgm:cxn modelId="{81075B5D-B3C8-4153-A2C9-6C4D6353CB34}" type="presParOf" srcId="{3450E454-19DE-4E8A-ADE0-3AFF41C6C69B}" destId="{9F756ADD-FC73-43E2-8907-B49F92DEF8EA}" srcOrd="0" destOrd="0" presId="urn:microsoft.com/office/officeart/2005/8/layout/process4"/>
    <dgm:cxn modelId="{8914EA88-2853-4546-98B8-ABA4ED7CAF84}" type="presParOf" srcId="{BCA40D55-9F97-4CA4-8859-68C842EAE88F}" destId="{33B2812D-626E-40CB-8956-89B965634A15}" srcOrd="1" destOrd="0" presId="urn:microsoft.com/office/officeart/2005/8/layout/process4"/>
    <dgm:cxn modelId="{205F827C-DA08-4001-BBA3-EAB63BA21781}" type="presParOf" srcId="{BCA40D55-9F97-4CA4-8859-68C842EAE88F}" destId="{14438BF2-0C50-4C1B-A99E-B1909E184016}" srcOrd="2" destOrd="0" presId="urn:microsoft.com/office/officeart/2005/8/layout/process4"/>
    <dgm:cxn modelId="{A6891BF9-7CFD-4CF1-B514-10FEBA6D9D6A}" type="presParOf" srcId="{14438BF2-0C50-4C1B-A99E-B1909E184016}" destId="{0E541A4F-E68B-477F-BCA6-83AC868DBBCC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7ED251F-A7A3-4D25-B004-4241BE03EDC3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FBD6BAB-0140-48B9-9073-E08FDCB01885}">
      <dgm:prSet custT="1"/>
      <dgm:spPr/>
      <dgm:t>
        <a:bodyPr/>
        <a:lstStyle/>
        <a:p>
          <a:r>
            <a:rPr lang="en-US" sz="3600" dirty="0"/>
            <a:t>Explain Traversing in the Graph: BFS and DFS.</a:t>
          </a:r>
        </a:p>
      </dgm:t>
    </dgm:pt>
    <dgm:pt modelId="{A7069F57-F0E9-4BC0-BE1B-B8F059C9E5B6}" type="parTrans" cxnId="{32A129EE-3813-43B6-AF53-E9A6D3182FA2}">
      <dgm:prSet/>
      <dgm:spPr/>
      <dgm:t>
        <a:bodyPr/>
        <a:lstStyle/>
        <a:p>
          <a:endParaRPr lang="en-US"/>
        </a:p>
      </dgm:t>
    </dgm:pt>
    <dgm:pt modelId="{0715BA3E-6351-4C71-A2A0-855403651045}" type="sibTrans" cxnId="{32A129EE-3813-43B6-AF53-E9A6D3182FA2}">
      <dgm:prSet/>
      <dgm:spPr/>
      <dgm:t>
        <a:bodyPr/>
        <a:lstStyle/>
        <a:p>
          <a:endParaRPr lang="en-US"/>
        </a:p>
      </dgm:t>
    </dgm:pt>
    <dgm:pt modelId="{A3B4F848-7886-4B10-8E34-39E0B844A474}">
      <dgm:prSet custT="1"/>
      <dgm:spPr/>
      <dgm:t>
        <a:bodyPr/>
        <a:lstStyle/>
        <a:p>
          <a:pPr>
            <a:tabLst>
              <a:tab pos="5994400" algn="l"/>
            </a:tabLst>
          </a:pPr>
          <a:r>
            <a:rPr lang="en-US" sz="3600" dirty="0"/>
            <a:t>Apply BFS and DFS in graph for traversing.</a:t>
          </a:r>
        </a:p>
      </dgm:t>
    </dgm:pt>
    <dgm:pt modelId="{421929F8-4756-4702-AAD7-7A5185D82904}" type="parTrans" cxnId="{10F4C3C1-D8D4-465A-A58C-B8F418AC919B}">
      <dgm:prSet/>
      <dgm:spPr/>
      <dgm:t>
        <a:bodyPr/>
        <a:lstStyle/>
        <a:p>
          <a:endParaRPr lang="en-US"/>
        </a:p>
      </dgm:t>
    </dgm:pt>
    <dgm:pt modelId="{3DE2F17F-758E-4FA7-AB6B-444F38F1FFC4}" type="sibTrans" cxnId="{10F4C3C1-D8D4-465A-A58C-B8F418AC919B}">
      <dgm:prSet/>
      <dgm:spPr/>
      <dgm:t>
        <a:bodyPr/>
        <a:lstStyle/>
        <a:p>
          <a:endParaRPr lang="en-US"/>
        </a:p>
      </dgm:t>
    </dgm:pt>
    <dgm:pt modelId="{BCA40D55-9F97-4CA4-8859-68C842EAE88F}" type="pres">
      <dgm:prSet presAssocID="{B7ED251F-A7A3-4D25-B004-4241BE03EDC3}" presName="Name0" presStyleCnt="0">
        <dgm:presLayoutVars>
          <dgm:dir/>
          <dgm:animLvl val="lvl"/>
          <dgm:resizeHandles val="exact"/>
        </dgm:presLayoutVars>
      </dgm:prSet>
      <dgm:spPr/>
    </dgm:pt>
    <dgm:pt modelId="{3450E454-19DE-4E8A-ADE0-3AFF41C6C69B}" type="pres">
      <dgm:prSet presAssocID="{A3B4F848-7886-4B10-8E34-39E0B844A474}" presName="boxAndChildren" presStyleCnt="0"/>
      <dgm:spPr/>
    </dgm:pt>
    <dgm:pt modelId="{9F756ADD-FC73-43E2-8907-B49F92DEF8EA}" type="pres">
      <dgm:prSet presAssocID="{A3B4F848-7886-4B10-8E34-39E0B844A474}" presName="parentTextBox" presStyleLbl="node1" presStyleIdx="0" presStyleCnt="2"/>
      <dgm:spPr/>
    </dgm:pt>
    <dgm:pt modelId="{33B2812D-626E-40CB-8956-89B965634A15}" type="pres">
      <dgm:prSet presAssocID="{0715BA3E-6351-4C71-A2A0-855403651045}" presName="sp" presStyleCnt="0"/>
      <dgm:spPr/>
    </dgm:pt>
    <dgm:pt modelId="{14438BF2-0C50-4C1B-A99E-B1909E184016}" type="pres">
      <dgm:prSet presAssocID="{DFBD6BAB-0140-48B9-9073-E08FDCB01885}" presName="arrowAndChildren" presStyleCnt="0"/>
      <dgm:spPr/>
    </dgm:pt>
    <dgm:pt modelId="{0E541A4F-E68B-477F-BCA6-83AC868DBBCC}" type="pres">
      <dgm:prSet presAssocID="{DFBD6BAB-0140-48B9-9073-E08FDCB01885}" presName="parentTextArrow" presStyleLbl="node1" presStyleIdx="1" presStyleCnt="2"/>
      <dgm:spPr/>
    </dgm:pt>
  </dgm:ptLst>
  <dgm:cxnLst>
    <dgm:cxn modelId="{7186EF2C-C889-49EC-A156-5A68AD0A3CF6}" type="presOf" srcId="{DFBD6BAB-0140-48B9-9073-E08FDCB01885}" destId="{0E541A4F-E68B-477F-BCA6-83AC868DBBCC}" srcOrd="0" destOrd="0" presId="urn:microsoft.com/office/officeart/2005/8/layout/process4"/>
    <dgm:cxn modelId="{BFCB0464-37EB-4B41-A633-D832506204D5}" type="presOf" srcId="{A3B4F848-7886-4B10-8E34-39E0B844A474}" destId="{9F756ADD-FC73-43E2-8907-B49F92DEF8EA}" srcOrd="0" destOrd="0" presId="urn:microsoft.com/office/officeart/2005/8/layout/process4"/>
    <dgm:cxn modelId="{602ADD9D-D77C-4864-85DE-6F786E0BA06C}" type="presOf" srcId="{B7ED251F-A7A3-4D25-B004-4241BE03EDC3}" destId="{BCA40D55-9F97-4CA4-8859-68C842EAE88F}" srcOrd="0" destOrd="0" presId="urn:microsoft.com/office/officeart/2005/8/layout/process4"/>
    <dgm:cxn modelId="{10F4C3C1-D8D4-465A-A58C-B8F418AC919B}" srcId="{B7ED251F-A7A3-4D25-B004-4241BE03EDC3}" destId="{A3B4F848-7886-4B10-8E34-39E0B844A474}" srcOrd="1" destOrd="0" parTransId="{421929F8-4756-4702-AAD7-7A5185D82904}" sibTransId="{3DE2F17F-758E-4FA7-AB6B-444F38F1FFC4}"/>
    <dgm:cxn modelId="{32A129EE-3813-43B6-AF53-E9A6D3182FA2}" srcId="{B7ED251F-A7A3-4D25-B004-4241BE03EDC3}" destId="{DFBD6BAB-0140-48B9-9073-E08FDCB01885}" srcOrd="0" destOrd="0" parTransId="{A7069F57-F0E9-4BC0-BE1B-B8F059C9E5B6}" sibTransId="{0715BA3E-6351-4C71-A2A0-855403651045}"/>
    <dgm:cxn modelId="{9860929F-5D96-4F82-A2F6-03F0C13F45CA}" type="presParOf" srcId="{BCA40D55-9F97-4CA4-8859-68C842EAE88F}" destId="{3450E454-19DE-4E8A-ADE0-3AFF41C6C69B}" srcOrd="0" destOrd="0" presId="urn:microsoft.com/office/officeart/2005/8/layout/process4"/>
    <dgm:cxn modelId="{81075B5D-B3C8-4153-A2C9-6C4D6353CB34}" type="presParOf" srcId="{3450E454-19DE-4E8A-ADE0-3AFF41C6C69B}" destId="{9F756ADD-FC73-43E2-8907-B49F92DEF8EA}" srcOrd="0" destOrd="0" presId="urn:microsoft.com/office/officeart/2005/8/layout/process4"/>
    <dgm:cxn modelId="{8914EA88-2853-4546-98B8-ABA4ED7CAF84}" type="presParOf" srcId="{BCA40D55-9F97-4CA4-8859-68C842EAE88F}" destId="{33B2812D-626E-40CB-8956-89B965634A15}" srcOrd="1" destOrd="0" presId="urn:microsoft.com/office/officeart/2005/8/layout/process4"/>
    <dgm:cxn modelId="{205F827C-DA08-4001-BBA3-EAB63BA21781}" type="presParOf" srcId="{BCA40D55-9F97-4CA4-8859-68C842EAE88F}" destId="{14438BF2-0C50-4C1B-A99E-B1909E184016}" srcOrd="2" destOrd="0" presId="urn:microsoft.com/office/officeart/2005/8/layout/process4"/>
    <dgm:cxn modelId="{A6891BF9-7CFD-4CF1-B514-10FEBA6D9D6A}" type="presParOf" srcId="{14438BF2-0C50-4C1B-A99E-B1909E184016}" destId="{0E541A4F-E68B-477F-BCA6-83AC868DBBCC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756ADD-FC73-43E2-8907-B49F92DEF8EA}">
      <dsp:nvSpPr>
        <dsp:cNvPr id="0" name=""/>
        <dsp:cNvSpPr/>
      </dsp:nvSpPr>
      <dsp:spPr>
        <a:xfrm>
          <a:off x="0" y="2226751"/>
          <a:ext cx="10927829" cy="146098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tabLst>
              <a:tab pos="5994400" algn="l"/>
            </a:tabLst>
          </a:pPr>
          <a:r>
            <a:rPr lang="en-US" sz="3600" kern="1200" dirty="0"/>
            <a:t>Apply BFS and DFS in graph for traversing.</a:t>
          </a:r>
        </a:p>
      </dsp:txBody>
      <dsp:txXfrm>
        <a:off x="0" y="2226751"/>
        <a:ext cx="10927829" cy="1460989"/>
      </dsp:txXfrm>
    </dsp:sp>
    <dsp:sp modelId="{0E541A4F-E68B-477F-BCA6-83AC868DBBCC}">
      <dsp:nvSpPr>
        <dsp:cNvPr id="0" name=""/>
        <dsp:cNvSpPr/>
      </dsp:nvSpPr>
      <dsp:spPr>
        <a:xfrm rot="10800000">
          <a:off x="0" y="1663"/>
          <a:ext cx="10927829" cy="2247002"/>
        </a:xfrm>
        <a:prstGeom prst="upArrowCallou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Explain Traversing in the Graph: BFS and DFS.</a:t>
          </a:r>
        </a:p>
      </dsp:txBody>
      <dsp:txXfrm rot="10800000">
        <a:off x="0" y="1663"/>
        <a:ext cx="10927829" cy="14600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756ADD-FC73-43E2-8907-B49F92DEF8EA}">
      <dsp:nvSpPr>
        <dsp:cNvPr id="0" name=""/>
        <dsp:cNvSpPr/>
      </dsp:nvSpPr>
      <dsp:spPr>
        <a:xfrm>
          <a:off x="0" y="2226751"/>
          <a:ext cx="10927829" cy="146098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tabLst>
              <a:tab pos="5994400" algn="l"/>
            </a:tabLst>
          </a:pPr>
          <a:r>
            <a:rPr lang="en-US" sz="3600" kern="1200" dirty="0"/>
            <a:t>Apply BFS and DFS in graph for traversing.</a:t>
          </a:r>
        </a:p>
      </dsp:txBody>
      <dsp:txXfrm>
        <a:off x="0" y="2226751"/>
        <a:ext cx="10927829" cy="1460989"/>
      </dsp:txXfrm>
    </dsp:sp>
    <dsp:sp modelId="{0E541A4F-E68B-477F-BCA6-83AC868DBBCC}">
      <dsp:nvSpPr>
        <dsp:cNvPr id="0" name=""/>
        <dsp:cNvSpPr/>
      </dsp:nvSpPr>
      <dsp:spPr>
        <a:xfrm rot="10800000">
          <a:off x="0" y="1663"/>
          <a:ext cx="10927829" cy="2247002"/>
        </a:xfrm>
        <a:prstGeom prst="upArrowCallou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6032" tIns="256032" rIns="256032" bIns="256032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Explain Traversing in the Graph: BFS and DFS.</a:t>
          </a:r>
        </a:p>
      </dsp:txBody>
      <dsp:txXfrm rot="10800000">
        <a:off x="0" y="1663"/>
        <a:ext cx="10927829" cy="14600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6FBC31-3F3F-40A8-84DF-BE3B4616B22A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FE326-85E6-4395-8F28-A8F972B7B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760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B19AD-E795-8469-CB7A-8D1393914F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09FC3E-A433-5720-2C47-B218104854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3EDBC-57D9-C6A6-6869-371DC35FA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0B00A-0031-4EDD-BEBB-B131E3F68B8B}" type="datetime1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1DC6D-FB05-89AF-D06E-2A214B26A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79841-7A1B-1D77-4E0D-F440971A1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415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07BEF-2C9D-42DC-3411-00B3A39BC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5012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6B5C3-B400-8ED2-C857-CC6B3B6EB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233B-F1E7-4818-B22D-9EDEAA6025FD}" type="datetime1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63E68-219E-B6BD-06FF-D09E8B6D7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7A96D-72D0-92EE-3B5C-8BFD78B7D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334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2F04E-14BF-8146-F649-927656875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EC510D-E40E-01C5-FB7F-09741C6C9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5ACC9-6839-7636-07F4-E47B104A0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43A29-4BB0-4075-8E30-7986497052F0}" type="datetime1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B4601-E63D-A03B-1DD8-CFB63233D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9B235-6487-BCE9-DFAA-764CDD446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93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12733-E66D-2C01-CE97-F41A211F2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8345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78475-62F3-3BA2-991E-7D770F7AA9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05012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6E4499-7667-A5BF-CFBF-9B3734E040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48400" y="2005012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E2D099-6445-5C93-00AE-432EFD070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8DEB-068D-4137-AD7C-2A99AB9732F4}" type="datetime1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5B21F9-91D3-7C2A-79CF-2138303F1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1F9FC0-4A14-8219-84DC-B1D61698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578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7B0A1-9BD6-B0A3-1102-E0773ECBB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E87F29-AEDA-BDF7-8C0B-52CF6D178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DAB8B1-DB15-81F7-48C3-A6308F8F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0A757F-7720-AA2F-16DB-5B4172569D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578B9F-AEC2-1CCB-17EA-93BC35E420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ADDEEA-4DF4-410A-B65E-F750E83FB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CC2F0-EA24-4949-874F-5F13F434AA44}" type="datetime1">
              <a:rPr lang="en-IN" smtClean="0"/>
              <a:t>08-01-2026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F839C7-3F7C-98F3-A612-DE6079BE9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ED60D5-B96E-CB10-EF10-24D390209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610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685F8-3F04-96B2-DFBB-F5EA7C78F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A8FDE9-0DB9-E2EC-9EDB-3F7928924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CA4BE-841D-4DBA-BF59-98160D016E95}" type="datetime1">
              <a:rPr lang="en-IN" smtClean="0"/>
              <a:t>08-01-2026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6EA0CC-2F72-01A7-0018-794D28895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946089-63E6-1B47-884D-22AD3D59D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5177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668AA3-F340-1EBC-A758-E63E971B3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9DE3D-92F0-4B90-9BC3-DF561ACCB514}" type="datetime1">
              <a:rPr lang="en-IN" smtClean="0"/>
              <a:t>08-01-2026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C5A41D-81C9-E2BD-E9AF-3AA5DB41D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F962B3-3ADB-9572-0FD2-4DB07FD87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772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CF039-A9DA-5A12-2BF1-B6433B9DF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751A8-C228-5300-A485-3F129FD36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584203-9632-6129-E4C9-0F99428BB6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945EB5-72B0-9141-EA99-820C022CC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D748-5313-48F5-9420-28CC4F9D5D65}" type="datetime1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73D456-31B6-1D53-751D-AC82FEAB7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C32809-415E-2282-E04D-9B200C1C3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9673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84906-117D-5407-AA07-22F539EE4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36F0D2-D921-4FA7-DA84-8E8520EED9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D2AD95-AB02-5A07-7492-E9E0B8545F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380F9-07CE-6F7A-6038-870977B02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9F97-4389-4CF0-A3AF-539E1666475E}" type="datetime1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35F0A5-FF26-EF42-9F4E-7B487ABBD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CE9705-E90F-F624-39D6-6FCBE3A7B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558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59D05-52FA-1788-519F-7A7F6048A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2B93A4-5BFE-2E5E-89BD-A9A9F0DE2B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D6E1C-2039-6998-16BF-892E575CF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1ADB8-9CB7-40E6-87C8-C7EB8EBBAF06}" type="datetime1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89FC5-03A9-A2BE-8045-500B37083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A79DC-4A34-B800-8BFC-C92A202FB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501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66ADF1-8D2B-E20D-C592-6643F0F627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7D4B32-ED38-6AD9-3A88-BEE47D427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D39A2-CFE5-7E4C-6E1A-FABC5CF17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3956E-FF61-4FBC-8614-5AF891B621A7}" type="datetime1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8CE03-A02D-B61D-500E-33B067F58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A42C-489C-58FC-CFE2-833549C6D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3312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AADD83-735E-A88A-3D7F-6385A1A74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15185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67D101-3984-8795-F0E9-CFAF99A14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37013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624CD-D795-52B1-6203-0AF8F58B88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81F908-E6B3-4617-92D9-99814B0B813F}" type="datetime1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CF967-AE37-65C8-EF03-EB7E3B912D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BD2C0-494D-F5DE-E18D-99B852BA5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ABDC041-8D5F-6B84-55DB-BC5C2BF464C5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5306" y="176754"/>
            <a:ext cx="903728" cy="7402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1A3DA9B-DB56-5B57-1D73-B0EAFDD806F8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1" y="136244"/>
            <a:ext cx="3476469" cy="677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666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blue and purple dots&#10;&#10;Description automatically generated">
            <a:extLst>
              <a:ext uri="{FF2B5EF4-FFF2-40B4-BE49-F238E27FC236}">
                <a16:creationId xmlns:a16="http://schemas.microsoft.com/office/drawing/2014/main" id="{B854E15F-5609-7D3B-3655-6DE3E59806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00"/>
          <a:stretch/>
        </p:blipFill>
        <p:spPr>
          <a:xfrm>
            <a:off x="7064828" y="10"/>
            <a:ext cx="5127171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B4841D-4109-20CB-B253-8EF7C0806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2"/>
            <a:ext cx="8366216" cy="4909225"/>
          </a:xfrm>
        </p:spPr>
        <p:txBody>
          <a:bodyPr anchor="b">
            <a:normAutofit/>
          </a:bodyPr>
          <a:lstStyle/>
          <a:p>
            <a:pPr algn="l"/>
            <a:br>
              <a:rPr lang="en-IN" sz="32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US" sz="32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Graph Traversal: BFS and DFS</a:t>
            </a:r>
            <a:br>
              <a:rPr lang="en-IN" sz="4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br>
              <a:rPr lang="en-IN" sz="4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br>
              <a:rPr lang="en-IN" sz="4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br>
              <a:rPr lang="en-IN" sz="4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Session No.: 40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Course Name: Data </a:t>
            </a:r>
            <a:r>
              <a:rPr lang="en-IN" sz="1800" b="1" dirty="0" err="1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Strucutres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Course Code: </a:t>
            </a:r>
            <a:r>
              <a:rPr lang="en-IN" sz="1800" b="1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  <a:t>R1UC308B </a:t>
            </a:r>
            <a:r>
              <a:rPr lang="en-IN" sz="1800" b="0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  <a:t>	</a:t>
            </a:r>
            <a:br>
              <a:rPr lang="en-IN" sz="1800" b="0" i="0" u="none" strike="noStrike" baseline="0" dirty="0">
                <a:solidFill>
                  <a:schemeClr val="bg1"/>
                </a:solidFill>
                <a:latin typeface="Times New Roman" panose="02020603050405020304" pitchFamily="18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Instructor Name: Akhilesh Tripathi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Duration: 50 mins</a:t>
            </a:r>
            <a:b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solidFill>
                  <a:schemeClr val="bg1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Date of Conduction:</a:t>
            </a:r>
            <a:endParaRPr lang="en-IN" sz="4800" b="1" dirty="0">
              <a:solidFill>
                <a:schemeClr val="bg1"/>
              </a:solidFill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2F329F-0D28-AAA9-6271-058B6B36C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4B0897-FD56-B45E-C539-435F743AA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</a:t>
            </a:fld>
            <a:endParaRPr lang="en-IN"/>
          </a:p>
        </p:txBody>
      </p:sp>
      <p:pic>
        <p:nvPicPr>
          <p:cNvPr id="10" name="Picture 9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B8F66ABA-C07C-7B4E-0E32-86C3BB04AA9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5" y="176753"/>
            <a:ext cx="1190469" cy="11904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3174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898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</a:t>
            </a:fld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FF55F4-CCC3-52AA-BECD-C8815F128A87}"/>
              </a:ext>
            </a:extLst>
          </p:cNvPr>
          <p:cNvSpPr txBox="1"/>
          <p:nvPr/>
        </p:nvSpPr>
        <p:spPr>
          <a:xfrm>
            <a:off x="1608667" y="2090172"/>
            <a:ext cx="976059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/>
              <a:t>Review</a:t>
            </a:r>
          </a:p>
          <a:p>
            <a:pPr algn="ctr"/>
            <a:endParaRPr lang="en-US" sz="2800" dirty="0"/>
          </a:p>
          <a:p>
            <a:r>
              <a:rPr lang="en-US" sz="2800" b="1" dirty="0"/>
              <a:t>Pre-Requisite : 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must have knowledge of graph, stack and queue.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Basics of graph, stack and queue discussed in previous classes</a:t>
            </a:r>
          </a:p>
        </p:txBody>
      </p:sp>
    </p:spTree>
    <p:extLst>
      <p:ext uri="{BB962C8B-B14F-4D97-AF65-F5344CB8AC3E}">
        <p14:creationId xmlns:p14="http://schemas.microsoft.com/office/powerpoint/2010/main" val="27672147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3</a:t>
            </a:fld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9E5FE6-2AEA-FD10-96D6-84ECB84793BD}"/>
              </a:ext>
            </a:extLst>
          </p:cNvPr>
          <p:cNvSpPr txBox="1"/>
          <p:nvPr/>
        </p:nvSpPr>
        <p:spPr>
          <a:xfrm>
            <a:off x="822739" y="821384"/>
            <a:ext cx="103731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Pre-Class Assessment</a:t>
            </a:r>
          </a:p>
        </p:txBody>
      </p:sp>
      <p:sp>
        <p:nvSpPr>
          <p:cNvPr id="2" name="Rectangle 1"/>
          <p:cNvSpPr/>
          <p:nvPr/>
        </p:nvSpPr>
        <p:spPr>
          <a:xfrm>
            <a:off x="10648330" y="1095420"/>
            <a:ext cx="117669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[2-mins]</a:t>
            </a: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CFBFA8C-A9A5-8925-0FEF-3BF7ECFF49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4388" y="1957388"/>
            <a:ext cx="2943225" cy="2943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1380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84D04-41CA-6E97-EFFB-559B6F6A4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DDEC7-A318-B5ED-6B24-23EF9A30C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4</a:t>
            </a:fld>
            <a:endParaRPr lang="en-IN" dirty="0"/>
          </a:p>
        </p:txBody>
      </p:sp>
      <p:sp>
        <p:nvSpPr>
          <p:cNvPr id="2" name="Rectangle 1"/>
          <p:cNvSpPr/>
          <p:nvPr/>
        </p:nvSpPr>
        <p:spPr>
          <a:xfrm>
            <a:off x="10671589" y="1095420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[1-mins]</a:t>
            </a:r>
          </a:p>
        </p:txBody>
      </p:sp>
      <p:sp>
        <p:nvSpPr>
          <p:cNvPr id="12" name="Rectangle 11" descr="Questions"/>
          <p:cNvSpPr/>
          <p:nvPr/>
        </p:nvSpPr>
        <p:spPr>
          <a:xfrm>
            <a:off x="4762213" y="1051486"/>
            <a:ext cx="2716735" cy="2008804"/>
          </a:xfrm>
          <a:prstGeom prst="rect">
            <a:avLst/>
          </a:pr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14" name="Group 13"/>
          <p:cNvGrpSpPr/>
          <p:nvPr/>
        </p:nvGrpSpPr>
        <p:grpSpPr>
          <a:xfrm>
            <a:off x="638332" y="3566830"/>
            <a:ext cx="10994966" cy="2246314"/>
            <a:chOff x="0" y="1991651"/>
            <a:chExt cx="5239339" cy="2246314"/>
          </a:xfrm>
        </p:grpSpPr>
        <p:sp>
          <p:nvSpPr>
            <p:cNvPr id="15" name="Rectangle 14"/>
            <p:cNvSpPr/>
            <p:nvPr/>
          </p:nvSpPr>
          <p:spPr>
            <a:xfrm>
              <a:off x="0" y="1991651"/>
              <a:ext cx="5239339" cy="2231566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sp>
        <p:sp>
          <p:nvSpPr>
            <p:cNvPr id="16" name="Rectangle 15"/>
            <p:cNvSpPr/>
            <p:nvPr/>
          </p:nvSpPr>
          <p:spPr>
            <a:xfrm>
              <a:off x="0" y="2006399"/>
              <a:ext cx="5239339" cy="2231566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algn="ctr"/>
              <a:endParaRPr lang="en-US" sz="3600" dirty="0"/>
            </a:p>
            <a:p>
              <a:pPr algn="ctr"/>
              <a:r>
                <a:rPr lang="en-US" sz="3600" dirty="0"/>
                <a:t>What do you mean by Traversing?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82368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5590906B-7B28-4168-875C-2821760FE6B8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890330" y="483460"/>
            <a:ext cx="5017695" cy="1136052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Learning Outcomes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018FB1-5AC0-A361-622A-D2F46CAE3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D5415-04E5-9984-5403-67A367538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6510230-8DD5-4BA5-AB2D-CA30FC08F9D7}" type="slidenum">
              <a:rPr lang="en-IN" smtClean="0"/>
              <a:pPr/>
              <a:t>5</a:t>
            </a:fld>
            <a:endParaRPr lang="en-IN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973C0F83-D21D-A99D-35A6-7A07FC92A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532" y="1435255"/>
            <a:ext cx="108204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US" sz="3200" b="1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 the end of this session, You will be able to:</a:t>
            </a:r>
          </a:p>
        </p:txBody>
      </p:sp>
      <p:sp>
        <p:nvSpPr>
          <p:cNvPr id="2" name="Rectangle 1"/>
          <p:cNvSpPr/>
          <p:nvPr/>
        </p:nvSpPr>
        <p:spPr>
          <a:xfrm>
            <a:off x="10671589" y="1065923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[2-mins]</a:t>
            </a:r>
          </a:p>
        </p:txBody>
      </p:sp>
      <p:graphicFrame>
        <p:nvGraphicFramePr>
          <p:cNvPr id="12" name="Title 1">
            <a:extLst>
              <a:ext uri="{FF2B5EF4-FFF2-40B4-BE49-F238E27FC236}">
                <a16:creationId xmlns:a16="http://schemas.microsoft.com/office/drawing/2014/main" id="{FBB5840F-85BE-5580-FDC6-C72FB2C1E2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5725484"/>
              </p:ext>
            </p:extLst>
          </p:nvPr>
        </p:nvGraphicFramePr>
        <p:xfrm>
          <a:off x="297092" y="22857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3805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6</a:t>
            </a:fld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9E5FE6-2AEA-FD10-96D6-84ECB84793BD}"/>
              </a:ext>
            </a:extLst>
          </p:cNvPr>
          <p:cNvSpPr txBox="1"/>
          <p:nvPr/>
        </p:nvSpPr>
        <p:spPr>
          <a:xfrm>
            <a:off x="727756" y="1219889"/>
            <a:ext cx="10468176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/>
              <a:t>Session Outline</a:t>
            </a:r>
          </a:p>
          <a:p>
            <a:pPr algn="ctr"/>
            <a:endParaRPr lang="en-US" sz="3200" dirty="0"/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Graph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Traversing in graph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BFS: Breadth first search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800" dirty="0"/>
              <a:t>DFS: Depth First Search</a:t>
            </a:r>
          </a:p>
          <a:p>
            <a:pPr marL="342900" lvl="0" indent="-342900">
              <a:buFont typeface="Arial" pitchFamily="34" charset="0"/>
              <a:buChar char="•"/>
            </a:pPr>
            <a:r>
              <a:rPr lang="en-US" sz="2800" dirty="0"/>
              <a:t>Provide hands-on activities and reinforce learning through an interactive </a:t>
            </a:r>
            <a:r>
              <a:rPr lang="en-US" sz="2800" dirty="0" err="1"/>
              <a:t>WooClap</a:t>
            </a:r>
            <a:r>
              <a:rPr lang="en-US" sz="2800" dirty="0"/>
              <a:t> and </a:t>
            </a:r>
            <a:r>
              <a:rPr lang="en-US" sz="2800" dirty="0" err="1"/>
              <a:t>WooFlash</a:t>
            </a:r>
            <a:r>
              <a:rPr lang="en-US" sz="2800" dirty="0"/>
              <a:t> tools.</a:t>
            </a:r>
          </a:p>
        </p:txBody>
      </p:sp>
    </p:spTree>
    <p:extLst>
      <p:ext uri="{BB962C8B-B14F-4D97-AF65-F5344CB8AC3E}">
        <p14:creationId xmlns:p14="http://schemas.microsoft.com/office/powerpoint/2010/main" val="3560614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84D04-41CA-6E97-EFFB-559B6F6A4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DDEC7-A318-B5ED-6B24-23EF9A30C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7</a:t>
            </a:fld>
            <a:endParaRPr lang="en-IN" dirty="0"/>
          </a:p>
        </p:txBody>
      </p:sp>
      <p:sp>
        <p:nvSpPr>
          <p:cNvPr id="2" name="Rectangle 1"/>
          <p:cNvSpPr/>
          <p:nvPr/>
        </p:nvSpPr>
        <p:spPr>
          <a:xfrm>
            <a:off x="10671590" y="1095420"/>
            <a:ext cx="10486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[5-mins]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385279" y="3921303"/>
            <a:ext cx="11421441" cy="2774772"/>
            <a:chOff x="0" y="1991651"/>
            <a:chExt cx="5313077" cy="2265364"/>
          </a:xfrm>
        </p:grpSpPr>
        <p:sp>
          <p:nvSpPr>
            <p:cNvPr id="15" name="Rectangle 14"/>
            <p:cNvSpPr/>
            <p:nvPr/>
          </p:nvSpPr>
          <p:spPr>
            <a:xfrm>
              <a:off x="0" y="1991651"/>
              <a:ext cx="5239339" cy="2231566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</p:sp>
        <p:sp>
          <p:nvSpPr>
            <p:cNvPr id="16" name="Rectangle 15"/>
            <p:cNvSpPr/>
            <p:nvPr/>
          </p:nvSpPr>
          <p:spPr>
            <a:xfrm>
              <a:off x="73738" y="2025449"/>
              <a:ext cx="5239339" cy="2231566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algn="just"/>
              <a:r>
                <a:rPr lang="en-US" sz="3600" b="0" i="0" dirty="0">
                  <a:solidFill>
                    <a:srgbClr val="0A0A0A"/>
                  </a:solidFill>
                  <a:effectLst/>
                  <a:latin typeface="Google Sans"/>
                </a:rPr>
                <a:t>Imagine you are writing a program for a new social media platform called “</a:t>
              </a:r>
              <a:r>
                <a:rPr lang="en-US" sz="3600" dirty="0" err="1">
                  <a:solidFill>
                    <a:srgbClr val="0A0A0A"/>
                  </a:solidFill>
                  <a:latin typeface="Google Sans"/>
                </a:rPr>
                <a:t>L</a:t>
              </a:r>
              <a:r>
                <a:rPr lang="en-US" sz="3600" b="0" i="0" dirty="0" err="1">
                  <a:solidFill>
                    <a:srgbClr val="0A0A0A"/>
                  </a:solidFill>
                  <a:effectLst/>
                  <a:latin typeface="Google Sans"/>
                </a:rPr>
                <a:t>inkedin</a:t>
              </a:r>
              <a:r>
                <a:rPr lang="en-US" sz="3600" b="0" i="0" dirty="0">
                  <a:solidFill>
                    <a:srgbClr val="0A0A0A"/>
                  </a:solidFill>
                  <a:effectLst/>
                  <a:latin typeface="Google Sans"/>
                </a:rPr>
                <a:t>." The platform needs a feature that helps users find new friends who are closely connected to their existing network, specifically finding "friends of friends."</a:t>
              </a:r>
              <a:endParaRPr lang="en-US" sz="3600" dirty="0"/>
            </a:p>
            <a:p>
              <a:pPr algn="just"/>
              <a:endParaRPr lang="en-US" sz="4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endParaRPr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3900566" y="168435"/>
            <a:ext cx="66801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Activity-1 (Think – Pair – Share)</a:t>
            </a:r>
          </a:p>
        </p:txBody>
      </p:sp>
      <p:sp>
        <p:nvSpPr>
          <p:cNvPr id="3" name="Rectangle 2"/>
          <p:cNvSpPr/>
          <p:nvPr/>
        </p:nvSpPr>
        <p:spPr>
          <a:xfrm>
            <a:off x="6522475" y="3771900"/>
            <a:ext cx="500389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AEACEBD-C50D-45B3-F5FE-6CB97AA501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1" y="976817"/>
            <a:ext cx="7592930" cy="2903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19997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39D6DDAD-8CBF-C543-9177-D2C5F17AA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CS 103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62173988-309D-8B17-4C27-B2E09382C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0AAA1-F0BF-4B4B-A058-C0ABA2D2245B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237570" name="Rectangle 2">
            <a:extLst>
              <a:ext uri="{FF2B5EF4-FFF2-40B4-BE49-F238E27FC236}">
                <a16:creationId xmlns:a16="http://schemas.microsoft.com/office/drawing/2014/main" id="{E088B856-804B-38AE-4D78-AC4B6899909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673100" y="444858"/>
            <a:ext cx="10845800" cy="1325563"/>
          </a:xfrm>
        </p:spPr>
        <p:txBody>
          <a:bodyPr>
            <a:normAutofit/>
          </a:bodyPr>
          <a:lstStyle/>
          <a:p>
            <a:r>
              <a:rPr lang="en-US" altLang="en-US" b="1" dirty="0"/>
              <a:t>Answer following based on previous activity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6C0C76-7DE7-0DC7-47DE-A5CF5BA1F5F1}"/>
              </a:ext>
            </a:extLst>
          </p:cNvPr>
          <p:cNvSpPr txBox="1"/>
          <p:nvPr/>
        </p:nvSpPr>
        <p:spPr>
          <a:xfrm>
            <a:off x="1109133" y="1770421"/>
            <a:ext cx="78486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graph structure is used to represent users and their friendships in a social network?</a:t>
            </a:r>
          </a:p>
          <a:p>
            <a:pPr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does a “friend of a friend” represent in graph terms?</a:t>
            </a:r>
          </a:p>
          <a:p>
            <a:pPr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 BFS more suitable than DFS for finding friends of friends?</a:t>
            </a:r>
          </a:p>
          <a:p>
            <a:pPr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what BFS level (depth) do we find “friends of friends”?</a:t>
            </a:r>
          </a:p>
          <a:p>
            <a:pPr>
              <a:buFont typeface="+mj-lt"/>
              <a:buAutoNum type="arabicPeriod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data structure does BFS use to keep track of nodes to visit?</a:t>
            </a:r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B569F320-179A-3ABD-EE4B-0B739B8D01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5699" y="2309018"/>
            <a:ext cx="3228181" cy="3228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E020200-59BC-D307-685B-1551A8D08332}"/>
              </a:ext>
            </a:extLst>
          </p:cNvPr>
          <p:cNvSpPr txBox="1"/>
          <p:nvPr/>
        </p:nvSpPr>
        <p:spPr>
          <a:xfrm>
            <a:off x="9144000" y="1873640"/>
            <a:ext cx="26736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Scan for response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48C0A-215C-A81B-F208-7EF125EAA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AF0545F-358C-C3CB-815B-75111FFEC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CS 103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46A36A53-5DA9-94E2-D162-BB54C8B47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70AAA1-F0BF-4B4B-A058-C0ABA2D2245B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237570" name="Rectangle 2">
            <a:extLst>
              <a:ext uri="{FF2B5EF4-FFF2-40B4-BE49-F238E27FC236}">
                <a16:creationId xmlns:a16="http://schemas.microsoft.com/office/drawing/2014/main" id="{B4B1F943-E317-3670-B589-A2E9C7A0DF8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109133" y="983456"/>
            <a:ext cx="10515600" cy="1325563"/>
          </a:xfrm>
        </p:spPr>
        <p:txBody>
          <a:bodyPr/>
          <a:lstStyle/>
          <a:p>
            <a:r>
              <a:rPr lang="en-US" altLang="en-US" b="1" dirty="0"/>
              <a:t>Graph Traversal Techniques</a:t>
            </a:r>
          </a:p>
        </p:txBody>
      </p:sp>
      <p:sp>
        <p:nvSpPr>
          <p:cNvPr id="237571" name="Rectangle 3">
            <a:extLst>
              <a:ext uri="{FF2B5EF4-FFF2-40B4-BE49-F238E27FC236}">
                <a16:creationId xmlns:a16="http://schemas.microsoft.com/office/drawing/2014/main" id="{9DB86F34-0509-D8C0-A7E9-8D3BB95A7B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2157016"/>
            <a:ext cx="10515600" cy="4351338"/>
          </a:xfrm>
        </p:spPr>
        <p:txBody>
          <a:bodyPr/>
          <a:lstStyle/>
          <a:p>
            <a:r>
              <a:rPr lang="en-US" altLang="en-US" dirty="0"/>
              <a:t>The previous connectivity problem, as well as many other graph problems, can be solved using graph traversal techniques</a:t>
            </a:r>
          </a:p>
          <a:p>
            <a:r>
              <a:rPr lang="en-US" altLang="en-US" dirty="0"/>
              <a:t>There are two standard graph traversal techniques:</a:t>
            </a:r>
          </a:p>
          <a:p>
            <a:pPr lvl="1"/>
            <a:r>
              <a:rPr lang="en-US" altLang="en-US" i="1" dirty="0">
                <a:solidFill>
                  <a:srgbClr val="CC0000"/>
                </a:solidFill>
              </a:rPr>
              <a:t>Depth-First Search</a:t>
            </a:r>
            <a:r>
              <a:rPr lang="en-US" altLang="en-US" dirty="0"/>
              <a:t> (DFS)</a:t>
            </a:r>
          </a:p>
          <a:p>
            <a:pPr lvl="1"/>
            <a:r>
              <a:rPr lang="en-US" altLang="en-US" i="1" dirty="0">
                <a:solidFill>
                  <a:srgbClr val="CC0000"/>
                </a:solidFill>
              </a:rPr>
              <a:t>Breadth-First Search</a:t>
            </a:r>
            <a:r>
              <a:rPr lang="en-US" altLang="en-US" dirty="0"/>
              <a:t> (BFS)</a:t>
            </a:r>
          </a:p>
        </p:txBody>
      </p:sp>
    </p:spTree>
    <p:extLst>
      <p:ext uri="{BB962C8B-B14F-4D97-AF65-F5344CB8AC3E}">
        <p14:creationId xmlns:p14="http://schemas.microsoft.com/office/powerpoint/2010/main" val="31547126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2C9FF439-952F-A9FD-1B0C-F81FF1F67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CS 103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02A17DA-9FA2-D65A-5F77-564F5462B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B9651C-F762-4C32-8FE7-36F10D546B26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238594" name="Rectangle 2">
            <a:extLst>
              <a:ext uri="{FF2B5EF4-FFF2-40B4-BE49-F238E27FC236}">
                <a16:creationId xmlns:a16="http://schemas.microsoft.com/office/drawing/2014/main" id="{91D26C1E-263D-E33B-9C8E-41FAEEE63DE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007533" y="983456"/>
            <a:ext cx="10515600" cy="1325563"/>
          </a:xfrm>
        </p:spPr>
        <p:txBody>
          <a:bodyPr/>
          <a:lstStyle/>
          <a:p>
            <a:r>
              <a:rPr lang="en-US" altLang="en-US" b="1" dirty="0"/>
              <a:t>Graph Traversal (Contd.)</a:t>
            </a:r>
          </a:p>
        </p:txBody>
      </p:sp>
      <p:sp>
        <p:nvSpPr>
          <p:cNvPr id="238595" name="Rectangle 3">
            <a:extLst>
              <a:ext uri="{FF2B5EF4-FFF2-40B4-BE49-F238E27FC236}">
                <a16:creationId xmlns:a16="http://schemas.microsoft.com/office/drawing/2014/main" id="{513A475A-EDC1-14B1-6A20-6EE2D36D66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07533" y="2370137"/>
            <a:ext cx="10515600" cy="4351338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both DFS and BFS, the nodes of the undirected graph are visited in a systematic manner so that every node is visited exactly one.</a:t>
            </a:r>
          </a:p>
          <a:p>
            <a:pPr>
              <a:lnSpc>
                <a:spcPct val="9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BFS and DFS give rise to a tree: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node x is visited, it is labeled as visited, and it is added to the tree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 traversal got to node x from node y, y is viewed as the parent of x, and x a child of 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A0AC8824-E9EE-688C-1F98-43F16678F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CS 103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09548326-A483-82AD-F251-8FC8904D6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1AFF4D-9DB2-4692-A201-E08DAA69B596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239618" name="Rectangle 2">
            <a:extLst>
              <a:ext uri="{FF2B5EF4-FFF2-40B4-BE49-F238E27FC236}">
                <a16:creationId xmlns:a16="http://schemas.microsoft.com/office/drawing/2014/main" id="{04A9E1FF-B9DA-BB40-7E1D-AFB93E411689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209800" y="838200"/>
            <a:ext cx="7772400" cy="609600"/>
          </a:xfrm>
        </p:spPr>
        <p:txBody>
          <a:bodyPr>
            <a:normAutofit fontScale="90000"/>
          </a:bodyPr>
          <a:lstStyle/>
          <a:p>
            <a:r>
              <a:rPr lang="en-US" altLang="en-US" sz="4000" b="1" dirty="0"/>
              <a:t>Depth-First Search </a:t>
            </a:r>
          </a:p>
        </p:txBody>
      </p:sp>
      <p:sp>
        <p:nvSpPr>
          <p:cNvPr id="239619" name="Rectangle 3">
            <a:extLst>
              <a:ext uri="{FF2B5EF4-FFF2-40B4-BE49-F238E27FC236}">
                <a16:creationId xmlns:a16="http://schemas.microsoft.com/office/drawing/2014/main" id="{5551DBAE-009D-03BD-1D1E-2E2F4E5463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799" y="1447800"/>
            <a:ext cx="7916333" cy="4908550"/>
          </a:xfrm>
        </p:spPr>
        <p:txBody>
          <a:bodyPr/>
          <a:lstStyle/>
          <a:p>
            <a:pPr marL="533400" indent="-533400"/>
            <a:r>
              <a:rPr lang="en-US" altLang="en-US" dirty="0"/>
              <a:t>DFS follows the following rules: </a:t>
            </a:r>
          </a:p>
          <a:p>
            <a:pPr marL="914400" lvl="1" indent="-457200">
              <a:buFontTx/>
              <a:buAutoNum type="arabicPeriod"/>
            </a:pPr>
            <a:r>
              <a:rPr lang="en-US" altLang="en-US" dirty="0"/>
              <a:t>Select an unvisited node x, visit it, and treat as the </a:t>
            </a:r>
            <a:r>
              <a:rPr lang="en-US" altLang="en-US" dirty="0">
                <a:solidFill>
                  <a:srgbClr val="CC0000"/>
                </a:solidFill>
              </a:rPr>
              <a:t>current node</a:t>
            </a:r>
            <a:r>
              <a:rPr lang="en-US" altLang="en-US" dirty="0"/>
              <a:t> </a:t>
            </a:r>
          </a:p>
          <a:p>
            <a:pPr marL="914400" lvl="1" indent="-457200">
              <a:buFontTx/>
              <a:buAutoNum type="arabicPeriod"/>
            </a:pPr>
            <a:r>
              <a:rPr lang="en-US" altLang="en-US" dirty="0"/>
              <a:t>Find an unvisited neighbor of the current node, visit it, and make it the new current node; </a:t>
            </a:r>
          </a:p>
          <a:p>
            <a:pPr marL="914400" lvl="1" indent="-457200">
              <a:buFontTx/>
              <a:buAutoNum type="arabicPeriod"/>
            </a:pPr>
            <a:r>
              <a:rPr lang="en-US" altLang="en-US" dirty="0"/>
              <a:t>If the current node has no unvisited neighbors, </a:t>
            </a:r>
            <a:r>
              <a:rPr lang="en-US" altLang="en-US" dirty="0">
                <a:solidFill>
                  <a:srgbClr val="CC0000"/>
                </a:solidFill>
              </a:rPr>
              <a:t>backtrack</a:t>
            </a:r>
            <a:r>
              <a:rPr lang="en-US" altLang="en-US" dirty="0"/>
              <a:t> to the its parent, and make that parent the new current node; </a:t>
            </a:r>
          </a:p>
          <a:p>
            <a:pPr marL="914400" lvl="1" indent="-457200">
              <a:buFontTx/>
              <a:buAutoNum type="arabicPeriod"/>
            </a:pPr>
            <a:r>
              <a:rPr lang="en-US" altLang="en-US" dirty="0"/>
              <a:t>Repeat steps 3 and 4 until no more nodes can be visited. </a:t>
            </a:r>
          </a:p>
          <a:p>
            <a:pPr marL="914400" lvl="1" indent="-457200">
              <a:buFontTx/>
              <a:buAutoNum type="arabicPeriod"/>
            </a:pPr>
            <a:r>
              <a:rPr lang="en-US" altLang="en-US" dirty="0"/>
              <a:t>If there are still unvisited nodes, repeat from step 1.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6831CF14-A263-6C0B-32FD-34E529207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CS 103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7FF34ED-7955-9935-CA5D-B28B1AC30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805953-CBD9-4F38-AE69-93008BF23171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240642" name="Rectangle 2">
            <a:extLst>
              <a:ext uri="{FF2B5EF4-FFF2-40B4-BE49-F238E27FC236}">
                <a16:creationId xmlns:a16="http://schemas.microsoft.com/office/drawing/2014/main" id="{93AF10EA-D4BA-50BF-4472-1FBE6C83CBD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209800" y="609600"/>
            <a:ext cx="7772400" cy="609600"/>
          </a:xfrm>
        </p:spPr>
        <p:txBody>
          <a:bodyPr>
            <a:normAutofit fontScale="90000"/>
          </a:bodyPr>
          <a:lstStyle/>
          <a:p>
            <a:r>
              <a:rPr lang="en-US" altLang="en-US" sz="4000" b="1"/>
              <a:t>Illustration of DFS</a:t>
            </a:r>
          </a:p>
        </p:txBody>
      </p:sp>
      <p:sp>
        <p:nvSpPr>
          <p:cNvPr id="240643" name="Rectangle 3">
            <a:extLst>
              <a:ext uri="{FF2B5EF4-FFF2-40B4-BE49-F238E27FC236}">
                <a16:creationId xmlns:a16="http://schemas.microsoft.com/office/drawing/2014/main" id="{D6D20CC2-2BCD-AFE0-906F-B217970C46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1371600"/>
            <a:ext cx="7772400" cy="4724400"/>
          </a:xfrm>
        </p:spPr>
        <p:txBody>
          <a:bodyPr/>
          <a:lstStyle/>
          <a:p>
            <a:endParaRPr lang="en-US" altLang="en-US"/>
          </a:p>
        </p:txBody>
      </p:sp>
      <p:sp>
        <p:nvSpPr>
          <p:cNvPr id="240644" name="Oval 4">
            <a:extLst>
              <a:ext uri="{FF2B5EF4-FFF2-40B4-BE49-F238E27FC236}">
                <a16:creationId xmlns:a16="http://schemas.microsoft.com/office/drawing/2014/main" id="{66DCFAF1-621C-5D86-7DF2-8ACD50B858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3725" y="2328864"/>
            <a:ext cx="165100" cy="1285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0645" name="Oval 5">
            <a:extLst>
              <a:ext uri="{FF2B5EF4-FFF2-40B4-BE49-F238E27FC236}">
                <a16:creationId xmlns:a16="http://schemas.microsoft.com/office/drawing/2014/main" id="{8146F126-4A6E-AD9F-0B87-CB0A51D87B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2863" y="1689100"/>
            <a:ext cx="165100" cy="1285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0646" name="Oval 6">
            <a:extLst>
              <a:ext uri="{FF2B5EF4-FFF2-40B4-BE49-F238E27FC236}">
                <a16:creationId xmlns:a16="http://schemas.microsoft.com/office/drawing/2014/main" id="{18DDF16F-274C-36B2-EA65-4D15EBD097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8425" y="3160714"/>
            <a:ext cx="165100" cy="1285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0647" name="Oval 7">
            <a:extLst>
              <a:ext uri="{FF2B5EF4-FFF2-40B4-BE49-F238E27FC236}">
                <a16:creationId xmlns:a16="http://schemas.microsoft.com/office/drawing/2014/main" id="{F52AEEC3-371B-CD1B-D8F6-8DA6007F1E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1600" y="3124200"/>
            <a:ext cx="166688" cy="1285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0648" name="Oval 8">
            <a:extLst>
              <a:ext uri="{FF2B5EF4-FFF2-40B4-BE49-F238E27FC236}">
                <a16:creationId xmlns:a16="http://schemas.microsoft.com/office/drawing/2014/main" id="{23FB1FFE-1844-E172-47E0-FDB7EA7FEC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98025" y="2265364"/>
            <a:ext cx="165100" cy="1285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0649" name="Oval 9">
            <a:extLst>
              <a:ext uri="{FF2B5EF4-FFF2-40B4-BE49-F238E27FC236}">
                <a16:creationId xmlns:a16="http://schemas.microsoft.com/office/drawing/2014/main" id="{B751D1E4-B870-FE80-090E-33C203F2E6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3325" y="1689100"/>
            <a:ext cx="165100" cy="1285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0650" name="Line 10">
            <a:extLst>
              <a:ext uri="{FF2B5EF4-FFF2-40B4-BE49-F238E27FC236}">
                <a16:creationId xmlns:a16="http://schemas.microsoft.com/office/drawing/2014/main" id="{0408634F-939E-0287-09C2-11399053CA1E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2400" y="1752600"/>
            <a:ext cx="11064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0651" name="Line 11">
            <a:extLst>
              <a:ext uri="{FF2B5EF4-FFF2-40B4-BE49-F238E27FC236}">
                <a16:creationId xmlns:a16="http://schemas.microsoft.com/office/drawing/2014/main" id="{692DCEA8-DCBC-E3F3-F0AE-DDD4D2039BA7}"/>
              </a:ext>
            </a:extLst>
          </p:cNvPr>
          <p:cNvSpPr>
            <a:spLocks noChangeShapeType="1"/>
          </p:cNvSpPr>
          <p:nvPr/>
        </p:nvSpPr>
        <p:spPr bwMode="auto">
          <a:xfrm>
            <a:off x="7054850" y="2393950"/>
            <a:ext cx="25971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0652" name="Line 12">
            <a:extLst>
              <a:ext uri="{FF2B5EF4-FFF2-40B4-BE49-F238E27FC236}">
                <a16:creationId xmlns:a16="http://schemas.microsoft.com/office/drawing/2014/main" id="{3F9698A7-773E-B5C4-D3A2-38AD4F91B1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54851" y="1752600"/>
            <a:ext cx="663575" cy="641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0653" name="Line 13">
            <a:extLst>
              <a:ext uri="{FF2B5EF4-FFF2-40B4-BE49-F238E27FC236}">
                <a16:creationId xmlns:a16="http://schemas.microsoft.com/office/drawing/2014/main" id="{6C528E9C-F47C-7E7C-2256-845CD2ED1649}"/>
              </a:ext>
            </a:extLst>
          </p:cNvPr>
          <p:cNvSpPr>
            <a:spLocks noChangeShapeType="1"/>
          </p:cNvSpPr>
          <p:nvPr/>
        </p:nvSpPr>
        <p:spPr bwMode="auto">
          <a:xfrm>
            <a:off x="8934450" y="1752601"/>
            <a:ext cx="71755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0654" name="Line 14">
            <a:extLst>
              <a:ext uri="{FF2B5EF4-FFF2-40B4-BE49-F238E27FC236}">
                <a16:creationId xmlns:a16="http://schemas.microsoft.com/office/drawing/2014/main" id="{2B741281-7288-D33A-31FC-9BC0AD9F2AC0}"/>
              </a:ext>
            </a:extLst>
          </p:cNvPr>
          <p:cNvSpPr>
            <a:spLocks noChangeShapeType="1"/>
          </p:cNvSpPr>
          <p:nvPr/>
        </p:nvSpPr>
        <p:spPr bwMode="auto">
          <a:xfrm>
            <a:off x="7827964" y="3225800"/>
            <a:ext cx="12160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0656" name="Line 16">
            <a:extLst>
              <a:ext uri="{FF2B5EF4-FFF2-40B4-BE49-F238E27FC236}">
                <a16:creationId xmlns:a16="http://schemas.microsoft.com/office/drawing/2014/main" id="{E6B81034-C7EC-9CFB-2873-60CF3AF3ADFF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2401" y="1752601"/>
            <a:ext cx="1825625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0657" name="Line 17">
            <a:extLst>
              <a:ext uri="{FF2B5EF4-FFF2-40B4-BE49-F238E27FC236}">
                <a16:creationId xmlns:a16="http://schemas.microsoft.com/office/drawing/2014/main" id="{90166765-A85F-232F-DC49-39D036FF1F2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019925" y="2451100"/>
            <a:ext cx="762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0660" name="Oval 20">
            <a:extLst>
              <a:ext uri="{FF2B5EF4-FFF2-40B4-BE49-F238E27FC236}">
                <a16:creationId xmlns:a16="http://schemas.microsoft.com/office/drawing/2014/main" id="{2EE0EFD7-4FD8-3354-7FCA-84406CBA6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5800" y="3733800"/>
            <a:ext cx="166688" cy="1285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0661" name="Oval 21">
            <a:extLst>
              <a:ext uri="{FF2B5EF4-FFF2-40B4-BE49-F238E27FC236}">
                <a16:creationId xmlns:a16="http://schemas.microsoft.com/office/drawing/2014/main" id="{B8003102-4202-0A3B-F6E0-2EEA990E75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48800" y="3581400"/>
            <a:ext cx="166688" cy="1285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0662" name="Oval 22">
            <a:extLst>
              <a:ext uri="{FF2B5EF4-FFF2-40B4-BE49-F238E27FC236}">
                <a16:creationId xmlns:a16="http://schemas.microsoft.com/office/drawing/2014/main" id="{1F1DAD4D-21B8-A077-7C18-B8C902CAFD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2667000"/>
            <a:ext cx="166688" cy="1285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0663" name="Oval 23">
            <a:extLst>
              <a:ext uri="{FF2B5EF4-FFF2-40B4-BE49-F238E27FC236}">
                <a16:creationId xmlns:a16="http://schemas.microsoft.com/office/drawing/2014/main" id="{73D58E55-EAA6-99D2-F9ED-E3C15E7A2A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3200400"/>
            <a:ext cx="166688" cy="1285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0664" name="Oval 24">
            <a:extLst>
              <a:ext uri="{FF2B5EF4-FFF2-40B4-BE49-F238E27FC236}">
                <a16:creationId xmlns:a16="http://schemas.microsoft.com/office/drawing/2014/main" id="{DDE4B395-E4D6-721C-858F-83A907BC3A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2971800"/>
            <a:ext cx="166688" cy="1285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0665" name="Line 25">
            <a:extLst>
              <a:ext uri="{FF2B5EF4-FFF2-40B4-BE49-F238E27FC236}">
                <a16:creationId xmlns:a16="http://schemas.microsoft.com/office/drawing/2014/main" id="{450B7DF4-4D52-AE55-BB11-743BBB93ACA0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7800" y="3200400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0666" name="Line 26">
            <a:extLst>
              <a:ext uri="{FF2B5EF4-FFF2-40B4-BE49-F238E27FC236}">
                <a16:creationId xmlns:a16="http://schemas.microsoft.com/office/drawing/2014/main" id="{5BB05B0C-CFFE-C58D-2472-2D9A05B3B290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2400" y="32004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0667" name="Line 27">
            <a:extLst>
              <a:ext uri="{FF2B5EF4-FFF2-40B4-BE49-F238E27FC236}">
                <a16:creationId xmlns:a16="http://schemas.microsoft.com/office/drawing/2014/main" id="{E9D1D40F-BD09-585E-93DD-4B3C18F655E9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2400" y="3276600"/>
            <a:ext cx="1752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0668" name="Line 28">
            <a:extLst>
              <a:ext uri="{FF2B5EF4-FFF2-40B4-BE49-F238E27FC236}">
                <a16:creationId xmlns:a16="http://schemas.microsoft.com/office/drawing/2014/main" id="{70191769-F717-A527-4AE7-359B016880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96000" y="2362200"/>
            <a:ext cx="914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0669" name="Line 29">
            <a:extLst>
              <a:ext uri="{FF2B5EF4-FFF2-40B4-BE49-F238E27FC236}">
                <a16:creationId xmlns:a16="http://schemas.microsoft.com/office/drawing/2014/main" id="{DC813839-D498-3348-39D2-B11CBDDE7DAF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24384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0671" name="Line 31">
            <a:extLst>
              <a:ext uri="{FF2B5EF4-FFF2-40B4-BE49-F238E27FC236}">
                <a16:creationId xmlns:a16="http://schemas.microsoft.com/office/drawing/2014/main" id="{4A9413EE-DBCB-14F5-750E-65AF927631DB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2743200"/>
            <a:ext cx="457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0672" name="Line 32">
            <a:extLst>
              <a:ext uri="{FF2B5EF4-FFF2-40B4-BE49-F238E27FC236}">
                <a16:creationId xmlns:a16="http://schemas.microsoft.com/office/drawing/2014/main" id="{3AEDCD28-A785-29F4-98F4-99B6857F747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7000" y="3048000"/>
            <a:ext cx="533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0673" name="Text Box 33">
            <a:extLst>
              <a:ext uri="{FF2B5EF4-FFF2-40B4-BE49-F238E27FC236}">
                <a16:creationId xmlns:a16="http://schemas.microsoft.com/office/drawing/2014/main" id="{61245362-5A08-DF05-7D46-C0F3622AF0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5525" y="1412875"/>
            <a:ext cx="3080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0</a:t>
            </a:r>
          </a:p>
        </p:txBody>
      </p:sp>
      <p:sp>
        <p:nvSpPr>
          <p:cNvPr id="240674" name="Text Box 34">
            <a:extLst>
              <a:ext uri="{FF2B5EF4-FFF2-40B4-BE49-F238E27FC236}">
                <a16:creationId xmlns:a16="http://schemas.microsoft.com/office/drawing/2014/main" id="{47C1663F-96BD-A6C6-2B27-303ABA9AF0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5400" y="1371600"/>
            <a:ext cx="3080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</a:t>
            </a:r>
          </a:p>
        </p:txBody>
      </p:sp>
      <p:sp>
        <p:nvSpPr>
          <p:cNvPr id="240675" name="Text Box 35">
            <a:extLst>
              <a:ext uri="{FF2B5EF4-FFF2-40B4-BE49-F238E27FC236}">
                <a16:creationId xmlns:a16="http://schemas.microsoft.com/office/drawing/2014/main" id="{D33CA46D-5274-5979-3DCF-F5D949C9FD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3525" y="2022475"/>
            <a:ext cx="3080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2</a:t>
            </a:r>
          </a:p>
        </p:txBody>
      </p:sp>
      <p:sp>
        <p:nvSpPr>
          <p:cNvPr id="240676" name="Text Box 36">
            <a:extLst>
              <a:ext uri="{FF2B5EF4-FFF2-40B4-BE49-F238E27FC236}">
                <a16:creationId xmlns:a16="http://schemas.microsoft.com/office/drawing/2014/main" id="{104CB1DB-F2AE-7905-85AA-2D88D4251D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6725" y="2327275"/>
            <a:ext cx="3080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4</a:t>
            </a:r>
          </a:p>
        </p:txBody>
      </p:sp>
      <p:sp>
        <p:nvSpPr>
          <p:cNvPr id="240677" name="Text Box 37">
            <a:extLst>
              <a:ext uri="{FF2B5EF4-FFF2-40B4-BE49-F238E27FC236}">
                <a16:creationId xmlns:a16="http://schemas.microsoft.com/office/drawing/2014/main" id="{29E65E71-1D49-6225-0F41-C4330379B1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2819400"/>
            <a:ext cx="3080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5</a:t>
            </a:r>
          </a:p>
        </p:txBody>
      </p:sp>
      <p:sp>
        <p:nvSpPr>
          <p:cNvPr id="240678" name="Text Box 38">
            <a:extLst>
              <a:ext uri="{FF2B5EF4-FFF2-40B4-BE49-F238E27FC236}">
                <a16:creationId xmlns:a16="http://schemas.microsoft.com/office/drawing/2014/main" id="{1010CBC9-CD0E-319A-6003-8C57A849DD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2325" y="3622675"/>
            <a:ext cx="3080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6</a:t>
            </a:r>
          </a:p>
        </p:txBody>
      </p:sp>
      <p:sp>
        <p:nvSpPr>
          <p:cNvPr id="240679" name="Text Box 39">
            <a:extLst>
              <a:ext uri="{FF2B5EF4-FFF2-40B4-BE49-F238E27FC236}">
                <a16:creationId xmlns:a16="http://schemas.microsoft.com/office/drawing/2014/main" id="{9516E35C-2156-5688-FCC6-CD3DC5477B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51925" y="2784475"/>
            <a:ext cx="3080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7</a:t>
            </a:r>
          </a:p>
        </p:txBody>
      </p:sp>
      <p:sp>
        <p:nvSpPr>
          <p:cNvPr id="240680" name="Text Box 40">
            <a:extLst>
              <a:ext uri="{FF2B5EF4-FFF2-40B4-BE49-F238E27FC236}">
                <a16:creationId xmlns:a16="http://schemas.microsoft.com/office/drawing/2014/main" id="{05C708C2-C2D4-0F1E-F286-452118A0A4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01200" y="3352800"/>
            <a:ext cx="3080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8</a:t>
            </a:r>
          </a:p>
        </p:txBody>
      </p:sp>
      <p:sp>
        <p:nvSpPr>
          <p:cNvPr id="240681" name="Text Box 41">
            <a:extLst>
              <a:ext uri="{FF2B5EF4-FFF2-40B4-BE49-F238E27FC236}">
                <a16:creationId xmlns:a16="http://schemas.microsoft.com/office/drawing/2014/main" id="{49715A7B-1A52-B978-B1C3-906EDC97FC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2925" y="2403475"/>
            <a:ext cx="3080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9</a:t>
            </a:r>
          </a:p>
        </p:txBody>
      </p:sp>
      <p:sp>
        <p:nvSpPr>
          <p:cNvPr id="240682" name="Text Box 42">
            <a:extLst>
              <a:ext uri="{FF2B5EF4-FFF2-40B4-BE49-F238E27FC236}">
                <a16:creationId xmlns:a16="http://schemas.microsoft.com/office/drawing/2014/main" id="{B38FCAF5-279C-583F-9EB7-0D3778B288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2895600"/>
            <a:ext cx="4315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10</a:t>
            </a:r>
          </a:p>
        </p:txBody>
      </p:sp>
      <p:sp>
        <p:nvSpPr>
          <p:cNvPr id="240683" name="Text Box 43">
            <a:extLst>
              <a:ext uri="{FF2B5EF4-FFF2-40B4-BE49-F238E27FC236}">
                <a16:creationId xmlns:a16="http://schemas.microsoft.com/office/drawing/2014/main" id="{AB3E34F9-9D39-0E18-5811-07DBAB13F3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2525" y="3241675"/>
            <a:ext cx="4315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11</a:t>
            </a:r>
          </a:p>
        </p:txBody>
      </p:sp>
      <p:sp>
        <p:nvSpPr>
          <p:cNvPr id="240684" name="Oval 44">
            <a:extLst>
              <a:ext uri="{FF2B5EF4-FFF2-40B4-BE49-F238E27FC236}">
                <a16:creationId xmlns:a16="http://schemas.microsoft.com/office/drawing/2014/main" id="{41CC5AEB-5DB5-F7F4-118F-72BD8906D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2057400"/>
            <a:ext cx="166688" cy="1285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0685" name="Oval 45">
            <a:extLst>
              <a:ext uri="{FF2B5EF4-FFF2-40B4-BE49-F238E27FC236}">
                <a16:creationId xmlns:a16="http://schemas.microsoft.com/office/drawing/2014/main" id="{3C701D7F-00FD-E237-1309-5888BFB05A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2362200"/>
            <a:ext cx="166688" cy="1285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0686" name="Oval 46">
            <a:extLst>
              <a:ext uri="{FF2B5EF4-FFF2-40B4-BE49-F238E27FC236}">
                <a16:creationId xmlns:a16="http://schemas.microsoft.com/office/drawing/2014/main" id="{E0008289-941D-8A09-D236-A2800009A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52800" y="2743200"/>
            <a:ext cx="166688" cy="1285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0687" name="Oval 47">
            <a:extLst>
              <a:ext uri="{FF2B5EF4-FFF2-40B4-BE49-F238E27FC236}">
                <a16:creationId xmlns:a16="http://schemas.microsoft.com/office/drawing/2014/main" id="{FB6975D2-9953-E00F-7E85-BBB41C7B9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3200400"/>
            <a:ext cx="166688" cy="1285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0688" name="Oval 48">
            <a:extLst>
              <a:ext uri="{FF2B5EF4-FFF2-40B4-BE49-F238E27FC236}">
                <a16:creationId xmlns:a16="http://schemas.microsoft.com/office/drawing/2014/main" id="{4975B546-2C96-F2E6-BFAE-9A01F5CCD4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3200" y="3657600"/>
            <a:ext cx="166688" cy="1285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0689" name="Oval 49">
            <a:extLst>
              <a:ext uri="{FF2B5EF4-FFF2-40B4-BE49-F238E27FC236}">
                <a16:creationId xmlns:a16="http://schemas.microsoft.com/office/drawing/2014/main" id="{9E4E4DF2-C40A-6BF4-9824-03A310087F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7600" y="3657600"/>
            <a:ext cx="166688" cy="1285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0690" name="Oval 50">
            <a:extLst>
              <a:ext uri="{FF2B5EF4-FFF2-40B4-BE49-F238E27FC236}">
                <a16:creationId xmlns:a16="http://schemas.microsoft.com/office/drawing/2014/main" id="{578AD994-E26D-3568-20E5-4758F58F6C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114800"/>
            <a:ext cx="166688" cy="1285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0691" name="Oval 51">
            <a:extLst>
              <a:ext uri="{FF2B5EF4-FFF2-40B4-BE49-F238E27FC236}">
                <a16:creationId xmlns:a16="http://schemas.microsoft.com/office/drawing/2014/main" id="{EC40A070-A13F-E187-169D-B13B6D5622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4572000"/>
            <a:ext cx="166688" cy="1285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0692" name="Oval 52">
            <a:extLst>
              <a:ext uri="{FF2B5EF4-FFF2-40B4-BE49-F238E27FC236}">
                <a16:creationId xmlns:a16="http://schemas.microsoft.com/office/drawing/2014/main" id="{7F3F76FC-7D9C-5867-253A-3D9F2832F7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4114800"/>
            <a:ext cx="166688" cy="1285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0693" name="Oval 53">
            <a:extLst>
              <a:ext uri="{FF2B5EF4-FFF2-40B4-BE49-F238E27FC236}">
                <a16:creationId xmlns:a16="http://schemas.microsoft.com/office/drawing/2014/main" id="{03930A96-A38D-C74A-4228-3C27112FE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4572000"/>
            <a:ext cx="166688" cy="1285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0694" name="Text Box 54">
            <a:extLst>
              <a:ext uri="{FF2B5EF4-FFF2-40B4-BE49-F238E27FC236}">
                <a16:creationId xmlns:a16="http://schemas.microsoft.com/office/drawing/2014/main" id="{DA3DFCE0-D873-0CC0-495E-2E7192A462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1325" y="1793875"/>
            <a:ext cx="3080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0</a:t>
            </a:r>
          </a:p>
        </p:txBody>
      </p:sp>
      <p:sp>
        <p:nvSpPr>
          <p:cNvPr id="240695" name="Text Box 55">
            <a:extLst>
              <a:ext uri="{FF2B5EF4-FFF2-40B4-BE49-F238E27FC236}">
                <a16:creationId xmlns:a16="http://schemas.microsoft.com/office/drawing/2014/main" id="{BE2ACC85-F193-1E17-9CF5-2A5CA50625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2209800"/>
            <a:ext cx="3080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</a:t>
            </a:r>
          </a:p>
        </p:txBody>
      </p:sp>
      <p:sp>
        <p:nvSpPr>
          <p:cNvPr id="240696" name="Text Box 56">
            <a:extLst>
              <a:ext uri="{FF2B5EF4-FFF2-40B4-BE49-F238E27FC236}">
                <a16:creationId xmlns:a16="http://schemas.microsoft.com/office/drawing/2014/main" id="{F83DC56F-214F-E05B-080C-5157CBDBB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2514600"/>
            <a:ext cx="3080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4</a:t>
            </a:r>
          </a:p>
        </p:txBody>
      </p:sp>
      <p:sp>
        <p:nvSpPr>
          <p:cNvPr id="240697" name="Line 57">
            <a:extLst>
              <a:ext uri="{FF2B5EF4-FFF2-40B4-BE49-F238E27FC236}">
                <a16:creationId xmlns:a16="http://schemas.microsoft.com/office/drawing/2014/main" id="{E2D0E698-6B9C-E522-88EE-659FD93AE66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29000" y="2438400"/>
            <a:ext cx="3810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0698" name="Line 58">
            <a:extLst>
              <a:ext uri="{FF2B5EF4-FFF2-40B4-BE49-F238E27FC236}">
                <a16:creationId xmlns:a16="http://schemas.microsoft.com/office/drawing/2014/main" id="{B9DE5166-CB28-14B7-86DA-50425695C3C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86200" y="2133600"/>
            <a:ext cx="381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0699" name="Text Box 59">
            <a:extLst>
              <a:ext uri="{FF2B5EF4-FFF2-40B4-BE49-F238E27FC236}">
                <a16:creationId xmlns:a16="http://schemas.microsoft.com/office/drawing/2014/main" id="{B7024CEA-3678-1193-A6D1-4EDE1749BE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2971800"/>
            <a:ext cx="3080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2</a:t>
            </a:r>
          </a:p>
        </p:txBody>
      </p:sp>
      <p:sp>
        <p:nvSpPr>
          <p:cNvPr id="240700" name="Text Box 60">
            <a:extLst>
              <a:ext uri="{FF2B5EF4-FFF2-40B4-BE49-F238E27FC236}">
                <a16:creationId xmlns:a16="http://schemas.microsoft.com/office/drawing/2014/main" id="{F84DFAF9-744A-F02E-818D-BD5CDF0AA1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3505200"/>
            <a:ext cx="3080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5</a:t>
            </a:r>
          </a:p>
        </p:txBody>
      </p:sp>
      <p:sp>
        <p:nvSpPr>
          <p:cNvPr id="240701" name="Line 61">
            <a:extLst>
              <a:ext uri="{FF2B5EF4-FFF2-40B4-BE49-F238E27FC236}">
                <a16:creationId xmlns:a16="http://schemas.microsoft.com/office/drawing/2014/main" id="{AF16FD57-7131-C6D3-8A9D-EBC35095942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24200" y="2819400"/>
            <a:ext cx="304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0702" name="Line 62">
            <a:extLst>
              <a:ext uri="{FF2B5EF4-FFF2-40B4-BE49-F238E27FC236}">
                <a16:creationId xmlns:a16="http://schemas.microsoft.com/office/drawing/2014/main" id="{A03C149C-5203-B92E-15D9-2EFDFD719B7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19400" y="3276600"/>
            <a:ext cx="228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0704" name="Oval 64">
            <a:extLst>
              <a:ext uri="{FF2B5EF4-FFF2-40B4-BE49-F238E27FC236}">
                <a16:creationId xmlns:a16="http://schemas.microsoft.com/office/drawing/2014/main" id="{EA437C96-45C4-5B1E-0EB1-5C3C330A0B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4114800"/>
            <a:ext cx="166688" cy="1285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0705" name="Text Box 65">
            <a:extLst>
              <a:ext uri="{FF2B5EF4-FFF2-40B4-BE49-F238E27FC236}">
                <a16:creationId xmlns:a16="http://schemas.microsoft.com/office/drawing/2014/main" id="{31AE7B41-BCC4-D154-A535-5218E2407E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3925" y="4156075"/>
            <a:ext cx="3080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6</a:t>
            </a:r>
          </a:p>
        </p:txBody>
      </p:sp>
      <p:sp>
        <p:nvSpPr>
          <p:cNvPr id="240706" name="Line 66">
            <a:extLst>
              <a:ext uri="{FF2B5EF4-FFF2-40B4-BE49-F238E27FC236}">
                <a16:creationId xmlns:a16="http://schemas.microsoft.com/office/drawing/2014/main" id="{8208B08B-64A4-F108-E564-BF02FD125F6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14600" y="3733800"/>
            <a:ext cx="3048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0707" name="Text Box 67">
            <a:extLst>
              <a:ext uri="{FF2B5EF4-FFF2-40B4-BE49-F238E27FC236}">
                <a16:creationId xmlns:a16="http://schemas.microsoft.com/office/drawing/2014/main" id="{D90C40CD-87F9-C525-95DA-388FBBF7D2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32125" y="3927475"/>
            <a:ext cx="3080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7</a:t>
            </a:r>
          </a:p>
        </p:txBody>
      </p:sp>
      <p:sp>
        <p:nvSpPr>
          <p:cNvPr id="240708" name="Text Box 68">
            <a:extLst>
              <a:ext uri="{FF2B5EF4-FFF2-40B4-BE49-F238E27FC236}">
                <a16:creationId xmlns:a16="http://schemas.microsoft.com/office/drawing/2014/main" id="{32CBC6E6-C159-5BF9-4A84-4C141B164B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0" y="4419600"/>
            <a:ext cx="3080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8</a:t>
            </a:r>
          </a:p>
        </p:txBody>
      </p:sp>
      <p:sp>
        <p:nvSpPr>
          <p:cNvPr id="240710" name="Line 70">
            <a:extLst>
              <a:ext uri="{FF2B5EF4-FFF2-40B4-BE49-F238E27FC236}">
                <a16:creationId xmlns:a16="http://schemas.microsoft.com/office/drawing/2014/main" id="{5AE43F03-5BC9-73C5-F574-1F3A05106EFE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3733800"/>
            <a:ext cx="228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0711" name="Line 71">
            <a:extLst>
              <a:ext uri="{FF2B5EF4-FFF2-40B4-BE49-F238E27FC236}">
                <a16:creationId xmlns:a16="http://schemas.microsoft.com/office/drawing/2014/main" id="{7C25A370-29F8-A2F5-F7C0-E40DC40DCB72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8000" y="41910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0712" name="Text Box 72">
            <a:extLst>
              <a:ext uri="{FF2B5EF4-FFF2-40B4-BE49-F238E27FC236}">
                <a16:creationId xmlns:a16="http://schemas.microsoft.com/office/drawing/2014/main" id="{60FA43BA-08B3-DE9D-263D-E80D983022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0325" y="3394075"/>
            <a:ext cx="3080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9</a:t>
            </a:r>
          </a:p>
        </p:txBody>
      </p:sp>
      <p:sp>
        <p:nvSpPr>
          <p:cNvPr id="240713" name="Text Box 73">
            <a:extLst>
              <a:ext uri="{FF2B5EF4-FFF2-40B4-BE49-F238E27FC236}">
                <a16:creationId xmlns:a16="http://schemas.microsoft.com/office/drawing/2014/main" id="{4C5B43EE-AE97-D764-6A06-7510509720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6200" y="3886200"/>
            <a:ext cx="4315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11</a:t>
            </a:r>
          </a:p>
        </p:txBody>
      </p:sp>
      <p:sp>
        <p:nvSpPr>
          <p:cNvPr id="240714" name="Text Box 74">
            <a:extLst>
              <a:ext uri="{FF2B5EF4-FFF2-40B4-BE49-F238E27FC236}">
                <a16:creationId xmlns:a16="http://schemas.microsoft.com/office/drawing/2014/main" id="{89B5181A-F684-BE1D-BE44-997654FB1A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4419600"/>
            <a:ext cx="4315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10</a:t>
            </a:r>
          </a:p>
        </p:txBody>
      </p:sp>
      <p:sp>
        <p:nvSpPr>
          <p:cNvPr id="240715" name="Line 75">
            <a:extLst>
              <a:ext uri="{FF2B5EF4-FFF2-40B4-BE49-F238E27FC236}">
                <a16:creationId xmlns:a16="http://schemas.microsoft.com/office/drawing/2014/main" id="{8E2E7757-6F02-9484-828B-13D6FCCE300B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4200" y="3276600"/>
            <a:ext cx="609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0716" name="Line 76">
            <a:extLst>
              <a:ext uri="{FF2B5EF4-FFF2-40B4-BE49-F238E27FC236}">
                <a16:creationId xmlns:a16="http://schemas.microsoft.com/office/drawing/2014/main" id="{EFB7E071-3A60-8837-97D9-C6BEDC2504B6}"/>
              </a:ext>
            </a:extLst>
          </p:cNvPr>
          <p:cNvSpPr>
            <a:spLocks noChangeShapeType="1"/>
          </p:cNvSpPr>
          <p:nvPr/>
        </p:nvSpPr>
        <p:spPr bwMode="auto">
          <a:xfrm>
            <a:off x="3733800" y="3733800"/>
            <a:ext cx="152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0717" name="Line 77">
            <a:extLst>
              <a:ext uri="{FF2B5EF4-FFF2-40B4-BE49-F238E27FC236}">
                <a16:creationId xmlns:a16="http://schemas.microsoft.com/office/drawing/2014/main" id="{31C0C9B5-2ADF-5595-E6ED-A58BDDDB05CF}"/>
              </a:ext>
            </a:extLst>
          </p:cNvPr>
          <p:cNvSpPr>
            <a:spLocks noChangeShapeType="1"/>
          </p:cNvSpPr>
          <p:nvPr/>
        </p:nvSpPr>
        <p:spPr bwMode="auto">
          <a:xfrm>
            <a:off x="3962400" y="4191000"/>
            <a:ext cx="76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0718" name="Text Box 78">
            <a:extLst>
              <a:ext uri="{FF2B5EF4-FFF2-40B4-BE49-F238E27FC236}">
                <a16:creationId xmlns:a16="http://schemas.microsoft.com/office/drawing/2014/main" id="{68C60E22-747D-559B-B39F-F93AAFEF42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1" y="4953000"/>
            <a:ext cx="105920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DFS Tree</a:t>
            </a:r>
          </a:p>
        </p:txBody>
      </p:sp>
      <p:sp>
        <p:nvSpPr>
          <p:cNvPr id="240719" name="Text Box 79">
            <a:extLst>
              <a:ext uri="{FF2B5EF4-FFF2-40B4-BE49-F238E27FC236}">
                <a16:creationId xmlns:a16="http://schemas.microsoft.com/office/drawing/2014/main" id="{65777D40-388D-95D7-516B-3B05A8719D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6076" y="4079875"/>
            <a:ext cx="100816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Graph 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F62F4220-9CF1-D39C-0511-AB3845818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CS 103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E1F115D6-7104-9C25-258D-0843B383D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1614CB-4B18-4E05-ACD2-4DC9D18F7053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241666" name="Rectangle 2">
            <a:extLst>
              <a:ext uri="{FF2B5EF4-FFF2-40B4-BE49-F238E27FC236}">
                <a16:creationId xmlns:a16="http://schemas.microsoft.com/office/drawing/2014/main" id="{0365E433-F8C8-BA2D-9A44-751DCD2B046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838200" y="762000"/>
            <a:ext cx="10515600" cy="1325563"/>
          </a:xfrm>
        </p:spPr>
        <p:txBody>
          <a:bodyPr/>
          <a:lstStyle/>
          <a:p>
            <a:r>
              <a:rPr lang="en-US" altLang="en-US" b="1" dirty="0"/>
              <a:t>Implementation of DFS</a:t>
            </a:r>
          </a:p>
        </p:txBody>
      </p:sp>
      <p:sp>
        <p:nvSpPr>
          <p:cNvPr id="241667" name="Rectangle 3">
            <a:extLst>
              <a:ext uri="{FF2B5EF4-FFF2-40B4-BE49-F238E27FC236}">
                <a16:creationId xmlns:a16="http://schemas.microsoft.com/office/drawing/2014/main" id="{F8F0504D-2BF6-43AF-6CF4-2AD260A923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71600" y="2087562"/>
            <a:ext cx="8610600" cy="4008437"/>
          </a:xfrm>
        </p:spPr>
        <p:txBody>
          <a:bodyPr/>
          <a:lstStyle/>
          <a:p>
            <a:r>
              <a:rPr lang="en-US" altLang="en-US" dirty="0"/>
              <a:t>Observations: </a:t>
            </a:r>
          </a:p>
          <a:p>
            <a:pPr lvl="1"/>
            <a:r>
              <a:rPr lang="en-US" altLang="en-US" dirty="0"/>
              <a:t>the last node visited is the first node from which to proceed. </a:t>
            </a:r>
          </a:p>
          <a:p>
            <a:pPr lvl="1"/>
            <a:r>
              <a:rPr lang="en-US" altLang="en-US" dirty="0"/>
              <a:t>Also, the backtracking proceeds on the basis of "last visited, first to backtrack too". </a:t>
            </a:r>
          </a:p>
          <a:p>
            <a:pPr lvl="1"/>
            <a:r>
              <a:rPr lang="en-US" altLang="en-US" dirty="0"/>
              <a:t>This suggests that a stack is the proper data structure to remember the current node and how to backtrack.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334E35D8-801D-01D7-B1CD-2FB21C2BE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CS 103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503AA0FA-04C8-2E26-A983-65D1CC517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64543E-438E-404E-B4B7-6742880C2297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242690" name="Rectangle 2">
            <a:extLst>
              <a:ext uri="{FF2B5EF4-FFF2-40B4-BE49-F238E27FC236}">
                <a16:creationId xmlns:a16="http://schemas.microsoft.com/office/drawing/2014/main" id="{B23E19DA-209C-B916-15F9-259D0BF30AB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209800" y="1098549"/>
            <a:ext cx="7772400" cy="533400"/>
          </a:xfrm>
        </p:spPr>
        <p:txBody>
          <a:bodyPr>
            <a:normAutofit fontScale="90000"/>
          </a:bodyPr>
          <a:lstStyle/>
          <a:p>
            <a:r>
              <a:rPr lang="en-US" altLang="en-US" sz="4000" b="1" dirty="0"/>
              <a:t>DFS (Pseudo Code)</a:t>
            </a:r>
          </a:p>
        </p:txBody>
      </p:sp>
      <p:sp>
        <p:nvSpPr>
          <p:cNvPr id="242691" name="Rectangle 3">
            <a:extLst>
              <a:ext uri="{FF2B5EF4-FFF2-40B4-BE49-F238E27FC236}">
                <a16:creationId xmlns:a16="http://schemas.microsoft.com/office/drawing/2014/main" id="{4A2EA3A3-C2E9-48E2-FC31-21F65B2D2E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1814512"/>
            <a:ext cx="7772400" cy="4724400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en-US" sz="2400" dirty="0"/>
              <a:t>DFS(input: Graph G)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400" dirty="0"/>
              <a:t>	Stack S; Integer x, t;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400" dirty="0"/>
              <a:t>   	while (G has an unvisited node x){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400" dirty="0"/>
              <a:t>		visit(x); push(</a:t>
            </a:r>
            <a:r>
              <a:rPr lang="en-US" altLang="en-US" sz="2400" dirty="0" err="1"/>
              <a:t>x,S</a:t>
            </a:r>
            <a:r>
              <a:rPr lang="en-US" altLang="en-US" sz="2400" dirty="0"/>
              <a:t>);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400" dirty="0"/>
              <a:t>		while (S is not empty){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400" dirty="0"/>
              <a:t>			t := peek(S);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400" dirty="0"/>
              <a:t>			if (t has an unvisited neighbor y){ 					visit(y); push(</a:t>
            </a:r>
            <a:r>
              <a:rPr lang="en-US" altLang="en-US" sz="2400" dirty="0" err="1"/>
              <a:t>y,S</a:t>
            </a:r>
            <a:r>
              <a:rPr lang="en-US" altLang="en-US" sz="2400" dirty="0"/>
              <a:t>); 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400" dirty="0"/>
              <a:t>			else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400" dirty="0"/>
              <a:t>				pop(S);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400" dirty="0"/>
              <a:t>		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400" dirty="0"/>
              <a:t>	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400" dirty="0"/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E871175B-4855-508F-8E1C-81CF0E845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CS 103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95C41E1C-4EB4-5BFE-0BC6-1DEAC8CCA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A1C42-DC29-473F-9C6A-299C17C46201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246786" name="Rectangle 2">
            <a:extLst>
              <a:ext uri="{FF2B5EF4-FFF2-40B4-BE49-F238E27FC236}">
                <a16:creationId xmlns:a16="http://schemas.microsoft.com/office/drawing/2014/main" id="{3ADD3320-C1C9-2993-CC12-EFE168B4CC9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242734" y="982134"/>
            <a:ext cx="7772400" cy="533400"/>
          </a:xfrm>
        </p:spPr>
        <p:txBody>
          <a:bodyPr>
            <a:normAutofit fontScale="90000"/>
          </a:bodyPr>
          <a:lstStyle/>
          <a:p>
            <a:r>
              <a:rPr lang="en-US" altLang="en-US" sz="4000" b="1" dirty="0"/>
              <a:t>Breadth-First Search </a:t>
            </a:r>
          </a:p>
        </p:txBody>
      </p:sp>
      <p:sp>
        <p:nvSpPr>
          <p:cNvPr id="246787" name="Rectangle 3">
            <a:extLst>
              <a:ext uri="{FF2B5EF4-FFF2-40B4-BE49-F238E27FC236}">
                <a16:creationId xmlns:a16="http://schemas.microsoft.com/office/drawing/2014/main" id="{78DA27B4-3AB0-149C-A2A7-1E05641FCE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803399" y="1920875"/>
            <a:ext cx="8983133" cy="4800600"/>
          </a:xfrm>
        </p:spPr>
        <p:txBody>
          <a:bodyPr/>
          <a:lstStyle/>
          <a:p>
            <a:pPr marL="457200" indent="-457200"/>
            <a:r>
              <a:rPr lang="en-US" altLang="en-US" dirty="0"/>
              <a:t>BFS follows the following rules: </a:t>
            </a:r>
          </a:p>
          <a:p>
            <a:pPr marL="838200" lvl="1" indent="-381000">
              <a:buFontTx/>
              <a:buAutoNum type="arabicPeriod"/>
            </a:pPr>
            <a:r>
              <a:rPr lang="en-US" altLang="en-US" dirty="0"/>
              <a:t>Select an unvisited node x, visit it, have it be the root in a BFS tree being formed. Its level is called the current level. </a:t>
            </a:r>
          </a:p>
          <a:p>
            <a:pPr marL="838200" lvl="1" indent="-381000">
              <a:buFontTx/>
              <a:buAutoNum type="arabicPeriod"/>
            </a:pPr>
            <a:r>
              <a:rPr lang="en-US" altLang="en-US" dirty="0"/>
              <a:t>From each node z in the current level, in the order in which the level nodes were visited, visit all the unvisited neighbors of z. The newly visited nodes from this level form a new level that becomes the next current level. </a:t>
            </a:r>
          </a:p>
          <a:p>
            <a:pPr marL="838200" lvl="1" indent="-381000">
              <a:buFontTx/>
              <a:buAutoNum type="arabicPeriod"/>
            </a:pPr>
            <a:r>
              <a:rPr lang="en-US" altLang="en-US" dirty="0"/>
              <a:t>Repeat step 2 until no more nodes can be visited. </a:t>
            </a:r>
          </a:p>
          <a:p>
            <a:pPr marL="838200" lvl="1" indent="-381000">
              <a:buFontTx/>
              <a:buAutoNum type="arabicPeriod"/>
            </a:pPr>
            <a:r>
              <a:rPr lang="en-US" altLang="en-US" dirty="0"/>
              <a:t>If there are still unvisited nodes, repeat from Step 1.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96846E02-CC1D-DA1E-6E6C-4347D5DCC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CS 103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ABD21C66-F397-7157-7B6B-D37B3EC00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C2C424-ACB2-4E34-B73C-AB6E73452AEE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248834" name="Rectangle 2">
            <a:extLst>
              <a:ext uri="{FF2B5EF4-FFF2-40B4-BE49-F238E27FC236}">
                <a16:creationId xmlns:a16="http://schemas.microsoft.com/office/drawing/2014/main" id="{E7557D34-B53D-1AF9-E420-A68D86D4E3E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082582" y="321205"/>
            <a:ext cx="7772400" cy="609600"/>
          </a:xfrm>
        </p:spPr>
        <p:txBody>
          <a:bodyPr>
            <a:normAutofit fontScale="90000"/>
          </a:bodyPr>
          <a:lstStyle/>
          <a:p>
            <a:r>
              <a:rPr lang="en-US" altLang="en-US" sz="4000" b="1" dirty="0"/>
              <a:t>Illustration of BFS</a:t>
            </a:r>
          </a:p>
        </p:txBody>
      </p:sp>
      <p:sp>
        <p:nvSpPr>
          <p:cNvPr id="248835" name="Rectangle 3">
            <a:extLst>
              <a:ext uri="{FF2B5EF4-FFF2-40B4-BE49-F238E27FC236}">
                <a16:creationId xmlns:a16="http://schemas.microsoft.com/office/drawing/2014/main" id="{7DCB2E35-B934-D8DD-A1CC-7764A236F4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1371600"/>
            <a:ext cx="7772400" cy="4724400"/>
          </a:xfrm>
        </p:spPr>
        <p:txBody>
          <a:bodyPr/>
          <a:lstStyle/>
          <a:p>
            <a:endParaRPr lang="en-US" altLang="en-US" dirty="0"/>
          </a:p>
        </p:txBody>
      </p:sp>
      <p:sp>
        <p:nvSpPr>
          <p:cNvPr id="248836" name="Oval 4">
            <a:extLst>
              <a:ext uri="{FF2B5EF4-FFF2-40B4-BE49-F238E27FC236}">
                <a16:creationId xmlns:a16="http://schemas.microsoft.com/office/drawing/2014/main" id="{E90269DC-46D6-D014-8831-B8F6C29717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43725" y="2328864"/>
            <a:ext cx="165100" cy="1285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8837" name="Oval 5">
            <a:extLst>
              <a:ext uri="{FF2B5EF4-FFF2-40B4-BE49-F238E27FC236}">
                <a16:creationId xmlns:a16="http://schemas.microsoft.com/office/drawing/2014/main" id="{DE5CD172-26C3-DD11-CB8D-49942DD5B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2863" y="1689100"/>
            <a:ext cx="165100" cy="1285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8838" name="Oval 6">
            <a:extLst>
              <a:ext uri="{FF2B5EF4-FFF2-40B4-BE49-F238E27FC236}">
                <a16:creationId xmlns:a16="http://schemas.microsoft.com/office/drawing/2014/main" id="{893BFAED-421E-8CF2-860D-664720A89A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8425" y="3160714"/>
            <a:ext cx="165100" cy="1285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8839" name="Oval 7">
            <a:extLst>
              <a:ext uri="{FF2B5EF4-FFF2-40B4-BE49-F238E27FC236}">
                <a16:creationId xmlns:a16="http://schemas.microsoft.com/office/drawing/2014/main" id="{4F03D555-F0A5-C3BF-E6DB-543AD33002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1600" y="3124200"/>
            <a:ext cx="166688" cy="1285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8840" name="Oval 8">
            <a:extLst>
              <a:ext uri="{FF2B5EF4-FFF2-40B4-BE49-F238E27FC236}">
                <a16:creationId xmlns:a16="http://schemas.microsoft.com/office/drawing/2014/main" id="{F92FDA1F-3253-AF1A-0933-37B2CAE42A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98025" y="2265364"/>
            <a:ext cx="165100" cy="128587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8841" name="Oval 9">
            <a:extLst>
              <a:ext uri="{FF2B5EF4-FFF2-40B4-BE49-F238E27FC236}">
                <a16:creationId xmlns:a16="http://schemas.microsoft.com/office/drawing/2014/main" id="{BB80F143-ECA6-BBF7-ED7E-02D1947D65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3325" y="1689100"/>
            <a:ext cx="165100" cy="1285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8842" name="Line 10">
            <a:extLst>
              <a:ext uri="{FF2B5EF4-FFF2-40B4-BE49-F238E27FC236}">
                <a16:creationId xmlns:a16="http://schemas.microsoft.com/office/drawing/2014/main" id="{611E369D-6F75-7E6C-C409-6F80B6F1D289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2400" y="1752600"/>
            <a:ext cx="1106488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8843" name="Line 11">
            <a:extLst>
              <a:ext uri="{FF2B5EF4-FFF2-40B4-BE49-F238E27FC236}">
                <a16:creationId xmlns:a16="http://schemas.microsoft.com/office/drawing/2014/main" id="{70C5FA03-8C7E-211A-FD91-08360F27158E}"/>
              </a:ext>
            </a:extLst>
          </p:cNvPr>
          <p:cNvSpPr>
            <a:spLocks noChangeShapeType="1"/>
          </p:cNvSpPr>
          <p:nvPr/>
        </p:nvSpPr>
        <p:spPr bwMode="auto">
          <a:xfrm>
            <a:off x="7054850" y="2393950"/>
            <a:ext cx="25971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8844" name="Line 12">
            <a:extLst>
              <a:ext uri="{FF2B5EF4-FFF2-40B4-BE49-F238E27FC236}">
                <a16:creationId xmlns:a16="http://schemas.microsoft.com/office/drawing/2014/main" id="{DDB76465-75C4-077A-8261-51A32EBD223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54851" y="1752600"/>
            <a:ext cx="663575" cy="641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8845" name="Line 13">
            <a:extLst>
              <a:ext uri="{FF2B5EF4-FFF2-40B4-BE49-F238E27FC236}">
                <a16:creationId xmlns:a16="http://schemas.microsoft.com/office/drawing/2014/main" id="{D0D99403-4EFC-B8CE-1BD0-A4535F02A52B}"/>
              </a:ext>
            </a:extLst>
          </p:cNvPr>
          <p:cNvSpPr>
            <a:spLocks noChangeShapeType="1"/>
          </p:cNvSpPr>
          <p:nvPr/>
        </p:nvSpPr>
        <p:spPr bwMode="auto">
          <a:xfrm>
            <a:off x="8934450" y="1752601"/>
            <a:ext cx="717550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8846" name="Line 14">
            <a:extLst>
              <a:ext uri="{FF2B5EF4-FFF2-40B4-BE49-F238E27FC236}">
                <a16:creationId xmlns:a16="http://schemas.microsoft.com/office/drawing/2014/main" id="{B32B7669-FEEF-F9EE-4252-A3B9D0D94F3F}"/>
              </a:ext>
            </a:extLst>
          </p:cNvPr>
          <p:cNvSpPr>
            <a:spLocks noChangeShapeType="1"/>
          </p:cNvSpPr>
          <p:nvPr/>
        </p:nvSpPr>
        <p:spPr bwMode="auto">
          <a:xfrm>
            <a:off x="7827964" y="3225800"/>
            <a:ext cx="12160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8847" name="Line 15">
            <a:extLst>
              <a:ext uri="{FF2B5EF4-FFF2-40B4-BE49-F238E27FC236}">
                <a16:creationId xmlns:a16="http://schemas.microsoft.com/office/drawing/2014/main" id="{BE07FD3B-1A50-A313-1203-803E21F2920A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2401" y="1752601"/>
            <a:ext cx="1825625" cy="5762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8848" name="Line 16">
            <a:extLst>
              <a:ext uri="{FF2B5EF4-FFF2-40B4-BE49-F238E27FC236}">
                <a16:creationId xmlns:a16="http://schemas.microsoft.com/office/drawing/2014/main" id="{CDDBF69E-1D31-F746-C720-93614170637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019925" y="2451100"/>
            <a:ext cx="762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48849" name="Oval 17">
            <a:extLst>
              <a:ext uri="{FF2B5EF4-FFF2-40B4-BE49-F238E27FC236}">
                <a16:creationId xmlns:a16="http://schemas.microsoft.com/office/drawing/2014/main" id="{6861B579-1F85-C1DE-65EB-24666DAAA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05800" y="3733800"/>
            <a:ext cx="166688" cy="1285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8850" name="Oval 18">
            <a:extLst>
              <a:ext uri="{FF2B5EF4-FFF2-40B4-BE49-F238E27FC236}">
                <a16:creationId xmlns:a16="http://schemas.microsoft.com/office/drawing/2014/main" id="{117241F7-9396-83C8-C2DD-5D5FD82B08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48800" y="3581400"/>
            <a:ext cx="166688" cy="1285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8851" name="Oval 19">
            <a:extLst>
              <a:ext uri="{FF2B5EF4-FFF2-40B4-BE49-F238E27FC236}">
                <a16:creationId xmlns:a16="http://schemas.microsoft.com/office/drawing/2014/main" id="{28A62287-BEDF-C001-7536-97AC5F289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600" y="2667000"/>
            <a:ext cx="166688" cy="1285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8852" name="Oval 20">
            <a:extLst>
              <a:ext uri="{FF2B5EF4-FFF2-40B4-BE49-F238E27FC236}">
                <a16:creationId xmlns:a16="http://schemas.microsoft.com/office/drawing/2014/main" id="{F225EC62-4AE0-5B00-AFC7-9869C7B3D5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3200400"/>
            <a:ext cx="166688" cy="1285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8853" name="Oval 21">
            <a:extLst>
              <a:ext uri="{FF2B5EF4-FFF2-40B4-BE49-F238E27FC236}">
                <a16:creationId xmlns:a16="http://schemas.microsoft.com/office/drawing/2014/main" id="{053CCE91-030A-A9C0-7732-AE3D3A7891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2971800"/>
            <a:ext cx="166688" cy="1285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8854" name="Line 22">
            <a:extLst>
              <a:ext uri="{FF2B5EF4-FFF2-40B4-BE49-F238E27FC236}">
                <a16:creationId xmlns:a16="http://schemas.microsoft.com/office/drawing/2014/main" id="{37289104-470F-7AAE-5F28-B534D8B8F129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7800" y="3200400"/>
            <a:ext cx="533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8855" name="Line 23">
            <a:extLst>
              <a:ext uri="{FF2B5EF4-FFF2-40B4-BE49-F238E27FC236}">
                <a16:creationId xmlns:a16="http://schemas.microsoft.com/office/drawing/2014/main" id="{6EDBFB87-CB32-0A0D-74FD-A46E9DDA5846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2400" y="3200400"/>
            <a:ext cx="60960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8856" name="Line 24">
            <a:extLst>
              <a:ext uri="{FF2B5EF4-FFF2-40B4-BE49-F238E27FC236}">
                <a16:creationId xmlns:a16="http://schemas.microsoft.com/office/drawing/2014/main" id="{3CB1C8B7-249F-343C-FEF9-0A8FEF0552C2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2400" y="3276600"/>
            <a:ext cx="1752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8857" name="Line 25">
            <a:extLst>
              <a:ext uri="{FF2B5EF4-FFF2-40B4-BE49-F238E27FC236}">
                <a16:creationId xmlns:a16="http://schemas.microsoft.com/office/drawing/2014/main" id="{AC817F5D-AB83-DE5A-AEFB-C94383E2F0E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96000" y="2362200"/>
            <a:ext cx="9144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8858" name="Line 26">
            <a:extLst>
              <a:ext uri="{FF2B5EF4-FFF2-40B4-BE49-F238E27FC236}">
                <a16:creationId xmlns:a16="http://schemas.microsoft.com/office/drawing/2014/main" id="{A9699300-3158-244D-40BF-645007C07693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0400" y="24384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8859" name="Line 27">
            <a:extLst>
              <a:ext uri="{FF2B5EF4-FFF2-40B4-BE49-F238E27FC236}">
                <a16:creationId xmlns:a16="http://schemas.microsoft.com/office/drawing/2014/main" id="{571AA7B2-E0E5-625B-62F9-B31E696BB616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9800" y="2743200"/>
            <a:ext cx="457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8860" name="Line 28">
            <a:extLst>
              <a:ext uri="{FF2B5EF4-FFF2-40B4-BE49-F238E27FC236}">
                <a16:creationId xmlns:a16="http://schemas.microsoft.com/office/drawing/2014/main" id="{5EA3187D-CFC6-F966-9E13-9066F6C7BC1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77000" y="3048000"/>
            <a:ext cx="5334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8861" name="Text Box 29">
            <a:extLst>
              <a:ext uri="{FF2B5EF4-FFF2-40B4-BE49-F238E27FC236}">
                <a16:creationId xmlns:a16="http://schemas.microsoft.com/office/drawing/2014/main" id="{2FACEE25-6C75-5668-72DC-9C8D98916D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5525" y="1412875"/>
            <a:ext cx="3080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0</a:t>
            </a:r>
          </a:p>
        </p:txBody>
      </p:sp>
      <p:sp>
        <p:nvSpPr>
          <p:cNvPr id="248862" name="Text Box 30">
            <a:extLst>
              <a:ext uri="{FF2B5EF4-FFF2-40B4-BE49-F238E27FC236}">
                <a16:creationId xmlns:a16="http://schemas.microsoft.com/office/drawing/2014/main" id="{0F18AD0D-6E76-5D74-55BC-280A8D3272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15400" y="1371600"/>
            <a:ext cx="3080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</a:t>
            </a:r>
          </a:p>
        </p:txBody>
      </p:sp>
      <p:sp>
        <p:nvSpPr>
          <p:cNvPr id="248863" name="Text Box 31">
            <a:extLst>
              <a:ext uri="{FF2B5EF4-FFF2-40B4-BE49-F238E27FC236}">
                <a16:creationId xmlns:a16="http://schemas.microsoft.com/office/drawing/2014/main" id="{782C1CA2-822E-5B1A-C33B-3A975FBC5D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3525" y="2022475"/>
            <a:ext cx="3080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2</a:t>
            </a:r>
          </a:p>
        </p:txBody>
      </p:sp>
      <p:sp>
        <p:nvSpPr>
          <p:cNvPr id="248864" name="Text Box 32">
            <a:extLst>
              <a:ext uri="{FF2B5EF4-FFF2-40B4-BE49-F238E27FC236}">
                <a16:creationId xmlns:a16="http://schemas.microsoft.com/office/drawing/2014/main" id="{6BF5753D-5060-506F-050A-E485EC569A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56725" y="2327275"/>
            <a:ext cx="3080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4</a:t>
            </a:r>
          </a:p>
        </p:txBody>
      </p:sp>
      <p:sp>
        <p:nvSpPr>
          <p:cNvPr id="248865" name="Text Box 33">
            <a:extLst>
              <a:ext uri="{FF2B5EF4-FFF2-40B4-BE49-F238E27FC236}">
                <a16:creationId xmlns:a16="http://schemas.microsoft.com/office/drawing/2014/main" id="{C4E02F48-B869-A05F-A1CE-84E751CC57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2400" y="2819400"/>
            <a:ext cx="3080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5</a:t>
            </a:r>
          </a:p>
        </p:txBody>
      </p:sp>
      <p:sp>
        <p:nvSpPr>
          <p:cNvPr id="248866" name="Text Box 34">
            <a:extLst>
              <a:ext uri="{FF2B5EF4-FFF2-40B4-BE49-F238E27FC236}">
                <a16:creationId xmlns:a16="http://schemas.microsoft.com/office/drawing/2014/main" id="{E4522CBC-C2B5-0CE0-10A2-B586156DD5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2325" y="3622675"/>
            <a:ext cx="3080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6</a:t>
            </a:r>
          </a:p>
        </p:txBody>
      </p:sp>
      <p:sp>
        <p:nvSpPr>
          <p:cNvPr id="248867" name="Text Box 35">
            <a:extLst>
              <a:ext uri="{FF2B5EF4-FFF2-40B4-BE49-F238E27FC236}">
                <a16:creationId xmlns:a16="http://schemas.microsoft.com/office/drawing/2014/main" id="{80B579CB-4A30-54B0-2AB7-6A50B79BC9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51925" y="2784475"/>
            <a:ext cx="3080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7</a:t>
            </a:r>
          </a:p>
        </p:txBody>
      </p:sp>
      <p:sp>
        <p:nvSpPr>
          <p:cNvPr id="248868" name="Text Box 36">
            <a:extLst>
              <a:ext uri="{FF2B5EF4-FFF2-40B4-BE49-F238E27FC236}">
                <a16:creationId xmlns:a16="http://schemas.microsoft.com/office/drawing/2014/main" id="{8939FB92-37BA-0A51-1783-7F667A96F2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01200" y="3352800"/>
            <a:ext cx="3080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8</a:t>
            </a:r>
          </a:p>
        </p:txBody>
      </p:sp>
      <p:sp>
        <p:nvSpPr>
          <p:cNvPr id="248869" name="Text Box 37">
            <a:extLst>
              <a:ext uri="{FF2B5EF4-FFF2-40B4-BE49-F238E27FC236}">
                <a16:creationId xmlns:a16="http://schemas.microsoft.com/office/drawing/2014/main" id="{F91C359B-094C-9449-20CC-B65F0C4171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2925" y="2403475"/>
            <a:ext cx="3080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9</a:t>
            </a:r>
          </a:p>
        </p:txBody>
      </p:sp>
      <p:sp>
        <p:nvSpPr>
          <p:cNvPr id="248870" name="Text Box 38">
            <a:extLst>
              <a:ext uri="{FF2B5EF4-FFF2-40B4-BE49-F238E27FC236}">
                <a16:creationId xmlns:a16="http://schemas.microsoft.com/office/drawing/2014/main" id="{6C9C7621-BCCA-2420-4597-CA3BC1CDE0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0400" y="2895600"/>
            <a:ext cx="4315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10</a:t>
            </a:r>
          </a:p>
        </p:txBody>
      </p:sp>
      <p:sp>
        <p:nvSpPr>
          <p:cNvPr id="248871" name="Text Box 39">
            <a:extLst>
              <a:ext uri="{FF2B5EF4-FFF2-40B4-BE49-F238E27FC236}">
                <a16:creationId xmlns:a16="http://schemas.microsoft.com/office/drawing/2014/main" id="{FF049181-8807-9396-139F-DE3D097782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2525" y="3241675"/>
            <a:ext cx="4315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11</a:t>
            </a:r>
          </a:p>
        </p:txBody>
      </p:sp>
      <p:sp>
        <p:nvSpPr>
          <p:cNvPr id="248872" name="Oval 40">
            <a:extLst>
              <a:ext uri="{FF2B5EF4-FFF2-40B4-BE49-F238E27FC236}">
                <a16:creationId xmlns:a16="http://schemas.microsoft.com/office/drawing/2014/main" id="{964AD020-8DDF-7897-E313-D54CE9AF05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1000" y="2057400"/>
            <a:ext cx="166688" cy="1285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8873" name="Oval 41">
            <a:extLst>
              <a:ext uri="{FF2B5EF4-FFF2-40B4-BE49-F238E27FC236}">
                <a16:creationId xmlns:a16="http://schemas.microsoft.com/office/drawing/2014/main" id="{27440A15-D379-77FA-8887-E207EEFE7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2362200"/>
            <a:ext cx="166688" cy="1285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8874" name="Oval 42">
            <a:extLst>
              <a:ext uri="{FF2B5EF4-FFF2-40B4-BE49-F238E27FC236}">
                <a16:creationId xmlns:a16="http://schemas.microsoft.com/office/drawing/2014/main" id="{81FCC2D7-34A1-538A-4724-576E21D81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2362200"/>
            <a:ext cx="166688" cy="1285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8875" name="Oval 43">
            <a:extLst>
              <a:ext uri="{FF2B5EF4-FFF2-40B4-BE49-F238E27FC236}">
                <a16:creationId xmlns:a16="http://schemas.microsoft.com/office/drawing/2014/main" id="{BD958B73-31F6-BB2A-10FE-0A5F9E9E9D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2362200"/>
            <a:ext cx="166688" cy="1285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8876" name="Oval 44">
            <a:extLst>
              <a:ext uri="{FF2B5EF4-FFF2-40B4-BE49-F238E27FC236}">
                <a16:creationId xmlns:a16="http://schemas.microsoft.com/office/drawing/2014/main" id="{2B739F3F-4C36-A8D9-F07D-B970733779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2819400"/>
            <a:ext cx="166688" cy="1285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8877" name="Oval 45">
            <a:extLst>
              <a:ext uri="{FF2B5EF4-FFF2-40B4-BE49-F238E27FC236}">
                <a16:creationId xmlns:a16="http://schemas.microsoft.com/office/drawing/2014/main" id="{E808852D-B933-BCFD-C34F-79FF2B202D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2819400"/>
            <a:ext cx="166688" cy="1285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8878" name="Oval 46">
            <a:extLst>
              <a:ext uri="{FF2B5EF4-FFF2-40B4-BE49-F238E27FC236}">
                <a16:creationId xmlns:a16="http://schemas.microsoft.com/office/drawing/2014/main" id="{15B05A6C-B787-8A1C-9CB9-FAE4C8934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3352800"/>
            <a:ext cx="166688" cy="1285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8879" name="Oval 47">
            <a:extLst>
              <a:ext uri="{FF2B5EF4-FFF2-40B4-BE49-F238E27FC236}">
                <a16:creationId xmlns:a16="http://schemas.microsoft.com/office/drawing/2014/main" id="{680C04B1-4DCC-99B9-BFF9-6DAA0D236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5200" y="3352800"/>
            <a:ext cx="166688" cy="1285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8880" name="Oval 48">
            <a:extLst>
              <a:ext uri="{FF2B5EF4-FFF2-40B4-BE49-F238E27FC236}">
                <a16:creationId xmlns:a16="http://schemas.microsoft.com/office/drawing/2014/main" id="{FFFFC3E7-95CE-5744-29C9-50F6E5CE50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7200" y="3352800"/>
            <a:ext cx="166688" cy="1285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8881" name="Oval 49">
            <a:extLst>
              <a:ext uri="{FF2B5EF4-FFF2-40B4-BE49-F238E27FC236}">
                <a16:creationId xmlns:a16="http://schemas.microsoft.com/office/drawing/2014/main" id="{12EC7C74-D3AE-D1D5-C6F1-504DA66007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2819400"/>
            <a:ext cx="166688" cy="1285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8882" name="Text Box 50">
            <a:extLst>
              <a:ext uri="{FF2B5EF4-FFF2-40B4-BE49-F238E27FC236}">
                <a16:creationId xmlns:a16="http://schemas.microsoft.com/office/drawing/2014/main" id="{89D3589F-5347-7412-D3D0-326112ACF0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1325" y="1793875"/>
            <a:ext cx="3080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0</a:t>
            </a:r>
          </a:p>
        </p:txBody>
      </p:sp>
      <p:sp>
        <p:nvSpPr>
          <p:cNvPr id="248883" name="Text Box 51">
            <a:extLst>
              <a:ext uri="{FF2B5EF4-FFF2-40B4-BE49-F238E27FC236}">
                <a16:creationId xmlns:a16="http://schemas.microsoft.com/office/drawing/2014/main" id="{A5308EEF-4F0B-F184-C88D-CE938E7199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0400" y="2209800"/>
            <a:ext cx="3080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</a:t>
            </a:r>
          </a:p>
        </p:txBody>
      </p:sp>
      <p:sp>
        <p:nvSpPr>
          <p:cNvPr id="248884" name="Text Box 52">
            <a:extLst>
              <a:ext uri="{FF2B5EF4-FFF2-40B4-BE49-F238E27FC236}">
                <a16:creationId xmlns:a16="http://schemas.microsoft.com/office/drawing/2014/main" id="{0BEF0627-A5FE-1A39-01FB-AD7D9E707C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2133600"/>
            <a:ext cx="3080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4</a:t>
            </a:r>
          </a:p>
        </p:txBody>
      </p:sp>
      <p:sp>
        <p:nvSpPr>
          <p:cNvPr id="248887" name="Text Box 55">
            <a:extLst>
              <a:ext uri="{FF2B5EF4-FFF2-40B4-BE49-F238E27FC236}">
                <a16:creationId xmlns:a16="http://schemas.microsoft.com/office/drawing/2014/main" id="{19E99873-F995-D05F-8BB3-2B2D688E48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2400" y="2133600"/>
            <a:ext cx="3080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2</a:t>
            </a:r>
          </a:p>
        </p:txBody>
      </p:sp>
      <p:sp>
        <p:nvSpPr>
          <p:cNvPr id="248888" name="Text Box 56">
            <a:extLst>
              <a:ext uri="{FF2B5EF4-FFF2-40B4-BE49-F238E27FC236}">
                <a16:creationId xmlns:a16="http://schemas.microsoft.com/office/drawing/2014/main" id="{2D24E47F-C3A5-F2D8-2C54-52245B47B3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6600" y="2590800"/>
            <a:ext cx="3080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5</a:t>
            </a:r>
          </a:p>
        </p:txBody>
      </p:sp>
      <p:sp>
        <p:nvSpPr>
          <p:cNvPr id="248891" name="Oval 59">
            <a:extLst>
              <a:ext uri="{FF2B5EF4-FFF2-40B4-BE49-F238E27FC236}">
                <a16:creationId xmlns:a16="http://schemas.microsoft.com/office/drawing/2014/main" id="{89CE2316-C100-8ED2-8D4F-625F124A5A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3352800"/>
            <a:ext cx="166688" cy="128588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8892" name="Text Box 60">
            <a:extLst>
              <a:ext uri="{FF2B5EF4-FFF2-40B4-BE49-F238E27FC236}">
                <a16:creationId xmlns:a16="http://schemas.microsoft.com/office/drawing/2014/main" id="{4916DAFF-4221-424A-CBAD-14E07AB020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4600" y="3429000"/>
            <a:ext cx="3080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6</a:t>
            </a:r>
          </a:p>
        </p:txBody>
      </p:sp>
      <p:sp>
        <p:nvSpPr>
          <p:cNvPr id="248894" name="Text Box 62">
            <a:extLst>
              <a:ext uri="{FF2B5EF4-FFF2-40B4-BE49-F238E27FC236}">
                <a16:creationId xmlns:a16="http://schemas.microsoft.com/office/drawing/2014/main" id="{9E54324B-0590-4B2B-D2AC-44048B4F0A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3429000"/>
            <a:ext cx="3080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7</a:t>
            </a:r>
          </a:p>
        </p:txBody>
      </p:sp>
      <p:sp>
        <p:nvSpPr>
          <p:cNvPr id="248895" name="Text Box 63">
            <a:extLst>
              <a:ext uri="{FF2B5EF4-FFF2-40B4-BE49-F238E27FC236}">
                <a16:creationId xmlns:a16="http://schemas.microsoft.com/office/drawing/2014/main" id="{3911A058-31FB-703E-065E-B34E324C18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3429000"/>
            <a:ext cx="3080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8</a:t>
            </a:r>
          </a:p>
        </p:txBody>
      </p:sp>
      <p:sp>
        <p:nvSpPr>
          <p:cNvPr id="248898" name="Text Box 66">
            <a:extLst>
              <a:ext uri="{FF2B5EF4-FFF2-40B4-BE49-F238E27FC236}">
                <a16:creationId xmlns:a16="http://schemas.microsoft.com/office/drawing/2014/main" id="{F7564439-F789-62CC-47F1-07EF3164F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600" y="2590800"/>
            <a:ext cx="30809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9</a:t>
            </a:r>
          </a:p>
        </p:txBody>
      </p:sp>
      <p:sp>
        <p:nvSpPr>
          <p:cNvPr id="248899" name="Text Box 67">
            <a:extLst>
              <a:ext uri="{FF2B5EF4-FFF2-40B4-BE49-F238E27FC236}">
                <a16:creationId xmlns:a16="http://schemas.microsoft.com/office/drawing/2014/main" id="{D2E602D9-1164-3818-D849-4B1C9D3C9A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3429000"/>
            <a:ext cx="4315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11</a:t>
            </a:r>
          </a:p>
        </p:txBody>
      </p:sp>
      <p:sp>
        <p:nvSpPr>
          <p:cNvPr id="248900" name="Text Box 68">
            <a:extLst>
              <a:ext uri="{FF2B5EF4-FFF2-40B4-BE49-F238E27FC236}">
                <a16:creationId xmlns:a16="http://schemas.microsoft.com/office/drawing/2014/main" id="{6A9ED35C-A479-3B1B-4492-A3E0EFB2B5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0" y="2590800"/>
            <a:ext cx="43152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10</a:t>
            </a:r>
          </a:p>
        </p:txBody>
      </p:sp>
      <p:sp>
        <p:nvSpPr>
          <p:cNvPr id="248904" name="Text Box 72">
            <a:extLst>
              <a:ext uri="{FF2B5EF4-FFF2-40B4-BE49-F238E27FC236}">
                <a16:creationId xmlns:a16="http://schemas.microsoft.com/office/drawing/2014/main" id="{5E2E20FB-CE68-DB35-0E87-CE39CB24FB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1" y="3962400"/>
            <a:ext cx="103996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BFS Tree</a:t>
            </a:r>
          </a:p>
        </p:txBody>
      </p:sp>
      <p:sp>
        <p:nvSpPr>
          <p:cNvPr id="248905" name="Text Box 73">
            <a:extLst>
              <a:ext uri="{FF2B5EF4-FFF2-40B4-BE49-F238E27FC236}">
                <a16:creationId xmlns:a16="http://schemas.microsoft.com/office/drawing/2014/main" id="{DF2C82CA-0369-A502-66FB-B5D6355701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5601" y="3886200"/>
            <a:ext cx="100816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Graph G</a:t>
            </a:r>
          </a:p>
        </p:txBody>
      </p:sp>
      <p:sp>
        <p:nvSpPr>
          <p:cNvPr id="248906" name="Line 74">
            <a:extLst>
              <a:ext uri="{FF2B5EF4-FFF2-40B4-BE49-F238E27FC236}">
                <a16:creationId xmlns:a16="http://schemas.microsoft.com/office/drawing/2014/main" id="{CA629E81-D02A-217D-6CD2-FE632A50419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5200" y="2133600"/>
            <a:ext cx="7620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8907" name="Line 75">
            <a:extLst>
              <a:ext uri="{FF2B5EF4-FFF2-40B4-BE49-F238E27FC236}">
                <a16:creationId xmlns:a16="http://schemas.microsoft.com/office/drawing/2014/main" id="{3066EA57-A514-69E1-2B19-178F8F6005D7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2133600"/>
            <a:ext cx="76200" cy="304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8908" name="Line 76">
            <a:extLst>
              <a:ext uri="{FF2B5EF4-FFF2-40B4-BE49-F238E27FC236}">
                <a16:creationId xmlns:a16="http://schemas.microsoft.com/office/drawing/2014/main" id="{9A4D09F8-EFC2-C666-F0FD-F2034C56E2BF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2133600"/>
            <a:ext cx="685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8911" name="Line 79">
            <a:extLst>
              <a:ext uri="{FF2B5EF4-FFF2-40B4-BE49-F238E27FC236}">
                <a16:creationId xmlns:a16="http://schemas.microsoft.com/office/drawing/2014/main" id="{A391E290-DE55-59D3-B7A0-B570DBFF296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57600" y="2438400"/>
            <a:ext cx="6858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8912" name="Line 80">
            <a:extLst>
              <a:ext uri="{FF2B5EF4-FFF2-40B4-BE49-F238E27FC236}">
                <a16:creationId xmlns:a16="http://schemas.microsoft.com/office/drawing/2014/main" id="{8CFFFF5B-CD49-03E9-EF89-07058DDE849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43400" y="2438400"/>
            <a:ext cx="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8913" name="Line 81">
            <a:extLst>
              <a:ext uri="{FF2B5EF4-FFF2-40B4-BE49-F238E27FC236}">
                <a16:creationId xmlns:a16="http://schemas.microsoft.com/office/drawing/2014/main" id="{B8B86212-0CBF-08B5-E592-E7F466B0187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343400" y="2438400"/>
            <a:ext cx="6096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8914" name="Line 82">
            <a:extLst>
              <a:ext uri="{FF2B5EF4-FFF2-40B4-BE49-F238E27FC236}">
                <a16:creationId xmlns:a16="http://schemas.microsoft.com/office/drawing/2014/main" id="{33988D24-430F-BAB9-7F22-CA3854B417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67000" y="2895600"/>
            <a:ext cx="9144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8915" name="Line 83">
            <a:extLst>
              <a:ext uri="{FF2B5EF4-FFF2-40B4-BE49-F238E27FC236}">
                <a16:creationId xmlns:a16="http://schemas.microsoft.com/office/drawing/2014/main" id="{0A959E4D-5E6F-B821-78E7-5762FAD647C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24200" y="2895600"/>
            <a:ext cx="533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8916" name="Line 84">
            <a:extLst>
              <a:ext uri="{FF2B5EF4-FFF2-40B4-BE49-F238E27FC236}">
                <a16:creationId xmlns:a16="http://schemas.microsoft.com/office/drawing/2014/main" id="{F101C46E-AE60-BDD9-9CF8-1E3CCA34459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81400" y="2895600"/>
            <a:ext cx="76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8917" name="Line 85">
            <a:extLst>
              <a:ext uri="{FF2B5EF4-FFF2-40B4-BE49-F238E27FC236}">
                <a16:creationId xmlns:a16="http://schemas.microsoft.com/office/drawing/2014/main" id="{87F7B184-865D-D03B-AABD-9E022D808DD8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2895600"/>
            <a:ext cx="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BB15B20D-C403-AEA4-D70A-1299EB5D9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CS 103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ABA1CD05-2D3A-F091-6314-A8545347E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B0C93-C728-4763-AA6F-A95892043085}" type="slidenum">
              <a:rPr lang="en-US" altLang="en-US"/>
              <a:pPr/>
              <a:t>17</a:t>
            </a:fld>
            <a:endParaRPr lang="en-US" altLang="en-US"/>
          </a:p>
        </p:txBody>
      </p:sp>
      <p:sp>
        <p:nvSpPr>
          <p:cNvPr id="250882" name="Rectangle 2">
            <a:extLst>
              <a:ext uri="{FF2B5EF4-FFF2-40B4-BE49-F238E27FC236}">
                <a16:creationId xmlns:a16="http://schemas.microsoft.com/office/drawing/2014/main" id="{2C7100D3-EC56-044B-92F9-0E899AE5B86F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038600" y="495300"/>
            <a:ext cx="7772400" cy="533400"/>
          </a:xfrm>
        </p:spPr>
        <p:txBody>
          <a:bodyPr>
            <a:normAutofit fontScale="90000"/>
          </a:bodyPr>
          <a:lstStyle/>
          <a:p>
            <a:r>
              <a:rPr lang="en-US" altLang="en-US" sz="4000" b="1" dirty="0"/>
              <a:t>BFS (Pseudo Code)</a:t>
            </a:r>
          </a:p>
        </p:txBody>
      </p:sp>
      <p:sp>
        <p:nvSpPr>
          <p:cNvPr id="250883" name="Rectangle 3">
            <a:extLst>
              <a:ext uri="{FF2B5EF4-FFF2-40B4-BE49-F238E27FC236}">
                <a16:creationId xmlns:a16="http://schemas.microsoft.com/office/drawing/2014/main" id="{BB59C323-100F-840D-9A4F-61E3683B777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209800" y="1371600"/>
            <a:ext cx="7772400" cy="4724400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en-US" altLang="en-US" sz="2400" dirty="0"/>
              <a:t>BFS(input: graph G)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400" dirty="0"/>
              <a:t>  	Queue Q;    Integer x, z, y;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400" dirty="0"/>
              <a:t>	while (G has an unvisited node x) 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400" dirty="0"/>
              <a:t>		visit(x); Enqueue(</a:t>
            </a:r>
            <a:r>
              <a:rPr lang="en-US" altLang="en-US" sz="2400" dirty="0" err="1"/>
              <a:t>x,Q</a:t>
            </a:r>
            <a:r>
              <a:rPr lang="en-US" altLang="en-US" sz="2400" dirty="0"/>
              <a:t>);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400" dirty="0"/>
              <a:t>		while (Q is not empty){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400" dirty="0"/>
              <a:t>			z := Dequeue(Q);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400" dirty="0"/>
              <a:t>			for all (unvisited neighbor y of z){					visit(y); Enqueue(</a:t>
            </a:r>
            <a:r>
              <a:rPr lang="en-US" altLang="en-US" sz="2400" dirty="0" err="1"/>
              <a:t>y,Q</a:t>
            </a:r>
            <a:r>
              <a:rPr lang="en-US" altLang="en-US" sz="2400" dirty="0"/>
              <a:t>); 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400" dirty="0"/>
              <a:t>			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400" dirty="0"/>
              <a:t>		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400" dirty="0"/>
              <a:t>	}</a:t>
            </a:r>
          </a:p>
          <a:p>
            <a:pPr>
              <a:lnSpc>
                <a:spcPct val="80000"/>
              </a:lnSpc>
              <a:buFontTx/>
              <a:buNone/>
            </a:pPr>
            <a:r>
              <a:rPr lang="en-US" altLang="en-US" sz="2400" dirty="0"/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0CD3E467-A3BD-4217-B758-5967B6AF9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en-US"/>
              <a:t>CS 103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ADDA8313-E871-834F-2557-C5CE8C745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D5FFC0-A1EE-44DD-989F-CA2491A9C026}" type="slidenum">
              <a:rPr lang="en-US" altLang="en-US"/>
              <a:pPr/>
              <a:t>18</a:t>
            </a:fld>
            <a:endParaRPr lang="en-US" altLang="en-US"/>
          </a:p>
        </p:txBody>
      </p:sp>
      <p:sp>
        <p:nvSpPr>
          <p:cNvPr id="251906" name="Rectangle 2">
            <a:extLst>
              <a:ext uri="{FF2B5EF4-FFF2-40B4-BE49-F238E27FC236}">
                <a16:creationId xmlns:a16="http://schemas.microsoft.com/office/drawing/2014/main" id="{C7C9A90A-0BF7-2B0B-AE62-ECB496ACFA4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708400" y="314324"/>
            <a:ext cx="10515600" cy="1325563"/>
          </a:xfrm>
        </p:spPr>
        <p:txBody>
          <a:bodyPr/>
          <a:lstStyle/>
          <a:p>
            <a:r>
              <a:rPr lang="en-US" altLang="en-US" b="1" dirty="0"/>
              <a:t>Things for you to Do</a:t>
            </a:r>
          </a:p>
        </p:txBody>
      </p:sp>
      <p:sp>
        <p:nvSpPr>
          <p:cNvPr id="251907" name="Rectangle 3">
            <a:extLst>
              <a:ext uri="{FF2B5EF4-FFF2-40B4-BE49-F238E27FC236}">
                <a16:creationId xmlns:a16="http://schemas.microsoft.com/office/drawing/2014/main" id="{00793C57-447C-8F5A-0271-76DB74F0B2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Use BFS as a way to determine of the input graph G is connected, and if not, to output the number of connected components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Modify BFS so that the level of each node in the BFS tree is computed.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Give another class for graph, this time using a linked lists representation.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8519F1-0B89-4EB4-3D62-C751E0DF0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71400C-45D1-B069-5B91-210599751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19</a:t>
            </a:fld>
            <a:endParaRPr lang="en-IN"/>
          </a:p>
        </p:txBody>
      </p:sp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F48BF935-342D-FA5C-7B89-95045B1C250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648FC53-1451-ED3C-9DED-9CEC86030A58}"/>
              </a:ext>
            </a:extLst>
          </p:cNvPr>
          <p:cNvSpPr txBox="1"/>
          <p:nvPr/>
        </p:nvSpPr>
        <p:spPr>
          <a:xfrm>
            <a:off x="3888700" y="632874"/>
            <a:ext cx="60935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Assessment: </a:t>
            </a:r>
            <a:r>
              <a:rPr lang="en-IN" sz="36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WooFlash</a:t>
            </a:r>
            <a:r>
              <a:rPr lang="en-IN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Quiz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215802"/>
            <a:ext cx="3795634" cy="7402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E46F1D6-56BE-F1E9-39BB-B4F9555330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1971" y="1742988"/>
            <a:ext cx="8360229" cy="4015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6710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D931AE-6A6D-7D41-F97B-A28423F37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20</a:t>
            </a:fld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79E5FE6-2AEA-FD10-96D6-84ECB84793BD}"/>
              </a:ext>
            </a:extLst>
          </p:cNvPr>
          <p:cNvSpPr txBox="1"/>
          <p:nvPr/>
        </p:nvSpPr>
        <p:spPr>
          <a:xfrm>
            <a:off x="822739" y="821384"/>
            <a:ext cx="103731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ct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Summary</a:t>
            </a:r>
          </a:p>
        </p:txBody>
      </p:sp>
      <p:sp>
        <p:nvSpPr>
          <p:cNvPr id="2" name="Rectangle 1"/>
          <p:cNvSpPr/>
          <p:nvPr/>
        </p:nvSpPr>
        <p:spPr>
          <a:xfrm>
            <a:off x="10671589" y="1051486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[1-mins]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F20F6A1-3E37-369F-EBD8-6DD3B30D66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5930806"/>
              </p:ext>
            </p:extLst>
          </p:nvPr>
        </p:nvGraphicFramePr>
        <p:xfrm>
          <a:off x="838200" y="1926217"/>
          <a:ext cx="10515600" cy="4383234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33407947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86702489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838129713"/>
                    </a:ext>
                  </a:extLst>
                </a:gridCol>
              </a:tblGrid>
              <a:tr h="730539"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BFS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DFS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1261661"/>
                  </a:ext>
                </a:extLst>
              </a:tr>
              <a:tr h="730539"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Structure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Queue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Stack/Recursion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0977564"/>
                  </a:ext>
                </a:extLst>
              </a:tr>
              <a:tr h="730539"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Traversal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Level-by-level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Depth-first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7395809"/>
                  </a:ext>
                </a:extLst>
              </a:tr>
              <a:tr h="730539"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Shortest Path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✔ 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✖ 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2614941"/>
                  </a:ext>
                </a:extLst>
              </a:tr>
              <a:tr h="730539"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0545234"/>
                  </a:ext>
                </a:extLst>
              </a:tr>
              <a:tr h="730539"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Good For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Shortest path, leveled search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Backtracking, exploring all paths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07829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249981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004C7-B178-F1D8-2CF2-0D06DABDA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1C0EAB55-2631-F8CD-FACE-543FA98B2995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890330" y="483460"/>
            <a:ext cx="5017695" cy="1136052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Learning Outcomes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AAA7A2-FB4E-1B2A-863B-1431D2706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043979-7512-EA6D-E75F-82B56D979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6510230-8DD5-4BA5-AB2D-CA30FC08F9D7}" type="slidenum">
              <a:rPr lang="en-IN" smtClean="0"/>
              <a:pPr/>
              <a:t>21</a:t>
            </a:fld>
            <a:endParaRPr lang="en-IN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38683D40-B0EC-A3A3-F104-F0734713F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5532" y="1435255"/>
            <a:ext cx="108204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n-US" sz="3200" b="1" u="sng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 the end of this session, You will be able to: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12875E2-780D-C9BF-0F45-DF0637142122}"/>
              </a:ext>
            </a:extLst>
          </p:cNvPr>
          <p:cNvSpPr/>
          <p:nvPr/>
        </p:nvSpPr>
        <p:spPr>
          <a:xfrm>
            <a:off x="10671589" y="1065923"/>
            <a:ext cx="104868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defTabSz="457200">
              <a:spcBef>
                <a:spcPct val="20000"/>
              </a:spcBef>
              <a:defRPr/>
            </a:pPr>
            <a:r>
              <a:rPr lang="en-US" dirty="0">
                <a:solidFill>
                  <a:prstClr val="black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[2-mins]</a:t>
            </a:r>
          </a:p>
        </p:txBody>
      </p:sp>
      <p:graphicFrame>
        <p:nvGraphicFramePr>
          <p:cNvPr id="12" name="Title 1">
            <a:extLst>
              <a:ext uri="{FF2B5EF4-FFF2-40B4-BE49-F238E27FC236}">
                <a16:creationId xmlns:a16="http://schemas.microsoft.com/office/drawing/2014/main" id="{101CA797-81EE-1A6E-17C3-34FF3EEC8A81}"/>
              </a:ext>
            </a:extLst>
          </p:cNvPr>
          <p:cNvGraphicFramePr/>
          <p:nvPr/>
        </p:nvGraphicFramePr>
        <p:xfrm>
          <a:off x="297092" y="22857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038367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B91CCA-1BE5-F500-6FE3-9286107B8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8DC841-660F-050E-F1D5-7EDF89E4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22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C48F32E8-1C2C-DDC5-5A63-CE0734EE2B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65002"/>
            <a:ext cx="3795634" cy="740238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E4F6F593-41A2-5797-581D-24AD95F1C7D0}"/>
              </a:ext>
            </a:extLst>
          </p:cNvPr>
          <p:cNvSpPr txBox="1">
            <a:spLocks/>
          </p:cNvSpPr>
          <p:nvPr/>
        </p:nvSpPr>
        <p:spPr>
          <a:xfrm>
            <a:off x="674912" y="1071593"/>
            <a:ext cx="9180287" cy="129711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 dirty="0">
                <a:solidFill>
                  <a:schemeClr val="tx2"/>
                </a:solidFill>
              </a:rPr>
              <a:t>Review and Reflection from students</a:t>
            </a:r>
          </a:p>
        </p:txBody>
      </p:sp>
      <p:pic>
        <p:nvPicPr>
          <p:cNvPr id="18434" name="Picture 2">
            <a:extLst>
              <a:ext uri="{FF2B5EF4-FFF2-40B4-BE49-F238E27FC236}">
                <a16:creationId xmlns:a16="http://schemas.microsoft.com/office/drawing/2014/main" id="{AF665A17-0CBB-3842-7B0C-A3FC7F70D4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0850" y="1993900"/>
            <a:ext cx="3670300" cy="367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6453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6705</TotalTime>
  <Words>1148</Words>
  <Application>Microsoft Office PowerPoint</Application>
  <PresentationFormat>Widescreen</PresentationFormat>
  <Paragraphs>214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Aptos</vt:lpstr>
      <vt:lpstr>Aptos Display</vt:lpstr>
      <vt:lpstr>Arial</vt:lpstr>
      <vt:lpstr>Calibri</vt:lpstr>
      <vt:lpstr>Georgia</vt:lpstr>
      <vt:lpstr>Google Sans</vt:lpstr>
      <vt:lpstr>Tahoma</vt:lpstr>
      <vt:lpstr>Times New Roman</vt:lpstr>
      <vt:lpstr>Office Theme</vt:lpstr>
      <vt:lpstr> Graph Traversal: BFS and DFS    Session No.: 40 Course Name: Data Strucutres Course Code: R1UC308B   Instructor Name: Akhilesh Tripathi Duration: 50 mins Date of Conduction:</vt:lpstr>
      <vt:lpstr>PowerPoint Presentation</vt:lpstr>
      <vt:lpstr>PowerPoint Presentation</vt:lpstr>
      <vt:lpstr>PowerPoint Presentation</vt:lpstr>
      <vt:lpstr>Learning Outcomes</vt:lpstr>
      <vt:lpstr>PowerPoint Presentation</vt:lpstr>
      <vt:lpstr>PowerPoint Presentation</vt:lpstr>
      <vt:lpstr>Answer following based on previous activity</vt:lpstr>
      <vt:lpstr>Graph Traversal Techniques</vt:lpstr>
      <vt:lpstr>Graph Traversal (Contd.)</vt:lpstr>
      <vt:lpstr>Depth-First Search </vt:lpstr>
      <vt:lpstr>Illustration of DFS</vt:lpstr>
      <vt:lpstr>Implementation of DFS</vt:lpstr>
      <vt:lpstr>DFS (Pseudo Code)</vt:lpstr>
      <vt:lpstr>Breadth-First Search </vt:lpstr>
      <vt:lpstr>Illustration of BFS</vt:lpstr>
      <vt:lpstr>BFS (Pseudo Code)</vt:lpstr>
      <vt:lpstr>Things for you to Do</vt:lpstr>
      <vt:lpstr>PowerPoint Presentation</vt:lpstr>
      <vt:lpstr>PowerPoint Presentation</vt:lpstr>
      <vt:lpstr>Learning Outcomes</vt:lpstr>
      <vt:lpstr>PowerPoint Presentation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Equilibrium Index    Session No.: 2 Course Name: Advanced Algorithmic Problem Solving Course Code: R1UC601B   Instructor Name: Dr. Subhash chandra Gupta</dc:title>
  <dc:creator>Deepak Gupta</dc:creator>
  <cp:lastModifiedBy>akhilesh tripathi</cp:lastModifiedBy>
  <cp:revision>112</cp:revision>
  <dcterms:created xsi:type="dcterms:W3CDTF">2024-08-22T06:33:55Z</dcterms:created>
  <dcterms:modified xsi:type="dcterms:W3CDTF">2026-01-08T04:52:17Z</dcterms:modified>
</cp:coreProperties>
</file>