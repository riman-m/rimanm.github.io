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82" r:id="rId3"/>
    <p:sldId id="297" r:id="rId4"/>
    <p:sldId id="292" r:id="rId5"/>
    <p:sldId id="293" r:id="rId6"/>
    <p:sldId id="290" r:id="rId7"/>
    <p:sldId id="294" r:id="rId8"/>
    <p:sldId id="260" r:id="rId9"/>
    <p:sldId id="312" r:id="rId10"/>
    <p:sldId id="313" r:id="rId11"/>
    <p:sldId id="314" r:id="rId12"/>
    <p:sldId id="303" r:id="rId13"/>
    <p:sldId id="307" r:id="rId14"/>
    <p:sldId id="304" r:id="rId15"/>
    <p:sldId id="296" r:id="rId16"/>
    <p:sldId id="315" r:id="rId17"/>
    <p:sldId id="309" r:id="rId18"/>
    <p:sldId id="288" r:id="rId19"/>
    <p:sldId id="299" r:id="rId20"/>
    <p:sldId id="316" r:id="rId21"/>
    <p:sldId id="301" r:id="rId22"/>
    <p:sldId id="30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59" d="100"/>
          <a:sy n="59" d="100"/>
        </p:scale>
        <p:origin x="964"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ED251F-A7A3-4D25-B004-4241BE03EDC3}"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7D38D2E0-CE30-4B8E-8EBD-B58B40840A3A}">
      <dgm:prSet custT="1"/>
      <dgm:spPr/>
      <dgm:t>
        <a:bodyPr/>
        <a:lstStyle/>
        <a:p>
          <a:pPr>
            <a:buNone/>
          </a:pPr>
          <a:r>
            <a:rPr lang="en-IN" sz="3200" dirty="0"/>
            <a:t>implement the linear search algorithm and </a:t>
          </a:r>
          <a:r>
            <a:rPr lang="en-IN" sz="3200" dirty="0" err="1"/>
            <a:t>analyze</a:t>
          </a:r>
          <a:r>
            <a:rPr lang="en-IN" sz="3200" dirty="0"/>
            <a:t> its time and space complexity.</a:t>
          </a:r>
        </a:p>
      </dgm:t>
    </dgm:pt>
    <dgm:pt modelId="{FA494118-3CC2-486A-8C92-178F0737938D}" type="parTrans" cxnId="{D5DD407C-059A-40BE-8CA6-246F7B95059B}">
      <dgm:prSet/>
      <dgm:spPr/>
      <dgm:t>
        <a:bodyPr/>
        <a:lstStyle/>
        <a:p>
          <a:endParaRPr lang="en-IN"/>
        </a:p>
      </dgm:t>
    </dgm:pt>
    <dgm:pt modelId="{E0C98239-2C08-47FE-B67B-80BBEC34DDD3}" type="sibTrans" cxnId="{D5DD407C-059A-40BE-8CA6-246F7B95059B}">
      <dgm:prSet/>
      <dgm:spPr/>
      <dgm:t>
        <a:bodyPr/>
        <a:lstStyle/>
        <a:p>
          <a:endParaRPr lang="en-IN"/>
        </a:p>
      </dgm:t>
    </dgm:pt>
    <dgm:pt modelId="{05E52D68-3176-48F8-A253-1E2194724279}">
      <dgm:prSet custT="1"/>
      <dgm:spPr/>
      <dgm:t>
        <a:bodyPr/>
        <a:lstStyle/>
        <a:p>
          <a:pPr>
            <a:buNone/>
          </a:pPr>
          <a:r>
            <a:rPr lang="en-IN" sz="3200" dirty="0"/>
            <a:t>implement the binary search algorithm, </a:t>
          </a:r>
          <a:r>
            <a:rPr lang="en-IN" sz="3200" dirty="0" err="1"/>
            <a:t>analyze</a:t>
          </a:r>
          <a:r>
            <a:rPr lang="en-IN" sz="3200" dirty="0"/>
            <a:t> its complexity, and compare its efficiency with linear search</a:t>
          </a:r>
        </a:p>
      </dgm:t>
    </dgm:pt>
    <dgm:pt modelId="{C02BC8C0-25E3-4C02-8AC9-E3A232CCE32E}" type="parTrans" cxnId="{2075DC49-48CA-4112-B246-C11E62988EA5}">
      <dgm:prSet/>
      <dgm:spPr/>
      <dgm:t>
        <a:bodyPr/>
        <a:lstStyle/>
        <a:p>
          <a:endParaRPr lang="en-IN"/>
        </a:p>
      </dgm:t>
    </dgm:pt>
    <dgm:pt modelId="{16FA2FF3-C375-40CF-AF5E-08526590A43D}" type="sibTrans" cxnId="{2075DC49-48CA-4112-B246-C11E62988EA5}">
      <dgm:prSet/>
      <dgm:spPr/>
      <dgm:t>
        <a:bodyPr/>
        <a:lstStyle/>
        <a:p>
          <a:endParaRPr lang="en-IN"/>
        </a:p>
      </dgm:t>
    </dgm:pt>
    <dgm:pt modelId="{BCA40D55-9F97-4CA4-8859-68C842EAE88F}" type="pres">
      <dgm:prSet presAssocID="{B7ED251F-A7A3-4D25-B004-4241BE03EDC3}" presName="Name0" presStyleCnt="0">
        <dgm:presLayoutVars>
          <dgm:dir/>
          <dgm:animLvl val="lvl"/>
          <dgm:resizeHandles val="exact"/>
        </dgm:presLayoutVars>
      </dgm:prSet>
      <dgm:spPr/>
    </dgm:pt>
    <dgm:pt modelId="{8A00B8C4-124C-4BBC-82EF-B6C3891D8101}" type="pres">
      <dgm:prSet presAssocID="{05E52D68-3176-48F8-A253-1E2194724279}" presName="boxAndChildren" presStyleCnt="0"/>
      <dgm:spPr/>
    </dgm:pt>
    <dgm:pt modelId="{33A050D5-97C8-412B-9B8F-B26C8F757B7E}" type="pres">
      <dgm:prSet presAssocID="{05E52D68-3176-48F8-A253-1E2194724279}" presName="parentTextBox" presStyleLbl="node1" presStyleIdx="0" presStyleCnt="2"/>
      <dgm:spPr/>
    </dgm:pt>
    <dgm:pt modelId="{D9E7C99D-CD0A-4EF3-825B-E9D5A24B2895}" type="pres">
      <dgm:prSet presAssocID="{E0C98239-2C08-47FE-B67B-80BBEC34DDD3}" presName="sp" presStyleCnt="0"/>
      <dgm:spPr/>
    </dgm:pt>
    <dgm:pt modelId="{D9F278CF-D1AB-4E2D-A1A2-4B43DAB4CAC1}" type="pres">
      <dgm:prSet presAssocID="{7D38D2E0-CE30-4B8E-8EBD-B58B40840A3A}" presName="arrowAndChildren" presStyleCnt="0"/>
      <dgm:spPr/>
    </dgm:pt>
    <dgm:pt modelId="{A9E5CEDE-BC6A-43F2-A45B-53186C6B8E6E}" type="pres">
      <dgm:prSet presAssocID="{7D38D2E0-CE30-4B8E-8EBD-B58B40840A3A}" presName="parentTextArrow" presStyleLbl="node1" presStyleIdx="1" presStyleCnt="2"/>
      <dgm:spPr/>
    </dgm:pt>
  </dgm:ptLst>
  <dgm:cxnLst>
    <dgm:cxn modelId="{2075DC49-48CA-4112-B246-C11E62988EA5}" srcId="{B7ED251F-A7A3-4D25-B004-4241BE03EDC3}" destId="{05E52D68-3176-48F8-A253-1E2194724279}" srcOrd="1" destOrd="0" parTransId="{C02BC8C0-25E3-4C02-8AC9-E3A232CCE32E}" sibTransId="{16FA2FF3-C375-40CF-AF5E-08526590A43D}"/>
    <dgm:cxn modelId="{D5DD407C-059A-40BE-8CA6-246F7B95059B}" srcId="{B7ED251F-A7A3-4D25-B004-4241BE03EDC3}" destId="{7D38D2E0-CE30-4B8E-8EBD-B58B40840A3A}" srcOrd="0" destOrd="0" parTransId="{FA494118-3CC2-486A-8C92-178F0737938D}" sibTransId="{E0C98239-2C08-47FE-B67B-80BBEC34DDD3}"/>
    <dgm:cxn modelId="{602ADD9D-D77C-4864-85DE-6F786E0BA06C}" type="presOf" srcId="{B7ED251F-A7A3-4D25-B004-4241BE03EDC3}" destId="{BCA40D55-9F97-4CA4-8859-68C842EAE88F}" srcOrd="0" destOrd="0" presId="urn:microsoft.com/office/officeart/2005/8/layout/process4"/>
    <dgm:cxn modelId="{919838A1-8BBA-4087-8F31-36172B94441C}" type="presOf" srcId="{7D38D2E0-CE30-4B8E-8EBD-B58B40840A3A}" destId="{A9E5CEDE-BC6A-43F2-A45B-53186C6B8E6E}" srcOrd="0" destOrd="0" presId="urn:microsoft.com/office/officeart/2005/8/layout/process4"/>
    <dgm:cxn modelId="{891B7BB3-3248-44DD-81A9-31EB06388E44}" type="presOf" srcId="{05E52D68-3176-48F8-A253-1E2194724279}" destId="{33A050D5-97C8-412B-9B8F-B26C8F757B7E}" srcOrd="0" destOrd="0" presId="urn:microsoft.com/office/officeart/2005/8/layout/process4"/>
    <dgm:cxn modelId="{A2C57113-713C-4A87-8B9F-84FA56656862}" type="presParOf" srcId="{BCA40D55-9F97-4CA4-8859-68C842EAE88F}" destId="{8A00B8C4-124C-4BBC-82EF-B6C3891D8101}" srcOrd="0" destOrd="0" presId="urn:microsoft.com/office/officeart/2005/8/layout/process4"/>
    <dgm:cxn modelId="{7BFA7D03-D72B-4103-87FE-267B416D2C47}" type="presParOf" srcId="{8A00B8C4-124C-4BBC-82EF-B6C3891D8101}" destId="{33A050D5-97C8-412B-9B8F-B26C8F757B7E}" srcOrd="0" destOrd="0" presId="urn:microsoft.com/office/officeart/2005/8/layout/process4"/>
    <dgm:cxn modelId="{BD5F377B-F2CA-409D-A865-A0007EBD6ADC}" type="presParOf" srcId="{BCA40D55-9F97-4CA4-8859-68C842EAE88F}" destId="{D9E7C99D-CD0A-4EF3-825B-E9D5A24B2895}" srcOrd="1" destOrd="0" presId="urn:microsoft.com/office/officeart/2005/8/layout/process4"/>
    <dgm:cxn modelId="{692289CD-F3BE-4D34-B3E8-299C4DC375D9}" type="presParOf" srcId="{BCA40D55-9F97-4CA4-8859-68C842EAE88F}" destId="{D9F278CF-D1AB-4E2D-A1A2-4B43DAB4CAC1}" srcOrd="2" destOrd="0" presId="urn:microsoft.com/office/officeart/2005/8/layout/process4"/>
    <dgm:cxn modelId="{22614DE8-5A9B-46F2-968E-3A7329089A72}" type="presParOf" srcId="{D9F278CF-D1AB-4E2D-A1A2-4B43DAB4CAC1}" destId="{A9E5CEDE-BC6A-43F2-A45B-53186C6B8E6E}"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7ED251F-A7A3-4D25-B004-4241BE03EDC3}"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7D38D2E0-CE30-4B8E-8EBD-B58B40840A3A}">
      <dgm:prSet custT="1"/>
      <dgm:spPr/>
      <dgm:t>
        <a:bodyPr/>
        <a:lstStyle/>
        <a:p>
          <a:pPr>
            <a:buNone/>
          </a:pPr>
          <a:r>
            <a:rPr lang="en-IN" sz="3200" dirty="0"/>
            <a:t>implement the linear search algorithm and </a:t>
          </a:r>
          <a:r>
            <a:rPr lang="en-IN" sz="3200" dirty="0" err="1"/>
            <a:t>analyze</a:t>
          </a:r>
          <a:r>
            <a:rPr lang="en-IN" sz="3200" dirty="0"/>
            <a:t> its time and space complexity.</a:t>
          </a:r>
        </a:p>
      </dgm:t>
    </dgm:pt>
    <dgm:pt modelId="{FA494118-3CC2-486A-8C92-178F0737938D}" type="parTrans" cxnId="{D5DD407C-059A-40BE-8CA6-246F7B95059B}">
      <dgm:prSet/>
      <dgm:spPr/>
      <dgm:t>
        <a:bodyPr/>
        <a:lstStyle/>
        <a:p>
          <a:endParaRPr lang="en-IN"/>
        </a:p>
      </dgm:t>
    </dgm:pt>
    <dgm:pt modelId="{E0C98239-2C08-47FE-B67B-80BBEC34DDD3}" type="sibTrans" cxnId="{D5DD407C-059A-40BE-8CA6-246F7B95059B}">
      <dgm:prSet/>
      <dgm:spPr/>
      <dgm:t>
        <a:bodyPr/>
        <a:lstStyle/>
        <a:p>
          <a:endParaRPr lang="en-IN"/>
        </a:p>
      </dgm:t>
    </dgm:pt>
    <dgm:pt modelId="{05E52D68-3176-48F8-A253-1E2194724279}">
      <dgm:prSet custT="1"/>
      <dgm:spPr/>
      <dgm:t>
        <a:bodyPr/>
        <a:lstStyle/>
        <a:p>
          <a:pPr>
            <a:buNone/>
          </a:pPr>
          <a:r>
            <a:rPr lang="en-IN" sz="3200" dirty="0"/>
            <a:t>implement the binary search algorithm, </a:t>
          </a:r>
          <a:r>
            <a:rPr lang="en-IN" sz="3200" dirty="0" err="1"/>
            <a:t>analyze</a:t>
          </a:r>
          <a:r>
            <a:rPr lang="en-IN" sz="3200" dirty="0"/>
            <a:t> its complexity, and compare its efficiency with linear search</a:t>
          </a:r>
        </a:p>
      </dgm:t>
    </dgm:pt>
    <dgm:pt modelId="{C02BC8C0-25E3-4C02-8AC9-E3A232CCE32E}" type="parTrans" cxnId="{2075DC49-48CA-4112-B246-C11E62988EA5}">
      <dgm:prSet/>
      <dgm:spPr/>
      <dgm:t>
        <a:bodyPr/>
        <a:lstStyle/>
        <a:p>
          <a:endParaRPr lang="en-IN"/>
        </a:p>
      </dgm:t>
    </dgm:pt>
    <dgm:pt modelId="{16FA2FF3-C375-40CF-AF5E-08526590A43D}" type="sibTrans" cxnId="{2075DC49-48CA-4112-B246-C11E62988EA5}">
      <dgm:prSet/>
      <dgm:spPr/>
      <dgm:t>
        <a:bodyPr/>
        <a:lstStyle/>
        <a:p>
          <a:endParaRPr lang="en-IN"/>
        </a:p>
      </dgm:t>
    </dgm:pt>
    <dgm:pt modelId="{BCA40D55-9F97-4CA4-8859-68C842EAE88F}" type="pres">
      <dgm:prSet presAssocID="{B7ED251F-A7A3-4D25-B004-4241BE03EDC3}" presName="Name0" presStyleCnt="0">
        <dgm:presLayoutVars>
          <dgm:dir/>
          <dgm:animLvl val="lvl"/>
          <dgm:resizeHandles val="exact"/>
        </dgm:presLayoutVars>
      </dgm:prSet>
      <dgm:spPr/>
    </dgm:pt>
    <dgm:pt modelId="{8A00B8C4-124C-4BBC-82EF-B6C3891D8101}" type="pres">
      <dgm:prSet presAssocID="{05E52D68-3176-48F8-A253-1E2194724279}" presName="boxAndChildren" presStyleCnt="0"/>
      <dgm:spPr/>
    </dgm:pt>
    <dgm:pt modelId="{33A050D5-97C8-412B-9B8F-B26C8F757B7E}" type="pres">
      <dgm:prSet presAssocID="{05E52D68-3176-48F8-A253-1E2194724279}" presName="parentTextBox" presStyleLbl="node1" presStyleIdx="0" presStyleCnt="2"/>
      <dgm:spPr/>
    </dgm:pt>
    <dgm:pt modelId="{D9E7C99D-CD0A-4EF3-825B-E9D5A24B2895}" type="pres">
      <dgm:prSet presAssocID="{E0C98239-2C08-47FE-B67B-80BBEC34DDD3}" presName="sp" presStyleCnt="0"/>
      <dgm:spPr/>
    </dgm:pt>
    <dgm:pt modelId="{D9F278CF-D1AB-4E2D-A1A2-4B43DAB4CAC1}" type="pres">
      <dgm:prSet presAssocID="{7D38D2E0-CE30-4B8E-8EBD-B58B40840A3A}" presName="arrowAndChildren" presStyleCnt="0"/>
      <dgm:spPr/>
    </dgm:pt>
    <dgm:pt modelId="{A9E5CEDE-BC6A-43F2-A45B-53186C6B8E6E}" type="pres">
      <dgm:prSet presAssocID="{7D38D2E0-CE30-4B8E-8EBD-B58B40840A3A}" presName="parentTextArrow" presStyleLbl="node1" presStyleIdx="1" presStyleCnt="2"/>
      <dgm:spPr/>
    </dgm:pt>
  </dgm:ptLst>
  <dgm:cxnLst>
    <dgm:cxn modelId="{2075DC49-48CA-4112-B246-C11E62988EA5}" srcId="{B7ED251F-A7A3-4D25-B004-4241BE03EDC3}" destId="{05E52D68-3176-48F8-A253-1E2194724279}" srcOrd="1" destOrd="0" parTransId="{C02BC8C0-25E3-4C02-8AC9-E3A232CCE32E}" sibTransId="{16FA2FF3-C375-40CF-AF5E-08526590A43D}"/>
    <dgm:cxn modelId="{D5DD407C-059A-40BE-8CA6-246F7B95059B}" srcId="{B7ED251F-A7A3-4D25-B004-4241BE03EDC3}" destId="{7D38D2E0-CE30-4B8E-8EBD-B58B40840A3A}" srcOrd="0" destOrd="0" parTransId="{FA494118-3CC2-486A-8C92-178F0737938D}" sibTransId="{E0C98239-2C08-47FE-B67B-80BBEC34DDD3}"/>
    <dgm:cxn modelId="{602ADD9D-D77C-4864-85DE-6F786E0BA06C}" type="presOf" srcId="{B7ED251F-A7A3-4D25-B004-4241BE03EDC3}" destId="{BCA40D55-9F97-4CA4-8859-68C842EAE88F}" srcOrd="0" destOrd="0" presId="urn:microsoft.com/office/officeart/2005/8/layout/process4"/>
    <dgm:cxn modelId="{919838A1-8BBA-4087-8F31-36172B94441C}" type="presOf" srcId="{7D38D2E0-CE30-4B8E-8EBD-B58B40840A3A}" destId="{A9E5CEDE-BC6A-43F2-A45B-53186C6B8E6E}" srcOrd="0" destOrd="0" presId="urn:microsoft.com/office/officeart/2005/8/layout/process4"/>
    <dgm:cxn modelId="{891B7BB3-3248-44DD-81A9-31EB06388E44}" type="presOf" srcId="{05E52D68-3176-48F8-A253-1E2194724279}" destId="{33A050D5-97C8-412B-9B8F-B26C8F757B7E}" srcOrd="0" destOrd="0" presId="urn:microsoft.com/office/officeart/2005/8/layout/process4"/>
    <dgm:cxn modelId="{A2C57113-713C-4A87-8B9F-84FA56656862}" type="presParOf" srcId="{BCA40D55-9F97-4CA4-8859-68C842EAE88F}" destId="{8A00B8C4-124C-4BBC-82EF-B6C3891D8101}" srcOrd="0" destOrd="0" presId="urn:microsoft.com/office/officeart/2005/8/layout/process4"/>
    <dgm:cxn modelId="{7BFA7D03-D72B-4103-87FE-267B416D2C47}" type="presParOf" srcId="{8A00B8C4-124C-4BBC-82EF-B6C3891D8101}" destId="{33A050D5-97C8-412B-9B8F-B26C8F757B7E}" srcOrd="0" destOrd="0" presId="urn:microsoft.com/office/officeart/2005/8/layout/process4"/>
    <dgm:cxn modelId="{BD5F377B-F2CA-409D-A865-A0007EBD6ADC}" type="presParOf" srcId="{BCA40D55-9F97-4CA4-8859-68C842EAE88F}" destId="{D9E7C99D-CD0A-4EF3-825B-E9D5A24B2895}" srcOrd="1" destOrd="0" presId="urn:microsoft.com/office/officeart/2005/8/layout/process4"/>
    <dgm:cxn modelId="{692289CD-F3BE-4D34-B3E8-299C4DC375D9}" type="presParOf" srcId="{BCA40D55-9F97-4CA4-8859-68C842EAE88F}" destId="{D9F278CF-D1AB-4E2D-A1A2-4B43DAB4CAC1}" srcOrd="2" destOrd="0" presId="urn:microsoft.com/office/officeart/2005/8/layout/process4"/>
    <dgm:cxn modelId="{22614DE8-5A9B-46F2-968E-3A7329089A72}" type="presParOf" srcId="{D9F278CF-D1AB-4E2D-A1A2-4B43DAB4CAC1}" destId="{A9E5CEDE-BC6A-43F2-A45B-53186C6B8E6E}"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A050D5-97C8-412B-9B8F-B26C8F757B7E}">
      <dsp:nvSpPr>
        <dsp:cNvPr id="0" name=""/>
        <dsp:cNvSpPr/>
      </dsp:nvSpPr>
      <dsp:spPr>
        <a:xfrm>
          <a:off x="0" y="2226751"/>
          <a:ext cx="10927829" cy="146098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IN" sz="3200" kern="1200" dirty="0"/>
            <a:t>implement the binary search algorithm, </a:t>
          </a:r>
          <a:r>
            <a:rPr lang="en-IN" sz="3200" kern="1200" dirty="0" err="1"/>
            <a:t>analyze</a:t>
          </a:r>
          <a:r>
            <a:rPr lang="en-IN" sz="3200" kern="1200" dirty="0"/>
            <a:t> its complexity, and compare its efficiency with linear search</a:t>
          </a:r>
        </a:p>
      </dsp:txBody>
      <dsp:txXfrm>
        <a:off x="0" y="2226751"/>
        <a:ext cx="10927829" cy="1460989"/>
      </dsp:txXfrm>
    </dsp:sp>
    <dsp:sp modelId="{A9E5CEDE-BC6A-43F2-A45B-53186C6B8E6E}">
      <dsp:nvSpPr>
        <dsp:cNvPr id="0" name=""/>
        <dsp:cNvSpPr/>
      </dsp:nvSpPr>
      <dsp:spPr>
        <a:xfrm rot="10800000">
          <a:off x="0" y="1663"/>
          <a:ext cx="10927829" cy="2247002"/>
        </a:xfrm>
        <a:prstGeom prst="upArrowCallou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IN" sz="3200" kern="1200" dirty="0"/>
            <a:t>implement the linear search algorithm and </a:t>
          </a:r>
          <a:r>
            <a:rPr lang="en-IN" sz="3200" kern="1200" dirty="0" err="1"/>
            <a:t>analyze</a:t>
          </a:r>
          <a:r>
            <a:rPr lang="en-IN" sz="3200" kern="1200" dirty="0"/>
            <a:t> its time and space complexity.</a:t>
          </a:r>
        </a:p>
      </dsp:txBody>
      <dsp:txXfrm rot="10800000">
        <a:off x="0" y="1663"/>
        <a:ext cx="10927829" cy="14600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A050D5-97C8-412B-9B8F-B26C8F757B7E}">
      <dsp:nvSpPr>
        <dsp:cNvPr id="0" name=""/>
        <dsp:cNvSpPr/>
      </dsp:nvSpPr>
      <dsp:spPr>
        <a:xfrm>
          <a:off x="0" y="2226751"/>
          <a:ext cx="10927829" cy="146098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IN" sz="3200" kern="1200" dirty="0"/>
            <a:t>implement the binary search algorithm, </a:t>
          </a:r>
          <a:r>
            <a:rPr lang="en-IN" sz="3200" kern="1200" dirty="0" err="1"/>
            <a:t>analyze</a:t>
          </a:r>
          <a:r>
            <a:rPr lang="en-IN" sz="3200" kern="1200" dirty="0"/>
            <a:t> its complexity, and compare its efficiency with linear search</a:t>
          </a:r>
        </a:p>
      </dsp:txBody>
      <dsp:txXfrm>
        <a:off x="0" y="2226751"/>
        <a:ext cx="10927829" cy="1460989"/>
      </dsp:txXfrm>
    </dsp:sp>
    <dsp:sp modelId="{A9E5CEDE-BC6A-43F2-A45B-53186C6B8E6E}">
      <dsp:nvSpPr>
        <dsp:cNvPr id="0" name=""/>
        <dsp:cNvSpPr/>
      </dsp:nvSpPr>
      <dsp:spPr>
        <a:xfrm rot="10800000">
          <a:off x="0" y="1663"/>
          <a:ext cx="10927829" cy="2247002"/>
        </a:xfrm>
        <a:prstGeom prst="upArrowCallou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IN" sz="3200" kern="1200" dirty="0"/>
            <a:t>implement the linear search algorithm and </a:t>
          </a:r>
          <a:r>
            <a:rPr lang="en-IN" sz="3200" kern="1200" dirty="0" err="1"/>
            <a:t>analyze</a:t>
          </a:r>
          <a:r>
            <a:rPr lang="en-IN" sz="3200" kern="1200" dirty="0"/>
            <a:t> its time and space complexity.</a:t>
          </a:r>
        </a:p>
      </dsp:txBody>
      <dsp:txXfrm rot="10800000">
        <a:off x="0" y="1663"/>
        <a:ext cx="10927829" cy="1460034"/>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6FBC31-3F3F-40A8-84DF-BE3B4616B22A}" type="datetimeFigureOut">
              <a:rPr lang="en-IN" smtClean="0"/>
              <a:t>24-09-2025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9FE326-85E6-4395-8F28-A8F972B7BB4E}" type="slidenum">
              <a:rPr lang="en-IN" smtClean="0"/>
              <a:t>‹#›</a:t>
            </a:fld>
            <a:endParaRPr lang="en-IN"/>
          </a:p>
        </p:txBody>
      </p:sp>
    </p:spTree>
    <p:extLst>
      <p:ext uri="{BB962C8B-B14F-4D97-AF65-F5344CB8AC3E}">
        <p14:creationId xmlns:p14="http://schemas.microsoft.com/office/powerpoint/2010/main" val="1993760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E9FE326-85E6-4395-8F28-A8F972B7BB4E}" type="slidenum">
              <a:rPr lang="en-IN" smtClean="0"/>
              <a:t>12</a:t>
            </a:fld>
            <a:endParaRPr lang="en-IN"/>
          </a:p>
        </p:txBody>
      </p:sp>
    </p:spTree>
    <p:extLst>
      <p:ext uri="{BB962C8B-B14F-4D97-AF65-F5344CB8AC3E}">
        <p14:creationId xmlns:p14="http://schemas.microsoft.com/office/powerpoint/2010/main" val="41429421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B19AD-E795-8469-CB7A-8D1393914F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B09FC3E-A433-5720-2C47-B218104854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233EDBC-57D9-C6A6-6869-371DC35FAC4A}"/>
              </a:ext>
            </a:extLst>
          </p:cNvPr>
          <p:cNvSpPr>
            <a:spLocks noGrp="1"/>
          </p:cNvSpPr>
          <p:nvPr>
            <p:ph type="dt" sz="half" idx="10"/>
          </p:nvPr>
        </p:nvSpPr>
        <p:spPr/>
        <p:txBody>
          <a:bodyPr/>
          <a:lstStyle/>
          <a:p>
            <a:fld id="{CAB0B00A-0031-4EDD-BEBB-B131E3F68B8B}" type="datetime1">
              <a:rPr lang="en-IN" smtClean="0"/>
              <a:t>24-09-2025</a:t>
            </a:fld>
            <a:endParaRPr lang="en-IN"/>
          </a:p>
        </p:txBody>
      </p:sp>
      <p:sp>
        <p:nvSpPr>
          <p:cNvPr id="5" name="Footer Placeholder 4">
            <a:extLst>
              <a:ext uri="{FF2B5EF4-FFF2-40B4-BE49-F238E27FC236}">
                <a16:creationId xmlns:a16="http://schemas.microsoft.com/office/drawing/2014/main" id="{A8B1DC6D-FB05-89AF-D06E-2A214B26AC59}"/>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E5979841-7A1B-1D77-4E0D-F440971A186C}"/>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447415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6841F-4D47-CCA2-58EC-D8D2EE9AF01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C907BEF-2C9D-42DC-3411-00B3A39BC0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36B5C3-B400-8ED2-C857-CC6B3B6EB6B7}"/>
              </a:ext>
            </a:extLst>
          </p:cNvPr>
          <p:cNvSpPr>
            <a:spLocks noGrp="1"/>
          </p:cNvSpPr>
          <p:nvPr>
            <p:ph type="dt" sz="half" idx="10"/>
          </p:nvPr>
        </p:nvSpPr>
        <p:spPr/>
        <p:txBody>
          <a:bodyPr/>
          <a:lstStyle/>
          <a:p>
            <a:fld id="{218D233B-F1E7-4818-B22D-9EDEAA6025FD}" type="datetime1">
              <a:rPr lang="en-IN" smtClean="0"/>
              <a:t>24-09-2025</a:t>
            </a:fld>
            <a:endParaRPr lang="en-IN"/>
          </a:p>
        </p:txBody>
      </p:sp>
      <p:sp>
        <p:nvSpPr>
          <p:cNvPr id="5" name="Footer Placeholder 4">
            <a:extLst>
              <a:ext uri="{FF2B5EF4-FFF2-40B4-BE49-F238E27FC236}">
                <a16:creationId xmlns:a16="http://schemas.microsoft.com/office/drawing/2014/main" id="{77C63E68-219E-B6BD-06FF-D09E8B6D7CE6}"/>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F927A96D-72D0-92EE-3B5C-8BFD78B7D7AD}"/>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412334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2F04E-14BF-8146-F649-927656875C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8EC510D-E40E-01C5-FB7F-09741C6C960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E5ACC9-6839-7636-07F4-E47B104A0B91}"/>
              </a:ext>
            </a:extLst>
          </p:cNvPr>
          <p:cNvSpPr>
            <a:spLocks noGrp="1"/>
          </p:cNvSpPr>
          <p:nvPr>
            <p:ph type="dt" sz="half" idx="10"/>
          </p:nvPr>
        </p:nvSpPr>
        <p:spPr/>
        <p:txBody>
          <a:bodyPr/>
          <a:lstStyle/>
          <a:p>
            <a:fld id="{2A543A29-4BB0-4075-8E30-7986497052F0}" type="datetime1">
              <a:rPr lang="en-IN" smtClean="0"/>
              <a:t>24-09-2025</a:t>
            </a:fld>
            <a:endParaRPr lang="en-IN"/>
          </a:p>
        </p:txBody>
      </p:sp>
      <p:sp>
        <p:nvSpPr>
          <p:cNvPr id="5" name="Footer Placeholder 4">
            <a:extLst>
              <a:ext uri="{FF2B5EF4-FFF2-40B4-BE49-F238E27FC236}">
                <a16:creationId xmlns:a16="http://schemas.microsoft.com/office/drawing/2014/main" id="{331B4601-E63D-A03B-1DD8-CFB63233DA53}"/>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F609B235-6487-BCE9-DFAA-764CDD446CFE}"/>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37693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12733-E66D-2C01-CE97-F41A211F2E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4778475-62F3-3BA2-991E-7D770F7AA9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66E4499-7667-A5BF-CFBF-9B3734E040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9E2D099-6445-5C93-00AE-432EFD0706EB}"/>
              </a:ext>
            </a:extLst>
          </p:cNvPr>
          <p:cNvSpPr>
            <a:spLocks noGrp="1"/>
          </p:cNvSpPr>
          <p:nvPr>
            <p:ph type="dt" sz="half" idx="10"/>
          </p:nvPr>
        </p:nvSpPr>
        <p:spPr/>
        <p:txBody>
          <a:bodyPr/>
          <a:lstStyle/>
          <a:p>
            <a:fld id="{C1228DEB-068D-4137-AD7C-2A99AB9732F4}" type="datetime1">
              <a:rPr lang="en-IN" smtClean="0"/>
              <a:t>24-09-2025</a:t>
            </a:fld>
            <a:endParaRPr lang="en-IN"/>
          </a:p>
        </p:txBody>
      </p:sp>
      <p:sp>
        <p:nvSpPr>
          <p:cNvPr id="6" name="Footer Placeholder 5">
            <a:extLst>
              <a:ext uri="{FF2B5EF4-FFF2-40B4-BE49-F238E27FC236}">
                <a16:creationId xmlns:a16="http://schemas.microsoft.com/office/drawing/2014/main" id="{6C5B21F9-91D3-7C2A-79CF-2138303F1B9C}"/>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CA1F9FC0-4A14-8219-84DC-B1D61698EE4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048578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7B0A1-9BD6-B0A3-1102-E0773ECBB3F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3E87F29-AEDA-BDF7-8C0B-52CF6D178C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DAB8B1-DB15-81F7-48C3-A6308F8FEA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50A757F-7720-AA2F-16DB-5B4172569D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578B9F-AEC2-1CCB-17EA-93BC35E420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3ADDEEA-4DF4-410A-B65E-F750E83FBB36}"/>
              </a:ext>
            </a:extLst>
          </p:cNvPr>
          <p:cNvSpPr>
            <a:spLocks noGrp="1"/>
          </p:cNvSpPr>
          <p:nvPr>
            <p:ph type="dt" sz="half" idx="10"/>
          </p:nvPr>
        </p:nvSpPr>
        <p:spPr/>
        <p:txBody>
          <a:bodyPr/>
          <a:lstStyle/>
          <a:p>
            <a:fld id="{040CC2F0-EA24-4949-874F-5F13F434AA44}" type="datetime1">
              <a:rPr lang="en-IN" smtClean="0"/>
              <a:t>24-09-2025</a:t>
            </a:fld>
            <a:endParaRPr lang="en-IN"/>
          </a:p>
        </p:txBody>
      </p:sp>
      <p:sp>
        <p:nvSpPr>
          <p:cNvPr id="8" name="Footer Placeholder 7">
            <a:extLst>
              <a:ext uri="{FF2B5EF4-FFF2-40B4-BE49-F238E27FC236}">
                <a16:creationId xmlns:a16="http://schemas.microsoft.com/office/drawing/2014/main" id="{90F839C7-3F7C-98F3-A612-DE6079BE9163}"/>
              </a:ext>
            </a:extLst>
          </p:cNvPr>
          <p:cNvSpPr>
            <a:spLocks noGrp="1"/>
          </p:cNvSpPr>
          <p:nvPr>
            <p:ph type="ftr" sz="quarter" idx="11"/>
          </p:nvPr>
        </p:nvSpPr>
        <p:spPr/>
        <p:txBody>
          <a:bodyPr/>
          <a:lstStyle/>
          <a:p>
            <a:r>
              <a:rPr lang="en-IN"/>
              <a:t>Galgotias University</a:t>
            </a:r>
          </a:p>
        </p:txBody>
      </p:sp>
      <p:sp>
        <p:nvSpPr>
          <p:cNvPr id="9" name="Slide Number Placeholder 8">
            <a:extLst>
              <a:ext uri="{FF2B5EF4-FFF2-40B4-BE49-F238E27FC236}">
                <a16:creationId xmlns:a16="http://schemas.microsoft.com/office/drawing/2014/main" id="{A6ED60D5-B96E-CB10-EF10-24D390209158}"/>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493610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685F8-3F04-96B2-DFBB-F5EA7C78F86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8A8FDE9-0DB9-E2EC-9EDB-3F7928924032}"/>
              </a:ext>
            </a:extLst>
          </p:cNvPr>
          <p:cNvSpPr>
            <a:spLocks noGrp="1"/>
          </p:cNvSpPr>
          <p:nvPr>
            <p:ph type="dt" sz="half" idx="10"/>
          </p:nvPr>
        </p:nvSpPr>
        <p:spPr/>
        <p:txBody>
          <a:bodyPr/>
          <a:lstStyle/>
          <a:p>
            <a:fld id="{D9FCA4BE-841D-4DBA-BF59-98160D016E95}" type="datetime1">
              <a:rPr lang="en-IN" smtClean="0"/>
              <a:t>24-09-2025</a:t>
            </a:fld>
            <a:endParaRPr lang="en-IN"/>
          </a:p>
        </p:txBody>
      </p:sp>
      <p:sp>
        <p:nvSpPr>
          <p:cNvPr id="4" name="Footer Placeholder 3">
            <a:extLst>
              <a:ext uri="{FF2B5EF4-FFF2-40B4-BE49-F238E27FC236}">
                <a16:creationId xmlns:a16="http://schemas.microsoft.com/office/drawing/2014/main" id="{B76EA0CC-2F72-01A7-0018-794D28895805}"/>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D1946089-63E6-1B47-884D-22AD3D59DAD3}"/>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395177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668AA3-F340-1EBC-A758-E63E971B3C45}"/>
              </a:ext>
            </a:extLst>
          </p:cNvPr>
          <p:cNvSpPr>
            <a:spLocks noGrp="1"/>
          </p:cNvSpPr>
          <p:nvPr>
            <p:ph type="dt" sz="half" idx="10"/>
          </p:nvPr>
        </p:nvSpPr>
        <p:spPr/>
        <p:txBody>
          <a:bodyPr/>
          <a:lstStyle/>
          <a:p>
            <a:fld id="{2EA9DE3D-92F0-4B90-9BC3-DF561ACCB514}" type="datetime1">
              <a:rPr lang="en-IN" smtClean="0"/>
              <a:t>24-09-2025</a:t>
            </a:fld>
            <a:endParaRPr lang="en-IN"/>
          </a:p>
        </p:txBody>
      </p:sp>
      <p:sp>
        <p:nvSpPr>
          <p:cNvPr id="3" name="Footer Placeholder 2">
            <a:extLst>
              <a:ext uri="{FF2B5EF4-FFF2-40B4-BE49-F238E27FC236}">
                <a16:creationId xmlns:a16="http://schemas.microsoft.com/office/drawing/2014/main" id="{15C5A41D-81C9-E2BD-E9AF-3AA5DB41DC6F}"/>
              </a:ext>
            </a:extLst>
          </p:cNvPr>
          <p:cNvSpPr>
            <a:spLocks noGrp="1"/>
          </p:cNvSpPr>
          <p:nvPr>
            <p:ph type="ftr" sz="quarter" idx="11"/>
          </p:nvPr>
        </p:nvSpPr>
        <p:spPr/>
        <p:txBody>
          <a:bodyPr/>
          <a:lstStyle/>
          <a:p>
            <a:r>
              <a:rPr lang="en-IN"/>
              <a:t>Galgotias University</a:t>
            </a:r>
          </a:p>
        </p:txBody>
      </p:sp>
      <p:sp>
        <p:nvSpPr>
          <p:cNvPr id="4" name="Slide Number Placeholder 3">
            <a:extLst>
              <a:ext uri="{FF2B5EF4-FFF2-40B4-BE49-F238E27FC236}">
                <a16:creationId xmlns:a16="http://schemas.microsoft.com/office/drawing/2014/main" id="{F1F962B3-3ADB-9572-0FD2-4DB07FD8763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755772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CF039-A9DA-5A12-2BF1-B6433B9DF3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C6751A8-C228-5300-A485-3F129FD36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9584203-9632-6129-E4C9-0F99428BB6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945EB5-72B0-9141-EA99-820C022CC386}"/>
              </a:ext>
            </a:extLst>
          </p:cNvPr>
          <p:cNvSpPr>
            <a:spLocks noGrp="1"/>
          </p:cNvSpPr>
          <p:nvPr>
            <p:ph type="dt" sz="half" idx="10"/>
          </p:nvPr>
        </p:nvSpPr>
        <p:spPr/>
        <p:txBody>
          <a:bodyPr/>
          <a:lstStyle/>
          <a:p>
            <a:fld id="{44A4D748-5313-48F5-9420-28CC4F9D5D65}" type="datetime1">
              <a:rPr lang="en-IN" smtClean="0"/>
              <a:t>24-09-2025</a:t>
            </a:fld>
            <a:endParaRPr lang="en-IN"/>
          </a:p>
        </p:txBody>
      </p:sp>
      <p:sp>
        <p:nvSpPr>
          <p:cNvPr id="6" name="Footer Placeholder 5">
            <a:extLst>
              <a:ext uri="{FF2B5EF4-FFF2-40B4-BE49-F238E27FC236}">
                <a16:creationId xmlns:a16="http://schemas.microsoft.com/office/drawing/2014/main" id="{A273D456-31B6-1D53-751D-AC82FEAB700D}"/>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CBC32809-415E-2282-E04D-9B200C1C352E}"/>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059673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84906-117D-5407-AA07-22F539EE4D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636F0D2-D921-4FA7-DA84-8E8520EED9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AD2AD95-AB02-5A07-7492-E9E0B8545F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2380F9-07CE-6F7A-6038-870977B023CB}"/>
              </a:ext>
            </a:extLst>
          </p:cNvPr>
          <p:cNvSpPr>
            <a:spLocks noGrp="1"/>
          </p:cNvSpPr>
          <p:nvPr>
            <p:ph type="dt" sz="half" idx="10"/>
          </p:nvPr>
        </p:nvSpPr>
        <p:spPr/>
        <p:txBody>
          <a:bodyPr/>
          <a:lstStyle/>
          <a:p>
            <a:fld id="{8E259F97-4389-4CF0-A3AF-539E1666475E}" type="datetime1">
              <a:rPr lang="en-IN" smtClean="0"/>
              <a:t>24-09-2025</a:t>
            </a:fld>
            <a:endParaRPr lang="en-IN"/>
          </a:p>
        </p:txBody>
      </p:sp>
      <p:sp>
        <p:nvSpPr>
          <p:cNvPr id="6" name="Footer Placeholder 5">
            <a:extLst>
              <a:ext uri="{FF2B5EF4-FFF2-40B4-BE49-F238E27FC236}">
                <a16:creationId xmlns:a16="http://schemas.microsoft.com/office/drawing/2014/main" id="{3B35F0A5-FF26-EF42-9F4E-7B487ABBDC60}"/>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A6CE9705-E90F-F624-39D6-6FCBE3A7BA48}"/>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833558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59D05-52FA-1788-519F-7A7F6048A04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32B93A4-5BFE-2E5E-89BD-A9A9F0DE2B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8D6E1C-2039-6998-16BF-892E575CFF2A}"/>
              </a:ext>
            </a:extLst>
          </p:cNvPr>
          <p:cNvSpPr>
            <a:spLocks noGrp="1"/>
          </p:cNvSpPr>
          <p:nvPr>
            <p:ph type="dt" sz="half" idx="10"/>
          </p:nvPr>
        </p:nvSpPr>
        <p:spPr/>
        <p:txBody>
          <a:bodyPr/>
          <a:lstStyle/>
          <a:p>
            <a:fld id="{C911ADB8-9CB7-40E6-87C8-C7EB8EBBAF06}" type="datetime1">
              <a:rPr lang="en-IN" smtClean="0"/>
              <a:t>24-09-2025</a:t>
            </a:fld>
            <a:endParaRPr lang="en-IN"/>
          </a:p>
        </p:txBody>
      </p:sp>
      <p:sp>
        <p:nvSpPr>
          <p:cNvPr id="5" name="Footer Placeholder 4">
            <a:extLst>
              <a:ext uri="{FF2B5EF4-FFF2-40B4-BE49-F238E27FC236}">
                <a16:creationId xmlns:a16="http://schemas.microsoft.com/office/drawing/2014/main" id="{BA389FC5-03A9-A2BE-8045-500B370839C0}"/>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8B4A79DC-4A34-B800-8BFC-C92A202FB94B}"/>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887501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66ADF1-8D2B-E20D-C592-6643F0F627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57D4B32-ED38-6AD9-3A88-BEE47D427E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3D39A2-CFE5-7E4C-6E1A-FABC5CF177F3}"/>
              </a:ext>
            </a:extLst>
          </p:cNvPr>
          <p:cNvSpPr>
            <a:spLocks noGrp="1"/>
          </p:cNvSpPr>
          <p:nvPr>
            <p:ph type="dt" sz="half" idx="10"/>
          </p:nvPr>
        </p:nvSpPr>
        <p:spPr/>
        <p:txBody>
          <a:bodyPr/>
          <a:lstStyle/>
          <a:p>
            <a:fld id="{6903956E-FF61-4FBC-8614-5AF891B621A7}" type="datetime1">
              <a:rPr lang="en-IN" smtClean="0"/>
              <a:t>24-09-2025</a:t>
            </a:fld>
            <a:endParaRPr lang="en-IN"/>
          </a:p>
        </p:txBody>
      </p:sp>
      <p:sp>
        <p:nvSpPr>
          <p:cNvPr id="5" name="Footer Placeholder 4">
            <a:extLst>
              <a:ext uri="{FF2B5EF4-FFF2-40B4-BE49-F238E27FC236}">
                <a16:creationId xmlns:a16="http://schemas.microsoft.com/office/drawing/2014/main" id="{A758CE03-A02D-B61D-500E-33B067F58A15}"/>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32BFA42C-489C-58FC-CFE2-833549C6DC3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4013312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AADD83-735E-A88A-3D7F-6385A1A746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67D101-3984-8795-F0E9-CFAF99A144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4624CD-D795-52B1-6203-0AF8F58B88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81F908-E6B3-4617-92D9-99814B0B813F}" type="datetime1">
              <a:rPr lang="en-IN" smtClean="0"/>
              <a:t>24-09-2025</a:t>
            </a:fld>
            <a:endParaRPr lang="en-IN"/>
          </a:p>
        </p:txBody>
      </p:sp>
      <p:sp>
        <p:nvSpPr>
          <p:cNvPr id="5" name="Footer Placeholder 4">
            <a:extLst>
              <a:ext uri="{FF2B5EF4-FFF2-40B4-BE49-F238E27FC236}">
                <a16:creationId xmlns:a16="http://schemas.microsoft.com/office/drawing/2014/main" id="{491CF967-AE37-65C8-EF03-EB7E3B912D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IN"/>
              <a:t>Galgotias University</a:t>
            </a:r>
          </a:p>
        </p:txBody>
      </p:sp>
      <p:sp>
        <p:nvSpPr>
          <p:cNvPr id="6" name="Slide Number Placeholder 5">
            <a:extLst>
              <a:ext uri="{FF2B5EF4-FFF2-40B4-BE49-F238E27FC236}">
                <a16:creationId xmlns:a16="http://schemas.microsoft.com/office/drawing/2014/main" id="{C47BD2C0-494D-F5DE-E18D-99B852BA50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510230-8DD5-4BA5-AB2D-CA30FC08F9D7}" type="slidenum">
              <a:rPr lang="en-IN" smtClean="0"/>
              <a:t>‹#›</a:t>
            </a:fld>
            <a:endParaRPr lang="en-IN"/>
          </a:p>
        </p:txBody>
      </p:sp>
    </p:spTree>
    <p:extLst>
      <p:ext uri="{BB962C8B-B14F-4D97-AF65-F5344CB8AC3E}">
        <p14:creationId xmlns:p14="http://schemas.microsoft.com/office/powerpoint/2010/main" val="5326660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7.sv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image" Target="../media/image9.sv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0.gif"/></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1.gif"/><Relationship Id="rId4" Type="http://schemas.openxmlformats.org/officeDocument/2006/relationships/image" Target="../media/image3.jpg"/></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purple dots&#10;&#10;Description automatically generated">
            <a:extLst>
              <a:ext uri="{FF2B5EF4-FFF2-40B4-BE49-F238E27FC236}">
                <a16:creationId xmlns:a16="http://schemas.microsoft.com/office/drawing/2014/main" id="{B854E15F-5609-7D3B-3655-6DE3E5980655}"/>
              </a:ext>
            </a:extLst>
          </p:cNvPr>
          <p:cNvPicPr>
            <a:picLocks noChangeAspect="1"/>
          </p:cNvPicPr>
          <p:nvPr/>
        </p:nvPicPr>
        <p:blipFill>
          <a:blip r:embed="rId2"/>
          <a:srcRect l="5200"/>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B4841D-4109-20CB-B253-8EF7C080604D}"/>
              </a:ext>
            </a:extLst>
          </p:cNvPr>
          <p:cNvSpPr>
            <a:spLocks noGrp="1"/>
          </p:cNvSpPr>
          <p:nvPr>
            <p:ph type="ctrTitle"/>
          </p:nvPr>
        </p:nvSpPr>
        <p:spPr>
          <a:xfrm>
            <a:off x="477981" y="1122362"/>
            <a:ext cx="8366216" cy="4909225"/>
          </a:xfrm>
        </p:spPr>
        <p:txBody>
          <a:bodyPr anchor="b">
            <a:normAutofit/>
          </a:bodyPr>
          <a:lstStyle/>
          <a:p>
            <a:pPr algn="l"/>
            <a:r>
              <a:rPr lang="en-US" sz="3600" b="1" dirty="0">
                <a:solidFill>
                  <a:schemeClr val="bg1"/>
                </a:solidFill>
                <a:latin typeface="Georgia" panose="02040502050405020303" pitchFamily="18" charset="0"/>
                <a:cs typeface="Arial" panose="020B0604020202020204" pitchFamily="34" charset="0"/>
              </a:rPr>
              <a:t>Linear search, Binary Search.</a:t>
            </a:r>
            <a:br>
              <a:rPr lang="en-IN" sz="4800" b="1" dirty="0">
                <a:solidFill>
                  <a:schemeClr val="bg1"/>
                </a:solidFill>
                <a:latin typeface="Georgia" panose="02040502050405020303" pitchFamily="18" charset="0"/>
                <a:cs typeface="Arial" panose="020B0604020202020204" pitchFamily="34" charset="0"/>
              </a:rPr>
            </a:br>
            <a:br>
              <a:rPr lang="en-IN" sz="4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Session No.: 12</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Course Name: Data Structures</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Course Code: </a:t>
            </a:r>
            <a:r>
              <a:rPr lang="en-IN" sz="1800" b="1" i="0" u="none" strike="noStrike" baseline="0" dirty="0">
                <a:solidFill>
                  <a:schemeClr val="bg1"/>
                </a:solidFill>
                <a:latin typeface="Times New Roman" panose="02020603050405020304" pitchFamily="18" charset="0"/>
              </a:rPr>
              <a:t>R1UC308B </a:t>
            </a:r>
            <a:r>
              <a:rPr lang="en-IN" sz="1800" b="0" i="0" u="none" strike="noStrike" baseline="0" dirty="0">
                <a:solidFill>
                  <a:schemeClr val="bg1"/>
                </a:solidFill>
                <a:latin typeface="Times New Roman" panose="02020603050405020304" pitchFamily="18" charset="0"/>
              </a:rPr>
              <a:t>	</a:t>
            </a:r>
            <a:br>
              <a:rPr lang="en-IN" sz="1800" b="0" i="0" u="none" strike="noStrike" baseline="0" dirty="0">
                <a:solidFill>
                  <a:schemeClr val="bg1"/>
                </a:solidFill>
                <a:latin typeface="Times New Roman" panose="02020603050405020304" pitchFamily="18" charset="0"/>
              </a:rPr>
            </a:br>
            <a:r>
              <a:rPr lang="en-IN" sz="1800" b="1" dirty="0">
                <a:solidFill>
                  <a:schemeClr val="bg1"/>
                </a:solidFill>
                <a:latin typeface="Georgia" panose="02040502050405020303" pitchFamily="18" charset="0"/>
                <a:cs typeface="Arial" panose="020B0604020202020204" pitchFamily="34" charset="0"/>
              </a:rPr>
              <a:t>Instructor Name: Akhilesh Tripathi</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Duration: 50 mins</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Date of Conduction of Class: </a:t>
            </a:r>
            <a:endParaRPr lang="en-IN" sz="4800" b="1" dirty="0">
              <a:solidFill>
                <a:schemeClr val="bg1"/>
              </a:solidFill>
              <a:latin typeface="Georgia" panose="02040502050405020303" pitchFamily="18" charset="0"/>
              <a:cs typeface="Arial" panose="020B0604020202020204" pitchFamily="34" charset="0"/>
            </a:endParaRP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6A2F329F-0D28-AAA9-6271-058B6B36CA1F}"/>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4D4B0897-FD56-B45E-C539-435F743AAB4C}"/>
              </a:ext>
            </a:extLst>
          </p:cNvPr>
          <p:cNvSpPr>
            <a:spLocks noGrp="1"/>
          </p:cNvSpPr>
          <p:nvPr>
            <p:ph type="sldNum" sz="quarter" idx="12"/>
          </p:nvPr>
        </p:nvSpPr>
        <p:spPr/>
        <p:txBody>
          <a:bodyPr/>
          <a:lstStyle/>
          <a:p>
            <a:fld id="{26510230-8DD5-4BA5-AB2D-CA30FC08F9D7}" type="slidenum">
              <a:rPr lang="en-IN" smtClean="0"/>
              <a:t>1</a:t>
            </a:fld>
            <a:endParaRPr lang="en-IN"/>
          </a:p>
        </p:txBody>
      </p:sp>
      <p:pic>
        <p:nvPicPr>
          <p:cNvPr id="10" name="Picture 9" descr="A blue circle with text and words&#10;&#10;Description automatically generated">
            <a:extLst>
              <a:ext uri="{FF2B5EF4-FFF2-40B4-BE49-F238E27FC236}">
                <a16:creationId xmlns:a16="http://schemas.microsoft.com/office/drawing/2014/main" id="{B8F66ABA-C07C-7B4E-0E32-86C3BB04AA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8565" y="176753"/>
            <a:ext cx="1190469" cy="1190469"/>
          </a:xfrm>
          <a:prstGeom prst="rect">
            <a:avLst/>
          </a:prstGeom>
        </p:spPr>
      </p:pic>
      <p:pic>
        <p:nvPicPr>
          <p:cNvPr id="12" name="Picture 11">
            <a:extLst>
              <a:ext uri="{FF2B5EF4-FFF2-40B4-BE49-F238E27FC236}">
                <a16:creationId xmlns:a16="http://schemas.microsoft.com/office/drawing/2014/main" id="{E28D1CBC-4D12-D9B9-CD23-7747F5D3D7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317402"/>
            <a:ext cx="3795634" cy="740238"/>
          </a:xfrm>
          <a:prstGeom prst="rect">
            <a:avLst/>
          </a:prstGeom>
        </p:spPr>
      </p:pic>
    </p:spTree>
    <p:extLst>
      <p:ext uri="{BB962C8B-B14F-4D97-AF65-F5344CB8AC3E}">
        <p14:creationId xmlns:p14="http://schemas.microsoft.com/office/powerpoint/2010/main" val="2827898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2</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822739" y="1354784"/>
            <a:ext cx="10810559" cy="2677656"/>
          </a:xfrm>
          <a:prstGeom prst="rect">
            <a:avLst/>
          </a:prstGeom>
          <a:noFill/>
        </p:spPr>
        <p:txBody>
          <a:bodyPr wrap="square">
            <a:spAutoFit/>
          </a:bodyPr>
          <a:lstStyle/>
          <a:p>
            <a:pPr algn="ctr"/>
            <a:r>
              <a:rPr lang="en-US" sz="2800" b="1" dirty="0"/>
              <a:t>Review</a:t>
            </a:r>
          </a:p>
          <a:p>
            <a:pPr algn="ctr"/>
            <a:endParaRPr lang="en-US" sz="2800" dirty="0"/>
          </a:p>
          <a:p>
            <a:r>
              <a:rPr lang="en-US" sz="2800" b="1" dirty="0"/>
              <a:t>Pre-Requisite : </a:t>
            </a:r>
          </a:p>
          <a:p>
            <a:endParaRPr lang="en-US" sz="2800" b="1" dirty="0"/>
          </a:p>
          <a:p>
            <a:r>
              <a:rPr lang="en-US" sz="2800" b="1" dirty="0"/>
              <a:t>Students must have knowledge  1 D Arrays in C/C++ programming language.</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27672147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3</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822739" y="821384"/>
            <a:ext cx="10373193" cy="646331"/>
          </a:xfrm>
          <a:prstGeom prst="rect">
            <a:avLst/>
          </a:prstGeom>
          <a:noFill/>
        </p:spPr>
        <p:txBody>
          <a:bodyPr wrap="square">
            <a:spAutoFit/>
          </a:bodyPr>
          <a:lstStyle/>
          <a:p>
            <a:pPr marR="0" lvl="0" algn="ctr" defTabSz="457200" rtl="0" eaLnBrk="1" fontAlgn="auto" latinLnBrk="0" hangingPunct="1">
              <a:lnSpc>
                <a:spcPct val="100000"/>
              </a:lnSpc>
              <a:spcBef>
                <a:spcPct val="20000"/>
              </a:spcBef>
              <a:spcAft>
                <a:spcPts val="0"/>
              </a:spcAft>
              <a:buClrTx/>
              <a:buSzTx/>
              <a:tabLst/>
              <a:defRPr/>
            </a:pPr>
            <a:r>
              <a:rPr kumimoji="0" lang="en-US" sz="36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Pre-Class Assessment</a:t>
            </a:r>
          </a:p>
        </p:txBody>
      </p:sp>
      <p:sp>
        <p:nvSpPr>
          <p:cNvPr id="2" name="Rectangle 1"/>
          <p:cNvSpPr/>
          <p:nvPr/>
        </p:nvSpPr>
        <p:spPr>
          <a:xfrm>
            <a:off x="10648330" y="1095420"/>
            <a:ext cx="1176692" cy="369332"/>
          </a:xfrm>
          <a:prstGeom prst="rect">
            <a:avLst/>
          </a:prstGeom>
        </p:spPr>
        <p:txBody>
          <a:bodyPr wrap="square">
            <a:spAutoFit/>
          </a:bodyPr>
          <a:lstStyle/>
          <a:p>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[2-mins]</a:t>
            </a:r>
            <a:endParaRPr lang="en-US" dirty="0"/>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90402"/>
            <a:ext cx="3795634" cy="740238"/>
          </a:xfrm>
          <a:prstGeom prst="rect">
            <a:avLst/>
          </a:prstGeom>
        </p:spPr>
      </p:pic>
      <p:pic>
        <p:nvPicPr>
          <p:cNvPr id="6" name="Picture 5">
            <a:extLst>
              <a:ext uri="{FF2B5EF4-FFF2-40B4-BE49-F238E27FC236}">
                <a16:creationId xmlns:a16="http://schemas.microsoft.com/office/drawing/2014/main" id="{05F82DF3-60BA-70F5-C2F3-E6EFDB877C11}"/>
              </a:ext>
            </a:extLst>
          </p:cNvPr>
          <p:cNvPicPr>
            <a:picLocks noChangeAspect="1"/>
          </p:cNvPicPr>
          <p:nvPr/>
        </p:nvPicPr>
        <p:blipFill>
          <a:blip r:embed="rId4"/>
          <a:stretch>
            <a:fillRect/>
          </a:stretch>
        </p:blipFill>
        <p:spPr>
          <a:xfrm>
            <a:off x="771251" y="1828717"/>
            <a:ext cx="10649497" cy="3990557"/>
          </a:xfrm>
          <a:prstGeom prst="rect">
            <a:avLst/>
          </a:prstGeom>
        </p:spPr>
      </p:pic>
    </p:spTree>
    <p:extLst>
      <p:ext uri="{BB962C8B-B14F-4D97-AF65-F5344CB8AC3E}">
        <p14:creationId xmlns:p14="http://schemas.microsoft.com/office/powerpoint/2010/main" val="1671380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AC84D04-41CA-6E97-EFFB-559B6F6A464E}"/>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152DDEC7-A318-B5ED-6B24-23EF9A30C035}"/>
              </a:ext>
            </a:extLst>
          </p:cNvPr>
          <p:cNvSpPr>
            <a:spLocks noGrp="1"/>
          </p:cNvSpPr>
          <p:nvPr>
            <p:ph type="sldNum" sz="quarter" idx="12"/>
          </p:nvPr>
        </p:nvSpPr>
        <p:spPr/>
        <p:txBody>
          <a:bodyPr/>
          <a:lstStyle/>
          <a:p>
            <a:fld id="{26510230-8DD5-4BA5-AB2D-CA30FC08F9D7}" type="slidenum">
              <a:rPr lang="en-IN" smtClean="0"/>
              <a:t>4</a:t>
            </a:fld>
            <a:endParaRPr lang="en-IN" dirty="0"/>
          </a:p>
        </p:txBody>
      </p:sp>
      <p:pic>
        <p:nvPicPr>
          <p:cNvPr id="7" name="Picture 6" descr="A blue circle with text and words&#10;&#10;Description automatically generated">
            <a:extLst>
              <a:ext uri="{FF2B5EF4-FFF2-40B4-BE49-F238E27FC236}">
                <a16:creationId xmlns:a16="http://schemas.microsoft.com/office/drawing/2014/main" id="{A15F0BA4-6591-B48C-8EDD-9EEE5C06637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2" name="Rectangle 1"/>
          <p:cNvSpPr/>
          <p:nvPr/>
        </p:nvSpPr>
        <p:spPr>
          <a:xfrm>
            <a:off x="10671589" y="1095420"/>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[1-mins]</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12" name="Rectangle 11" descr="Questions"/>
          <p:cNvSpPr/>
          <p:nvPr/>
        </p:nvSpPr>
        <p:spPr>
          <a:xfrm>
            <a:off x="4762213" y="1051486"/>
            <a:ext cx="2716735" cy="2008804"/>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grpSp>
        <p:nvGrpSpPr>
          <p:cNvPr id="14" name="Group 13"/>
          <p:cNvGrpSpPr/>
          <p:nvPr/>
        </p:nvGrpSpPr>
        <p:grpSpPr>
          <a:xfrm>
            <a:off x="638332" y="3566830"/>
            <a:ext cx="11279866" cy="2773102"/>
            <a:chOff x="0" y="1991651"/>
            <a:chExt cx="5375100" cy="2773102"/>
          </a:xfrm>
        </p:grpSpPr>
        <p:sp>
          <p:nvSpPr>
            <p:cNvPr id="15" name="Rectangle 14"/>
            <p:cNvSpPr/>
            <p:nvPr/>
          </p:nvSpPr>
          <p:spPr>
            <a:xfrm>
              <a:off x="0" y="1991651"/>
              <a:ext cx="5239339" cy="2231566"/>
            </a:xfrm>
            <a:prstGeom prst="rect">
              <a:avLst/>
            </a:prstGeom>
          </p:spPr>
          <p:style>
            <a:lnRef idx="1">
              <a:schemeClr val="accent2"/>
            </a:lnRef>
            <a:fillRef idx="2">
              <a:schemeClr val="accent2"/>
            </a:fillRef>
            <a:effectRef idx="1">
              <a:schemeClr val="accent2"/>
            </a:effectRef>
            <a:fontRef idx="minor">
              <a:schemeClr val="dk1"/>
            </a:fontRef>
          </p:style>
        </p:sp>
        <p:sp>
          <p:nvSpPr>
            <p:cNvPr id="16" name="Rectangle 15"/>
            <p:cNvSpPr/>
            <p:nvPr/>
          </p:nvSpPr>
          <p:spPr>
            <a:xfrm>
              <a:off x="0" y="2006399"/>
              <a:ext cx="5375100" cy="2758354"/>
            </a:xfrm>
            <a:prstGeom prst="rect">
              <a:avLst/>
            </a:prstGeom>
          </p:spPr>
          <p:style>
            <a:lnRef idx="1">
              <a:schemeClr val="accent2"/>
            </a:lnRef>
            <a:fillRef idx="2">
              <a:schemeClr val="accent2"/>
            </a:fillRef>
            <a:effectRef idx="1">
              <a:schemeClr val="accent2"/>
            </a:effectRef>
            <a:fontRef idx="minor">
              <a:schemeClr val="dk1"/>
            </a:fontRef>
          </p:style>
          <p:txBody>
            <a:bodyPr spcFirstLastPara="0" vert="horz" wrap="square" lIns="0" tIns="0" rIns="0" bIns="0" numCol="1" spcCol="1270" anchor="t" anchorCtr="0">
              <a:noAutofit/>
            </a:bodyPr>
            <a:lstStyle/>
            <a:p>
              <a:pPr algn="ctr"/>
              <a:endParaRPr lang="en-US" sz="3600" dirty="0"/>
            </a:p>
          </p:txBody>
        </p:sp>
      </p:grpSp>
      <p:sp>
        <p:nvSpPr>
          <p:cNvPr id="5" name="TextBox 4">
            <a:extLst>
              <a:ext uri="{FF2B5EF4-FFF2-40B4-BE49-F238E27FC236}">
                <a16:creationId xmlns:a16="http://schemas.microsoft.com/office/drawing/2014/main" id="{8D35F4FC-BE42-7A56-A9AF-9F02311F0A54}"/>
              </a:ext>
            </a:extLst>
          </p:cNvPr>
          <p:cNvSpPr txBox="1"/>
          <p:nvPr/>
        </p:nvSpPr>
        <p:spPr>
          <a:xfrm>
            <a:off x="1019013" y="3662276"/>
            <a:ext cx="9922789" cy="2677656"/>
          </a:xfrm>
          <a:prstGeom prst="rect">
            <a:avLst/>
          </a:prstGeom>
          <a:noFill/>
        </p:spPr>
        <p:txBody>
          <a:bodyPr wrap="square">
            <a:spAutoFit/>
          </a:bodyPr>
          <a:lstStyle/>
          <a:p>
            <a:r>
              <a:rPr lang="en-US" sz="2800" dirty="0"/>
              <a:t>“If you are looking for your friend’s name in an unsorted attendance list of 50 students, how would you search for it?”</a:t>
            </a:r>
          </a:p>
          <a:p>
            <a:endParaRPr lang="en-US" sz="2800" dirty="0">
              <a:latin typeface="Arial" panose="020B0604020202020204" pitchFamily="34" charset="0"/>
              <a:cs typeface="Arial" panose="020B0604020202020204" pitchFamily="34" charset="0"/>
            </a:endParaRPr>
          </a:p>
          <a:p>
            <a:r>
              <a:rPr lang="en-US" sz="2800" dirty="0"/>
              <a:t>“If the same list is sorted alphabetically, can you think of a faster way to find your friend’s name without checking every single entry?”</a:t>
            </a:r>
            <a:endParaRPr lang="en-IN"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82368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5590906B-7B28-4168-875C-2821760FE6B8}"/>
              </a:ext>
            </a:extLst>
          </p:cNvPr>
          <p:cNvSpPr>
            <a:spLocks noGrp="1"/>
          </p:cNvSpPr>
          <p:nvPr>
            <p:ph type="title"/>
          </p:nvPr>
        </p:nvSpPr>
        <p:spPr>
          <a:xfrm>
            <a:off x="3890330" y="483460"/>
            <a:ext cx="5017695" cy="1136052"/>
          </a:xfrm>
        </p:spPr>
        <p:txBody>
          <a:bodyPr>
            <a:normAutofit/>
          </a:bodyPr>
          <a:lstStyle/>
          <a:p>
            <a:r>
              <a:rPr lang="en-IN" sz="3600" dirty="0">
                <a:latin typeface="Tahoma" panose="020B0604030504040204" pitchFamily="34" charset="0"/>
                <a:ea typeface="Tahoma" panose="020B0604030504040204" pitchFamily="34" charset="0"/>
                <a:cs typeface="Tahoma" panose="020B0604030504040204" pitchFamily="34" charset="0"/>
              </a:rPr>
              <a:t>Learning Outcomes</a:t>
            </a:r>
          </a:p>
        </p:txBody>
      </p:sp>
      <p:sp>
        <p:nvSpPr>
          <p:cNvPr id="3" name="Footer Placeholder 2">
            <a:extLst>
              <a:ext uri="{FF2B5EF4-FFF2-40B4-BE49-F238E27FC236}">
                <a16:creationId xmlns:a16="http://schemas.microsoft.com/office/drawing/2014/main" id="{9D018FB1-5AC0-A361-622A-D2F46CAE3097}"/>
              </a:ext>
            </a:extLst>
          </p:cNvPr>
          <p:cNvSpPr>
            <a:spLocks noGrp="1"/>
          </p:cNvSpPr>
          <p:nvPr>
            <p:ph type="ftr" sz="quarter" idx="11"/>
          </p:nvPr>
        </p:nvSpPr>
        <p:spPr>
          <a:xfrm>
            <a:off x="4038600" y="6356350"/>
            <a:ext cx="4114800" cy="365125"/>
          </a:xfrm>
        </p:spPr>
        <p:txBody>
          <a:bodyPr/>
          <a:lstStyle/>
          <a:p>
            <a:r>
              <a:rPr lang="en-IN"/>
              <a:t>Galgotias University</a:t>
            </a:r>
          </a:p>
        </p:txBody>
      </p:sp>
      <p:sp>
        <p:nvSpPr>
          <p:cNvPr id="4" name="Slide Number Placeholder 3">
            <a:extLst>
              <a:ext uri="{FF2B5EF4-FFF2-40B4-BE49-F238E27FC236}">
                <a16:creationId xmlns:a16="http://schemas.microsoft.com/office/drawing/2014/main" id="{381D5415-04E5-9984-5403-67A367538A42}"/>
              </a:ext>
            </a:extLst>
          </p:cNvPr>
          <p:cNvSpPr>
            <a:spLocks noGrp="1"/>
          </p:cNvSpPr>
          <p:nvPr>
            <p:ph type="sldNum" sz="quarter" idx="12"/>
          </p:nvPr>
        </p:nvSpPr>
        <p:spPr>
          <a:xfrm>
            <a:off x="8610600" y="6356350"/>
            <a:ext cx="2743200" cy="365125"/>
          </a:xfrm>
        </p:spPr>
        <p:txBody>
          <a:bodyPr/>
          <a:lstStyle/>
          <a:p>
            <a:fld id="{26510230-8DD5-4BA5-AB2D-CA30FC08F9D7}" type="slidenum">
              <a:rPr lang="en-IN" smtClean="0"/>
              <a:pPr/>
              <a:t>5</a:t>
            </a:fld>
            <a:endParaRPr lang="en-IN"/>
          </a:p>
        </p:txBody>
      </p:sp>
      <p:pic>
        <p:nvPicPr>
          <p:cNvPr id="5" name="Picture 4" descr="A blue circle with text and words&#10;&#10;Description automatically generated">
            <a:extLst>
              <a:ext uri="{FF2B5EF4-FFF2-40B4-BE49-F238E27FC236}">
                <a16:creationId xmlns:a16="http://schemas.microsoft.com/office/drawing/2014/main" id="{3CA3EE49-A6F5-21CE-5CB2-E167474EB06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8" name="Content Placeholder 17">
            <a:extLst>
              <a:ext uri="{FF2B5EF4-FFF2-40B4-BE49-F238E27FC236}">
                <a16:creationId xmlns:a16="http://schemas.microsoft.com/office/drawing/2014/main" id="{973C0F83-D21D-A99D-35A6-7A07FC92A3AA}"/>
              </a:ext>
            </a:extLst>
          </p:cNvPr>
          <p:cNvSpPr>
            <a:spLocks noGrp="1"/>
          </p:cNvSpPr>
          <p:nvPr>
            <p:ph idx="1"/>
          </p:nvPr>
        </p:nvSpPr>
        <p:spPr>
          <a:xfrm>
            <a:off x="375532" y="1435255"/>
            <a:ext cx="10820400" cy="4351338"/>
          </a:xfrm>
        </p:spPr>
        <p:txBody>
          <a:bodyPr/>
          <a:lstStyle/>
          <a:p>
            <a:pPr marL="0" indent="0" algn="just">
              <a:buNone/>
            </a:pPr>
            <a:r>
              <a:rPr lang="en-US" sz="3200" b="1" u="sng" dirty="0">
                <a:latin typeface="Tahoma" panose="020B0604030504040204" pitchFamily="34" charset="0"/>
                <a:ea typeface="Tahoma" panose="020B0604030504040204" pitchFamily="34" charset="0"/>
                <a:cs typeface="Tahoma" panose="020B0604030504040204" pitchFamily="34" charset="0"/>
              </a:rPr>
              <a:t>By the end of this session, You will be able to:</a:t>
            </a:r>
          </a:p>
        </p:txBody>
      </p:sp>
      <p:sp>
        <p:nvSpPr>
          <p:cNvPr id="2" name="Rectangle 1"/>
          <p:cNvSpPr/>
          <p:nvPr/>
        </p:nvSpPr>
        <p:spPr>
          <a:xfrm>
            <a:off x="10671589" y="1065923"/>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[2-mins]</a:t>
            </a:r>
          </a:p>
        </p:txBody>
      </p:sp>
      <p:graphicFrame>
        <p:nvGraphicFramePr>
          <p:cNvPr id="12" name="Title 1">
            <a:extLst>
              <a:ext uri="{FF2B5EF4-FFF2-40B4-BE49-F238E27FC236}">
                <a16:creationId xmlns:a16="http://schemas.microsoft.com/office/drawing/2014/main" id="{FBB5840F-85BE-5580-FDC6-C72FB2C1E292}"/>
              </a:ext>
            </a:extLst>
          </p:cNvPr>
          <p:cNvGraphicFramePr/>
          <p:nvPr>
            <p:extLst>
              <p:ext uri="{D42A27DB-BD31-4B8C-83A1-F6EECF244321}">
                <p14:modId xmlns:p14="http://schemas.microsoft.com/office/powerpoint/2010/main" val="1991181826"/>
              </p:ext>
            </p:extLst>
          </p:nvPr>
        </p:nvGraphicFramePr>
        <p:xfrm>
          <a:off x="297092" y="22857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4" name="Picture 13">
            <a:extLst>
              <a:ext uri="{FF2B5EF4-FFF2-40B4-BE49-F238E27FC236}">
                <a16:creationId xmlns:a16="http://schemas.microsoft.com/office/drawing/2014/main" id="{E28D1CBC-4D12-D9B9-CD23-7747F5D3D73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143805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6</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727756" y="1219889"/>
            <a:ext cx="10468176" cy="3231654"/>
          </a:xfrm>
          <a:prstGeom prst="rect">
            <a:avLst/>
          </a:prstGeom>
          <a:noFill/>
        </p:spPr>
        <p:txBody>
          <a:bodyPr wrap="square">
            <a:spAutoFit/>
          </a:bodyPr>
          <a:lstStyle/>
          <a:p>
            <a:pPr algn="ctr"/>
            <a:r>
              <a:rPr lang="en-US" sz="3200" b="1" dirty="0"/>
              <a:t>Session Outline</a:t>
            </a:r>
          </a:p>
          <a:p>
            <a:pPr algn="ctr"/>
            <a:endParaRPr lang="en-US" sz="3200" dirty="0"/>
          </a:p>
          <a:p>
            <a:pPr marL="342900" indent="-342900">
              <a:buFont typeface="Arial" pitchFamily="34" charset="0"/>
              <a:buChar char="•"/>
            </a:pPr>
            <a:r>
              <a:rPr lang="en-IN" sz="2800" dirty="0"/>
              <a:t>Linear Search</a:t>
            </a:r>
          </a:p>
          <a:p>
            <a:pPr marL="342900" indent="-342900">
              <a:buFont typeface="Arial" pitchFamily="34" charset="0"/>
              <a:buChar char="•"/>
            </a:pPr>
            <a:r>
              <a:rPr lang="en-US" sz="2800" dirty="0"/>
              <a:t>Binary search</a:t>
            </a:r>
            <a:endParaRPr lang="en-IN" sz="2800" dirty="0"/>
          </a:p>
          <a:p>
            <a:pPr marL="342900" indent="-342900">
              <a:buFont typeface="Arial" pitchFamily="34" charset="0"/>
              <a:buChar char="•"/>
            </a:pPr>
            <a:endParaRPr lang="en-US" sz="2800" dirty="0"/>
          </a:p>
          <a:p>
            <a:pPr marL="342900" lvl="0" indent="-342900">
              <a:buFont typeface="Arial" pitchFamily="34" charset="0"/>
              <a:buChar char="•"/>
            </a:pPr>
            <a:r>
              <a:rPr lang="en-US" sz="2800" dirty="0"/>
              <a:t>hands-on activities and reinforce learning through an interactive </a:t>
            </a:r>
            <a:r>
              <a:rPr lang="en-US" sz="2800" dirty="0" err="1"/>
              <a:t>WooClap</a:t>
            </a:r>
            <a:r>
              <a:rPr lang="en-US" sz="2800" dirty="0"/>
              <a:t> and </a:t>
            </a:r>
            <a:r>
              <a:rPr lang="en-US" sz="2800" dirty="0" err="1"/>
              <a:t>WooFlash</a:t>
            </a:r>
            <a:r>
              <a:rPr lang="en-US" sz="2800" dirty="0"/>
              <a:t> tools.</a:t>
            </a:r>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41202"/>
            <a:ext cx="3795634" cy="740238"/>
          </a:xfrm>
          <a:prstGeom prst="rect">
            <a:avLst/>
          </a:prstGeom>
        </p:spPr>
      </p:pic>
    </p:spTree>
    <p:extLst>
      <p:ext uri="{BB962C8B-B14F-4D97-AF65-F5344CB8AC3E}">
        <p14:creationId xmlns:p14="http://schemas.microsoft.com/office/powerpoint/2010/main" val="3560614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AC84D04-41CA-6E97-EFFB-559B6F6A464E}"/>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152DDEC7-A318-B5ED-6B24-23EF9A30C035}"/>
              </a:ext>
            </a:extLst>
          </p:cNvPr>
          <p:cNvSpPr>
            <a:spLocks noGrp="1"/>
          </p:cNvSpPr>
          <p:nvPr>
            <p:ph type="sldNum" sz="quarter" idx="12"/>
          </p:nvPr>
        </p:nvSpPr>
        <p:spPr/>
        <p:txBody>
          <a:bodyPr/>
          <a:lstStyle/>
          <a:p>
            <a:fld id="{26510230-8DD5-4BA5-AB2D-CA30FC08F9D7}" type="slidenum">
              <a:rPr lang="en-IN" smtClean="0"/>
              <a:t>7</a:t>
            </a:fld>
            <a:endParaRPr lang="en-IN" dirty="0"/>
          </a:p>
        </p:txBody>
      </p:sp>
      <p:pic>
        <p:nvPicPr>
          <p:cNvPr id="7" name="Picture 6" descr="A blue circle with text and words&#10;&#10;Description automatically generated">
            <a:extLst>
              <a:ext uri="{FF2B5EF4-FFF2-40B4-BE49-F238E27FC236}">
                <a16:creationId xmlns:a16="http://schemas.microsoft.com/office/drawing/2014/main" id="{A15F0BA4-6591-B48C-8EDD-9EEE5C06637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2" name="Rectangle 1"/>
          <p:cNvSpPr/>
          <p:nvPr/>
        </p:nvSpPr>
        <p:spPr>
          <a:xfrm>
            <a:off x="10671589" y="1095420"/>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[1-mins]</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12" name="Rectangle 11" descr="Questions"/>
          <p:cNvSpPr/>
          <p:nvPr/>
        </p:nvSpPr>
        <p:spPr>
          <a:xfrm>
            <a:off x="2002748" y="1280086"/>
            <a:ext cx="2716735" cy="2008804"/>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3" name="Rectangle 12" descr="Puzzle Pieces"/>
          <p:cNvSpPr/>
          <p:nvPr/>
        </p:nvSpPr>
        <p:spPr>
          <a:xfrm>
            <a:off x="7663508" y="1256657"/>
            <a:ext cx="2793098" cy="2135471"/>
          </a:xfrm>
          <a:prstGeom prst="rect">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grpSp>
        <p:nvGrpSpPr>
          <p:cNvPr id="14" name="Group 13"/>
          <p:cNvGrpSpPr/>
          <p:nvPr/>
        </p:nvGrpSpPr>
        <p:grpSpPr>
          <a:xfrm>
            <a:off x="104932" y="3581578"/>
            <a:ext cx="6015649" cy="2246314"/>
            <a:chOff x="0" y="1991651"/>
            <a:chExt cx="5239339" cy="2246314"/>
          </a:xfrm>
        </p:grpSpPr>
        <p:sp>
          <p:nvSpPr>
            <p:cNvPr id="15" name="Rectangle 14"/>
            <p:cNvSpPr/>
            <p:nvPr/>
          </p:nvSpPr>
          <p:spPr>
            <a:xfrm>
              <a:off x="0" y="1991651"/>
              <a:ext cx="5239339" cy="2231566"/>
            </a:xfrm>
            <a:prstGeom prst="rect">
              <a:avLst/>
            </a:prstGeom>
          </p:spPr>
          <p:style>
            <a:lnRef idx="1">
              <a:schemeClr val="accent2"/>
            </a:lnRef>
            <a:fillRef idx="2">
              <a:schemeClr val="accent2"/>
            </a:fillRef>
            <a:effectRef idx="1">
              <a:schemeClr val="accent2"/>
            </a:effectRef>
            <a:fontRef idx="minor">
              <a:schemeClr val="dk1"/>
            </a:fontRef>
          </p:style>
        </p:sp>
        <p:sp>
          <p:nvSpPr>
            <p:cNvPr id="16" name="Rectangle 15"/>
            <p:cNvSpPr/>
            <p:nvPr/>
          </p:nvSpPr>
          <p:spPr>
            <a:xfrm>
              <a:off x="0" y="2006399"/>
              <a:ext cx="5239339" cy="2231566"/>
            </a:xfrm>
            <a:prstGeom prst="rect">
              <a:avLst/>
            </a:prstGeom>
          </p:spPr>
          <p:style>
            <a:lnRef idx="1">
              <a:schemeClr val="accent2"/>
            </a:lnRef>
            <a:fillRef idx="2">
              <a:schemeClr val="accent2"/>
            </a:fillRef>
            <a:effectRef idx="1">
              <a:schemeClr val="accent2"/>
            </a:effectRef>
            <a:fontRef idx="minor">
              <a:schemeClr val="dk1"/>
            </a:fontRef>
          </p:style>
          <p:txBody>
            <a:bodyPr spcFirstLastPara="0" vert="horz" wrap="square" lIns="0" tIns="0" rIns="0" bIns="0" numCol="1" spcCol="1270" anchor="t" anchorCtr="0">
              <a:noAutofit/>
            </a:bodyPr>
            <a:lstStyle/>
            <a:p>
              <a:pPr algn="ctr"/>
              <a:r>
                <a:rPr lang="en-US" sz="4400" dirty="0"/>
                <a:t>What is Linear Search?</a:t>
              </a:r>
            </a:p>
            <a:p>
              <a:pPr algn="ctr"/>
              <a:endParaRPr lang="en-US" sz="3200" dirty="0">
                <a:latin typeface="Tahoma" panose="020B0604030504040204" pitchFamily="34" charset="0"/>
                <a:ea typeface="Tahoma" panose="020B0604030504040204" pitchFamily="34" charset="0"/>
                <a:cs typeface="Tahoma" panose="020B0604030504040204" pitchFamily="34" charset="0"/>
              </a:endParaRPr>
            </a:p>
          </p:txBody>
        </p:sp>
      </p:grpSp>
      <p:grpSp>
        <p:nvGrpSpPr>
          <p:cNvPr id="17" name="Group 16"/>
          <p:cNvGrpSpPr/>
          <p:nvPr/>
        </p:nvGrpSpPr>
        <p:grpSpPr>
          <a:xfrm>
            <a:off x="6415549" y="3581578"/>
            <a:ext cx="5217750" cy="2231566"/>
            <a:chOff x="5758250" y="2062546"/>
            <a:chExt cx="4320000" cy="1753990"/>
          </a:xfrm>
        </p:grpSpPr>
        <p:sp>
          <p:nvSpPr>
            <p:cNvPr id="18" name="Rectangle 17"/>
            <p:cNvSpPr/>
            <p:nvPr/>
          </p:nvSpPr>
          <p:spPr>
            <a:xfrm>
              <a:off x="5758250" y="2062546"/>
              <a:ext cx="4320000" cy="1753990"/>
            </a:xfrm>
            <a:prstGeom prst="rect">
              <a:avLst/>
            </a:prstGeom>
          </p:spPr>
          <p:style>
            <a:lnRef idx="2">
              <a:schemeClr val="accent3">
                <a:shade val="50000"/>
              </a:schemeClr>
            </a:lnRef>
            <a:fillRef idx="1">
              <a:schemeClr val="accent3"/>
            </a:fillRef>
            <a:effectRef idx="0">
              <a:schemeClr val="accent3"/>
            </a:effectRef>
            <a:fontRef idx="minor">
              <a:schemeClr val="lt1"/>
            </a:fontRef>
          </p:style>
        </p:sp>
        <p:sp>
          <p:nvSpPr>
            <p:cNvPr id="19" name="Rectangle 18"/>
            <p:cNvSpPr/>
            <p:nvPr/>
          </p:nvSpPr>
          <p:spPr>
            <a:xfrm>
              <a:off x="5758250" y="2062546"/>
              <a:ext cx="4320000" cy="175399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spcFirstLastPara="0" vert="horz" wrap="square" lIns="0" tIns="0" rIns="0" bIns="0" numCol="1" spcCol="1270" anchor="t" anchorCtr="0">
              <a:noAutofit/>
            </a:bodyPr>
            <a:lstStyle/>
            <a:p>
              <a:pPr algn="ctr" defTabSz="1333500">
                <a:spcBef>
                  <a:spcPct val="0"/>
                </a:spcBef>
                <a:spcAft>
                  <a:spcPct val="35000"/>
                </a:spcAft>
              </a:pPr>
              <a:endParaRPr lang="en-US" sz="3200" dirty="0"/>
            </a:p>
          </p:txBody>
        </p:sp>
      </p:grpSp>
      <p:sp>
        <p:nvSpPr>
          <p:cNvPr id="20" name="TextBox 19"/>
          <p:cNvSpPr txBox="1"/>
          <p:nvPr/>
        </p:nvSpPr>
        <p:spPr>
          <a:xfrm>
            <a:off x="3761668" y="760220"/>
            <a:ext cx="6680173" cy="584775"/>
          </a:xfrm>
          <a:prstGeom prst="rect">
            <a:avLst/>
          </a:prstGeom>
          <a:noFill/>
        </p:spPr>
        <p:txBody>
          <a:bodyPr wrap="square" rtlCol="0">
            <a:spAutoFit/>
          </a:bodyPr>
          <a:lstStyle/>
          <a:p>
            <a:r>
              <a:rPr lang="en-US" sz="3200" b="1" dirty="0"/>
              <a:t>Activity-1 (Think – Pair – Share)</a:t>
            </a:r>
          </a:p>
        </p:txBody>
      </p:sp>
      <p:sp>
        <p:nvSpPr>
          <p:cNvPr id="3" name="Rectangle 2"/>
          <p:cNvSpPr/>
          <p:nvPr/>
        </p:nvSpPr>
        <p:spPr>
          <a:xfrm>
            <a:off x="6522475" y="3771900"/>
            <a:ext cx="5003898" cy="584775"/>
          </a:xfrm>
          <a:prstGeom prst="rect">
            <a:avLst/>
          </a:prstGeom>
        </p:spPr>
        <p:txBody>
          <a:bodyPr wrap="square">
            <a:spAutoFit/>
          </a:bodyPr>
          <a:lstStyle/>
          <a:p>
            <a:pPr algn="ctr"/>
            <a:r>
              <a:rPr lang="en-US" sz="3200" dirty="0">
                <a:solidFill>
                  <a:schemeClr val="bg1"/>
                </a:solidFill>
              </a:rPr>
              <a:t>What is Binary search?</a:t>
            </a:r>
          </a:p>
        </p:txBody>
      </p:sp>
    </p:spTree>
    <p:extLst>
      <p:ext uri="{BB962C8B-B14F-4D97-AF65-F5344CB8AC3E}">
        <p14:creationId xmlns:p14="http://schemas.microsoft.com/office/powerpoint/2010/main" val="2461999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err="1"/>
              <a:t>Galgotias</a:t>
            </a:r>
            <a:r>
              <a:rPr lang="en-IN" dirty="0"/>
              <a:t> University</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8</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35372BEC-C0BE-8B8E-FFFF-97C0F922807B}"/>
              </a:ext>
            </a:extLst>
          </p:cNvPr>
          <p:cNvSpPr txBox="1"/>
          <p:nvPr/>
        </p:nvSpPr>
        <p:spPr>
          <a:xfrm>
            <a:off x="838200" y="1065690"/>
            <a:ext cx="10795098" cy="523220"/>
          </a:xfrm>
          <a:prstGeom prst="rect">
            <a:avLst/>
          </a:prstGeom>
          <a:noFill/>
        </p:spPr>
        <p:txBody>
          <a:bodyPr wrap="square">
            <a:spAutoFit/>
          </a:bodyPr>
          <a:lstStyle/>
          <a:p>
            <a:pPr lvl="0"/>
            <a:r>
              <a:rPr lang="en-IN" sz="2800" dirty="0"/>
              <a:t>Linear Search (Sequential Search)</a:t>
            </a:r>
            <a:endParaRPr lang="en-US" sz="2800" dirty="0"/>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16" name="TextBox 15">
            <a:extLst>
              <a:ext uri="{FF2B5EF4-FFF2-40B4-BE49-F238E27FC236}">
                <a16:creationId xmlns:a16="http://schemas.microsoft.com/office/drawing/2014/main" id="{A36601A5-599C-8780-C24C-78F926DC3C46}"/>
              </a:ext>
            </a:extLst>
          </p:cNvPr>
          <p:cNvSpPr txBox="1"/>
          <p:nvPr/>
        </p:nvSpPr>
        <p:spPr>
          <a:xfrm>
            <a:off x="838200" y="1698560"/>
            <a:ext cx="10795098" cy="646331"/>
          </a:xfrm>
          <a:prstGeom prst="rect">
            <a:avLst/>
          </a:prstGeom>
          <a:noFill/>
        </p:spPr>
        <p:txBody>
          <a:bodyPr wrap="square">
            <a:spAutoFit/>
          </a:bodyPr>
          <a:lstStyle/>
          <a:p>
            <a:r>
              <a:rPr lang="en-US" b="1" dirty="0"/>
              <a:t>Linear Search</a:t>
            </a:r>
            <a:r>
              <a:rPr lang="en-US" dirty="0"/>
              <a:t> is the simplest searching algorithm.</a:t>
            </a:r>
            <a:br>
              <a:rPr lang="en-US" dirty="0"/>
            </a:br>
            <a:r>
              <a:rPr lang="en-US" dirty="0"/>
              <a:t>It checks </a:t>
            </a:r>
            <a:r>
              <a:rPr lang="en-US" b="1" dirty="0"/>
              <a:t>each element one by one</a:t>
            </a:r>
            <a:r>
              <a:rPr lang="en-US" dirty="0"/>
              <a:t> in a list/array until the target element (key) is found or the list ends.</a:t>
            </a:r>
            <a:endParaRPr lang="en-IN" dirty="0"/>
          </a:p>
        </p:txBody>
      </p:sp>
      <p:sp>
        <p:nvSpPr>
          <p:cNvPr id="19" name="TextBox 18">
            <a:extLst>
              <a:ext uri="{FF2B5EF4-FFF2-40B4-BE49-F238E27FC236}">
                <a16:creationId xmlns:a16="http://schemas.microsoft.com/office/drawing/2014/main" id="{053CAFAF-0972-30D7-6609-BF27052C3D5C}"/>
              </a:ext>
            </a:extLst>
          </p:cNvPr>
          <p:cNvSpPr txBox="1"/>
          <p:nvPr/>
        </p:nvSpPr>
        <p:spPr>
          <a:xfrm>
            <a:off x="391181" y="2574117"/>
            <a:ext cx="6397076" cy="2585323"/>
          </a:xfrm>
          <a:prstGeom prst="rect">
            <a:avLst/>
          </a:prstGeom>
          <a:noFill/>
        </p:spPr>
        <p:txBody>
          <a:bodyPr wrap="square">
            <a:spAutoFit/>
          </a:bodyPr>
          <a:lstStyle/>
          <a:p>
            <a:pPr>
              <a:buNone/>
            </a:pPr>
            <a:r>
              <a:rPr lang="en-US" b="1" dirty="0"/>
              <a:t>Algorithm</a:t>
            </a:r>
          </a:p>
          <a:p>
            <a:pPr>
              <a:buFont typeface="+mj-lt"/>
              <a:buAutoNum type="arabicPeriod"/>
            </a:pPr>
            <a:r>
              <a:rPr lang="en-US" dirty="0"/>
              <a:t>Start from the </a:t>
            </a:r>
            <a:r>
              <a:rPr lang="en-US" b="1" dirty="0"/>
              <a:t>first element</a:t>
            </a:r>
            <a:r>
              <a:rPr lang="en-US" dirty="0"/>
              <a:t> of the list.</a:t>
            </a:r>
          </a:p>
          <a:p>
            <a:pPr>
              <a:buFont typeface="+mj-lt"/>
              <a:buAutoNum type="arabicPeriod"/>
            </a:pPr>
            <a:r>
              <a:rPr lang="en-US" dirty="0"/>
              <a:t>Compare the current element with the </a:t>
            </a:r>
            <a:r>
              <a:rPr lang="en-US" b="1" dirty="0"/>
              <a:t>key</a:t>
            </a:r>
            <a:r>
              <a:rPr lang="en-US" dirty="0"/>
              <a:t> (the value we are searching for).</a:t>
            </a:r>
          </a:p>
          <a:p>
            <a:pPr>
              <a:buFont typeface="+mj-lt"/>
              <a:buAutoNum type="arabicPeriod"/>
            </a:pPr>
            <a:r>
              <a:rPr lang="en-US" dirty="0"/>
              <a:t>If they match → </a:t>
            </a:r>
            <a:r>
              <a:rPr lang="en-US" b="1" dirty="0"/>
              <a:t>Element found</a:t>
            </a:r>
            <a:r>
              <a:rPr lang="en-US" dirty="0"/>
              <a:t> (return index/position).</a:t>
            </a:r>
          </a:p>
          <a:p>
            <a:pPr>
              <a:buFont typeface="+mj-lt"/>
              <a:buAutoNum type="arabicPeriod"/>
            </a:pPr>
            <a:r>
              <a:rPr lang="en-US" dirty="0"/>
              <a:t>If not, move to the </a:t>
            </a:r>
            <a:r>
              <a:rPr lang="en-US" b="1" dirty="0"/>
              <a:t>next element</a:t>
            </a:r>
            <a:r>
              <a:rPr lang="en-US" dirty="0"/>
              <a:t>.</a:t>
            </a:r>
          </a:p>
          <a:p>
            <a:pPr>
              <a:buFont typeface="+mj-lt"/>
              <a:buAutoNum type="arabicPeriod"/>
            </a:pPr>
            <a:r>
              <a:rPr lang="en-US" dirty="0"/>
              <a:t>Repeat until:</a:t>
            </a:r>
          </a:p>
          <a:p>
            <a:pPr marL="742950" lvl="1" indent="-285750">
              <a:buFont typeface="+mj-lt"/>
              <a:buAutoNum type="arabicPeriod"/>
            </a:pPr>
            <a:r>
              <a:rPr lang="en-US" dirty="0"/>
              <a:t>The element is found </a:t>
            </a:r>
          </a:p>
          <a:p>
            <a:pPr marL="742950" lvl="1" indent="-285750">
              <a:buFont typeface="+mj-lt"/>
              <a:buAutoNum type="arabicPeriod"/>
            </a:pPr>
            <a:r>
              <a:rPr lang="en-US" dirty="0"/>
              <a:t>Or the list ends  (element not present).</a:t>
            </a:r>
          </a:p>
        </p:txBody>
      </p:sp>
      <p:pic>
        <p:nvPicPr>
          <p:cNvPr id="22" name="Picture 21">
            <a:extLst>
              <a:ext uri="{FF2B5EF4-FFF2-40B4-BE49-F238E27FC236}">
                <a16:creationId xmlns:a16="http://schemas.microsoft.com/office/drawing/2014/main" id="{B42527B9-4258-0A83-23FE-9809FACAE3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01662" y="4011368"/>
            <a:ext cx="7317289" cy="2710107"/>
          </a:xfrm>
          <a:prstGeom prst="rect">
            <a:avLst/>
          </a:prstGeom>
        </p:spPr>
      </p:pic>
    </p:spTree>
    <p:extLst>
      <p:ext uri="{BB962C8B-B14F-4D97-AF65-F5344CB8AC3E}">
        <p14:creationId xmlns:p14="http://schemas.microsoft.com/office/powerpoint/2010/main" val="3872618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D16AEC2-3761-1C91-F532-E2DF139C8326}"/>
              </a:ext>
            </a:extLst>
          </p:cNvPr>
          <p:cNvSpPr>
            <a:spLocks noGrp="1"/>
          </p:cNvSpPr>
          <p:nvPr>
            <p:ph type="ftr" sz="quarter" idx="11"/>
          </p:nvPr>
        </p:nvSpPr>
        <p:spPr/>
        <p:txBody>
          <a:bodyPr/>
          <a:lstStyle/>
          <a:p>
            <a:r>
              <a:rPr lang="en-IN"/>
              <a:t>Galgotias University</a:t>
            </a:r>
          </a:p>
        </p:txBody>
      </p:sp>
      <p:sp>
        <p:nvSpPr>
          <p:cNvPr id="3" name="Slide Number Placeholder 2">
            <a:extLst>
              <a:ext uri="{FF2B5EF4-FFF2-40B4-BE49-F238E27FC236}">
                <a16:creationId xmlns:a16="http://schemas.microsoft.com/office/drawing/2014/main" id="{2354C876-3EC6-562B-5A9D-7C055BCFA13D}"/>
              </a:ext>
            </a:extLst>
          </p:cNvPr>
          <p:cNvSpPr>
            <a:spLocks noGrp="1"/>
          </p:cNvSpPr>
          <p:nvPr>
            <p:ph type="sldNum" sz="quarter" idx="12"/>
          </p:nvPr>
        </p:nvSpPr>
        <p:spPr/>
        <p:txBody>
          <a:bodyPr/>
          <a:lstStyle/>
          <a:p>
            <a:fld id="{26510230-8DD5-4BA5-AB2D-CA30FC08F9D7}" type="slidenum">
              <a:rPr lang="en-IN" smtClean="0"/>
              <a:t>9</a:t>
            </a:fld>
            <a:endParaRPr lang="en-IN"/>
          </a:p>
        </p:txBody>
      </p:sp>
      <p:pic>
        <p:nvPicPr>
          <p:cNvPr id="4" name="Picture 3" descr="A blue circle with text and words&#10;&#10;Description automatically generated">
            <a:extLst>
              <a:ext uri="{FF2B5EF4-FFF2-40B4-BE49-F238E27FC236}">
                <a16:creationId xmlns:a16="http://schemas.microsoft.com/office/drawing/2014/main" id="{6EEA3ACD-6DCD-2E53-F9B7-C2B5D53568D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pic>
        <p:nvPicPr>
          <p:cNvPr id="5" name="Picture 4">
            <a:extLst>
              <a:ext uri="{FF2B5EF4-FFF2-40B4-BE49-F238E27FC236}">
                <a16:creationId xmlns:a16="http://schemas.microsoft.com/office/drawing/2014/main" id="{879B1DE5-C450-8082-EE77-AF999A441A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7" name="TextBox 6">
            <a:extLst>
              <a:ext uri="{FF2B5EF4-FFF2-40B4-BE49-F238E27FC236}">
                <a16:creationId xmlns:a16="http://schemas.microsoft.com/office/drawing/2014/main" id="{07451752-7A7F-57E2-440E-640079E4BA61}"/>
              </a:ext>
            </a:extLst>
          </p:cNvPr>
          <p:cNvSpPr txBox="1"/>
          <p:nvPr/>
        </p:nvSpPr>
        <p:spPr>
          <a:xfrm>
            <a:off x="1128794" y="2108229"/>
            <a:ext cx="7024606" cy="3970318"/>
          </a:xfrm>
          <a:prstGeom prst="rect">
            <a:avLst/>
          </a:prstGeom>
          <a:noFill/>
        </p:spPr>
        <p:txBody>
          <a:bodyPr wrap="square">
            <a:spAutoFit/>
          </a:bodyPr>
          <a:lstStyle/>
          <a:p>
            <a:r>
              <a:rPr lang="en-US" sz="2800" dirty="0"/>
              <a:t>int </a:t>
            </a:r>
            <a:r>
              <a:rPr lang="en-US" sz="2800" dirty="0" err="1"/>
              <a:t>linearSearch</a:t>
            </a:r>
            <a:r>
              <a:rPr lang="en-US" sz="2800" dirty="0"/>
              <a:t>(int </a:t>
            </a:r>
            <a:r>
              <a:rPr lang="en-US" sz="2800" dirty="0" err="1"/>
              <a:t>arr</a:t>
            </a:r>
            <a:r>
              <a:rPr lang="en-US" sz="2800" dirty="0"/>
              <a:t>[], int n, int key) </a:t>
            </a:r>
          </a:p>
          <a:p>
            <a:r>
              <a:rPr lang="en-US" sz="2800" dirty="0"/>
              <a:t>{</a:t>
            </a:r>
          </a:p>
          <a:p>
            <a:r>
              <a:rPr lang="en-US" sz="2800" dirty="0"/>
              <a:t>    for (int </a:t>
            </a:r>
            <a:r>
              <a:rPr lang="en-US" sz="2800" dirty="0" err="1"/>
              <a:t>i</a:t>
            </a:r>
            <a:r>
              <a:rPr lang="en-US" sz="2800" dirty="0"/>
              <a:t> = 0; </a:t>
            </a:r>
            <a:r>
              <a:rPr lang="en-US" sz="2800" dirty="0" err="1"/>
              <a:t>i</a:t>
            </a:r>
            <a:r>
              <a:rPr lang="en-US" sz="2800" dirty="0"/>
              <a:t> &lt; n; </a:t>
            </a:r>
            <a:r>
              <a:rPr lang="en-US" sz="2800" dirty="0" err="1"/>
              <a:t>i</a:t>
            </a:r>
            <a:r>
              <a:rPr lang="en-US" sz="2800" dirty="0"/>
              <a:t>++) {</a:t>
            </a:r>
          </a:p>
          <a:p>
            <a:r>
              <a:rPr lang="en-US" sz="2800" dirty="0"/>
              <a:t>        if (</a:t>
            </a:r>
            <a:r>
              <a:rPr lang="en-US" sz="2800" dirty="0" err="1"/>
              <a:t>arr</a:t>
            </a:r>
            <a:r>
              <a:rPr lang="en-US" sz="2800" dirty="0"/>
              <a:t>[</a:t>
            </a:r>
            <a:r>
              <a:rPr lang="en-US" sz="2800" dirty="0" err="1"/>
              <a:t>i</a:t>
            </a:r>
            <a:r>
              <a:rPr lang="en-US" sz="2800" dirty="0"/>
              <a:t>] == key) {</a:t>
            </a:r>
          </a:p>
          <a:p>
            <a:r>
              <a:rPr lang="en-US" sz="2800" dirty="0"/>
              <a:t>            return </a:t>
            </a:r>
            <a:r>
              <a:rPr lang="en-US" sz="2800" dirty="0" err="1"/>
              <a:t>i</a:t>
            </a:r>
            <a:r>
              <a:rPr lang="en-US" sz="2800" dirty="0"/>
              <a:t>;  // Return index if key is found</a:t>
            </a:r>
          </a:p>
          <a:p>
            <a:r>
              <a:rPr lang="en-US" sz="2800" dirty="0"/>
              <a:t>        }</a:t>
            </a:r>
          </a:p>
          <a:p>
            <a:r>
              <a:rPr lang="en-US" sz="2800" dirty="0"/>
              <a:t>    }</a:t>
            </a:r>
          </a:p>
          <a:p>
            <a:r>
              <a:rPr lang="en-US" sz="2800" dirty="0"/>
              <a:t>    return -1; // Key not found</a:t>
            </a:r>
          </a:p>
          <a:p>
            <a:r>
              <a:rPr lang="en-US" sz="2800" dirty="0"/>
              <a:t>}</a:t>
            </a:r>
            <a:endParaRPr lang="en-IN" sz="2800" dirty="0"/>
          </a:p>
        </p:txBody>
      </p:sp>
      <p:sp>
        <p:nvSpPr>
          <p:cNvPr id="9" name="TextBox 8">
            <a:extLst>
              <a:ext uri="{FF2B5EF4-FFF2-40B4-BE49-F238E27FC236}">
                <a16:creationId xmlns:a16="http://schemas.microsoft.com/office/drawing/2014/main" id="{FB6E5AB5-1719-76D2-DDF0-5C9BB536947D}"/>
              </a:ext>
            </a:extLst>
          </p:cNvPr>
          <p:cNvSpPr txBox="1"/>
          <p:nvPr/>
        </p:nvSpPr>
        <p:spPr>
          <a:xfrm>
            <a:off x="1591806" y="1415330"/>
            <a:ext cx="9166760" cy="523220"/>
          </a:xfrm>
          <a:prstGeom prst="rect">
            <a:avLst/>
          </a:prstGeom>
          <a:noFill/>
        </p:spPr>
        <p:txBody>
          <a:bodyPr wrap="square">
            <a:spAutoFit/>
          </a:bodyPr>
          <a:lstStyle/>
          <a:p>
            <a:pPr lvl="0"/>
            <a:r>
              <a:rPr lang="en-IN" sz="2800" b="1" dirty="0"/>
              <a:t>C function Linear Search (Sequential Search)</a:t>
            </a:r>
            <a:endParaRPr lang="en-US" sz="2800" b="1" dirty="0"/>
          </a:p>
        </p:txBody>
      </p:sp>
    </p:spTree>
    <p:extLst>
      <p:ext uri="{BB962C8B-B14F-4D97-AF65-F5344CB8AC3E}">
        <p14:creationId xmlns:p14="http://schemas.microsoft.com/office/powerpoint/2010/main" val="2136443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7B8B68A-7883-9879-E7F3-B631C6FE81D7}"/>
              </a:ext>
            </a:extLst>
          </p:cNvPr>
          <p:cNvSpPr>
            <a:spLocks noGrp="1"/>
          </p:cNvSpPr>
          <p:nvPr>
            <p:ph type="ftr" sz="quarter" idx="11"/>
          </p:nvPr>
        </p:nvSpPr>
        <p:spPr/>
        <p:txBody>
          <a:bodyPr/>
          <a:lstStyle/>
          <a:p>
            <a:r>
              <a:rPr lang="en-IN"/>
              <a:t>Galgotias University</a:t>
            </a:r>
          </a:p>
        </p:txBody>
      </p:sp>
      <p:sp>
        <p:nvSpPr>
          <p:cNvPr id="3" name="Slide Number Placeholder 2">
            <a:extLst>
              <a:ext uri="{FF2B5EF4-FFF2-40B4-BE49-F238E27FC236}">
                <a16:creationId xmlns:a16="http://schemas.microsoft.com/office/drawing/2014/main" id="{8771857D-9C56-1B1F-A84D-A555AA7078EB}"/>
              </a:ext>
            </a:extLst>
          </p:cNvPr>
          <p:cNvSpPr>
            <a:spLocks noGrp="1"/>
          </p:cNvSpPr>
          <p:nvPr>
            <p:ph type="sldNum" sz="quarter" idx="12"/>
          </p:nvPr>
        </p:nvSpPr>
        <p:spPr/>
        <p:txBody>
          <a:bodyPr/>
          <a:lstStyle/>
          <a:p>
            <a:fld id="{26510230-8DD5-4BA5-AB2D-CA30FC08F9D7}" type="slidenum">
              <a:rPr lang="en-IN" smtClean="0"/>
              <a:t>10</a:t>
            </a:fld>
            <a:endParaRPr lang="en-IN"/>
          </a:p>
        </p:txBody>
      </p:sp>
      <p:sp>
        <p:nvSpPr>
          <p:cNvPr id="5" name="TextBox 4">
            <a:extLst>
              <a:ext uri="{FF2B5EF4-FFF2-40B4-BE49-F238E27FC236}">
                <a16:creationId xmlns:a16="http://schemas.microsoft.com/office/drawing/2014/main" id="{3EC12402-A5F5-7AE7-017A-0AE51E0EF3C8}"/>
              </a:ext>
            </a:extLst>
          </p:cNvPr>
          <p:cNvSpPr txBox="1"/>
          <p:nvPr/>
        </p:nvSpPr>
        <p:spPr>
          <a:xfrm>
            <a:off x="4488051" y="629110"/>
            <a:ext cx="6098582" cy="369332"/>
          </a:xfrm>
          <a:prstGeom prst="rect">
            <a:avLst/>
          </a:prstGeom>
          <a:noFill/>
        </p:spPr>
        <p:txBody>
          <a:bodyPr wrap="square">
            <a:spAutoFit/>
          </a:bodyPr>
          <a:lstStyle/>
          <a:p>
            <a:r>
              <a:rPr lang="en-IN" dirty="0"/>
              <a:t>Linear Search Complexity</a:t>
            </a:r>
          </a:p>
        </p:txBody>
      </p:sp>
      <p:pic>
        <p:nvPicPr>
          <p:cNvPr id="6" name="Picture 5" descr="A blue circle with text and words&#10;&#10;Description automatically generated">
            <a:extLst>
              <a:ext uri="{FF2B5EF4-FFF2-40B4-BE49-F238E27FC236}">
                <a16:creationId xmlns:a16="http://schemas.microsoft.com/office/drawing/2014/main" id="{FD02110B-4671-5515-96B9-7626F25D0E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pic>
        <p:nvPicPr>
          <p:cNvPr id="7" name="Picture 6">
            <a:extLst>
              <a:ext uri="{FF2B5EF4-FFF2-40B4-BE49-F238E27FC236}">
                <a16:creationId xmlns:a16="http://schemas.microsoft.com/office/drawing/2014/main" id="{C12550D3-2AC0-9954-BAFE-3D6ECCB52C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9" name="TextBox 8">
            <a:extLst>
              <a:ext uri="{FF2B5EF4-FFF2-40B4-BE49-F238E27FC236}">
                <a16:creationId xmlns:a16="http://schemas.microsoft.com/office/drawing/2014/main" id="{AFB84A46-1FD2-F837-A400-E07C2467A522}"/>
              </a:ext>
            </a:extLst>
          </p:cNvPr>
          <p:cNvSpPr txBox="1"/>
          <p:nvPr/>
        </p:nvSpPr>
        <p:spPr>
          <a:xfrm>
            <a:off x="740044" y="1548322"/>
            <a:ext cx="3429000" cy="2308324"/>
          </a:xfrm>
          <a:prstGeom prst="rect">
            <a:avLst/>
          </a:prstGeom>
          <a:noFill/>
        </p:spPr>
        <p:txBody>
          <a:bodyPr wrap="square">
            <a:spAutoFit/>
          </a:bodyPr>
          <a:lstStyle/>
          <a:p>
            <a:r>
              <a:rPr lang="en-IN" sz="2400" dirty="0"/>
              <a:t>for (</a:t>
            </a:r>
            <a:r>
              <a:rPr lang="en-IN" sz="2400" dirty="0" err="1"/>
              <a:t>i</a:t>
            </a:r>
            <a:r>
              <a:rPr lang="en-IN" sz="2400" dirty="0"/>
              <a:t> = 0; </a:t>
            </a:r>
            <a:r>
              <a:rPr lang="en-IN" sz="2400" dirty="0" err="1"/>
              <a:t>i</a:t>
            </a:r>
            <a:r>
              <a:rPr lang="en-IN" sz="2400" dirty="0"/>
              <a:t> &lt; n; </a:t>
            </a:r>
            <a:r>
              <a:rPr lang="en-IN" sz="2400" dirty="0" err="1"/>
              <a:t>i</a:t>
            </a:r>
            <a:r>
              <a:rPr lang="en-IN" sz="2400" dirty="0"/>
              <a:t>++) {</a:t>
            </a:r>
          </a:p>
          <a:p>
            <a:r>
              <a:rPr lang="en-IN" sz="2400" dirty="0"/>
              <a:t>    if (</a:t>
            </a:r>
            <a:r>
              <a:rPr lang="en-IN" sz="2400" dirty="0" err="1"/>
              <a:t>arr</a:t>
            </a:r>
            <a:r>
              <a:rPr lang="en-IN" sz="2400" dirty="0"/>
              <a:t>[</a:t>
            </a:r>
            <a:r>
              <a:rPr lang="en-IN" sz="2400" dirty="0" err="1"/>
              <a:t>i</a:t>
            </a:r>
            <a:r>
              <a:rPr lang="en-IN" sz="2400" dirty="0"/>
              <a:t>] == key) {</a:t>
            </a:r>
          </a:p>
          <a:p>
            <a:r>
              <a:rPr lang="en-IN" sz="2400" dirty="0"/>
              <a:t>        return </a:t>
            </a:r>
            <a:r>
              <a:rPr lang="en-IN" sz="2400" dirty="0" err="1"/>
              <a:t>i</a:t>
            </a:r>
            <a:r>
              <a:rPr lang="en-IN" sz="2400" dirty="0"/>
              <a:t>;</a:t>
            </a:r>
          </a:p>
          <a:p>
            <a:r>
              <a:rPr lang="en-IN" sz="2400" dirty="0"/>
              <a:t>    }</a:t>
            </a:r>
          </a:p>
          <a:p>
            <a:r>
              <a:rPr lang="en-IN" sz="2400" dirty="0"/>
              <a:t>}</a:t>
            </a:r>
          </a:p>
          <a:p>
            <a:r>
              <a:rPr lang="en-IN" sz="2400" dirty="0"/>
              <a:t>return -1;</a:t>
            </a:r>
            <a:endParaRPr lang="en-IN" dirty="0"/>
          </a:p>
        </p:txBody>
      </p:sp>
      <p:sp>
        <p:nvSpPr>
          <p:cNvPr id="12" name="Rectangle 1">
            <a:extLst>
              <a:ext uri="{FF2B5EF4-FFF2-40B4-BE49-F238E27FC236}">
                <a16:creationId xmlns:a16="http://schemas.microsoft.com/office/drawing/2014/main" id="{24CE03EE-6302-9B7C-0DD9-48D6965DA032}"/>
              </a:ext>
            </a:extLst>
          </p:cNvPr>
          <p:cNvSpPr>
            <a:spLocks noChangeArrowheads="1"/>
          </p:cNvSpPr>
          <p:nvPr/>
        </p:nvSpPr>
        <p:spPr bwMode="auto">
          <a:xfrm>
            <a:off x="5858360" y="1090014"/>
            <a:ext cx="5774938"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For </a:t>
            </a:r>
            <a:r>
              <a:rPr lang="en-US" altLang="en-US" sz="2400" dirty="0">
                <a:latin typeface="Arial" panose="020B0604020202020204" pitchFamily="34" charset="0"/>
              </a:rPr>
              <a:t>each iteration, we do:</a:t>
            </a: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lang="en-US" altLang="en-US" sz="2400" dirty="0">
                <a:latin typeface="Arial" panose="020B0604020202020204" pitchFamily="34" charset="0"/>
              </a:rPr>
              <a:t>Comparison </a:t>
            </a:r>
            <a:r>
              <a:rPr lang="en-US" altLang="en-US" sz="2400" dirty="0" err="1">
                <a:latin typeface="Arial" panose="020B0604020202020204" pitchFamily="34" charset="0"/>
              </a:rPr>
              <a:t>arr</a:t>
            </a:r>
            <a:r>
              <a:rPr lang="en-US" altLang="en-US" sz="2400" dirty="0">
                <a:latin typeface="Arial" panose="020B0604020202020204" pitchFamily="34" charset="0"/>
              </a:rPr>
              <a:t>[</a:t>
            </a:r>
            <a:r>
              <a:rPr lang="en-US" altLang="en-US" sz="2400" dirty="0" err="1">
                <a:latin typeface="Arial" panose="020B0604020202020204" pitchFamily="34" charset="0"/>
              </a:rPr>
              <a:t>i</a:t>
            </a:r>
            <a:r>
              <a:rPr lang="en-US" altLang="en-US" sz="2400" dirty="0">
                <a:latin typeface="Arial" panose="020B0604020202020204" pitchFamily="34" charset="0"/>
              </a:rPr>
              <a:t>] == key</a:t>
            </a:r>
          </a:p>
          <a:p>
            <a:pPr marL="457200" marR="0" lvl="1" indent="0" algn="l" defTabSz="914400" rtl="0" eaLnBrk="0" fontAlgn="base" latinLnBrk="0" hangingPunct="0">
              <a:lnSpc>
                <a:spcPct val="100000"/>
              </a:lnSpc>
              <a:spcBef>
                <a:spcPct val="0"/>
              </a:spcBef>
              <a:spcAft>
                <a:spcPct val="0"/>
              </a:spcAft>
              <a:buClrTx/>
              <a:buSzTx/>
              <a:buFontTx/>
              <a:buAutoNum type="arabicPeriod" startAt="2"/>
              <a:tabLst/>
            </a:pPr>
            <a:r>
              <a:rPr lang="en-US" altLang="en-US" sz="2400" dirty="0">
                <a:latin typeface="Arial" panose="020B0604020202020204" pitchFamily="34" charset="0"/>
              </a:rPr>
              <a:t>If true → return index (stop).</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latin typeface="Arial" panose="020B0604020202020204" pitchFamily="34" charset="0"/>
              </a:rPr>
              <a:t>So, in the worst case, we perform n comparisons.</a:t>
            </a:r>
          </a:p>
          <a:p>
            <a:pPr lvl="0" eaLnBrk="0" fontAlgn="base" hangingPunct="0">
              <a:spcBef>
                <a:spcPct val="0"/>
              </a:spcBef>
              <a:spcAft>
                <a:spcPct val="0"/>
              </a:spcAft>
            </a:pPr>
            <a:r>
              <a:rPr lang="en-US" sz="2400" dirty="0"/>
              <a:t>Only </a:t>
            </a:r>
            <a:r>
              <a:rPr lang="en-US" sz="2400" b="1" dirty="0"/>
              <a:t>1 comparison</a:t>
            </a:r>
            <a:r>
              <a:rPr lang="en-US" sz="2400" dirty="0"/>
              <a:t> is needed in Best case</a:t>
            </a:r>
            <a:endParaRPr lang="en-US" altLang="en-US" sz="2400" dirty="0">
              <a:latin typeface="Arial" panose="020B0604020202020204" pitchFamily="34" charset="0"/>
            </a:endParaRPr>
          </a:p>
        </p:txBody>
      </p:sp>
      <p:sp>
        <p:nvSpPr>
          <p:cNvPr id="14" name="TextBox 13">
            <a:extLst>
              <a:ext uri="{FF2B5EF4-FFF2-40B4-BE49-F238E27FC236}">
                <a16:creationId xmlns:a16="http://schemas.microsoft.com/office/drawing/2014/main" id="{2AD038A8-7961-2266-A9B3-E952A3539F96}"/>
              </a:ext>
            </a:extLst>
          </p:cNvPr>
          <p:cNvSpPr txBox="1"/>
          <p:nvPr/>
        </p:nvSpPr>
        <p:spPr>
          <a:xfrm>
            <a:off x="2181387" y="4454707"/>
            <a:ext cx="6098582" cy="1631216"/>
          </a:xfrm>
          <a:prstGeom prst="rect">
            <a:avLst/>
          </a:prstGeom>
          <a:noFill/>
        </p:spPr>
        <p:txBody>
          <a:bodyPr wrap="square">
            <a:spAutoFit/>
          </a:bodyPr>
          <a:lstStyle/>
          <a:p>
            <a:pPr>
              <a:buNone/>
            </a:pPr>
            <a:endParaRPr lang="pt-BR" sz="2000" b="1" dirty="0"/>
          </a:p>
          <a:p>
            <a:pPr>
              <a:buFont typeface="Arial" panose="020B0604020202020204" pitchFamily="34" charset="0"/>
              <a:buChar char="•"/>
            </a:pPr>
            <a:r>
              <a:rPr lang="pt-BR" sz="2000" b="1" dirty="0"/>
              <a:t>Best Case:</a:t>
            </a:r>
            <a:r>
              <a:rPr lang="pt-BR" sz="2000" dirty="0"/>
              <a:t> O(1)</a:t>
            </a:r>
          </a:p>
          <a:p>
            <a:pPr>
              <a:buFont typeface="Arial" panose="020B0604020202020204" pitchFamily="34" charset="0"/>
              <a:buChar char="•"/>
            </a:pPr>
            <a:r>
              <a:rPr lang="pt-BR" sz="2000" b="1" dirty="0"/>
              <a:t>Worst Case:</a:t>
            </a:r>
            <a:r>
              <a:rPr lang="pt-BR" sz="2000" dirty="0"/>
              <a:t> O(n)</a:t>
            </a:r>
          </a:p>
          <a:p>
            <a:pPr>
              <a:buFont typeface="Arial" panose="020B0604020202020204" pitchFamily="34" charset="0"/>
              <a:buChar char="•"/>
            </a:pPr>
            <a:r>
              <a:rPr lang="pt-BR" sz="2000" b="1" dirty="0"/>
              <a:t>Average Case:</a:t>
            </a:r>
            <a:r>
              <a:rPr lang="pt-BR" sz="2000" dirty="0"/>
              <a:t> O(n)</a:t>
            </a:r>
          </a:p>
          <a:p>
            <a:pPr>
              <a:buFont typeface="Arial" panose="020B0604020202020204" pitchFamily="34" charset="0"/>
              <a:buChar char="•"/>
            </a:pPr>
            <a:r>
              <a:rPr lang="pt-BR" sz="2000" b="1" dirty="0"/>
              <a:t>Space Complexity:</a:t>
            </a:r>
            <a:r>
              <a:rPr lang="pt-BR" sz="2000" dirty="0"/>
              <a:t> O(1) </a:t>
            </a:r>
          </a:p>
        </p:txBody>
      </p:sp>
    </p:spTree>
    <p:extLst>
      <p:ext uri="{BB962C8B-B14F-4D97-AF65-F5344CB8AC3E}">
        <p14:creationId xmlns:p14="http://schemas.microsoft.com/office/powerpoint/2010/main" val="30445620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CE4293F-330D-AEBE-2860-D921CEA3EB9E}"/>
              </a:ext>
            </a:extLst>
          </p:cNvPr>
          <p:cNvSpPr>
            <a:spLocks noGrp="1"/>
          </p:cNvSpPr>
          <p:nvPr>
            <p:ph type="ftr" sz="quarter" idx="11"/>
          </p:nvPr>
        </p:nvSpPr>
        <p:spPr/>
        <p:txBody>
          <a:bodyPr/>
          <a:lstStyle/>
          <a:p>
            <a:r>
              <a:rPr lang="en-IN"/>
              <a:t>Galgotias University</a:t>
            </a:r>
          </a:p>
        </p:txBody>
      </p:sp>
      <p:sp>
        <p:nvSpPr>
          <p:cNvPr id="3" name="Slide Number Placeholder 2">
            <a:extLst>
              <a:ext uri="{FF2B5EF4-FFF2-40B4-BE49-F238E27FC236}">
                <a16:creationId xmlns:a16="http://schemas.microsoft.com/office/drawing/2014/main" id="{69DB9645-5D62-CB37-F808-F75F18E78342}"/>
              </a:ext>
            </a:extLst>
          </p:cNvPr>
          <p:cNvSpPr>
            <a:spLocks noGrp="1"/>
          </p:cNvSpPr>
          <p:nvPr>
            <p:ph type="sldNum" sz="quarter" idx="12"/>
          </p:nvPr>
        </p:nvSpPr>
        <p:spPr/>
        <p:txBody>
          <a:bodyPr/>
          <a:lstStyle/>
          <a:p>
            <a:fld id="{26510230-8DD5-4BA5-AB2D-CA30FC08F9D7}" type="slidenum">
              <a:rPr lang="en-IN" smtClean="0"/>
              <a:t>11</a:t>
            </a:fld>
            <a:endParaRPr lang="en-IN"/>
          </a:p>
        </p:txBody>
      </p:sp>
      <p:pic>
        <p:nvPicPr>
          <p:cNvPr id="4" name="Picture 3" descr="A blue circle with text and words&#10;&#10;Description automatically generated">
            <a:extLst>
              <a:ext uri="{FF2B5EF4-FFF2-40B4-BE49-F238E27FC236}">
                <a16:creationId xmlns:a16="http://schemas.microsoft.com/office/drawing/2014/main" id="{12785C34-CB9E-F974-622E-854E19CD95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12336" y="81308"/>
            <a:ext cx="874732" cy="874732"/>
          </a:xfrm>
          <a:prstGeom prst="rect">
            <a:avLst/>
          </a:prstGeom>
        </p:spPr>
      </p:pic>
      <p:pic>
        <p:nvPicPr>
          <p:cNvPr id="5" name="Picture 4">
            <a:extLst>
              <a:ext uri="{FF2B5EF4-FFF2-40B4-BE49-F238E27FC236}">
                <a16:creationId xmlns:a16="http://schemas.microsoft.com/office/drawing/2014/main" id="{E3D0BDF6-45F2-D998-129F-B0A51F2CB6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7" name="TextBox 6">
            <a:extLst>
              <a:ext uri="{FF2B5EF4-FFF2-40B4-BE49-F238E27FC236}">
                <a16:creationId xmlns:a16="http://schemas.microsoft.com/office/drawing/2014/main" id="{C2197A7D-705B-F5EA-25F4-7793E572A087}"/>
              </a:ext>
            </a:extLst>
          </p:cNvPr>
          <p:cNvSpPr txBox="1"/>
          <p:nvPr/>
        </p:nvSpPr>
        <p:spPr>
          <a:xfrm>
            <a:off x="648345" y="1685835"/>
            <a:ext cx="10895309" cy="646331"/>
          </a:xfrm>
          <a:prstGeom prst="rect">
            <a:avLst/>
          </a:prstGeom>
          <a:noFill/>
        </p:spPr>
        <p:txBody>
          <a:bodyPr wrap="square">
            <a:spAutoFit/>
          </a:bodyPr>
          <a:lstStyle/>
          <a:p>
            <a:r>
              <a:rPr lang="en-US" dirty="0"/>
              <a:t>Binary Search is an efficient searching algorithm used on sorted arrays or lists. It works by repeatedly dividing the search interval in half until the element is found or the interval becomes empty.</a:t>
            </a:r>
            <a:endParaRPr lang="en-IN" dirty="0"/>
          </a:p>
        </p:txBody>
      </p:sp>
      <p:sp>
        <p:nvSpPr>
          <p:cNvPr id="9" name="TextBox 8">
            <a:extLst>
              <a:ext uri="{FF2B5EF4-FFF2-40B4-BE49-F238E27FC236}">
                <a16:creationId xmlns:a16="http://schemas.microsoft.com/office/drawing/2014/main" id="{FCE8F626-658E-965F-A9D8-E774343C7761}"/>
              </a:ext>
            </a:extLst>
          </p:cNvPr>
          <p:cNvSpPr txBox="1"/>
          <p:nvPr/>
        </p:nvSpPr>
        <p:spPr>
          <a:xfrm>
            <a:off x="4955584" y="771374"/>
            <a:ext cx="6098582" cy="461665"/>
          </a:xfrm>
          <a:prstGeom prst="rect">
            <a:avLst/>
          </a:prstGeom>
          <a:noFill/>
        </p:spPr>
        <p:txBody>
          <a:bodyPr wrap="square">
            <a:spAutoFit/>
          </a:bodyPr>
          <a:lstStyle/>
          <a:p>
            <a:r>
              <a:rPr lang="en-IN" sz="2400" b="1" dirty="0"/>
              <a:t>Binary Search</a:t>
            </a:r>
          </a:p>
        </p:txBody>
      </p:sp>
      <p:sp>
        <p:nvSpPr>
          <p:cNvPr id="10" name="Rectangle 1">
            <a:extLst>
              <a:ext uri="{FF2B5EF4-FFF2-40B4-BE49-F238E27FC236}">
                <a16:creationId xmlns:a16="http://schemas.microsoft.com/office/drawing/2014/main" id="{92A7D25E-A688-D174-63E4-33389196E79C}"/>
              </a:ext>
            </a:extLst>
          </p:cNvPr>
          <p:cNvSpPr>
            <a:spLocks noChangeArrowheads="1"/>
          </p:cNvSpPr>
          <p:nvPr/>
        </p:nvSpPr>
        <p:spPr bwMode="auto">
          <a:xfrm>
            <a:off x="1137834" y="2589076"/>
            <a:ext cx="747276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Algorithm</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lang="en-US" altLang="en-US" dirty="0">
                <a:latin typeface="Arial" panose="020B0604020202020204" pitchFamily="34" charset="0"/>
              </a:rPr>
              <a:t>Start with the low (first index) and high (last index).</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lang="en-US" altLang="en-US" dirty="0">
                <a:latin typeface="Arial" panose="020B0604020202020204" pitchFamily="34" charset="0"/>
              </a:rPr>
              <a:t>Find the mid index:</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latin typeface="Arial" panose="020B0604020202020204" pitchFamily="34" charset="0"/>
              </a:rPr>
              <a:t>mid=</a:t>
            </a:r>
            <a:r>
              <a:rPr lang="en-US" altLang="en-US" dirty="0" err="1">
                <a:latin typeface="Arial" panose="020B0604020202020204" pitchFamily="34" charset="0"/>
              </a:rPr>
              <a:t>low+high</a:t>
            </a:r>
            <a:r>
              <a:rPr lang="en-US" altLang="en-US" dirty="0">
                <a:latin typeface="Arial" panose="020B0604020202020204" pitchFamily="34" charset="0"/>
              </a:rPr>
              <a:t>/2​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lang="en-US" altLang="en-US" dirty="0">
                <a:latin typeface="Arial" panose="020B0604020202020204" pitchFamily="34" charset="0"/>
              </a:rPr>
              <a:t>Compare the key with </a:t>
            </a:r>
            <a:r>
              <a:rPr lang="en-US" altLang="en-US" dirty="0" err="1">
                <a:latin typeface="Arial" panose="020B0604020202020204" pitchFamily="34" charset="0"/>
              </a:rPr>
              <a:t>arr</a:t>
            </a:r>
            <a:r>
              <a:rPr lang="en-US" altLang="en-US" dirty="0">
                <a:latin typeface="Arial" panose="020B0604020202020204" pitchFamily="34" charset="0"/>
              </a:rPr>
              <a:t>[mid]:</a:t>
            </a:r>
          </a:p>
          <a:p>
            <a:pPr marL="457200" marR="0" lvl="1" indent="0" algn="l" defTabSz="914400" rtl="0" eaLnBrk="0" fontAlgn="base" latinLnBrk="0" hangingPunct="0">
              <a:lnSpc>
                <a:spcPct val="100000"/>
              </a:lnSpc>
              <a:spcBef>
                <a:spcPct val="0"/>
              </a:spcBef>
              <a:spcAft>
                <a:spcPct val="0"/>
              </a:spcAft>
              <a:buClrTx/>
              <a:buSzTx/>
              <a:buFontTx/>
              <a:buChar char="•"/>
              <a:tabLst/>
            </a:pPr>
            <a:r>
              <a:rPr lang="en-US" altLang="en-US" dirty="0">
                <a:latin typeface="Arial" panose="020B0604020202020204" pitchFamily="34" charset="0"/>
              </a:rPr>
              <a:t>If key == </a:t>
            </a:r>
            <a:r>
              <a:rPr lang="en-US" altLang="en-US" dirty="0" err="1">
                <a:latin typeface="Arial" panose="020B0604020202020204" pitchFamily="34" charset="0"/>
              </a:rPr>
              <a:t>arr</a:t>
            </a:r>
            <a:r>
              <a:rPr lang="en-US" altLang="en-US" dirty="0">
                <a:latin typeface="Arial" panose="020B0604020202020204" pitchFamily="34" charset="0"/>
              </a:rPr>
              <a:t>[mid] →  Found.</a:t>
            </a:r>
          </a:p>
          <a:p>
            <a:pPr marL="457200" marR="0" lvl="1" indent="0" algn="l" defTabSz="914400" rtl="0" eaLnBrk="0" fontAlgn="base" latinLnBrk="0" hangingPunct="0">
              <a:lnSpc>
                <a:spcPct val="100000"/>
              </a:lnSpc>
              <a:spcBef>
                <a:spcPct val="0"/>
              </a:spcBef>
              <a:spcAft>
                <a:spcPct val="0"/>
              </a:spcAft>
              <a:buClrTx/>
              <a:buSzTx/>
              <a:buFontTx/>
              <a:buChar char="•"/>
              <a:tabLst/>
            </a:pPr>
            <a:r>
              <a:rPr lang="en-US" altLang="en-US" dirty="0">
                <a:latin typeface="Arial" panose="020B0604020202020204" pitchFamily="34" charset="0"/>
              </a:rPr>
              <a:t>If key &lt; </a:t>
            </a:r>
            <a:r>
              <a:rPr lang="en-US" altLang="en-US" dirty="0" err="1">
                <a:latin typeface="Arial" panose="020B0604020202020204" pitchFamily="34" charset="0"/>
              </a:rPr>
              <a:t>arr</a:t>
            </a:r>
            <a:r>
              <a:rPr lang="en-US" altLang="en-US" dirty="0">
                <a:latin typeface="Arial" panose="020B0604020202020204" pitchFamily="34" charset="0"/>
              </a:rPr>
              <a:t>[mid] → Search in the left half (set high = mid - 1).</a:t>
            </a:r>
          </a:p>
          <a:p>
            <a:pPr marL="457200" marR="0" lvl="1" indent="0" algn="l" defTabSz="914400" rtl="0" eaLnBrk="0" fontAlgn="base" latinLnBrk="0" hangingPunct="0">
              <a:lnSpc>
                <a:spcPct val="100000"/>
              </a:lnSpc>
              <a:spcBef>
                <a:spcPct val="0"/>
              </a:spcBef>
              <a:spcAft>
                <a:spcPct val="0"/>
              </a:spcAft>
              <a:buClrTx/>
              <a:buSzTx/>
              <a:buFontTx/>
              <a:buChar char="•"/>
              <a:tabLst/>
            </a:pPr>
            <a:r>
              <a:rPr lang="en-US" altLang="en-US" dirty="0">
                <a:latin typeface="Arial" panose="020B0604020202020204" pitchFamily="34" charset="0"/>
              </a:rPr>
              <a:t>If key &gt; </a:t>
            </a:r>
            <a:r>
              <a:rPr lang="en-US" altLang="en-US" dirty="0" err="1">
                <a:latin typeface="Arial" panose="020B0604020202020204" pitchFamily="34" charset="0"/>
              </a:rPr>
              <a:t>arr</a:t>
            </a:r>
            <a:r>
              <a:rPr lang="en-US" altLang="en-US" dirty="0">
                <a:latin typeface="Arial" panose="020B0604020202020204" pitchFamily="34" charset="0"/>
              </a:rPr>
              <a:t>[mid] → Search in the right half (set low = mid + 1).</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lang="en-US" altLang="en-US" dirty="0">
                <a:latin typeface="Arial" panose="020B0604020202020204" pitchFamily="34" charset="0"/>
              </a:rPr>
              <a:t>Repeat steps 2–3 until:</a:t>
            </a:r>
          </a:p>
          <a:p>
            <a:pPr marL="457200" marR="0" lvl="1" indent="0" algn="l" defTabSz="914400" rtl="0" eaLnBrk="0" fontAlgn="base" latinLnBrk="0" hangingPunct="0">
              <a:lnSpc>
                <a:spcPct val="100000"/>
              </a:lnSpc>
              <a:spcBef>
                <a:spcPct val="0"/>
              </a:spcBef>
              <a:spcAft>
                <a:spcPct val="0"/>
              </a:spcAft>
              <a:buClrTx/>
              <a:buSzTx/>
              <a:buFontTx/>
              <a:buChar char="•"/>
              <a:tabLst/>
            </a:pPr>
            <a:r>
              <a:rPr lang="en-US" altLang="en-US" dirty="0">
                <a:latin typeface="Arial" panose="020B0604020202020204" pitchFamily="34" charset="0"/>
              </a:rPr>
              <a:t>The element is found, or</a:t>
            </a:r>
          </a:p>
          <a:p>
            <a:pPr marL="457200" marR="0" lvl="1" indent="0" algn="l" defTabSz="914400" rtl="0" eaLnBrk="0" fontAlgn="base" latinLnBrk="0" hangingPunct="0">
              <a:lnSpc>
                <a:spcPct val="100000"/>
              </a:lnSpc>
              <a:spcBef>
                <a:spcPct val="0"/>
              </a:spcBef>
              <a:spcAft>
                <a:spcPct val="0"/>
              </a:spcAft>
              <a:buClrTx/>
              <a:buSzTx/>
              <a:buFontTx/>
              <a:buChar char="•"/>
              <a:tabLst/>
            </a:pPr>
            <a:r>
              <a:rPr lang="en-US" altLang="en-US" dirty="0">
                <a:latin typeface="Arial" panose="020B0604020202020204" pitchFamily="34" charset="0"/>
              </a:rPr>
              <a:t>low &gt; high (element not present).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687081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err="1"/>
              <a:t>Galgotias</a:t>
            </a:r>
            <a:r>
              <a:rPr lang="en-IN" dirty="0"/>
              <a:t> University</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12</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br>
              <a:rPr lang="en-US" sz="2800" b="1" dirty="0">
                <a:latin typeface="Tahoma" panose="020B0604030504040204" pitchFamily="34" charset="0"/>
                <a:ea typeface="Tahoma" panose="020B0604030504040204" pitchFamily="34" charset="0"/>
                <a:cs typeface="Tahoma" panose="020B0604030504040204" pitchFamily="34" charset="0"/>
              </a:rPr>
            </a:br>
            <a:br>
              <a:rPr lang="en-US" sz="2800" b="1" dirty="0">
                <a:latin typeface="Tahoma" panose="020B0604030504040204" pitchFamily="34" charset="0"/>
                <a:ea typeface="Tahoma" panose="020B0604030504040204" pitchFamily="34" charset="0"/>
                <a:cs typeface="Tahoma" panose="020B0604030504040204" pitchFamily="34" charset="0"/>
              </a:rPr>
            </a:b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35372BEC-C0BE-8B8E-FFFF-97C0F922807B}"/>
              </a:ext>
            </a:extLst>
          </p:cNvPr>
          <p:cNvSpPr txBox="1"/>
          <p:nvPr/>
        </p:nvSpPr>
        <p:spPr>
          <a:xfrm>
            <a:off x="838200" y="1256190"/>
            <a:ext cx="10795098" cy="523220"/>
          </a:xfrm>
          <a:prstGeom prst="rect">
            <a:avLst/>
          </a:prstGeom>
          <a:noFill/>
        </p:spPr>
        <p:txBody>
          <a:bodyPr wrap="square">
            <a:spAutoFit/>
          </a:bodyPr>
          <a:lstStyle/>
          <a:p>
            <a:pPr lvl="0" algn="just"/>
            <a:endParaRPr lang="en-US" sz="2800" dirty="0"/>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18" name="TextBox 17">
            <a:extLst>
              <a:ext uri="{FF2B5EF4-FFF2-40B4-BE49-F238E27FC236}">
                <a16:creationId xmlns:a16="http://schemas.microsoft.com/office/drawing/2014/main" id="{F17B995C-3FDD-0A75-A1C1-442347878E19}"/>
              </a:ext>
            </a:extLst>
          </p:cNvPr>
          <p:cNvSpPr txBox="1"/>
          <p:nvPr/>
        </p:nvSpPr>
        <p:spPr>
          <a:xfrm>
            <a:off x="6873049" y="1699023"/>
            <a:ext cx="6183822" cy="369332"/>
          </a:xfrm>
          <a:prstGeom prst="rect">
            <a:avLst/>
          </a:prstGeom>
          <a:noFill/>
        </p:spPr>
        <p:txBody>
          <a:bodyPr wrap="square">
            <a:spAutoFit/>
          </a:bodyPr>
          <a:lstStyle/>
          <a:p>
            <a:pPr>
              <a:buNone/>
            </a:pPr>
            <a:endParaRPr lang="en-IN" dirty="0"/>
          </a:p>
        </p:txBody>
      </p:sp>
      <p:pic>
        <p:nvPicPr>
          <p:cNvPr id="21" name="Picture 20">
            <a:extLst>
              <a:ext uri="{FF2B5EF4-FFF2-40B4-BE49-F238E27FC236}">
                <a16:creationId xmlns:a16="http://schemas.microsoft.com/office/drawing/2014/main" id="{B523AA76-94B4-E50E-ED18-81A00E921BB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92639" y="1081962"/>
            <a:ext cx="8848539" cy="5137862"/>
          </a:xfrm>
          <a:prstGeom prst="rect">
            <a:avLst/>
          </a:prstGeom>
        </p:spPr>
      </p:pic>
    </p:spTree>
    <p:extLst>
      <p:ext uri="{BB962C8B-B14F-4D97-AF65-F5344CB8AC3E}">
        <p14:creationId xmlns:p14="http://schemas.microsoft.com/office/powerpoint/2010/main" val="3886584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D9A71-2232-8DE3-0175-09F3F03AFF9E}"/>
              </a:ext>
            </a:extLst>
          </p:cNvPr>
          <p:cNvSpPr>
            <a:spLocks noGrp="1"/>
          </p:cNvSpPr>
          <p:nvPr>
            <p:ph type="title"/>
          </p:nvPr>
        </p:nvSpPr>
        <p:spPr>
          <a:xfrm>
            <a:off x="1239034" y="802491"/>
            <a:ext cx="10515600" cy="365125"/>
          </a:xfrm>
        </p:spPr>
        <p:txBody>
          <a:bodyPr>
            <a:normAutofit fontScale="90000"/>
          </a:bodyPr>
          <a:lstStyle/>
          <a:p>
            <a:r>
              <a:rPr lang="en-US" dirty="0"/>
              <a:t>Iterative Binary Search in C</a:t>
            </a:r>
            <a:endParaRPr lang="en-IN" dirty="0"/>
          </a:p>
        </p:txBody>
      </p:sp>
      <p:sp>
        <p:nvSpPr>
          <p:cNvPr id="3" name="Footer Placeholder 2">
            <a:extLst>
              <a:ext uri="{FF2B5EF4-FFF2-40B4-BE49-F238E27FC236}">
                <a16:creationId xmlns:a16="http://schemas.microsoft.com/office/drawing/2014/main" id="{9A815C44-CBA9-A3FA-441D-DC5F88552B17}"/>
              </a:ext>
            </a:extLst>
          </p:cNvPr>
          <p:cNvSpPr>
            <a:spLocks noGrp="1"/>
          </p:cNvSpPr>
          <p:nvPr>
            <p:ph type="ftr" sz="quarter" idx="11"/>
          </p:nvPr>
        </p:nvSpPr>
        <p:spPr/>
        <p:txBody>
          <a:bodyPr/>
          <a:lstStyle/>
          <a:p>
            <a:r>
              <a:rPr lang="en-IN"/>
              <a:t>Galgotias University</a:t>
            </a:r>
          </a:p>
        </p:txBody>
      </p:sp>
      <p:sp>
        <p:nvSpPr>
          <p:cNvPr id="4" name="Slide Number Placeholder 3">
            <a:extLst>
              <a:ext uri="{FF2B5EF4-FFF2-40B4-BE49-F238E27FC236}">
                <a16:creationId xmlns:a16="http://schemas.microsoft.com/office/drawing/2014/main" id="{68640C80-F96B-9B1F-7321-70DD2D554C8B}"/>
              </a:ext>
            </a:extLst>
          </p:cNvPr>
          <p:cNvSpPr>
            <a:spLocks noGrp="1"/>
          </p:cNvSpPr>
          <p:nvPr>
            <p:ph type="sldNum" sz="quarter" idx="12"/>
          </p:nvPr>
        </p:nvSpPr>
        <p:spPr/>
        <p:txBody>
          <a:bodyPr/>
          <a:lstStyle/>
          <a:p>
            <a:fld id="{26510230-8DD5-4BA5-AB2D-CA30FC08F9D7}" type="slidenum">
              <a:rPr lang="en-IN" smtClean="0"/>
              <a:t>13</a:t>
            </a:fld>
            <a:endParaRPr lang="en-IN"/>
          </a:p>
        </p:txBody>
      </p:sp>
      <p:pic>
        <p:nvPicPr>
          <p:cNvPr id="7" name="Picture 6" descr="A blue circle with text and words&#10;&#10;Description automatically generated">
            <a:extLst>
              <a:ext uri="{FF2B5EF4-FFF2-40B4-BE49-F238E27FC236}">
                <a16:creationId xmlns:a16="http://schemas.microsoft.com/office/drawing/2014/main" id="{C8327E87-CD8A-5BE4-CDDF-7BF4D183DDE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17268" y="-72241"/>
            <a:ext cx="874732" cy="874732"/>
          </a:xfrm>
          <a:prstGeom prst="rect">
            <a:avLst/>
          </a:prstGeom>
        </p:spPr>
      </p:pic>
      <p:pic>
        <p:nvPicPr>
          <p:cNvPr id="8" name="Picture 7">
            <a:extLst>
              <a:ext uri="{FF2B5EF4-FFF2-40B4-BE49-F238E27FC236}">
                <a16:creationId xmlns:a16="http://schemas.microsoft.com/office/drawing/2014/main" id="{8D463342-530D-0B8B-75C1-D6A62147F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3795634" cy="740238"/>
          </a:xfrm>
          <a:prstGeom prst="rect">
            <a:avLst/>
          </a:prstGeom>
        </p:spPr>
      </p:pic>
      <p:sp>
        <p:nvSpPr>
          <p:cNvPr id="13" name="TextBox 12">
            <a:extLst>
              <a:ext uri="{FF2B5EF4-FFF2-40B4-BE49-F238E27FC236}">
                <a16:creationId xmlns:a16="http://schemas.microsoft.com/office/drawing/2014/main" id="{D8AC5FEB-59DC-D0ED-0C3F-0384F77AFFE8}"/>
              </a:ext>
            </a:extLst>
          </p:cNvPr>
          <p:cNvSpPr txBox="1"/>
          <p:nvPr/>
        </p:nvSpPr>
        <p:spPr>
          <a:xfrm>
            <a:off x="989309" y="1555036"/>
            <a:ext cx="6098582" cy="4801314"/>
          </a:xfrm>
          <a:prstGeom prst="rect">
            <a:avLst/>
          </a:prstGeom>
          <a:noFill/>
        </p:spPr>
        <p:txBody>
          <a:bodyPr wrap="square">
            <a:spAutoFit/>
          </a:bodyPr>
          <a:lstStyle/>
          <a:p>
            <a:r>
              <a:rPr lang="en-US" dirty="0"/>
              <a:t>// Iterative Binary Search function</a:t>
            </a:r>
          </a:p>
          <a:p>
            <a:r>
              <a:rPr lang="en-US" dirty="0"/>
              <a:t>int </a:t>
            </a:r>
            <a:r>
              <a:rPr lang="en-US" dirty="0" err="1"/>
              <a:t>binarySearchIterative</a:t>
            </a:r>
            <a:r>
              <a:rPr lang="en-US" dirty="0"/>
              <a:t>(int </a:t>
            </a:r>
            <a:r>
              <a:rPr lang="en-US" dirty="0" err="1"/>
              <a:t>arr</a:t>
            </a:r>
            <a:r>
              <a:rPr lang="en-US" dirty="0"/>
              <a:t>[], int n, int key) {</a:t>
            </a:r>
          </a:p>
          <a:p>
            <a:r>
              <a:rPr lang="en-US" dirty="0"/>
              <a:t>    int low = 0, high = n - 1;</a:t>
            </a:r>
          </a:p>
          <a:p>
            <a:endParaRPr lang="en-US" dirty="0"/>
          </a:p>
          <a:p>
            <a:r>
              <a:rPr lang="en-US" dirty="0"/>
              <a:t>    while (low &lt;= high) {</a:t>
            </a:r>
          </a:p>
          <a:p>
            <a:r>
              <a:rPr lang="en-US" dirty="0"/>
              <a:t>        int mid = (low + high) / 2;</a:t>
            </a:r>
          </a:p>
          <a:p>
            <a:endParaRPr lang="en-US" dirty="0"/>
          </a:p>
          <a:p>
            <a:r>
              <a:rPr lang="en-US" dirty="0"/>
              <a:t>        if (</a:t>
            </a:r>
            <a:r>
              <a:rPr lang="en-US" dirty="0" err="1"/>
              <a:t>arr</a:t>
            </a:r>
            <a:r>
              <a:rPr lang="en-US" dirty="0"/>
              <a:t>[mid] == key)</a:t>
            </a:r>
          </a:p>
          <a:p>
            <a:r>
              <a:rPr lang="en-US" dirty="0"/>
              <a:t>            return mid;   // Key found</a:t>
            </a:r>
          </a:p>
          <a:p>
            <a:r>
              <a:rPr lang="en-US" dirty="0"/>
              <a:t>        else if (key &lt; </a:t>
            </a:r>
            <a:r>
              <a:rPr lang="en-US" dirty="0" err="1"/>
              <a:t>arr</a:t>
            </a:r>
            <a:r>
              <a:rPr lang="en-US" dirty="0"/>
              <a:t>[mid])</a:t>
            </a:r>
          </a:p>
          <a:p>
            <a:r>
              <a:rPr lang="en-US" dirty="0"/>
              <a:t>            high = mid - 1;  // Search in left half</a:t>
            </a:r>
          </a:p>
          <a:p>
            <a:r>
              <a:rPr lang="en-US" dirty="0"/>
              <a:t>        else</a:t>
            </a:r>
          </a:p>
          <a:p>
            <a:r>
              <a:rPr lang="en-US" dirty="0"/>
              <a:t>            low = mid + 1;   // Search in right half</a:t>
            </a:r>
          </a:p>
          <a:p>
            <a:r>
              <a:rPr lang="en-US" dirty="0"/>
              <a:t>    }</a:t>
            </a:r>
          </a:p>
          <a:p>
            <a:endParaRPr lang="en-US" dirty="0"/>
          </a:p>
          <a:p>
            <a:r>
              <a:rPr lang="en-US" dirty="0"/>
              <a:t>    return -1;  // Key not found</a:t>
            </a:r>
          </a:p>
          <a:p>
            <a:r>
              <a:rPr lang="en-US" dirty="0"/>
              <a:t>}</a:t>
            </a:r>
            <a:endParaRPr lang="en-IN" dirty="0"/>
          </a:p>
        </p:txBody>
      </p:sp>
    </p:spTree>
    <p:extLst>
      <p:ext uri="{BB962C8B-B14F-4D97-AF65-F5344CB8AC3E}">
        <p14:creationId xmlns:p14="http://schemas.microsoft.com/office/powerpoint/2010/main" val="10449391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err="1"/>
              <a:t>Galgotias</a:t>
            </a:r>
            <a:r>
              <a:rPr lang="en-IN" dirty="0"/>
              <a:t> University</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14</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br>
              <a:rPr lang="en-US" sz="2800" b="1" dirty="0">
                <a:latin typeface="Tahoma" panose="020B0604030504040204" pitchFamily="34" charset="0"/>
                <a:ea typeface="Tahoma" panose="020B0604030504040204" pitchFamily="34" charset="0"/>
                <a:cs typeface="Tahoma" panose="020B0604030504040204" pitchFamily="34" charset="0"/>
              </a:rPr>
            </a:br>
            <a:br>
              <a:rPr lang="en-US" sz="2800" b="1" dirty="0">
                <a:latin typeface="Tahoma" panose="020B0604030504040204" pitchFamily="34" charset="0"/>
                <a:ea typeface="Tahoma" panose="020B0604030504040204" pitchFamily="34" charset="0"/>
                <a:cs typeface="Tahoma" panose="020B0604030504040204" pitchFamily="34" charset="0"/>
              </a:rPr>
            </a:br>
            <a:r>
              <a:rPr lang="en-US" sz="2800" dirty="0"/>
              <a:t>Recursive Binary Search in C</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35372BEC-C0BE-8B8E-FFFF-97C0F922807B}"/>
              </a:ext>
            </a:extLst>
          </p:cNvPr>
          <p:cNvSpPr txBox="1"/>
          <p:nvPr/>
        </p:nvSpPr>
        <p:spPr>
          <a:xfrm>
            <a:off x="838200" y="1256190"/>
            <a:ext cx="10795098" cy="523220"/>
          </a:xfrm>
          <a:prstGeom prst="rect">
            <a:avLst/>
          </a:prstGeom>
          <a:noFill/>
        </p:spPr>
        <p:txBody>
          <a:bodyPr wrap="square">
            <a:spAutoFit/>
          </a:bodyPr>
          <a:lstStyle/>
          <a:p>
            <a:pPr marL="514350" lvl="0" indent="-514350" algn="just">
              <a:buAutoNum type="arabicPeriod"/>
            </a:pPr>
            <a:endParaRPr lang="en-US" sz="2800" dirty="0"/>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19" name="TextBox 18">
            <a:extLst>
              <a:ext uri="{FF2B5EF4-FFF2-40B4-BE49-F238E27FC236}">
                <a16:creationId xmlns:a16="http://schemas.microsoft.com/office/drawing/2014/main" id="{BD4E9CB7-9876-1829-32E8-8C4E07FD94D2}"/>
              </a:ext>
            </a:extLst>
          </p:cNvPr>
          <p:cNvSpPr txBox="1"/>
          <p:nvPr/>
        </p:nvSpPr>
        <p:spPr>
          <a:xfrm>
            <a:off x="1162667" y="1606560"/>
            <a:ext cx="6098582" cy="3970318"/>
          </a:xfrm>
          <a:prstGeom prst="rect">
            <a:avLst/>
          </a:prstGeom>
          <a:noFill/>
        </p:spPr>
        <p:txBody>
          <a:bodyPr wrap="square">
            <a:spAutoFit/>
          </a:bodyPr>
          <a:lstStyle/>
          <a:p>
            <a:r>
              <a:rPr lang="en-US" dirty="0"/>
              <a:t>/ Recursive Binary Search function</a:t>
            </a:r>
          </a:p>
          <a:p>
            <a:r>
              <a:rPr lang="en-US" dirty="0"/>
              <a:t>int </a:t>
            </a:r>
            <a:r>
              <a:rPr lang="en-US" dirty="0" err="1"/>
              <a:t>binarySearchRecursive</a:t>
            </a:r>
            <a:r>
              <a:rPr lang="en-US" dirty="0"/>
              <a:t>(int </a:t>
            </a:r>
            <a:r>
              <a:rPr lang="en-US" dirty="0" err="1"/>
              <a:t>arr</a:t>
            </a:r>
            <a:r>
              <a:rPr lang="en-US" dirty="0"/>
              <a:t>[], int low, int high, int key) {</a:t>
            </a:r>
          </a:p>
          <a:p>
            <a:r>
              <a:rPr lang="en-US" dirty="0"/>
              <a:t>    if (low &gt; high)</a:t>
            </a:r>
          </a:p>
          <a:p>
            <a:r>
              <a:rPr lang="en-US" dirty="0"/>
              <a:t>        return -1;  // Key not found</a:t>
            </a:r>
          </a:p>
          <a:p>
            <a:endParaRPr lang="en-US" dirty="0"/>
          </a:p>
          <a:p>
            <a:r>
              <a:rPr lang="en-US" dirty="0"/>
              <a:t>    int mid = (low + high) / 2;</a:t>
            </a:r>
          </a:p>
          <a:p>
            <a:endParaRPr lang="en-US" dirty="0"/>
          </a:p>
          <a:p>
            <a:r>
              <a:rPr lang="en-US" dirty="0"/>
              <a:t>    if (</a:t>
            </a:r>
            <a:r>
              <a:rPr lang="en-US" dirty="0" err="1"/>
              <a:t>arr</a:t>
            </a:r>
            <a:r>
              <a:rPr lang="en-US" dirty="0"/>
              <a:t>[mid] == key)</a:t>
            </a:r>
          </a:p>
          <a:p>
            <a:r>
              <a:rPr lang="en-US" dirty="0"/>
              <a:t>        return mid;</a:t>
            </a:r>
          </a:p>
          <a:p>
            <a:r>
              <a:rPr lang="en-US" dirty="0"/>
              <a:t>    else if (key &lt; </a:t>
            </a:r>
            <a:r>
              <a:rPr lang="en-US" dirty="0" err="1"/>
              <a:t>arr</a:t>
            </a:r>
            <a:r>
              <a:rPr lang="en-US" dirty="0"/>
              <a:t>[mid])</a:t>
            </a:r>
          </a:p>
          <a:p>
            <a:r>
              <a:rPr lang="en-US" dirty="0"/>
              <a:t>        return </a:t>
            </a:r>
            <a:r>
              <a:rPr lang="en-US" dirty="0" err="1"/>
              <a:t>binarySearchRecursive</a:t>
            </a:r>
            <a:r>
              <a:rPr lang="en-US" dirty="0"/>
              <a:t>(</a:t>
            </a:r>
            <a:r>
              <a:rPr lang="en-US" dirty="0" err="1"/>
              <a:t>arr</a:t>
            </a:r>
            <a:r>
              <a:rPr lang="en-US" dirty="0"/>
              <a:t>, low, mid - 1, key);</a:t>
            </a:r>
          </a:p>
          <a:p>
            <a:r>
              <a:rPr lang="en-US" dirty="0"/>
              <a:t>    else</a:t>
            </a:r>
          </a:p>
          <a:p>
            <a:r>
              <a:rPr lang="en-US" dirty="0"/>
              <a:t>        return </a:t>
            </a:r>
            <a:r>
              <a:rPr lang="en-US" dirty="0" err="1"/>
              <a:t>binarySearchRecursive</a:t>
            </a:r>
            <a:r>
              <a:rPr lang="en-US" dirty="0"/>
              <a:t>(</a:t>
            </a:r>
            <a:r>
              <a:rPr lang="en-US" dirty="0" err="1"/>
              <a:t>arr</a:t>
            </a:r>
            <a:r>
              <a:rPr lang="en-US" dirty="0"/>
              <a:t>, mid + 1, high, key);</a:t>
            </a:r>
          </a:p>
          <a:p>
            <a:r>
              <a:rPr lang="en-US" dirty="0"/>
              <a:t>}</a:t>
            </a:r>
            <a:endParaRPr lang="en-IN" dirty="0"/>
          </a:p>
        </p:txBody>
      </p:sp>
    </p:spTree>
    <p:extLst>
      <p:ext uri="{BB962C8B-B14F-4D97-AF65-F5344CB8AC3E}">
        <p14:creationId xmlns:p14="http://schemas.microsoft.com/office/powerpoint/2010/main" val="2096714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AC84D04-41CA-6E97-EFFB-559B6F6A464E}"/>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152DDEC7-A318-B5ED-6B24-23EF9A30C035}"/>
              </a:ext>
            </a:extLst>
          </p:cNvPr>
          <p:cNvSpPr>
            <a:spLocks noGrp="1"/>
          </p:cNvSpPr>
          <p:nvPr>
            <p:ph type="sldNum" sz="quarter" idx="12"/>
          </p:nvPr>
        </p:nvSpPr>
        <p:spPr/>
        <p:txBody>
          <a:bodyPr/>
          <a:lstStyle/>
          <a:p>
            <a:fld id="{26510230-8DD5-4BA5-AB2D-CA30FC08F9D7}" type="slidenum">
              <a:rPr lang="en-IN" smtClean="0"/>
              <a:t>15</a:t>
            </a:fld>
            <a:endParaRPr lang="en-IN" dirty="0"/>
          </a:p>
        </p:txBody>
      </p:sp>
      <p:pic>
        <p:nvPicPr>
          <p:cNvPr id="7" name="Picture 6" descr="A blue circle with text and words&#10;&#10;Description automatically generated">
            <a:extLst>
              <a:ext uri="{FF2B5EF4-FFF2-40B4-BE49-F238E27FC236}">
                <a16:creationId xmlns:a16="http://schemas.microsoft.com/office/drawing/2014/main" id="{A15F0BA4-6591-B48C-8EDD-9EEE5C06637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3" name="Rectangle 2"/>
          <p:cNvSpPr/>
          <p:nvPr/>
        </p:nvSpPr>
        <p:spPr>
          <a:xfrm>
            <a:off x="10671589" y="1051175"/>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[5-mins]</a:t>
            </a:r>
          </a:p>
        </p:txBody>
      </p:sp>
      <p:pic>
        <p:nvPicPr>
          <p:cNvPr id="10" name="Picture 9">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65002"/>
            <a:ext cx="3795634" cy="740238"/>
          </a:xfrm>
          <a:prstGeom prst="rect">
            <a:avLst/>
          </a:prstGeom>
        </p:spPr>
      </p:pic>
      <p:sp>
        <p:nvSpPr>
          <p:cNvPr id="8" name="TextBox 7">
            <a:extLst>
              <a:ext uri="{FF2B5EF4-FFF2-40B4-BE49-F238E27FC236}">
                <a16:creationId xmlns:a16="http://schemas.microsoft.com/office/drawing/2014/main" id="{D89D3E8A-FBB7-5910-0391-5402725D49F4}"/>
              </a:ext>
            </a:extLst>
          </p:cNvPr>
          <p:cNvSpPr txBox="1"/>
          <p:nvPr/>
        </p:nvSpPr>
        <p:spPr>
          <a:xfrm>
            <a:off x="4169044" y="535121"/>
            <a:ext cx="6209813" cy="954107"/>
          </a:xfrm>
          <a:prstGeom prst="rect">
            <a:avLst/>
          </a:prstGeom>
          <a:noFill/>
        </p:spPr>
        <p:txBody>
          <a:bodyPr wrap="square">
            <a:spAutoFit/>
          </a:bodyPr>
          <a:lstStyle/>
          <a:p>
            <a:r>
              <a:rPr lang="en-US" sz="2800" dirty="0"/>
              <a:t>Time and space complexity of Binary Search</a:t>
            </a:r>
            <a:endParaRPr lang="en-IN" sz="2800" b="1" dirty="0"/>
          </a:p>
        </p:txBody>
      </p:sp>
      <p:sp>
        <p:nvSpPr>
          <p:cNvPr id="15" name="TextBox 14">
            <a:extLst>
              <a:ext uri="{FF2B5EF4-FFF2-40B4-BE49-F238E27FC236}">
                <a16:creationId xmlns:a16="http://schemas.microsoft.com/office/drawing/2014/main" id="{99BBA070-4015-96AE-D36F-90B37CCFFE63}"/>
              </a:ext>
            </a:extLst>
          </p:cNvPr>
          <p:cNvSpPr txBox="1"/>
          <p:nvPr/>
        </p:nvSpPr>
        <p:spPr>
          <a:xfrm>
            <a:off x="1034512" y="1979318"/>
            <a:ext cx="8062993" cy="3416320"/>
          </a:xfrm>
          <a:prstGeom prst="rect">
            <a:avLst/>
          </a:prstGeom>
          <a:noFill/>
        </p:spPr>
        <p:txBody>
          <a:bodyPr wrap="square">
            <a:spAutoFit/>
          </a:bodyPr>
          <a:lstStyle/>
          <a:p>
            <a:pPr>
              <a:buNone/>
            </a:pPr>
            <a:r>
              <a:rPr lang="en-US" dirty="0"/>
              <a:t>Each step cuts the array size </a:t>
            </a:r>
            <a:r>
              <a:rPr lang="en-US" b="1" dirty="0"/>
              <a:t>in half</a:t>
            </a:r>
            <a:r>
              <a:rPr lang="en-US" dirty="0"/>
              <a:t>.</a:t>
            </a:r>
          </a:p>
          <a:p>
            <a:pPr>
              <a:buNone/>
            </a:pPr>
            <a:r>
              <a:rPr lang="en-US" dirty="0"/>
              <a:t>T(n)=T(n/2)+1 (where +1 is for the comparison with the middle element).</a:t>
            </a:r>
          </a:p>
          <a:p>
            <a:pPr>
              <a:buNone/>
            </a:pPr>
            <a:endParaRPr lang="en-US" dirty="0"/>
          </a:p>
          <a:p>
            <a:r>
              <a:rPr lang="en-IN" b="1" dirty="0"/>
              <a:t>Solve the Recurrence</a:t>
            </a:r>
          </a:p>
          <a:p>
            <a:r>
              <a:rPr lang="en-IN" dirty="0"/>
              <a:t>Expand it step by step:</a:t>
            </a:r>
          </a:p>
          <a:p>
            <a:r>
              <a:rPr lang="en-IN" dirty="0"/>
              <a:t>T(n)=T(n/2​)+1 </a:t>
            </a:r>
          </a:p>
          <a:p>
            <a:r>
              <a:rPr lang="en-IN" dirty="0"/>
              <a:t>=T(n/4)+1+1 </a:t>
            </a:r>
          </a:p>
          <a:p>
            <a:r>
              <a:rPr lang="en-IN" dirty="0"/>
              <a:t>=T(n/8)+1+1+1    </a:t>
            </a:r>
            <a:r>
              <a:rPr lang="en-US" dirty="0"/>
              <a:t>until the array size becomes 1.</a:t>
            </a:r>
          </a:p>
          <a:p>
            <a:endParaRPr lang="en-US" dirty="0"/>
          </a:p>
          <a:p>
            <a:r>
              <a:rPr lang="en-IN" dirty="0"/>
              <a:t>That happens after </a:t>
            </a:r>
            <a:r>
              <a:rPr lang="en-IN" dirty="0" err="1"/>
              <a:t>kkk</a:t>
            </a:r>
            <a:r>
              <a:rPr lang="en-IN" dirty="0"/>
              <a:t> steps where:</a:t>
            </a:r>
          </a:p>
          <a:p>
            <a:r>
              <a:rPr lang="en-IN" dirty="0"/>
              <a:t>n/2</a:t>
            </a:r>
            <a:r>
              <a:rPr lang="en-IN" baseline="30000" dirty="0"/>
              <a:t>k</a:t>
            </a:r>
            <a:r>
              <a:rPr lang="en-IN" dirty="0"/>
              <a:t>=1⇒k=log</a:t>
            </a:r>
            <a:r>
              <a:rPr lang="en-IN" baseline="-25000" dirty="0"/>
              <a:t>⁡2</a:t>
            </a:r>
            <a:r>
              <a:rPr lang="en-IN" dirty="0"/>
              <a:t>n</a:t>
            </a:r>
          </a:p>
          <a:p>
            <a:r>
              <a:rPr lang="en-IN" dirty="0"/>
              <a:t>T(n) = log</a:t>
            </a:r>
            <a:r>
              <a:rPr lang="en-IN" baseline="-25000" dirty="0"/>
              <a:t>⁡2</a:t>
            </a:r>
            <a:r>
              <a:rPr lang="en-IN" dirty="0"/>
              <a:t>n  + 1</a:t>
            </a:r>
            <a:endParaRPr lang="en-US" dirty="0"/>
          </a:p>
        </p:txBody>
      </p:sp>
    </p:spTree>
    <p:extLst>
      <p:ext uri="{BB962C8B-B14F-4D97-AF65-F5344CB8AC3E}">
        <p14:creationId xmlns:p14="http://schemas.microsoft.com/office/powerpoint/2010/main" val="33835764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5526830-E174-5137-9903-9D84483E7804}"/>
              </a:ext>
            </a:extLst>
          </p:cNvPr>
          <p:cNvSpPr>
            <a:spLocks noGrp="1"/>
          </p:cNvSpPr>
          <p:nvPr>
            <p:ph type="ftr" sz="quarter" idx="11"/>
          </p:nvPr>
        </p:nvSpPr>
        <p:spPr/>
        <p:txBody>
          <a:bodyPr/>
          <a:lstStyle/>
          <a:p>
            <a:r>
              <a:rPr lang="en-IN"/>
              <a:t>Galgotias University</a:t>
            </a:r>
          </a:p>
        </p:txBody>
      </p:sp>
      <p:sp>
        <p:nvSpPr>
          <p:cNvPr id="3" name="Slide Number Placeholder 2">
            <a:extLst>
              <a:ext uri="{FF2B5EF4-FFF2-40B4-BE49-F238E27FC236}">
                <a16:creationId xmlns:a16="http://schemas.microsoft.com/office/drawing/2014/main" id="{63C1796B-FF8C-AA59-7FDD-46E889C8DBCE}"/>
              </a:ext>
            </a:extLst>
          </p:cNvPr>
          <p:cNvSpPr>
            <a:spLocks noGrp="1"/>
          </p:cNvSpPr>
          <p:nvPr>
            <p:ph type="sldNum" sz="quarter" idx="12"/>
          </p:nvPr>
        </p:nvSpPr>
        <p:spPr/>
        <p:txBody>
          <a:bodyPr/>
          <a:lstStyle/>
          <a:p>
            <a:fld id="{26510230-8DD5-4BA5-AB2D-CA30FC08F9D7}" type="slidenum">
              <a:rPr lang="en-IN" smtClean="0"/>
              <a:t>16</a:t>
            </a:fld>
            <a:endParaRPr lang="en-IN"/>
          </a:p>
        </p:txBody>
      </p:sp>
      <p:sp>
        <p:nvSpPr>
          <p:cNvPr id="7" name="TextBox 6">
            <a:extLst>
              <a:ext uri="{FF2B5EF4-FFF2-40B4-BE49-F238E27FC236}">
                <a16:creationId xmlns:a16="http://schemas.microsoft.com/office/drawing/2014/main" id="{B34FC4E7-90E9-8055-44E2-568A590DC9D1}"/>
              </a:ext>
            </a:extLst>
          </p:cNvPr>
          <p:cNvSpPr txBox="1"/>
          <p:nvPr/>
        </p:nvSpPr>
        <p:spPr>
          <a:xfrm>
            <a:off x="818828" y="852935"/>
            <a:ext cx="9349352" cy="2862322"/>
          </a:xfrm>
          <a:prstGeom prst="rect">
            <a:avLst/>
          </a:prstGeom>
          <a:noFill/>
        </p:spPr>
        <p:txBody>
          <a:bodyPr wrap="square">
            <a:spAutoFit/>
          </a:bodyPr>
          <a:lstStyle/>
          <a:p>
            <a:pPr>
              <a:buNone/>
            </a:pPr>
            <a:r>
              <a:rPr lang="en-IN" b="1" dirty="0"/>
              <a:t>Time Complexity</a:t>
            </a:r>
          </a:p>
          <a:p>
            <a:pPr>
              <a:buFont typeface="Arial" panose="020B0604020202020204" pitchFamily="34" charset="0"/>
              <a:buChar char="•"/>
            </a:pPr>
            <a:r>
              <a:rPr lang="en-IN" b="1" dirty="0"/>
              <a:t>Best Case:</a:t>
            </a:r>
            <a:endParaRPr lang="en-IN" dirty="0"/>
          </a:p>
          <a:p>
            <a:pPr marL="742950" lvl="1" indent="-285750">
              <a:buFont typeface="Arial" panose="020B0604020202020204" pitchFamily="34" charset="0"/>
              <a:buChar char="•"/>
            </a:pPr>
            <a:r>
              <a:rPr lang="en-IN" dirty="0"/>
              <a:t>If the middle element is the key → only 1 comparison.</a:t>
            </a:r>
          </a:p>
          <a:p>
            <a:pPr>
              <a:buFont typeface="Arial" panose="020B0604020202020204" pitchFamily="34" charset="0"/>
              <a:buChar char="•"/>
            </a:pPr>
            <a:r>
              <a:rPr lang="en-IN" dirty="0"/>
              <a:t>O(1)</a:t>
            </a:r>
          </a:p>
          <a:p>
            <a:pPr>
              <a:buFont typeface="Arial" panose="020B0604020202020204" pitchFamily="34" charset="0"/>
              <a:buChar char="•"/>
            </a:pPr>
            <a:r>
              <a:rPr lang="en-IN" b="1" dirty="0"/>
              <a:t>Worst Case:</a:t>
            </a:r>
            <a:endParaRPr lang="en-IN" dirty="0"/>
          </a:p>
          <a:p>
            <a:pPr marL="742950" lvl="1" indent="-285750">
              <a:buFont typeface="Arial" panose="020B0604020202020204" pitchFamily="34" charset="0"/>
              <a:buChar char="•"/>
            </a:pPr>
            <a:r>
              <a:rPr lang="en-IN" dirty="0"/>
              <a:t>Keep dividing until one element is left → log⁡</a:t>
            </a:r>
            <a:r>
              <a:rPr lang="en-IN" baseline="-25000" dirty="0"/>
              <a:t>2</a:t>
            </a:r>
            <a:r>
              <a:rPr lang="en-IN" dirty="0"/>
              <a:t>n comparisons.</a:t>
            </a:r>
          </a:p>
          <a:p>
            <a:pPr>
              <a:buFont typeface="Arial" panose="020B0604020202020204" pitchFamily="34" charset="0"/>
              <a:buChar char="•"/>
            </a:pPr>
            <a:r>
              <a:rPr lang="en-IN" dirty="0"/>
              <a:t>O(log⁡</a:t>
            </a:r>
            <a:r>
              <a:rPr lang="en-IN" baseline="-25000" dirty="0"/>
              <a:t>2</a:t>
            </a:r>
            <a:r>
              <a:rPr lang="en-IN" dirty="0"/>
              <a:t>n)</a:t>
            </a:r>
          </a:p>
          <a:p>
            <a:pPr>
              <a:buFont typeface="Arial" panose="020B0604020202020204" pitchFamily="34" charset="0"/>
              <a:buChar char="•"/>
            </a:pPr>
            <a:r>
              <a:rPr lang="en-IN" b="1" dirty="0"/>
              <a:t>Average Case:</a:t>
            </a:r>
            <a:endParaRPr lang="en-IN" dirty="0"/>
          </a:p>
          <a:p>
            <a:pPr marL="742950" lvl="1" indent="-285750">
              <a:buFont typeface="Arial" panose="020B0604020202020204" pitchFamily="34" charset="0"/>
              <a:buChar char="•"/>
            </a:pPr>
            <a:r>
              <a:rPr lang="en-IN" dirty="0"/>
              <a:t>Also about log⁡</a:t>
            </a:r>
            <a:r>
              <a:rPr lang="en-IN" baseline="-25000" dirty="0"/>
              <a:t>2</a:t>
            </a:r>
            <a:r>
              <a:rPr lang="en-IN" dirty="0"/>
              <a:t>n steps (since each search discards half).</a:t>
            </a:r>
          </a:p>
          <a:p>
            <a:pPr>
              <a:buFont typeface="Arial" panose="020B0604020202020204" pitchFamily="34" charset="0"/>
              <a:buChar char="•"/>
            </a:pPr>
            <a:r>
              <a:rPr lang="en-IN" dirty="0"/>
              <a:t>O(log⁡</a:t>
            </a:r>
            <a:r>
              <a:rPr lang="en-IN" baseline="-25000" dirty="0"/>
              <a:t>2</a:t>
            </a:r>
            <a:r>
              <a:rPr lang="en-IN" dirty="0"/>
              <a:t>n)</a:t>
            </a:r>
          </a:p>
        </p:txBody>
      </p:sp>
      <p:sp>
        <p:nvSpPr>
          <p:cNvPr id="9" name="TextBox 8">
            <a:extLst>
              <a:ext uri="{FF2B5EF4-FFF2-40B4-BE49-F238E27FC236}">
                <a16:creationId xmlns:a16="http://schemas.microsoft.com/office/drawing/2014/main" id="{8408ECB5-76FE-57E7-03DC-B07EEA81A751}"/>
              </a:ext>
            </a:extLst>
          </p:cNvPr>
          <p:cNvSpPr txBox="1"/>
          <p:nvPr/>
        </p:nvSpPr>
        <p:spPr>
          <a:xfrm>
            <a:off x="989308" y="3871097"/>
            <a:ext cx="10184969" cy="1754326"/>
          </a:xfrm>
          <a:prstGeom prst="rect">
            <a:avLst/>
          </a:prstGeom>
          <a:noFill/>
        </p:spPr>
        <p:txBody>
          <a:bodyPr wrap="square">
            <a:spAutoFit/>
          </a:bodyPr>
          <a:lstStyle/>
          <a:p>
            <a:pPr>
              <a:buNone/>
            </a:pPr>
            <a:r>
              <a:rPr lang="en-IN" b="1" dirty="0"/>
              <a:t>Space Complexity</a:t>
            </a:r>
          </a:p>
          <a:p>
            <a:pPr>
              <a:buFont typeface="Arial" panose="020B0604020202020204" pitchFamily="34" charset="0"/>
              <a:buChar char="•"/>
            </a:pPr>
            <a:r>
              <a:rPr lang="en-IN" b="1" dirty="0"/>
              <a:t>Iterative Binary Search:</a:t>
            </a:r>
            <a:r>
              <a:rPr lang="en-IN" dirty="0"/>
              <a:t> Uses only a few variables →</a:t>
            </a:r>
          </a:p>
          <a:p>
            <a:r>
              <a:rPr lang="en-IN" dirty="0"/>
              <a:t> O(1)</a:t>
            </a:r>
          </a:p>
          <a:p>
            <a:pPr>
              <a:buFont typeface="Arial" panose="020B0604020202020204" pitchFamily="34" charset="0"/>
              <a:buChar char="•"/>
            </a:pPr>
            <a:r>
              <a:rPr lang="en-IN" b="1" dirty="0"/>
              <a:t>Recursive Binary Search:</a:t>
            </a:r>
            <a:r>
              <a:rPr lang="en-IN" dirty="0"/>
              <a:t> Each recursive call adds to call stack.</a:t>
            </a:r>
            <a:br>
              <a:rPr lang="en-IN" dirty="0"/>
            </a:br>
            <a:r>
              <a:rPr lang="en-IN" dirty="0"/>
              <a:t>Depth of recursion = log⁡</a:t>
            </a:r>
            <a:r>
              <a:rPr lang="en-IN" baseline="-25000" dirty="0"/>
              <a:t>2</a:t>
            </a:r>
            <a:r>
              <a:rPr lang="en-IN" dirty="0"/>
              <a:t>n</a:t>
            </a:r>
          </a:p>
          <a:p>
            <a:r>
              <a:rPr lang="en-IN" dirty="0"/>
              <a:t> O(log⁡ n)</a:t>
            </a:r>
          </a:p>
        </p:txBody>
      </p:sp>
      <p:pic>
        <p:nvPicPr>
          <p:cNvPr id="10" name="Picture 9" descr="A blue circle with text and words&#10;&#10;Description automatically generated">
            <a:extLst>
              <a:ext uri="{FF2B5EF4-FFF2-40B4-BE49-F238E27FC236}">
                <a16:creationId xmlns:a16="http://schemas.microsoft.com/office/drawing/2014/main" id="{556B64FF-24E9-094A-0CE7-B4D575E2DBE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11" name="Picture 10">
            <a:extLst>
              <a:ext uri="{FF2B5EF4-FFF2-40B4-BE49-F238E27FC236}">
                <a16:creationId xmlns:a16="http://schemas.microsoft.com/office/drawing/2014/main" id="{F738EACA-2623-D99F-46AA-085680CFE7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65002"/>
            <a:ext cx="3795634" cy="740238"/>
          </a:xfrm>
          <a:prstGeom prst="rect">
            <a:avLst/>
          </a:prstGeom>
        </p:spPr>
      </p:pic>
    </p:spTree>
    <p:extLst>
      <p:ext uri="{BB962C8B-B14F-4D97-AF65-F5344CB8AC3E}">
        <p14:creationId xmlns:p14="http://schemas.microsoft.com/office/powerpoint/2010/main" val="16310746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FFB321E9-A00F-7F50-7C42-A931141264C3}"/>
              </a:ext>
            </a:extLst>
          </p:cNvPr>
          <p:cNvGraphicFramePr>
            <a:graphicFrameLocks noGrp="1"/>
          </p:cNvGraphicFramePr>
          <p:nvPr>
            <p:extLst>
              <p:ext uri="{D42A27DB-BD31-4B8C-83A1-F6EECF244321}">
                <p14:modId xmlns:p14="http://schemas.microsoft.com/office/powerpoint/2010/main" val="1524103965"/>
              </p:ext>
            </p:extLst>
          </p:nvPr>
        </p:nvGraphicFramePr>
        <p:xfrm>
          <a:off x="883459" y="2310970"/>
          <a:ext cx="10425081" cy="4377306"/>
        </p:xfrm>
        <a:graphic>
          <a:graphicData uri="http://schemas.openxmlformats.org/drawingml/2006/table">
            <a:tbl>
              <a:tblPr/>
              <a:tblGrid>
                <a:gridCol w="3475027">
                  <a:extLst>
                    <a:ext uri="{9D8B030D-6E8A-4147-A177-3AD203B41FA5}">
                      <a16:colId xmlns:a16="http://schemas.microsoft.com/office/drawing/2014/main" val="629855398"/>
                    </a:ext>
                  </a:extLst>
                </a:gridCol>
                <a:gridCol w="3475027">
                  <a:extLst>
                    <a:ext uri="{9D8B030D-6E8A-4147-A177-3AD203B41FA5}">
                      <a16:colId xmlns:a16="http://schemas.microsoft.com/office/drawing/2014/main" val="940240073"/>
                    </a:ext>
                  </a:extLst>
                </a:gridCol>
                <a:gridCol w="3475027">
                  <a:extLst>
                    <a:ext uri="{9D8B030D-6E8A-4147-A177-3AD203B41FA5}">
                      <a16:colId xmlns:a16="http://schemas.microsoft.com/office/drawing/2014/main" val="1055583303"/>
                    </a:ext>
                  </a:extLst>
                </a:gridCol>
              </a:tblGrid>
              <a:tr h="362611">
                <a:tc>
                  <a:txBody>
                    <a:bodyPr/>
                    <a:lstStyle/>
                    <a:p>
                      <a:pPr>
                        <a:buNone/>
                      </a:pPr>
                      <a:r>
                        <a:rPr lang="en-IN" sz="1800" dirty="0"/>
                        <a:t>Feature</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a:t>Linear Search</a:t>
                      </a:r>
                      <a:endParaRPr lang="en-IN" sz="1800"/>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a:t>Binary Search</a:t>
                      </a:r>
                      <a:endParaRPr lang="en-IN" sz="1800"/>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7203504"/>
                  </a:ext>
                </a:extLst>
              </a:tr>
              <a:tr h="634570">
                <a:tc>
                  <a:txBody>
                    <a:bodyPr/>
                    <a:lstStyle/>
                    <a:p>
                      <a:pPr>
                        <a:buNone/>
                      </a:pPr>
                      <a:r>
                        <a:rPr lang="en-IN" sz="1800" b="1" dirty="0"/>
                        <a:t>Input Requirement</a:t>
                      </a:r>
                      <a:endParaRPr lang="en-IN" sz="1800" dirty="0"/>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Works on </a:t>
                      </a:r>
                      <a:r>
                        <a:rPr lang="en-US" sz="1800" b="1" dirty="0"/>
                        <a:t>unsorted or sorted</a:t>
                      </a:r>
                      <a:r>
                        <a:rPr lang="en-US" sz="1800" dirty="0"/>
                        <a:t> data</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Works </a:t>
                      </a:r>
                      <a:r>
                        <a:rPr lang="en-US" sz="1800" b="1"/>
                        <a:t>only on sorted</a:t>
                      </a:r>
                      <a:r>
                        <a:rPr lang="en-US" sz="1800"/>
                        <a:t> data</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7223947"/>
                  </a:ext>
                </a:extLst>
              </a:tr>
              <a:tr h="634570">
                <a:tc>
                  <a:txBody>
                    <a:bodyPr/>
                    <a:lstStyle/>
                    <a:p>
                      <a:pPr>
                        <a:buNone/>
                      </a:pPr>
                      <a:r>
                        <a:rPr lang="en-IN" sz="1800" b="1" dirty="0"/>
                        <a:t>Approach</a:t>
                      </a:r>
                      <a:endParaRPr lang="en-IN" sz="1800" dirty="0"/>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Sequentially checks each element</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Repeatedly divides array into halves (Divide &amp; Conquer)</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8198301"/>
                  </a:ext>
                </a:extLst>
              </a:tr>
              <a:tr h="634570">
                <a:tc>
                  <a:txBody>
                    <a:bodyPr/>
                    <a:lstStyle/>
                    <a:p>
                      <a:pPr>
                        <a:buNone/>
                      </a:pPr>
                      <a:r>
                        <a:rPr lang="en-IN" sz="1800" b="1" dirty="0"/>
                        <a:t>Best Case Time</a:t>
                      </a:r>
                      <a:endParaRPr lang="en-IN" sz="1800" dirty="0"/>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O(1) (element at first position)</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t>O(1) (element at middle)</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2996397"/>
                  </a:ext>
                </a:extLst>
              </a:tr>
              <a:tr h="362611">
                <a:tc>
                  <a:txBody>
                    <a:bodyPr/>
                    <a:lstStyle/>
                    <a:p>
                      <a:pPr>
                        <a:buNone/>
                      </a:pPr>
                      <a:r>
                        <a:rPr lang="en-IN" sz="1800" b="1" dirty="0"/>
                        <a:t>Worst Case Time</a:t>
                      </a:r>
                      <a:endParaRPr lang="en-IN" sz="1800" dirty="0"/>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t>O(n)</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800" dirty="0"/>
                        <a:t>O(log⁡</a:t>
                      </a:r>
                      <a:r>
                        <a:rPr lang="pt-BR" sz="1800" baseline="-25000" dirty="0"/>
                        <a:t>2</a:t>
                      </a:r>
                      <a:r>
                        <a:rPr lang="pt-BR" sz="1800" dirty="0"/>
                        <a:t> n)</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2998635"/>
                  </a:ext>
                </a:extLst>
              </a:tr>
              <a:tr h="362611">
                <a:tc>
                  <a:txBody>
                    <a:bodyPr/>
                    <a:lstStyle/>
                    <a:p>
                      <a:pPr>
                        <a:buNone/>
                      </a:pPr>
                      <a:r>
                        <a:rPr lang="en-IN" sz="1800" b="1" dirty="0"/>
                        <a:t>Average Case Time</a:t>
                      </a:r>
                      <a:endParaRPr lang="en-IN" sz="1800" dirty="0"/>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t>O(n)</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800" dirty="0"/>
                        <a:t>O(log⁡</a:t>
                      </a:r>
                      <a:r>
                        <a:rPr lang="pt-BR" sz="1800" baseline="-25000" dirty="0"/>
                        <a:t>2</a:t>
                      </a:r>
                      <a:r>
                        <a:rPr lang="pt-BR" sz="1800" dirty="0"/>
                        <a:t> n)</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1478562"/>
                  </a:ext>
                </a:extLst>
              </a:tr>
              <a:tr h="634570">
                <a:tc>
                  <a:txBody>
                    <a:bodyPr/>
                    <a:lstStyle/>
                    <a:p>
                      <a:pPr>
                        <a:buNone/>
                      </a:pPr>
                      <a:r>
                        <a:rPr lang="en-IN" sz="1800" b="1" dirty="0"/>
                        <a:t>Space Complexity</a:t>
                      </a:r>
                      <a:endParaRPr lang="en-IN" sz="1800" dirty="0"/>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t>O(1)</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800" dirty="0"/>
                        <a:t>Iterative: O(1), Recursive: O(log⁡</a:t>
                      </a:r>
                      <a:r>
                        <a:rPr lang="pt-BR" sz="1800" baseline="-25000" dirty="0"/>
                        <a:t>2</a:t>
                      </a:r>
                      <a:r>
                        <a:rPr lang="pt-BR" sz="1800" dirty="0"/>
                        <a:t> n)</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0575549"/>
                  </a:ext>
                </a:extLst>
              </a:tr>
              <a:tr h="362611">
                <a:tc>
                  <a:txBody>
                    <a:bodyPr/>
                    <a:lstStyle/>
                    <a:p>
                      <a:pPr>
                        <a:buNone/>
                      </a:pPr>
                      <a:r>
                        <a:rPr lang="en-IN" sz="1800" b="1" dirty="0"/>
                        <a:t>Ease of Implementation</a:t>
                      </a:r>
                      <a:endParaRPr lang="en-IN" sz="1800" dirty="0"/>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Very simple</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Slightly more complex</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2018051"/>
                  </a:ext>
                </a:extLst>
              </a:tr>
              <a:tr h="362611">
                <a:tc>
                  <a:txBody>
                    <a:bodyPr/>
                    <a:lstStyle/>
                    <a:p>
                      <a:pPr>
                        <a:buNone/>
                      </a:pPr>
                      <a:r>
                        <a:rPr lang="en-IN" sz="1800" b="1" dirty="0"/>
                        <a:t>Use Case</a:t>
                      </a:r>
                      <a:endParaRPr lang="en-IN" sz="1800" dirty="0"/>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t>Small or unsorted datasets</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t>Large sorted datasets</a:t>
                      </a:r>
                    </a:p>
                  </a:txBody>
                  <a:tcPr marL="90653" marR="90653" marT="45326" marB="4532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1973891"/>
                  </a:ext>
                </a:extLst>
              </a:tr>
            </a:tbl>
          </a:graphicData>
        </a:graphic>
      </p:graphicFrame>
      <p:pic>
        <p:nvPicPr>
          <p:cNvPr id="6" name="Picture 5" descr="A blue circle with text and words&#10;&#10;Description automatically generated">
            <a:extLst>
              <a:ext uri="{FF2B5EF4-FFF2-40B4-BE49-F238E27FC236}">
                <a16:creationId xmlns:a16="http://schemas.microsoft.com/office/drawing/2014/main" id="{7F49D01F-B79F-6FDD-AEFA-173A28A2E2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10" name="Picture 9">
            <a:extLst>
              <a:ext uri="{FF2B5EF4-FFF2-40B4-BE49-F238E27FC236}">
                <a16:creationId xmlns:a16="http://schemas.microsoft.com/office/drawing/2014/main" id="{5F306440-FDA4-027A-81D7-07B854D74A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65002"/>
            <a:ext cx="3795634" cy="740238"/>
          </a:xfrm>
          <a:prstGeom prst="rect">
            <a:avLst/>
          </a:prstGeom>
        </p:spPr>
      </p:pic>
      <p:sp>
        <p:nvSpPr>
          <p:cNvPr id="14" name="TextBox 13">
            <a:extLst>
              <a:ext uri="{FF2B5EF4-FFF2-40B4-BE49-F238E27FC236}">
                <a16:creationId xmlns:a16="http://schemas.microsoft.com/office/drawing/2014/main" id="{76452498-505D-AB40-627D-FCAE5BD8E5FC}"/>
              </a:ext>
            </a:extLst>
          </p:cNvPr>
          <p:cNvSpPr txBox="1"/>
          <p:nvPr/>
        </p:nvSpPr>
        <p:spPr>
          <a:xfrm>
            <a:off x="3046708" y="1127230"/>
            <a:ext cx="6098582" cy="461665"/>
          </a:xfrm>
          <a:prstGeom prst="rect">
            <a:avLst/>
          </a:prstGeom>
          <a:noFill/>
        </p:spPr>
        <p:txBody>
          <a:bodyPr wrap="square">
            <a:spAutoFit/>
          </a:bodyPr>
          <a:lstStyle/>
          <a:p>
            <a:r>
              <a:rPr lang="en-US" sz="2400" b="1" dirty="0"/>
              <a:t>Linear Search vs Binary Search</a:t>
            </a:r>
            <a:endParaRPr lang="en-IN" sz="2400" b="1" dirty="0"/>
          </a:p>
        </p:txBody>
      </p:sp>
    </p:spTree>
    <p:extLst>
      <p:ext uri="{BB962C8B-B14F-4D97-AF65-F5344CB8AC3E}">
        <p14:creationId xmlns:p14="http://schemas.microsoft.com/office/powerpoint/2010/main" val="2668686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78519F1-0B89-4EB4-3D62-C751E0DF0DAB}"/>
              </a:ext>
            </a:extLst>
          </p:cNvPr>
          <p:cNvSpPr>
            <a:spLocks noGrp="1"/>
          </p:cNvSpPr>
          <p:nvPr>
            <p:ph type="ftr" sz="quarter" idx="11"/>
          </p:nvPr>
        </p:nvSpPr>
        <p:spPr/>
        <p:txBody>
          <a:bodyPr/>
          <a:lstStyle/>
          <a:p>
            <a:r>
              <a:rPr lang="en-IN"/>
              <a:t>Galgotias University</a:t>
            </a:r>
          </a:p>
        </p:txBody>
      </p:sp>
      <p:sp>
        <p:nvSpPr>
          <p:cNvPr id="4" name="Slide Number Placeholder 3">
            <a:extLst>
              <a:ext uri="{FF2B5EF4-FFF2-40B4-BE49-F238E27FC236}">
                <a16:creationId xmlns:a16="http://schemas.microsoft.com/office/drawing/2014/main" id="{A771400C-45D1-B069-5B91-2105997511BD}"/>
              </a:ext>
            </a:extLst>
          </p:cNvPr>
          <p:cNvSpPr>
            <a:spLocks noGrp="1"/>
          </p:cNvSpPr>
          <p:nvPr>
            <p:ph type="sldNum" sz="quarter" idx="12"/>
          </p:nvPr>
        </p:nvSpPr>
        <p:spPr/>
        <p:txBody>
          <a:bodyPr/>
          <a:lstStyle/>
          <a:p>
            <a:fld id="{26510230-8DD5-4BA5-AB2D-CA30FC08F9D7}" type="slidenum">
              <a:rPr lang="en-IN" smtClean="0"/>
              <a:t>18</a:t>
            </a:fld>
            <a:endParaRPr lang="en-IN"/>
          </a:p>
        </p:txBody>
      </p:sp>
      <p:pic>
        <p:nvPicPr>
          <p:cNvPr id="5" name="Picture 4" descr="A blue circle with text and words&#10;&#10;Description automatically generated">
            <a:extLst>
              <a:ext uri="{FF2B5EF4-FFF2-40B4-BE49-F238E27FC236}">
                <a16:creationId xmlns:a16="http://schemas.microsoft.com/office/drawing/2014/main" id="{F48BF935-342D-FA5C-7B89-95045B1C250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0" name="TextBox 9">
            <a:extLst>
              <a:ext uri="{FF2B5EF4-FFF2-40B4-BE49-F238E27FC236}">
                <a16:creationId xmlns:a16="http://schemas.microsoft.com/office/drawing/2014/main" id="{F648FC53-1451-ED3C-9DED-9CEC86030A58}"/>
              </a:ext>
            </a:extLst>
          </p:cNvPr>
          <p:cNvSpPr txBox="1"/>
          <p:nvPr/>
        </p:nvSpPr>
        <p:spPr>
          <a:xfrm>
            <a:off x="3169170" y="899733"/>
            <a:ext cx="6093500" cy="646331"/>
          </a:xfrm>
          <a:prstGeom prst="rect">
            <a:avLst/>
          </a:prstGeom>
          <a:noFill/>
        </p:spPr>
        <p:txBody>
          <a:bodyPr wrap="square">
            <a:spAutoFit/>
          </a:bodyPr>
          <a:lstStyle/>
          <a:p>
            <a:pPr algn="ctr"/>
            <a:r>
              <a:rPr lang="en-IN" sz="3600" dirty="0">
                <a:latin typeface="Tahoma" panose="020B0604030504040204" pitchFamily="34" charset="0"/>
                <a:ea typeface="Tahoma" panose="020B0604030504040204" pitchFamily="34" charset="0"/>
                <a:cs typeface="Tahoma" panose="020B0604030504040204" pitchFamily="34" charset="0"/>
              </a:rPr>
              <a:t>Assessment: </a:t>
            </a:r>
            <a:r>
              <a:rPr lang="en-IN" sz="3600" dirty="0" err="1">
                <a:latin typeface="Tahoma" panose="020B0604030504040204" pitchFamily="34" charset="0"/>
                <a:ea typeface="Tahoma" panose="020B0604030504040204" pitchFamily="34" charset="0"/>
                <a:cs typeface="Tahoma" panose="020B0604030504040204" pitchFamily="34" charset="0"/>
              </a:rPr>
              <a:t>WooFlash</a:t>
            </a:r>
            <a:r>
              <a:rPr lang="en-IN" sz="3600" dirty="0">
                <a:latin typeface="Tahoma" panose="020B0604030504040204" pitchFamily="34" charset="0"/>
                <a:ea typeface="Tahoma" panose="020B0604030504040204" pitchFamily="34" charset="0"/>
                <a:cs typeface="Tahoma" panose="020B0604030504040204" pitchFamily="34" charset="0"/>
              </a:rPr>
              <a:t> Quiz</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6" name="Picture 5">
            <a:extLst>
              <a:ext uri="{FF2B5EF4-FFF2-40B4-BE49-F238E27FC236}">
                <a16:creationId xmlns:a16="http://schemas.microsoft.com/office/drawing/2014/main" id="{AB3D667F-076A-BDDD-AE10-6322E8911116}"/>
              </a:ext>
            </a:extLst>
          </p:cNvPr>
          <p:cNvPicPr>
            <a:picLocks noChangeAspect="1"/>
          </p:cNvPicPr>
          <p:nvPr/>
        </p:nvPicPr>
        <p:blipFill>
          <a:blip r:embed="rId4"/>
          <a:stretch>
            <a:fillRect/>
          </a:stretch>
        </p:blipFill>
        <p:spPr>
          <a:xfrm>
            <a:off x="751114" y="1850570"/>
            <a:ext cx="9699172" cy="4410333"/>
          </a:xfrm>
          <a:prstGeom prst="rect">
            <a:avLst/>
          </a:prstGeom>
        </p:spPr>
      </p:pic>
    </p:spTree>
    <p:extLst>
      <p:ext uri="{BB962C8B-B14F-4D97-AF65-F5344CB8AC3E}">
        <p14:creationId xmlns:p14="http://schemas.microsoft.com/office/powerpoint/2010/main" val="14206710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19</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822739" y="821384"/>
            <a:ext cx="10373193" cy="646331"/>
          </a:xfrm>
          <a:prstGeom prst="rect">
            <a:avLst/>
          </a:prstGeom>
          <a:noFill/>
        </p:spPr>
        <p:txBody>
          <a:bodyPr wrap="square">
            <a:spAutoFit/>
          </a:bodyPr>
          <a:lstStyle/>
          <a:p>
            <a:pPr marR="0" lvl="0" algn="ctr" defTabSz="457200" rtl="0" eaLnBrk="1" fontAlgn="auto" latinLnBrk="0" hangingPunct="1">
              <a:lnSpc>
                <a:spcPct val="100000"/>
              </a:lnSpc>
              <a:spcBef>
                <a:spcPct val="20000"/>
              </a:spcBef>
              <a:spcAft>
                <a:spcPts val="0"/>
              </a:spcAft>
              <a:buClrTx/>
              <a:buSzTx/>
              <a:tabLst/>
              <a:defRPr/>
            </a:pPr>
            <a:r>
              <a:rPr kumimoji="0" lang="en-US" sz="36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Summary</a:t>
            </a:r>
          </a:p>
        </p:txBody>
      </p:sp>
      <p:sp>
        <p:nvSpPr>
          <p:cNvPr id="2" name="Rectangle 1"/>
          <p:cNvSpPr/>
          <p:nvPr/>
        </p:nvSpPr>
        <p:spPr>
          <a:xfrm>
            <a:off x="10671589" y="1051486"/>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[1-mins]</a:t>
            </a:r>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13" name="Picture 12">
            <a:extLst>
              <a:ext uri="{FF2B5EF4-FFF2-40B4-BE49-F238E27FC236}">
                <a16:creationId xmlns:a16="http://schemas.microsoft.com/office/drawing/2014/main" id="{323A4510-90FB-6295-87FD-18D41CF2749B}"/>
              </a:ext>
            </a:extLst>
          </p:cNvPr>
          <p:cNvPicPr>
            <a:picLocks noChangeAspect="1"/>
          </p:cNvPicPr>
          <p:nvPr/>
        </p:nvPicPr>
        <p:blipFill>
          <a:blip r:embed="rId4"/>
          <a:stretch>
            <a:fillRect/>
          </a:stretch>
        </p:blipFill>
        <p:spPr>
          <a:xfrm>
            <a:off x="2002749" y="1782305"/>
            <a:ext cx="6585058" cy="3704095"/>
          </a:xfrm>
          <a:prstGeom prst="rect">
            <a:avLst/>
          </a:prstGeom>
        </p:spPr>
      </p:pic>
    </p:spTree>
    <p:extLst>
      <p:ext uri="{BB962C8B-B14F-4D97-AF65-F5344CB8AC3E}">
        <p14:creationId xmlns:p14="http://schemas.microsoft.com/office/powerpoint/2010/main" val="7249981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1CFBB-90CA-B8D0-3CA3-B91218C685B5}"/>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8E47AC4D-1E2D-3898-E51F-4170D94D635D}"/>
              </a:ext>
            </a:extLst>
          </p:cNvPr>
          <p:cNvSpPr>
            <a:spLocks noGrp="1"/>
          </p:cNvSpPr>
          <p:nvPr>
            <p:ph type="title"/>
          </p:nvPr>
        </p:nvSpPr>
        <p:spPr>
          <a:xfrm>
            <a:off x="3890330" y="483460"/>
            <a:ext cx="5017695" cy="1136052"/>
          </a:xfrm>
        </p:spPr>
        <p:txBody>
          <a:bodyPr>
            <a:normAutofit/>
          </a:bodyPr>
          <a:lstStyle/>
          <a:p>
            <a:r>
              <a:rPr lang="en-IN" sz="3600" dirty="0">
                <a:latin typeface="Tahoma" panose="020B0604030504040204" pitchFamily="34" charset="0"/>
                <a:ea typeface="Tahoma" panose="020B0604030504040204" pitchFamily="34" charset="0"/>
                <a:cs typeface="Tahoma" panose="020B0604030504040204" pitchFamily="34" charset="0"/>
              </a:rPr>
              <a:t>Learning Outcomes</a:t>
            </a:r>
          </a:p>
        </p:txBody>
      </p:sp>
      <p:sp>
        <p:nvSpPr>
          <p:cNvPr id="3" name="Footer Placeholder 2">
            <a:extLst>
              <a:ext uri="{FF2B5EF4-FFF2-40B4-BE49-F238E27FC236}">
                <a16:creationId xmlns:a16="http://schemas.microsoft.com/office/drawing/2014/main" id="{46DEE774-B1FB-43BE-3B27-59D0F5005858}"/>
              </a:ext>
            </a:extLst>
          </p:cNvPr>
          <p:cNvSpPr>
            <a:spLocks noGrp="1"/>
          </p:cNvSpPr>
          <p:nvPr>
            <p:ph type="ftr" sz="quarter" idx="11"/>
          </p:nvPr>
        </p:nvSpPr>
        <p:spPr>
          <a:xfrm>
            <a:off x="4038600" y="6356350"/>
            <a:ext cx="4114800" cy="365125"/>
          </a:xfrm>
        </p:spPr>
        <p:txBody>
          <a:bodyPr/>
          <a:lstStyle/>
          <a:p>
            <a:r>
              <a:rPr lang="en-IN"/>
              <a:t>Galgotias University</a:t>
            </a:r>
          </a:p>
        </p:txBody>
      </p:sp>
      <p:sp>
        <p:nvSpPr>
          <p:cNvPr id="4" name="Slide Number Placeholder 3">
            <a:extLst>
              <a:ext uri="{FF2B5EF4-FFF2-40B4-BE49-F238E27FC236}">
                <a16:creationId xmlns:a16="http://schemas.microsoft.com/office/drawing/2014/main" id="{4117295A-67E5-CB2A-A094-E1FC54B05D2E}"/>
              </a:ext>
            </a:extLst>
          </p:cNvPr>
          <p:cNvSpPr>
            <a:spLocks noGrp="1"/>
          </p:cNvSpPr>
          <p:nvPr>
            <p:ph type="sldNum" sz="quarter" idx="12"/>
          </p:nvPr>
        </p:nvSpPr>
        <p:spPr>
          <a:xfrm>
            <a:off x="8610600" y="6356350"/>
            <a:ext cx="2743200" cy="365125"/>
          </a:xfrm>
        </p:spPr>
        <p:txBody>
          <a:bodyPr/>
          <a:lstStyle/>
          <a:p>
            <a:fld id="{26510230-8DD5-4BA5-AB2D-CA30FC08F9D7}" type="slidenum">
              <a:rPr lang="en-IN" smtClean="0"/>
              <a:pPr/>
              <a:t>20</a:t>
            </a:fld>
            <a:endParaRPr lang="en-IN"/>
          </a:p>
        </p:txBody>
      </p:sp>
      <p:pic>
        <p:nvPicPr>
          <p:cNvPr id="5" name="Picture 4" descr="A blue circle with text and words&#10;&#10;Description automatically generated">
            <a:extLst>
              <a:ext uri="{FF2B5EF4-FFF2-40B4-BE49-F238E27FC236}">
                <a16:creationId xmlns:a16="http://schemas.microsoft.com/office/drawing/2014/main" id="{A3A08ABD-0B5D-322A-C376-314BCA373FE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8" name="Content Placeholder 17">
            <a:extLst>
              <a:ext uri="{FF2B5EF4-FFF2-40B4-BE49-F238E27FC236}">
                <a16:creationId xmlns:a16="http://schemas.microsoft.com/office/drawing/2014/main" id="{7D8E4604-3BD2-D302-C8CD-34D25B01EEEE}"/>
              </a:ext>
            </a:extLst>
          </p:cNvPr>
          <p:cNvSpPr>
            <a:spLocks noGrp="1"/>
          </p:cNvSpPr>
          <p:nvPr>
            <p:ph idx="1"/>
          </p:nvPr>
        </p:nvSpPr>
        <p:spPr>
          <a:xfrm>
            <a:off x="375532" y="1435255"/>
            <a:ext cx="10820400" cy="4351338"/>
          </a:xfrm>
        </p:spPr>
        <p:txBody>
          <a:bodyPr/>
          <a:lstStyle/>
          <a:p>
            <a:pPr marL="0" indent="0" algn="just">
              <a:buNone/>
            </a:pPr>
            <a:r>
              <a:rPr lang="en-US" sz="3200" b="1" dirty="0">
                <a:latin typeface="Tahoma" panose="020B0604030504040204" pitchFamily="34" charset="0"/>
                <a:ea typeface="Tahoma" panose="020B0604030504040204" pitchFamily="34" charset="0"/>
                <a:cs typeface="Tahoma" panose="020B0604030504040204" pitchFamily="34" charset="0"/>
              </a:rPr>
              <a:t>Ensure attainment of LO’s in alignment to the learning activities: </a:t>
            </a:r>
          </a:p>
        </p:txBody>
      </p:sp>
      <p:sp>
        <p:nvSpPr>
          <p:cNvPr id="2" name="Rectangle 1">
            <a:extLst>
              <a:ext uri="{FF2B5EF4-FFF2-40B4-BE49-F238E27FC236}">
                <a16:creationId xmlns:a16="http://schemas.microsoft.com/office/drawing/2014/main" id="{FEB660B5-3710-25D6-4843-7E0B63A4E94E}"/>
              </a:ext>
            </a:extLst>
          </p:cNvPr>
          <p:cNvSpPr/>
          <p:nvPr/>
        </p:nvSpPr>
        <p:spPr>
          <a:xfrm>
            <a:off x="10671589" y="1065923"/>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[2-mins]</a:t>
            </a:r>
          </a:p>
        </p:txBody>
      </p:sp>
      <p:graphicFrame>
        <p:nvGraphicFramePr>
          <p:cNvPr id="12" name="Title 1">
            <a:extLst>
              <a:ext uri="{FF2B5EF4-FFF2-40B4-BE49-F238E27FC236}">
                <a16:creationId xmlns:a16="http://schemas.microsoft.com/office/drawing/2014/main" id="{99AC351E-B657-E992-F12B-E626247FC598}"/>
              </a:ext>
            </a:extLst>
          </p:cNvPr>
          <p:cNvGraphicFramePr/>
          <p:nvPr/>
        </p:nvGraphicFramePr>
        <p:xfrm>
          <a:off x="297092" y="22857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4" name="Picture 13">
            <a:extLst>
              <a:ext uri="{FF2B5EF4-FFF2-40B4-BE49-F238E27FC236}">
                <a16:creationId xmlns:a16="http://schemas.microsoft.com/office/drawing/2014/main" id="{27B1DD5E-702B-858B-AEC8-F642FF81B0C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15072390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AB91CCA-1BE5-F500-6FE3-9286107B8310}"/>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738DC841-660F-050E-F1D5-7EDF89E46187}"/>
              </a:ext>
            </a:extLst>
          </p:cNvPr>
          <p:cNvSpPr>
            <a:spLocks noGrp="1"/>
          </p:cNvSpPr>
          <p:nvPr>
            <p:ph type="sldNum" sz="quarter" idx="12"/>
          </p:nvPr>
        </p:nvSpPr>
        <p:spPr/>
        <p:txBody>
          <a:bodyPr/>
          <a:lstStyle/>
          <a:p>
            <a:fld id="{26510230-8DD5-4BA5-AB2D-CA30FC08F9D7}" type="slidenum">
              <a:rPr lang="en-IN" smtClean="0"/>
              <a:t>21</a:t>
            </a:fld>
            <a:endParaRPr lang="en-IN"/>
          </a:p>
        </p:txBody>
      </p:sp>
      <p:pic>
        <p:nvPicPr>
          <p:cNvPr id="7" name="Picture 6" descr="A blue circle with text and words&#10;&#10;Description automatically generated">
            <a:extLst>
              <a:ext uri="{FF2B5EF4-FFF2-40B4-BE49-F238E27FC236}">
                <a16:creationId xmlns:a16="http://schemas.microsoft.com/office/drawing/2014/main" id="{C48F32E8-1C2C-DDC5-5A63-CE0734EE2B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4" name="Rectangle 3"/>
          <p:cNvSpPr/>
          <p:nvPr/>
        </p:nvSpPr>
        <p:spPr>
          <a:xfrm>
            <a:off x="10722885" y="1022415"/>
            <a:ext cx="946092"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[1-min]</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65002"/>
            <a:ext cx="3795634" cy="740238"/>
          </a:xfrm>
          <a:prstGeom prst="rect">
            <a:avLst/>
          </a:prstGeom>
        </p:spPr>
      </p:pic>
      <p:sp>
        <p:nvSpPr>
          <p:cNvPr id="8" name="Rectangle 7"/>
          <p:cNvSpPr/>
          <p:nvPr/>
        </p:nvSpPr>
        <p:spPr>
          <a:xfrm>
            <a:off x="852566" y="1697335"/>
            <a:ext cx="9906000" cy="1077218"/>
          </a:xfrm>
          <a:prstGeom prst="rect">
            <a:avLst/>
          </a:prstGeom>
        </p:spPr>
        <p:txBody>
          <a:bodyPr wrap="square">
            <a:spAutoFit/>
          </a:bodyPr>
          <a:lstStyle/>
          <a:p>
            <a:r>
              <a:rPr lang="en-US" sz="3200" b="1" dirty="0"/>
              <a:t>Next Session: Bubble sort</a:t>
            </a:r>
          </a:p>
          <a:p>
            <a:endParaRPr lang="en-US" sz="3200" dirty="0"/>
          </a:p>
        </p:txBody>
      </p:sp>
    </p:spTree>
    <p:extLst>
      <p:ext uri="{BB962C8B-B14F-4D97-AF65-F5344CB8AC3E}">
        <p14:creationId xmlns:p14="http://schemas.microsoft.com/office/powerpoint/2010/main" val="20318083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AB91CCA-1BE5-F500-6FE3-9286107B8310}"/>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738DC841-660F-050E-F1D5-7EDF89E46187}"/>
              </a:ext>
            </a:extLst>
          </p:cNvPr>
          <p:cNvSpPr>
            <a:spLocks noGrp="1"/>
          </p:cNvSpPr>
          <p:nvPr>
            <p:ph type="sldNum" sz="quarter" idx="12"/>
          </p:nvPr>
        </p:nvSpPr>
        <p:spPr/>
        <p:txBody>
          <a:bodyPr/>
          <a:lstStyle/>
          <a:p>
            <a:fld id="{26510230-8DD5-4BA5-AB2D-CA30FC08F9D7}" type="slidenum">
              <a:rPr lang="en-IN" smtClean="0"/>
              <a:t>22</a:t>
            </a:fld>
            <a:endParaRPr lang="en-IN"/>
          </a:p>
        </p:txBody>
      </p:sp>
      <p:pic>
        <p:nvPicPr>
          <p:cNvPr id="7" name="Picture 6" descr="A blue circle with text and words&#10;&#10;Description automatically generated">
            <a:extLst>
              <a:ext uri="{FF2B5EF4-FFF2-40B4-BE49-F238E27FC236}">
                <a16:creationId xmlns:a16="http://schemas.microsoft.com/office/drawing/2014/main" id="{C48F32E8-1C2C-DDC5-5A63-CE0734EE2B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65002"/>
            <a:ext cx="3795634" cy="740238"/>
          </a:xfrm>
          <a:prstGeom prst="rect">
            <a:avLst/>
          </a:prstGeom>
        </p:spPr>
      </p:pic>
      <p:sp>
        <p:nvSpPr>
          <p:cNvPr id="10" name="Title 1">
            <a:extLst>
              <a:ext uri="{FF2B5EF4-FFF2-40B4-BE49-F238E27FC236}">
                <a16:creationId xmlns:a16="http://schemas.microsoft.com/office/drawing/2014/main" id="{E4F6F593-41A2-5797-581D-24AD95F1C7D0}"/>
              </a:ext>
            </a:extLst>
          </p:cNvPr>
          <p:cNvSpPr txBox="1">
            <a:spLocks/>
          </p:cNvSpPr>
          <p:nvPr/>
        </p:nvSpPr>
        <p:spPr>
          <a:xfrm>
            <a:off x="674913" y="1071593"/>
            <a:ext cx="4805996" cy="1297115"/>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solidFill>
                  <a:schemeClr val="tx2"/>
                </a:solidFill>
              </a:rPr>
              <a:t>Review and Reflection from students</a:t>
            </a:r>
          </a:p>
        </p:txBody>
      </p:sp>
    </p:spTree>
    <p:extLst>
      <p:ext uri="{BB962C8B-B14F-4D97-AF65-F5344CB8AC3E}">
        <p14:creationId xmlns:p14="http://schemas.microsoft.com/office/powerpoint/2010/main" val="3356453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4078</TotalTime>
  <Words>1370</Words>
  <Application>Microsoft Office PowerPoint</Application>
  <PresentationFormat>Widescreen</PresentationFormat>
  <Paragraphs>224</Paragraphs>
  <Slides>22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Aptos</vt:lpstr>
      <vt:lpstr>Aptos Display</vt:lpstr>
      <vt:lpstr>Arial</vt:lpstr>
      <vt:lpstr>Calibri</vt:lpstr>
      <vt:lpstr>Georgia</vt:lpstr>
      <vt:lpstr>Tahoma</vt:lpstr>
      <vt:lpstr>Times New Roman</vt:lpstr>
      <vt:lpstr>Office Theme</vt:lpstr>
      <vt:lpstr>Linear search, Binary Search.  Session No.: 12 Course Name: Data Structures Course Code: R1UC308B   Instructor Name: Akhilesh Tripathi Duration: 50 mins Date of Conduction of Class: </vt:lpstr>
      <vt:lpstr>PowerPoint Presentation</vt:lpstr>
      <vt:lpstr>PowerPoint Presentation</vt:lpstr>
      <vt:lpstr>PowerPoint Presentation</vt:lpstr>
      <vt:lpstr>Learning Outcomes</vt:lpstr>
      <vt:lpstr>PowerPoint Presentation</vt:lpstr>
      <vt:lpstr>PowerPoint Presentation</vt:lpstr>
      <vt:lpstr>Concept and Definition for (LO-1) </vt:lpstr>
      <vt:lpstr>PowerPoint Presentation</vt:lpstr>
      <vt:lpstr>PowerPoint Presentation</vt:lpstr>
      <vt:lpstr>PowerPoint Presentation</vt:lpstr>
      <vt:lpstr>Concept and Definition for (LO-1)   </vt:lpstr>
      <vt:lpstr>Iterative Binary Search in C</vt:lpstr>
      <vt:lpstr>Concept and Definition for (LO-1)   Recursive Binary Search in C</vt:lpstr>
      <vt:lpstr>PowerPoint Presentation</vt:lpstr>
      <vt:lpstr>PowerPoint Presentation</vt:lpstr>
      <vt:lpstr>PowerPoint Presentation</vt:lpstr>
      <vt:lpstr>PowerPoint Presentation</vt:lpstr>
      <vt:lpstr>PowerPoint Presentation</vt:lpstr>
      <vt:lpstr>Learning Outcomes</vt:lpstr>
      <vt:lpstr>PowerPoint Presentation</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Equilibrium Index    Session No.: 2 Course Name: Advanced Algorithmic Problem Solving Course Code: R1UC601B   Instructor Name: Dr. Subhash chandra Gupta</dc:title>
  <dc:creator>Deepak Gupta</dc:creator>
  <cp:lastModifiedBy>akhilesh tripathi</cp:lastModifiedBy>
  <cp:revision>125</cp:revision>
  <dcterms:created xsi:type="dcterms:W3CDTF">2024-08-22T06:33:55Z</dcterms:created>
  <dcterms:modified xsi:type="dcterms:W3CDTF">2025-09-24T14:16:25Z</dcterms:modified>
</cp:coreProperties>
</file>