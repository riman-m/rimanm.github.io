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embeddedFontLst>
    <p:embeddedFont>
      <p:font typeface="Georgia" panose="02040502050405020303" pitchFamily="18" charset="0"/>
      <p:regular r:id="rId28"/>
      <p:bold r:id="rId29"/>
      <p:italic r:id="rId30"/>
      <p:boldItalic r:id="rId31"/>
    </p:embeddedFont>
    <p:embeddedFont>
      <p:font typeface="Play" panose="020B0604020202020204" charset="0"/>
      <p:regular r:id="rId32"/>
      <p:bold r:id="rId33"/>
    </p:embeddedFont>
    <p:embeddedFont>
      <p:font typeface="Tahoma" panose="020B0604030504040204" pitchFamily="3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23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hHCMge5JgB30U6jLENJ8AH6q86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2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A blue and purple dot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eorgia"/>
              <a:buNone/>
            </a:pPr>
            <a:r>
              <a:rPr lang="en-US" sz="54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Application of Stack: Prefix, Postfix Expression</a:t>
            </a:r>
            <a:br>
              <a:rPr lang="en-US" sz="54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Session No.: 25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Name: Data </a:t>
            </a:r>
            <a:r>
              <a:rPr lang="en-US" sz="1800" b="1" dirty="0" err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Strucutres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Code: </a:t>
            </a:r>
            <a:r>
              <a:rPr lang="en-US" sz="1800" b="1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R1UC308B </a:t>
            </a:r>
            <a:r>
              <a:rPr lang="en-US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br>
              <a:rPr lang="en-US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Instructor Name: Akhilesh Tripathi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Duration: 50 mins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Date of Conduction :</a:t>
            </a:r>
            <a:endParaRPr sz="1800" b="1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6" name="Google Shape;96;p1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932" y="3174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4" name="Google Shape;104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822739" y="1354784"/>
            <a:ext cx="10810559" cy="3107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previous sessions, we discussed:</a:t>
            </a:r>
            <a:b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Stack operations : Push and Pop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- Implementation of stack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3" name="Google Shape;113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822739" y="821384"/>
            <a:ext cx="10373193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Pre-Class Assessment</a:t>
            </a:r>
            <a:endParaRPr sz="3600" b="1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0648330" y="1095420"/>
            <a:ext cx="1176692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[5-mins]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904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89A0959-D6CA-EAEC-4DEC-BCEEE2A3B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835603"/>
            <a:ext cx="7696200" cy="398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3" name="Google Shape;12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24" name="Google Shape;124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 sz="1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" name="Google Shape;128;p4"/>
          <p:cNvGrpSpPr/>
          <p:nvPr/>
        </p:nvGrpSpPr>
        <p:grpSpPr>
          <a:xfrm>
            <a:off x="638332" y="3566830"/>
            <a:ext cx="10994966" cy="2246314"/>
            <a:chOff x="0" y="1991651"/>
            <a:chExt cx="5239339" cy="2246314"/>
          </a:xfrm>
        </p:grpSpPr>
        <p:sp>
          <p:nvSpPr>
            <p:cNvPr id="129" name="Google Shape;129;p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Where can we use stack like arrangement in daily life?</a:t>
              </a:r>
              <a:endPara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end of this session students will be able to </a:t>
            </a:r>
            <a:endParaRPr sz="40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37" name="Google Shape;13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138" name="Google Shape;138;p5"/>
          <p:cNvGrpSpPr/>
          <p:nvPr/>
        </p:nvGrpSpPr>
        <p:grpSpPr>
          <a:xfrm>
            <a:off x="644056" y="2615979"/>
            <a:ext cx="10927829" cy="3689405"/>
            <a:chOff x="0" y="0"/>
            <a:chExt cx="10927829" cy="3689405"/>
          </a:xfrm>
        </p:grpSpPr>
        <p:sp>
          <p:nvSpPr>
            <p:cNvPr id="139" name="Google Shape;139;p5"/>
            <p:cNvSpPr/>
            <p:nvPr/>
          </p:nvSpPr>
          <p:spPr>
            <a:xfrm>
              <a:off x="0" y="0"/>
              <a:ext cx="9288655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5"/>
            <p:cNvSpPr txBox="1"/>
            <p:nvPr/>
          </p:nvSpPr>
          <p:spPr>
            <a:xfrm>
              <a:off x="0" y="0"/>
              <a:ext cx="9288655" cy="1660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Learning Outcome 1: </a:t>
              </a:r>
              <a:r>
                <a:rPr lang="en-US" sz="31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Explore various applications of</a:t>
              </a:r>
              <a:r>
                <a:rPr lang="en-US" sz="3100" b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stack</a:t>
              </a:r>
              <a:endParaRPr sz="3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1639174" y="2029173"/>
              <a:ext cx="9288655" cy="1660232"/>
            </a:xfrm>
            <a:prstGeom prst="roundRect">
              <a:avLst>
                <a:gd name="adj" fmla="val 10000"/>
              </a:avLst>
            </a:prstGeom>
            <a:solidFill>
              <a:srgbClr val="186824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5"/>
            <p:cNvSpPr txBox="1"/>
            <p:nvPr/>
          </p:nvSpPr>
          <p:spPr>
            <a:xfrm>
              <a:off x="1639174" y="2029173"/>
              <a:ext cx="9288655" cy="1660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Learning Outcome 2: Understand Algebraic Expression</a:t>
              </a:r>
              <a:endParaRPr sz="3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209504" y="1305127"/>
              <a:ext cx="1079151" cy="1079151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8209504" y="1305127"/>
              <a:ext cx="1079151" cy="1079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600" tIns="54600" rIns="54600" bIns="546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5" name="Google Shape;145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>
            <a:spLocks noGrp="1"/>
          </p:cNvSpPr>
          <p:nvPr>
            <p:ph type="body" idx="1"/>
          </p:nvPr>
        </p:nvSpPr>
        <p:spPr>
          <a:xfrm>
            <a:off x="706120" y="1925320"/>
            <a:ext cx="10927080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 u="sng">
                <a:latin typeface="Times New Roman"/>
                <a:ea typeface="Times New Roman"/>
                <a:cs typeface="Times New Roman"/>
                <a:sym typeface="Times New Roman"/>
              </a:rPr>
              <a:t>By the end of this session, You will be able to:</a:t>
            </a:r>
            <a:endParaRPr sz="3200" b="1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038285" y="538705"/>
            <a:ext cx="5017695" cy="113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Outcomes</a:t>
            </a:r>
            <a:endParaRPr sz="4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54" name="Google Shape;15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55" name="Google Shape;155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631825" y="1514475"/>
            <a:ext cx="10467975" cy="2807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Outline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Stack applications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Algebraic Expression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types of notations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Precedence and Associativity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41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63" name="Google Shape;16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64" name="Google Shape;164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/>
          <p:nvPr/>
        </p:nvSpPr>
        <p:spPr>
          <a:xfrm>
            <a:off x="10675867" y="1095420"/>
            <a:ext cx="104013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[5-mins]</a:t>
            </a:r>
            <a:endParaRPr sz="1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7"/>
          <p:cNvGrpSpPr/>
          <p:nvPr/>
        </p:nvGrpSpPr>
        <p:grpSpPr>
          <a:xfrm>
            <a:off x="248442" y="1465123"/>
            <a:ext cx="6015649" cy="2245995"/>
            <a:chOff x="0" y="1991651"/>
            <a:chExt cx="5239339" cy="2245995"/>
          </a:xfrm>
        </p:grpSpPr>
        <p:sp>
          <p:nvSpPr>
            <p:cNvPr id="168" name="Google Shape;168;p7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0" y="2006256"/>
              <a:ext cx="5093630" cy="2231390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Where do we see the concept of “Last In, First Out (LIFO)” in our daily life?</a:t>
              </a:r>
              <a:endPara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0" name="Google Shape;170;p7"/>
          <p:cNvGrpSpPr/>
          <p:nvPr/>
        </p:nvGrpSpPr>
        <p:grpSpPr>
          <a:xfrm>
            <a:off x="6496050" y="1472565"/>
            <a:ext cx="5583555" cy="2331720"/>
            <a:chOff x="5758250" y="2062546"/>
            <a:chExt cx="4320000" cy="1753990"/>
          </a:xfrm>
        </p:grpSpPr>
        <p:sp>
          <p:nvSpPr>
            <p:cNvPr id="171" name="Google Shape;171;p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  <a:solidFill>
              <a:schemeClr val="accent3"/>
            </a:solidFill>
            <a:ln w="19050" cap="flat" cmpd="sng">
              <a:solidFill>
                <a:srgbClr val="124E1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  <a:solidFill>
              <a:schemeClr val="accent3"/>
            </a:solidFill>
            <a:ln w="19050" cap="flat" cmpd="sng">
              <a:solidFill>
                <a:srgbClr val="124E1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" name="Google Shape;173;p7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Activity-1 (Think – Pair – Share)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916175" y="2050415"/>
            <a:ext cx="5003898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do we need a stack in computer systems?</a:t>
            </a:r>
            <a:endParaRPr sz="32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248285" y="4071620"/>
            <a:ext cx="6016625" cy="2365375"/>
            <a:chOff x="5758250" y="2062546"/>
            <a:chExt cx="4320000" cy="1753990"/>
          </a:xfrm>
        </p:grpSpPr>
        <p:sp>
          <p:nvSpPr>
            <p:cNvPr id="176" name="Google Shape;176;p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  <a:solidFill>
              <a:schemeClr val="accent3"/>
            </a:solidFill>
            <a:ln w="19050" cap="flat" cmpd="sng">
              <a:solidFill>
                <a:srgbClr val="124E1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  <a:solidFill>
              <a:schemeClr val="accent3"/>
            </a:solidFill>
            <a:ln w="19050" cap="flat" cmpd="sng">
              <a:solidFill>
                <a:srgbClr val="124E1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7"/>
          <p:cNvSpPr/>
          <p:nvPr/>
        </p:nvSpPr>
        <p:spPr>
          <a:xfrm>
            <a:off x="6496685" y="4070985"/>
            <a:ext cx="5582920" cy="2381885"/>
          </a:xfrm>
          <a:prstGeom prst="rec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does a computer know where to return after completing a function call?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70315" y="4248785"/>
            <a:ext cx="5003898" cy="2061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you press Ctrl+Z (Undo) in MS Word, which data structure do you think is used?</a:t>
            </a:r>
            <a:endParaRPr sz="32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 1: Where do we see the concept of “Last In, First Out (LIFO)” in our daily life?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Answer: A stack of plates/books. The last plate we put on top is the first one we take out.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 2: When you press Ctrl+Z (Undo) in MS Word, which data structure do you think is used?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Answer: A stack, since the most recent action (last done) is the first to be undone.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85" name="Google Shape;18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86" name="Google Shape;18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87" name="Google Shape;187;p8"/>
          <p:cNvSpPr txBox="1">
            <a:spLocks noGrp="1"/>
          </p:cNvSpPr>
          <p:nvPr>
            <p:ph type="title"/>
          </p:nvPr>
        </p:nvSpPr>
        <p:spPr>
          <a:xfrm>
            <a:off x="1057275" y="426720"/>
            <a:ext cx="10515600" cy="80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Reflection- Learning Activity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 3: How does a computer know where to return after completing a function call?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Answer: It uses a stack (call stack) to store return addresses of functions.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 4: Why do we need a stack in computer systems?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Answer: Because many computer processes follow LIFO order — e.g., function calls, undo operations, expression evaluation, and memory management.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95" name="Google Shape;195;p9"/>
          <p:cNvSpPr txBox="1">
            <a:spLocks noGrp="1"/>
          </p:cNvSpPr>
          <p:nvPr>
            <p:ph type="title"/>
          </p:nvPr>
        </p:nvSpPr>
        <p:spPr>
          <a:xfrm>
            <a:off x="838200" y="633730"/>
            <a:ext cx="10515600" cy="80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Reflection- Learning Activity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0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01" name="Google Shape;201;p10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0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0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0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07" name="Google Shape;20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08" name="Google Shape;208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0"/>
          <p:cNvSpPr txBox="1">
            <a:spLocks noGrp="1"/>
          </p:cNvSpPr>
          <p:nvPr>
            <p:ph type="title"/>
          </p:nvPr>
        </p:nvSpPr>
        <p:spPr>
          <a:xfrm>
            <a:off x="4245610" y="394335"/>
            <a:ext cx="535940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(LO-1) 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0" name="Google Shape;21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 txBox="1"/>
          <p:nvPr/>
        </p:nvSpPr>
        <p:spPr>
          <a:xfrm>
            <a:off x="698500" y="1734345"/>
            <a:ext cx="10795098" cy="464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Application of Stack : </a:t>
            </a:r>
            <a:endParaRPr sz="2800"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Expression Evaluation and Conversion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Call Management (Call Stack)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Undo/Redo Functionality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Browser History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Balanced Parentheses Checking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Backtracking Algorithms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Reversing Data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Depth-First Search (DFS)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11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18" name="Google Shape;218;p11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1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1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24" name="Google Shape;2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25" name="Google Shape;225;p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1"/>
          <p:cNvSpPr txBox="1">
            <a:spLocks noGrp="1"/>
          </p:cNvSpPr>
          <p:nvPr>
            <p:ph type="title"/>
          </p:nvPr>
        </p:nvSpPr>
        <p:spPr>
          <a:xfrm>
            <a:off x="4038600" y="191770"/>
            <a:ext cx="575945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(LO-2) 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558800" y="1463835"/>
            <a:ext cx="10795098" cy="489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Algebraic Expression :</a:t>
            </a:r>
            <a:endParaRPr sz="2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algebraic expression is a legal combination of operands and the operators.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Operand is the quantity (unit of data) on which a mathematical operation is performed.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Operand may be a variable like x, y, z or a constant like 5, 4,0,9,1 etc.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Operator is a symbol which signifies a mathematical or logical operation between the operands. Example of familiar operators include +,-,*, /, ^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Considering these definitions of operands and operators now we can write an example of expression as x+y*z. </a:t>
            </a:r>
            <a:b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12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35" name="Google Shape;235;p12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2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41" name="Google Shape;24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42" name="Google Shape;242;p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2"/>
          <p:cNvSpPr txBox="1">
            <a:spLocks noGrp="1"/>
          </p:cNvSpPr>
          <p:nvPr>
            <p:ph type="title"/>
          </p:nvPr>
        </p:nvSpPr>
        <p:spPr>
          <a:xfrm>
            <a:off x="4038600" y="191770"/>
            <a:ext cx="575945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(LO-2) 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558800" y="1463835"/>
            <a:ext cx="10795098" cy="4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Notation :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way to write 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 expression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known as a 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notation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arithmetic expression can be written in three different but equivalent notations, i.e., without changing the essence or output of an expression.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notations are –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Infix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Postfix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5" name="Google Shape;24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53" name="Google Shape;253;p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3"/>
          <p:cNvSpPr txBox="1">
            <a:spLocks noGrp="1"/>
          </p:cNvSpPr>
          <p:nvPr>
            <p:ph type="title"/>
          </p:nvPr>
        </p:nvSpPr>
        <p:spPr>
          <a:xfrm>
            <a:off x="4038600" y="191770"/>
            <a:ext cx="575945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(LO-2) 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558800" y="1463835"/>
            <a:ext cx="10795098" cy="526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Algebraic Expression :</a:t>
            </a:r>
            <a:endParaRPr sz="2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Mathematical expressions can be written in three common notations: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Infix Notation: 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is the most common notation used by humans. The operator is placed between its operands. For example: (A + B) * C.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Prefix Notation (Polish Notation):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operator is placed before its operands. For example: * + A B C.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Postfix Notation (Reverse Polish Notation):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operator is placed after its operands. For example: A B + C *. </a:t>
            </a:r>
            <a:b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" name="Google Shape;262;p14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63" name="Google Shape;263;p14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" name="Google Shape;26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69" name="Google Shape;26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70" name="Google Shape;270;p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4"/>
          <p:cNvSpPr txBox="1">
            <a:spLocks noGrp="1"/>
          </p:cNvSpPr>
          <p:nvPr>
            <p:ph type="title"/>
          </p:nvPr>
        </p:nvSpPr>
        <p:spPr>
          <a:xfrm>
            <a:off x="4038600" y="191770"/>
            <a:ext cx="575945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(LO-2) 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558800" y="1463835"/>
            <a:ext cx="10795098" cy="3046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Stacks are particularly useful for evaluating postfix and prefix expressions because the order of operations and parentheses are implicitly handled by the notation itself.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makes the expressions easy to parse and evaluate with a simple algorithm. </a:t>
            </a:r>
            <a:b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p15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80" name="Google Shape;280;p15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5" name="Google Shape;28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86" name="Google Shape;28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87" name="Google Shape;287;p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5"/>
          <p:cNvSpPr txBox="1">
            <a:spLocks noGrp="1"/>
          </p:cNvSpPr>
          <p:nvPr>
            <p:ph type="title"/>
          </p:nvPr>
        </p:nvSpPr>
        <p:spPr>
          <a:xfrm>
            <a:off x="4038600" y="191770"/>
            <a:ext cx="575945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(LO-2) 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558800" y="1463835"/>
            <a:ext cx="10795098" cy="3046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Precedence and associativity: </a:t>
            </a:r>
            <a:endParaRPr sz="2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When it comes to evaluating mathematical expressions, precedence and associativity are two key rules that determine the order in which operators are applied.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These rules are essential for correctly interpreting expressions that have more than one operator.. </a:t>
            </a:r>
            <a:b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6" name="Google Shape;296;p16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97" name="Google Shape;297;p16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303" name="Google Shape;30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304" name="Google Shape;304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 txBox="1">
            <a:spLocks noGrp="1"/>
          </p:cNvSpPr>
          <p:nvPr>
            <p:ph type="title"/>
          </p:nvPr>
        </p:nvSpPr>
        <p:spPr>
          <a:xfrm>
            <a:off x="4038600" y="191770"/>
            <a:ext cx="575945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(LO-2) 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558800" y="1463835"/>
            <a:ext cx="10795098" cy="489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Precedence (Order of Operations): </a:t>
            </a:r>
            <a:endParaRPr sz="2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Precedence defines which operator is evaluated first in an expression with multiple different operators.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example, in the expression 3 + 4 * 2, multiplication has a higher precedence than addition. Therefore, 4 * 2 is calculated first, resulting in 8, and then 3 is added, giving a final result of 11.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common hierarchy of operator precedence is: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Parentheses/Brackets ( )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Exponents/Powers ^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Multiplication * and Division /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Addition + and Subtraction -. </a:t>
            </a:r>
            <a:b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" name="Google Shape;313;p17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314" name="Google Shape;314;p17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7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7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7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7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9" name="Google Shape;31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320" name="Google Shape;32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321" name="Google Shape;321;p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7"/>
          <p:cNvSpPr txBox="1">
            <a:spLocks noGrp="1"/>
          </p:cNvSpPr>
          <p:nvPr>
            <p:ph type="title"/>
          </p:nvPr>
        </p:nvSpPr>
        <p:spPr>
          <a:xfrm>
            <a:off x="4038600" y="191770"/>
            <a:ext cx="575945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(LO-2) 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558800" y="1463835"/>
            <a:ext cx="10795098" cy="2306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Associativity :</a:t>
            </a:r>
            <a:endParaRPr sz="2400"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Associativity is a rule that applies when an expression has two or more operators with the same precedence.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determines the direction in which the operators are evaluated.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8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331" name="Google Shape;331;p18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8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8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8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8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6" name="Google Shape;33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337" name="Google Shape;33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38" name="Google Shape;338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8"/>
          <p:cNvSpPr txBox="1">
            <a:spLocks noGrp="1"/>
          </p:cNvSpPr>
          <p:nvPr>
            <p:ph type="title"/>
          </p:nvPr>
        </p:nvSpPr>
        <p:spPr>
          <a:xfrm>
            <a:off x="4038600" y="191770"/>
            <a:ext cx="575945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(LO-2) 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0" name="Google Shape;340;p18"/>
          <p:cNvSpPr txBox="1"/>
          <p:nvPr/>
        </p:nvSpPr>
        <p:spPr>
          <a:xfrm>
            <a:off x="558800" y="1463835"/>
            <a:ext cx="10795098" cy="563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 of </a:t>
            </a:r>
            <a: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Associativity 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Left-to-Right Associativity: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Operators are evaluated from left to right. Most arithmetic operators like +, -, *, and / are left-associative.                 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example,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expression 10 - 5 - 2, the evaluation happens from left to right: (10 - 5) - 2, which equals 5 - 2 = 3.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Right-to-Left Associativity: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Operators are evaluated from right to left. The exponentiation operator ^ is a common example of a right-associative operator. In the expression 2 ^ 3 ^ 2, the evaluation happens from right to left: 2 ^ (3 ^ 2), which equals 2 ^ 9 = 512. If it were left-associative, it would be (2 ^ 3) ^ 2, which equals 8 ^ 2 = 64.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b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7" name="Google Shape;347;p19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348" name="Google Shape;348;p19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9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3" name="Google Shape;35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355" name="Google Shape;355;p1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9"/>
          <p:cNvSpPr txBox="1">
            <a:spLocks noGrp="1"/>
          </p:cNvSpPr>
          <p:nvPr>
            <p:ph type="title"/>
          </p:nvPr>
        </p:nvSpPr>
        <p:spPr>
          <a:xfrm>
            <a:off x="4038600" y="191770"/>
            <a:ext cx="575945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(LO-2) 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7" name="Google Shape;357;p19"/>
          <p:cNvSpPr txBox="1"/>
          <p:nvPr/>
        </p:nvSpPr>
        <p:spPr>
          <a:xfrm>
            <a:off x="698500" y="2598580"/>
            <a:ext cx="10795098" cy="267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use of stacks in evaluating infix expressions is what allows a program to correctly handle these rules by temporarily storing operators and reordering them as needed to produce a postfix or prefix expression, which then doesn't need to account for precedence or associativity.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365" name="Google Shape;365;p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0"/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Post Class Assessment</a:t>
            </a:r>
            <a:endParaRPr sz="36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7" name="Google Shape;367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CCDD69-F4D0-2A29-B3A7-4FEC731C57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1457" y="1533427"/>
            <a:ext cx="8131629" cy="42328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74" name="Google Shape;37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75" name="Google Shape;375;p2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1"/>
          <p:cNvSpPr txBox="1"/>
          <p:nvPr/>
        </p:nvSpPr>
        <p:spPr>
          <a:xfrm>
            <a:off x="4711700" y="344805"/>
            <a:ext cx="3441700" cy="70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sz="40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 sz="1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78" name="Google Shape;378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1"/>
          <p:cNvSpPr txBox="1"/>
          <p:nvPr/>
        </p:nvSpPr>
        <p:spPr>
          <a:xfrm>
            <a:off x="698500" y="1893570"/>
            <a:ext cx="5292090" cy="119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855980" y="1762125"/>
            <a:ext cx="10497820" cy="956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short, a stack is a linear data structure that operates on a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LIFO (Last-In, First-Out)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principle. It's used to manage data where the most recently added item is the first one to be processed.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777875" y="3429000"/>
            <a:ext cx="5292090" cy="119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925195" y="2828450"/>
            <a:ext cx="10795098" cy="323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Applications: 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 Handling: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Infix → Postfix/Prefix conversion, evaluation of postfix/prefix.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Calls / Recursion: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 stack stores return addresses and local variables.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Undo/Redo Operations: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text editors, latest action undone first.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Navigation: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Back/forward buttons use stack to track visited pages.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Parentheses Matching: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Validating brackets in compilers and editors.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Management: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Stack-based allocation in program execution.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end of this session students will be able to </a:t>
            </a:r>
            <a:endParaRPr sz="40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89" name="Google Shape;38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grpSp>
        <p:nvGrpSpPr>
          <p:cNvPr id="390" name="Google Shape;390;p22"/>
          <p:cNvGrpSpPr/>
          <p:nvPr/>
        </p:nvGrpSpPr>
        <p:grpSpPr>
          <a:xfrm>
            <a:off x="644056" y="2615979"/>
            <a:ext cx="10927829" cy="3689405"/>
            <a:chOff x="0" y="0"/>
            <a:chExt cx="10927829" cy="3689405"/>
          </a:xfrm>
        </p:grpSpPr>
        <p:sp>
          <p:nvSpPr>
            <p:cNvPr id="391" name="Google Shape;391;p22"/>
            <p:cNvSpPr/>
            <p:nvPr/>
          </p:nvSpPr>
          <p:spPr>
            <a:xfrm>
              <a:off x="0" y="0"/>
              <a:ext cx="9288655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2"/>
            <p:cNvSpPr txBox="1"/>
            <p:nvPr/>
          </p:nvSpPr>
          <p:spPr>
            <a:xfrm>
              <a:off x="0" y="0"/>
              <a:ext cx="9288655" cy="1660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Learning Outcome 1: </a:t>
              </a:r>
              <a:r>
                <a:rPr lang="en-US" sz="31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Explore various applications of</a:t>
              </a:r>
              <a:r>
                <a:rPr lang="en-US" sz="3100" b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stack</a:t>
              </a:r>
              <a:endParaRPr sz="3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1639174" y="2029173"/>
              <a:ext cx="9288655" cy="1660232"/>
            </a:xfrm>
            <a:prstGeom prst="roundRect">
              <a:avLst>
                <a:gd name="adj" fmla="val 10000"/>
              </a:avLst>
            </a:prstGeom>
            <a:solidFill>
              <a:srgbClr val="186824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2"/>
            <p:cNvSpPr txBox="1"/>
            <p:nvPr/>
          </p:nvSpPr>
          <p:spPr>
            <a:xfrm>
              <a:off x="1639174" y="2029173"/>
              <a:ext cx="9288655" cy="1660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Learning Outcome 2: Understand Algebraic Expression</a:t>
              </a:r>
              <a:endParaRPr sz="3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8209504" y="1305127"/>
              <a:ext cx="1079151" cy="1079151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2"/>
            <p:cNvSpPr txBox="1"/>
            <p:nvPr/>
          </p:nvSpPr>
          <p:spPr>
            <a:xfrm>
              <a:off x="8209504" y="1305127"/>
              <a:ext cx="1079151" cy="1079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600" tIns="54600" rIns="54600" bIns="546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97" name="Google Shape;397;p2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2"/>
          <p:cNvSpPr txBox="1">
            <a:spLocks noGrp="1"/>
          </p:cNvSpPr>
          <p:nvPr>
            <p:ph type="body" idx="1"/>
          </p:nvPr>
        </p:nvSpPr>
        <p:spPr>
          <a:xfrm>
            <a:off x="706120" y="1685925"/>
            <a:ext cx="10927080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7500" lnSpcReduction="1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200" b="1">
                <a:latin typeface="Tahoma"/>
                <a:ea typeface="Tahoma"/>
                <a:cs typeface="Tahoma"/>
                <a:sym typeface="Tahoma"/>
              </a:rPr>
              <a:t>Ensure attainment of LO’s in alignment to the learning activities: </a:t>
            </a:r>
            <a:endParaRPr sz="3200" b="1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4038285" y="538705"/>
            <a:ext cx="5017695" cy="113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Outcomes</a:t>
            </a:r>
            <a:endParaRPr sz="4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06" name="Google Shape;40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407" name="Google Shape;407;p2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[1-min]</a:t>
            </a:r>
            <a:endParaRPr sz="1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09" name="Google Shape;40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3"/>
          <p:cNvSpPr/>
          <p:nvPr/>
        </p:nvSpPr>
        <p:spPr>
          <a:xfrm>
            <a:off x="1270396" y="2719685"/>
            <a:ext cx="9906000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Session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Conversion of infix to postfix with algorithm 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16" name="Google Shape;41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417" name="Google Shape;417;p2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4"/>
          <p:cNvSpPr txBox="1"/>
          <p:nvPr/>
        </p:nvSpPr>
        <p:spPr>
          <a:xfrm>
            <a:off x="674913" y="1071593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"/>
              <a:buNone/>
            </a:pPr>
            <a:r>
              <a:rPr lang="en-US" sz="4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Review and Reflection from students</a:t>
            </a:r>
            <a:endParaRPr sz="4000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20" name="Google Shape;420;p24"/>
          <p:cNvSpPr txBox="1"/>
          <p:nvPr/>
        </p:nvSpPr>
        <p:spPr>
          <a:xfrm>
            <a:off x="5953033" y="3572858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Any Question ? </a:t>
            </a:r>
            <a:endParaRPr sz="4000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5"/>
          <p:cNvSpPr txBox="1">
            <a:spLocks noGrp="1"/>
          </p:cNvSpPr>
          <p:nvPr>
            <p:ph type="title"/>
          </p:nvPr>
        </p:nvSpPr>
        <p:spPr>
          <a:xfrm>
            <a:off x="4949825" y="2766060"/>
            <a:ext cx="229235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b="1"/>
              <a:t>THANKS</a:t>
            </a:r>
            <a:endParaRPr b="1"/>
          </a:p>
        </p:txBody>
      </p:sp>
      <p:sp>
        <p:nvSpPr>
          <p:cNvPr id="426" name="Google Shape;42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27" name="Google Shape;42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1454</Words>
  <Application>Microsoft Office PowerPoint</Application>
  <PresentationFormat>Widescreen</PresentationFormat>
  <Paragraphs>187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Tahoma</vt:lpstr>
      <vt:lpstr>Times New Roman</vt:lpstr>
      <vt:lpstr>Calibri</vt:lpstr>
      <vt:lpstr>Arial</vt:lpstr>
      <vt:lpstr>Play</vt:lpstr>
      <vt:lpstr>Georgia</vt:lpstr>
      <vt:lpstr>Office Theme</vt:lpstr>
      <vt:lpstr>Application of Stack: Prefix, Postfix Expression   Session No.: 25 Course Name: Data Strucutres Course Code: R1UC308B   Instructor Name: Akhilesh Tripathi Duration: 50 mins Date of Conduction :</vt:lpstr>
      <vt:lpstr>PowerPoint Presentation</vt:lpstr>
      <vt:lpstr>PowerPoint Presentation</vt:lpstr>
      <vt:lpstr>PowerPoint Presentation</vt:lpstr>
      <vt:lpstr>At the end of this session students will be able to </vt:lpstr>
      <vt:lpstr>PowerPoint Presentation</vt:lpstr>
      <vt:lpstr>PowerPoint Presentation</vt:lpstr>
      <vt:lpstr>Reflection- Learning Activity 1</vt:lpstr>
      <vt:lpstr>Reflection- Learning Activity 1</vt:lpstr>
      <vt:lpstr>Concept and Definition (LO-1) </vt:lpstr>
      <vt:lpstr>Concept and Definition for (LO-2)   </vt:lpstr>
      <vt:lpstr>Concept and Definition for (LO-2)   </vt:lpstr>
      <vt:lpstr>Concept and Definition for (LO-2)   </vt:lpstr>
      <vt:lpstr>Concept and Definition for (LO-2)   </vt:lpstr>
      <vt:lpstr>Concept and Definition for (LO-2)   </vt:lpstr>
      <vt:lpstr>Concept and Definition for (LO-2)   </vt:lpstr>
      <vt:lpstr>Concept and Definition for (LO-2)   </vt:lpstr>
      <vt:lpstr>Concept and Definition for (LO-2)   </vt:lpstr>
      <vt:lpstr>Concept and Definition for (LO-2)   </vt:lpstr>
      <vt:lpstr>PowerPoint Presentation</vt:lpstr>
      <vt:lpstr>PowerPoint Presentation</vt:lpstr>
      <vt:lpstr>At the end of this session students will be able to </vt:lpstr>
      <vt:lpstr>PowerPoint Presentation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akhilesh tripathi</cp:lastModifiedBy>
  <cp:revision>6</cp:revision>
  <dcterms:created xsi:type="dcterms:W3CDTF">2024-08-22T06:33:00Z</dcterms:created>
  <dcterms:modified xsi:type="dcterms:W3CDTF">2025-11-25T16:32:57Z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39E0B084C25140B0B08C9874078D964A_13</vt:lpwstr>
  </property>
  <property fmtid="{D5CDD505-2E9C-101B-9397-08002B2CF9AE}" pid="3" name="KSOProductBuildVer">
    <vt:lpwstr>1033-12.2.0.21931</vt:lpwstr>
  </property>
</Properties>
</file>