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08" r:id="rId10"/>
    <p:sldId id="313" r:id="rId11"/>
    <p:sldId id="314" r:id="rId12"/>
    <p:sldId id="315" r:id="rId13"/>
    <p:sldId id="304" r:id="rId14"/>
    <p:sldId id="316" r:id="rId15"/>
    <p:sldId id="288" r:id="rId16"/>
    <p:sldId id="299" r:id="rId17"/>
    <p:sldId id="31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4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962"/>
    </p:cViewPr>
  </p:sorterViewPr>
  <p:notesViewPr>
    <p:cSldViewPr snapToGrid="0">
      <p:cViewPr varScale="1">
        <p:scale>
          <a:sx n="55" d="100"/>
          <a:sy n="55" d="100"/>
        </p:scale>
        <p:origin x="-280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1" dirty="0"/>
            <a:t>To implement insertion and deletion operations from both ends 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b="1" dirty="0"/>
            <a:t>To analyze the applications of Deque and use of priority queues</a:t>
          </a:r>
          <a:endParaRPr lang="en-US" sz="36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1" dirty="0"/>
            <a:t>To implement insertion and deletion operations from both ends 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b="1" dirty="0"/>
            <a:t>To analyze the applications of Deque and use of priority queues</a:t>
          </a:r>
          <a:endParaRPr lang="en-US" sz="36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b="1" kern="1200" dirty="0"/>
            <a:t>To analyze the applications of Deque and use of priority queues</a:t>
          </a: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To implement insertion and deletion operations from both ends 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b="1" kern="1200" dirty="0"/>
            <a:t>To analyze the applications of Deque and use of priority queues</a:t>
          </a: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To implement insertion and deletion operations from both ends 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52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87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geeksforgeeks.org/dsa/introduction-and-array-implementation-of-queue/" TargetMode="Externa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Double Ended queue and Priority Queue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31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Students must have knowledge of Queue and Circular Queue.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6" name="Picture 5" descr="A white rectangular banner with blue circles and black text&#10;&#10;AI-generated content may be incorrect.">
            <a:extLst>
              <a:ext uri="{FF2B5EF4-FFF2-40B4-BE49-F238E27FC236}">
                <a16:creationId xmlns:a16="http://schemas.microsoft.com/office/drawing/2014/main" id="{17D0D1A9-541B-BA0A-9A34-E3D0EB57B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76" y="1854119"/>
            <a:ext cx="10655848" cy="366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What is Dequeue and Priority Queue?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8485900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What is Dequeue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Types of Dequeue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Operations on Dequeue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Application of Dequeue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What is Priority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Types of Priority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Application of Priority Queue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How can check palindrome ?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333500"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How can Job Schedule in Operating Systems</a:t>
            </a:r>
            <a:r>
              <a:rPr lang="en-US" sz="3200" dirty="0"/>
              <a:t> 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1641" y="2052735"/>
            <a:ext cx="97971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DEQUEUE</a:t>
            </a:r>
          </a:p>
          <a:p>
            <a:endParaRPr lang="en-US" sz="2800" dirty="0"/>
          </a:p>
          <a:p>
            <a:r>
              <a:rPr lang="en-US" sz="2800" dirty="0"/>
              <a:t>Deque or Double Ended Queue is a generalized version of </a:t>
            </a:r>
            <a:r>
              <a:rPr lang="en-US" sz="2800" u="sng" dirty="0"/>
              <a:t>Queue Data Structure </a:t>
            </a:r>
            <a:r>
              <a:rPr lang="en-US" sz="2800" u="sng" dirty="0">
                <a:hlinkClick r:id="rId5"/>
              </a:rPr>
              <a:t> </a:t>
            </a:r>
            <a:r>
              <a:rPr lang="en-US" sz="2800" dirty="0"/>
              <a:t>that allows insert  and delete at both ends</a:t>
            </a:r>
          </a:p>
        </p:txBody>
      </p:sp>
      <p:pic>
        <p:nvPicPr>
          <p:cNvPr id="18" name="Picture 17"/>
          <p:cNvPicPr/>
          <p:nvPr/>
        </p:nvPicPr>
        <p:blipFill>
          <a:blip r:embed="rId6"/>
          <a:stretch>
            <a:fillRect/>
          </a:stretch>
        </p:blipFill>
        <p:spPr>
          <a:xfrm>
            <a:off x="2295331" y="4299504"/>
            <a:ext cx="8463235" cy="172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0C1A-55D7-603F-9723-7F169AD03F96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39347" y="1138346"/>
            <a:ext cx="75951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Types of Deque</a:t>
            </a:r>
          </a:p>
          <a:p>
            <a:endParaRPr lang="en-US" sz="3600" b="1" dirty="0"/>
          </a:p>
          <a:p>
            <a:pPr lvl="0"/>
            <a:r>
              <a:rPr lang="en-US" sz="3600" b="1" dirty="0"/>
              <a:t>Input Restricted Deque</a:t>
            </a:r>
            <a:endParaRPr lang="en-US" sz="3600" dirty="0"/>
          </a:p>
          <a:p>
            <a:pPr lvl="1"/>
            <a:r>
              <a:rPr lang="en-US" sz="3600" dirty="0"/>
              <a:t>Insertion → only at </a:t>
            </a:r>
            <a:r>
              <a:rPr lang="en-US" sz="3600" b="1" dirty="0"/>
              <a:t>one end</a:t>
            </a:r>
            <a:endParaRPr lang="en-US" sz="3600" dirty="0"/>
          </a:p>
          <a:p>
            <a:pPr lvl="1"/>
            <a:r>
              <a:rPr lang="en-US" sz="3600" dirty="0"/>
              <a:t>Deletion → allowed at </a:t>
            </a:r>
            <a:r>
              <a:rPr lang="en-US" sz="3600" b="1" dirty="0"/>
              <a:t>both ends</a:t>
            </a:r>
            <a:endParaRPr lang="en-US" sz="3600" dirty="0"/>
          </a:p>
          <a:p>
            <a:pPr lvl="0"/>
            <a:r>
              <a:rPr lang="en-US" sz="3600" b="1" dirty="0"/>
              <a:t>Output Restricted Deque</a:t>
            </a:r>
            <a:endParaRPr lang="en-US" sz="3600" dirty="0"/>
          </a:p>
          <a:p>
            <a:pPr lvl="1"/>
            <a:r>
              <a:rPr lang="en-US" sz="3600" dirty="0"/>
              <a:t>Deletion → only at </a:t>
            </a:r>
            <a:r>
              <a:rPr lang="en-US" sz="3600" b="1" dirty="0"/>
              <a:t>one end</a:t>
            </a:r>
            <a:endParaRPr lang="en-US" sz="3600" dirty="0"/>
          </a:p>
          <a:p>
            <a:pPr lvl="1"/>
            <a:r>
              <a:rPr lang="en-US" sz="3600" dirty="0"/>
              <a:t>Insertion → allowed at </a:t>
            </a:r>
            <a:r>
              <a:rPr lang="en-US" sz="3600" b="1" dirty="0"/>
              <a:t>both ends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63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0C1A-55D7-603F-9723-7F169AD03F96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951736"/>
            <a:ext cx="1103033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Operations in Deque</a:t>
            </a:r>
          </a:p>
          <a:p>
            <a:pPr lvl="0"/>
            <a:r>
              <a:rPr lang="en-US" sz="2400" b="1"/>
              <a:t>InsertFront(x)</a:t>
            </a:r>
            <a:r>
              <a:rPr lang="en-US" sz="2400"/>
              <a:t> → insert element x at the front.</a:t>
            </a:r>
          </a:p>
          <a:p>
            <a:pPr lvl="0"/>
            <a:r>
              <a:rPr lang="en-US" sz="2400" b="1"/>
              <a:t>InsertRear(x)</a:t>
            </a:r>
            <a:r>
              <a:rPr lang="en-US" sz="2400"/>
              <a:t> → insert element x at the rear.</a:t>
            </a:r>
          </a:p>
          <a:p>
            <a:pPr lvl="0"/>
            <a:r>
              <a:rPr lang="en-US" sz="2400" b="1"/>
              <a:t>DeleteFront()</a:t>
            </a:r>
            <a:r>
              <a:rPr lang="en-US" sz="2400"/>
              <a:t> → remove element from the front.</a:t>
            </a:r>
          </a:p>
          <a:p>
            <a:pPr lvl="0"/>
            <a:r>
              <a:rPr lang="en-US" sz="2400" b="1"/>
              <a:t>DeleteRear()</a:t>
            </a:r>
            <a:r>
              <a:rPr lang="en-US" sz="2400"/>
              <a:t> → remove element from the rear.</a:t>
            </a:r>
          </a:p>
          <a:p>
            <a:pPr lvl="0"/>
            <a:r>
              <a:rPr lang="en-US" sz="2400" b="1"/>
              <a:t>GetFront()</a:t>
            </a:r>
            <a:r>
              <a:rPr lang="en-US" sz="2400"/>
              <a:t> → return element at front.</a:t>
            </a:r>
          </a:p>
          <a:p>
            <a:pPr lvl="0"/>
            <a:r>
              <a:rPr lang="en-US" sz="2400" b="1"/>
              <a:t>GetRear()</a:t>
            </a:r>
            <a:r>
              <a:rPr lang="en-US" sz="2400"/>
              <a:t> → return element at rea.</a:t>
            </a:r>
          </a:p>
          <a:p>
            <a:pPr lvl="0"/>
            <a:r>
              <a:rPr lang="en-US" sz="2400" b="1"/>
              <a:t>IsEmpty()</a:t>
            </a:r>
            <a:r>
              <a:rPr lang="en-US" sz="2400"/>
              <a:t> → check if deque is empty.</a:t>
            </a:r>
          </a:p>
          <a:p>
            <a:r>
              <a:rPr lang="en-US" sz="2400" b="1"/>
              <a:t>IsFull()</a:t>
            </a:r>
            <a:r>
              <a:rPr lang="en-US" sz="2400"/>
              <a:t> → check if deque is full</a:t>
            </a:r>
          </a:p>
          <a:p>
            <a:endParaRPr lang="en-US" sz="2400"/>
          </a:p>
          <a:p>
            <a:r>
              <a:rPr lang="en-US" sz="2400" b="1"/>
              <a:t>Applications of Deque</a:t>
            </a:r>
          </a:p>
          <a:p>
            <a:pPr lvl="0"/>
            <a:r>
              <a:rPr lang="en-US" sz="2400" b="1"/>
              <a:t>Palindrome checking</a:t>
            </a:r>
            <a:r>
              <a:rPr lang="en-US" sz="2400"/>
              <a:t> (insert at one end, delete from the other).</a:t>
            </a:r>
          </a:p>
          <a:p>
            <a:pPr lvl="0"/>
            <a:r>
              <a:rPr lang="en-US" sz="2400" b="1"/>
              <a:t>Undo/Redo operations</a:t>
            </a:r>
            <a:r>
              <a:rPr lang="en-US" sz="2400"/>
              <a:t> in text editors.</a:t>
            </a:r>
          </a:p>
          <a:p>
            <a:pPr lvl="0"/>
            <a:r>
              <a:rPr lang="en-US" sz="2400" b="1"/>
              <a:t>Job scheduling</a:t>
            </a:r>
            <a:r>
              <a:rPr lang="en-US" sz="2400"/>
              <a:t> (e.g., CPU task management).</a:t>
            </a:r>
          </a:p>
          <a:p>
            <a:pPr lvl="0"/>
            <a:r>
              <a:rPr lang="en-US" sz="2400" b="1"/>
              <a:t>Sliding window problems</a:t>
            </a:r>
            <a:r>
              <a:rPr lang="en-US" sz="2400"/>
              <a:t> in competitive programming.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960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7"/>
              <a:ext cx="6423049" cy="4608596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088328"/>
              </p:ext>
            </p:extLst>
          </p:nvPr>
        </p:nvGraphicFramePr>
        <p:xfrm>
          <a:off x="115205" y="956040"/>
          <a:ext cx="12086763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8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8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8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726">
                <a:tc>
                  <a:txBody>
                    <a:bodyPr/>
                    <a:lstStyle/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#include &lt;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stdio.h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#define SIZE 5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base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deque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[SIZE];</a:t>
                      </a:r>
                    </a:p>
                    <a:p>
                      <a:pPr fontAlgn="base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front = -1, rear = -1;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Insert element at front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insertFront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((front == 0 &amp;&amp; rear == SIZE-1) || (front == rear+1))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("Deque is Full\n");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return;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(front == 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 = rear = 0;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if (front == 0)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 = SIZE-1;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front--;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deque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[front] = x;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Insert element at rear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insertRear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((front == 0 &amp;&amp; rear == SIZE-1) || (front == rear+1))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("Deque is Full\n");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return;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(front == 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 = rear = 0;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if (rear == SIZE-1)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rear = 0;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rear++;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deque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[rear] = x;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Delete element from front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deleteFront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(front == 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("Deque is Empty\n");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return;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(front == rear)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 = rear = -1;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if (front == SIZE-1)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 = 0;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front++;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603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7"/>
              <a:ext cx="6423049" cy="4608596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754640"/>
              </p:ext>
            </p:extLst>
          </p:nvPr>
        </p:nvGraphicFramePr>
        <p:xfrm>
          <a:off x="115205" y="956040"/>
          <a:ext cx="12086763" cy="5556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8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8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8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726">
                <a:tc>
                  <a:txBody>
                    <a:bodyPr/>
                    <a:lstStyle/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Delete element from rear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deleteRear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(front == 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("Deque is Empty\n");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return;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(front == rear)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front = rear = -1;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if (rear == 0)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rear = SIZE-1;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else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rear--;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Get front element</a:t>
                      </a:r>
                    </a:p>
                    <a:p>
                      <a:pPr fontAlgn="base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getFront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(front == 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("Deque is Empty\n");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return -1;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return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deque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[front];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Get rear element</a:t>
                      </a:r>
                    </a:p>
                    <a:p>
                      <a:pPr fontAlgn="base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getRear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(rear == -1) {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("Deque is Empty\n");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return -1;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return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deque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[rear];</a:t>
                      </a:r>
                    </a:p>
                    <a:p>
                      <a:pPr fontAlgn="base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82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-1623214"/>
            <a:ext cx="11438480" cy="744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400" b="1" dirty="0"/>
              <a:t>Priority Queue</a:t>
            </a:r>
            <a:endParaRPr lang="en-US" dirty="0"/>
          </a:p>
          <a:p>
            <a:r>
              <a:rPr lang="en-US" sz="2400" b="1" dirty="0"/>
              <a:t>Definition</a:t>
            </a:r>
          </a:p>
          <a:p>
            <a:r>
              <a:rPr lang="en-US" sz="2400" dirty="0"/>
              <a:t>A </a:t>
            </a:r>
            <a:r>
              <a:rPr lang="en-US" sz="2400" b="1" dirty="0"/>
              <a:t>Priority Queue</a:t>
            </a:r>
            <a:r>
              <a:rPr lang="en-US" sz="2400" dirty="0"/>
              <a:t> is a special type of queue where </a:t>
            </a:r>
            <a:r>
              <a:rPr lang="en-US" sz="2400" b="1" dirty="0"/>
              <a:t>each element is assigned a priority</a:t>
            </a:r>
            <a:r>
              <a:rPr lang="en-US" sz="2400" dirty="0"/>
              <a:t>, and elements with </a:t>
            </a:r>
            <a:r>
              <a:rPr lang="en-US" sz="2400" b="1" dirty="0"/>
              <a:t>higher priority are served before lower priority</a:t>
            </a:r>
            <a:r>
              <a:rPr lang="en-US" sz="2400" dirty="0"/>
              <a:t> elements.</a:t>
            </a:r>
          </a:p>
          <a:p>
            <a:pPr lvl="0"/>
            <a:r>
              <a:rPr lang="en-US" sz="2400" dirty="0"/>
              <a:t>If two elements have the same priority, they are served according to their order in the queue (FIFO).</a:t>
            </a:r>
          </a:p>
          <a:p>
            <a:r>
              <a:rPr lang="en-US" sz="2400" b="1" dirty="0"/>
              <a:t>Types of Priority Queues</a:t>
            </a:r>
          </a:p>
          <a:p>
            <a:pPr lvl="0"/>
            <a:r>
              <a:rPr lang="en-US" sz="2400" b="1" dirty="0"/>
              <a:t>Ascending Priority Queue</a:t>
            </a:r>
            <a:endParaRPr lang="en-US" sz="2400" dirty="0"/>
          </a:p>
          <a:p>
            <a:pPr lvl="1"/>
            <a:r>
              <a:rPr lang="en-US" sz="2400" dirty="0"/>
              <a:t>Element with the </a:t>
            </a:r>
            <a:r>
              <a:rPr lang="en-US" sz="2400" b="1" dirty="0"/>
              <a:t>lowest priority number</a:t>
            </a:r>
            <a:r>
              <a:rPr lang="en-US" sz="2400" dirty="0"/>
              <a:t> is </a:t>
            </a:r>
            <a:r>
              <a:rPr lang="en-US" sz="2400" dirty="0" err="1"/>
              <a:t>dequeued</a:t>
            </a:r>
            <a:r>
              <a:rPr lang="en-US" sz="2400" dirty="0"/>
              <a:t> first.</a:t>
            </a:r>
          </a:p>
          <a:p>
            <a:pPr lvl="0"/>
            <a:r>
              <a:rPr lang="en-US" sz="2400" b="1" dirty="0"/>
              <a:t>Descending Priority Queue</a:t>
            </a:r>
            <a:endParaRPr lang="en-US" sz="2400" dirty="0"/>
          </a:p>
          <a:p>
            <a:pPr lvl="1"/>
            <a:r>
              <a:rPr lang="en-US" sz="2400" dirty="0"/>
              <a:t>Element with the </a:t>
            </a:r>
            <a:r>
              <a:rPr lang="en-US" sz="2400" b="1" dirty="0"/>
              <a:t>highest priority number</a:t>
            </a:r>
            <a:r>
              <a:rPr lang="en-US" sz="2400" dirty="0"/>
              <a:t> is </a:t>
            </a:r>
            <a:r>
              <a:rPr lang="en-US" sz="2400" dirty="0" err="1"/>
              <a:t>dequeued</a:t>
            </a:r>
            <a:r>
              <a:rPr lang="en-US" sz="2400" dirty="0"/>
              <a:t>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-2177209"/>
            <a:ext cx="11438480" cy="855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400" b="1" dirty="0"/>
          </a:p>
          <a:p>
            <a:r>
              <a:rPr lang="en-US" sz="2400" b="1" dirty="0"/>
              <a:t>Operations in Priority Queue</a:t>
            </a:r>
          </a:p>
          <a:p>
            <a:pPr lvl="0"/>
            <a:r>
              <a:rPr lang="en-US" sz="2400" b="1" dirty="0"/>
              <a:t>Insert(item, priority)</a:t>
            </a:r>
            <a:r>
              <a:rPr lang="en-US" sz="2400" dirty="0"/>
              <a:t> → Insert an element along with its priority.</a:t>
            </a:r>
          </a:p>
          <a:p>
            <a:pPr lvl="0"/>
            <a:r>
              <a:rPr lang="en-US" sz="2400" b="1" dirty="0"/>
              <a:t>Delete()</a:t>
            </a:r>
            <a:r>
              <a:rPr lang="en-US" sz="2400" dirty="0"/>
              <a:t> → Remove the element with the highest priority.</a:t>
            </a:r>
          </a:p>
          <a:p>
            <a:pPr lvl="0"/>
            <a:r>
              <a:rPr lang="en-US" sz="2400" b="1" dirty="0"/>
              <a:t>Peek()</a:t>
            </a:r>
            <a:r>
              <a:rPr lang="en-US" sz="2400" dirty="0"/>
              <a:t> → Return the element with the highest priority without removing it.</a:t>
            </a:r>
          </a:p>
          <a:p>
            <a:pPr lvl="0"/>
            <a:r>
              <a:rPr lang="en-US" sz="2400" b="1" dirty="0" err="1"/>
              <a:t>IsEmpty</a:t>
            </a:r>
            <a:r>
              <a:rPr lang="en-US" sz="2400" b="1" dirty="0"/>
              <a:t>()</a:t>
            </a:r>
            <a:r>
              <a:rPr lang="en-US" sz="2400" dirty="0"/>
              <a:t> → Check if the queue is empty.</a:t>
            </a:r>
          </a:p>
          <a:p>
            <a:pPr lvl="0"/>
            <a:r>
              <a:rPr lang="en-US" sz="2400" b="1" dirty="0" err="1"/>
              <a:t>IsFull</a:t>
            </a:r>
            <a:r>
              <a:rPr lang="en-US" sz="2400" b="1" dirty="0"/>
              <a:t>()</a:t>
            </a:r>
            <a:r>
              <a:rPr lang="en-US" sz="2400" dirty="0"/>
              <a:t> → Check if the queue is full (array-based).</a:t>
            </a:r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r>
              <a:rPr lang="en-US" sz="2400" b="1" dirty="0"/>
              <a:t>Applications of Priority Queue</a:t>
            </a:r>
          </a:p>
          <a:p>
            <a:pPr lvl="0"/>
            <a:r>
              <a:rPr lang="en-US" sz="2400" b="1" dirty="0"/>
              <a:t>Job Scheduling in Operating Systems</a:t>
            </a:r>
            <a:r>
              <a:rPr lang="en-US" sz="2400" dirty="0"/>
              <a:t> (CPU scheduling).</a:t>
            </a:r>
          </a:p>
          <a:p>
            <a:pPr lvl="0"/>
            <a:r>
              <a:rPr lang="en-US" sz="2400" b="1" dirty="0"/>
              <a:t>Dijkstra’s Shortest Path Algorithm</a:t>
            </a:r>
            <a:r>
              <a:rPr lang="en-US" sz="2400" dirty="0"/>
              <a:t>.</a:t>
            </a:r>
          </a:p>
          <a:p>
            <a:pPr lvl="0"/>
            <a:r>
              <a:rPr lang="en-US" sz="2400" b="1" dirty="0"/>
              <a:t>Huffman Coding</a:t>
            </a:r>
            <a:r>
              <a:rPr lang="en-US" sz="2400" dirty="0"/>
              <a:t> (data compression).</a:t>
            </a:r>
          </a:p>
          <a:p>
            <a:pPr lvl="0"/>
            <a:r>
              <a:rPr lang="en-US" sz="2400" b="1" dirty="0"/>
              <a:t>Load balancing</a:t>
            </a:r>
            <a:r>
              <a:rPr lang="en-US" sz="2400" dirty="0"/>
              <a:t> in networks.</a:t>
            </a:r>
          </a:p>
          <a:p>
            <a:pPr lvl="0"/>
            <a:r>
              <a:rPr lang="en-US" sz="2400" b="1" dirty="0"/>
              <a:t>Emergency systems</a:t>
            </a:r>
            <a:r>
              <a:rPr lang="en-US" sz="2400" dirty="0"/>
              <a:t> (e.g., hospital patients treated by severity).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2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Woo Flash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 descr="A screenshot of a qr code&#10;&#10;AI-generated content may be incorrect.">
            <a:extLst>
              <a:ext uri="{FF2B5EF4-FFF2-40B4-BE49-F238E27FC236}">
                <a16:creationId xmlns:a16="http://schemas.microsoft.com/office/drawing/2014/main" id="{A12E715D-7C21-0398-D902-015E10DCB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029" y="1606456"/>
            <a:ext cx="8741228" cy="435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980607" y="1051486"/>
            <a:ext cx="10373193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918" y="1707050"/>
            <a:ext cx="1144035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Deque</a:t>
            </a:r>
            <a:r>
              <a:rPr lang="en-US" sz="2400" dirty="0"/>
              <a:t> is a linear data structure that allows </a:t>
            </a:r>
            <a:r>
              <a:rPr lang="en-US" sz="2400" b="1" dirty="0"/>
              <a:t>insertion and deletion at both ends</a:t>
            </a:r>
            <a:r>
              <a:rPr lang="en-US" sz="2400" dirty="0"/>
              <a:t> (front and rear).</a:t>
            </a:r>
          </a:p>
          <a:p>
            <a:r>
              <a:rPr lang="en-US" sz="2400" dirty="0"/>
              <a:t>It is more flexible than a normal queue.</a:t>
            </a:r>
          </a:p>
          <a:p>
            <a:r>
              <a:rPr lang="en-US" sz="2400" dirty="0"/>
              <a:t>Two variants exist:</a:t>
            </a:r>
          </a:p>
          <a:p>
            <a:r>
              <a:rPr lang="en-US" sz="2400" b="1" dirty="0"/>
              <a:t>Input-restricted </a:t>
            </a:r>
            <a:r>
              <a:rPr lang="en-US" sz="2400" b="1" dirty="0" err="1"/>
              <a:t>deque</a:t>
            </a:r>
            <a:r>
              <a:rPr lang="en-US" sz="2400" dirty="0"/>
              <a:t> → insertion at one end only.</a:t>
            </a:r>
          </a:p>
          <a:p>
            <a:r>
              <a:rPr lang="en-US" sz="2400" b="1" dirty="0"/>
              <a:t>Output-restricted </a:t>
            </a:r>
            <a:r>
              <a:rPr lang="en-US" sz="2400" b="1" dirty="0" err="1"/>
              <a:t>deque</a:t>
            </a:r>
            <a:r>
              <a:rPr lang="en-US" sz="2400" dirty="0"/>
              <a:t> → deletion at one end only.</a:t>
            </a:r>
          </a:p>
          <a:p>
            <a:r>
              <a:rPr lang="en-US" sz="2400" dirty="0"/>
              <a:t>Can be implemented using </a:t>
            </a:r>
            <a:r>
              <a:rPr lang="en-US" sz="2400" b="1" dirty="0"/>
              <a:t>arrays</a:t>
            </a:r>
            <a:r>
              <a:rPr lang="en-US" sz="2400" dirty="0"/>
              <a:t> or </a:t>
            </a:r>
            <a:r>
              <a:rPr lang="en-US" sz="2400" b="1" dirty="0"/>
              <a:t>linked lists</a:t>
            </a:r>
            <a:r>
              <a:rPr lang="en-US" sz="2400" dirty="0"/>
              <a:t>.</a:t>
            </a:r>
          </a:p>
          <a:p>
            <a:r>
              <a:rPr lang="en-US" sz="2400" b="1" dirty="0"/>
              <a:t>Summary of Priority Queue</a:t>
            </a:r>
          </a:p>
          <a:p>
            <a:r>
              <a:rPr lang="en-US" sz="2400" dirty="0"/>
              <a:t>A </a:t>
            </a:r>
            <a:r>
              <a:rPr lang="en-US" sz="2400" b="1" dirty="0"/>
              <a:t>Priority Queue</a:t>
            </a:r>
            <a:r>
              <a:rPr lang="en-US" sz="2400" dirty="0"/>
              <a:t> is a queue where </a:t>
            </a:r>
            <a:r>
              <a:rPr lang="en-US" sz="2400" b="1" dirty="0"/>
              <a:t>each element has a priority</a:t>
            </a:r>
            <a:r>
              <a:rPr lang="en-US" sz="2400" dirty="0"/>
              <a:t>, and elements with higher priority are served first.</a:t>
            </a:r>
          </a:p>
          <a:p>
            <a:r>
              <a:rPr lang="en-US" sz="2400" dirty="0"/>
              <a:t>Two variants:</a:t>
            </a:r>
          </a:p>
          <a:p>
            <a:pPr lvl="1"/>
            <a:r>
              <a:rPr lang="en-US" sz="2400" b="1" dirty="0"/>
              <a:t>Ascending priority queue</a:t>
            </a:r>
            <a:r>
              <a:rPr lang="en-US" sz="2400" dirty="0"/>
              <a:t> → smallest priority </a:t>
            </a:r>
            <a:r>
              <a:rPr lang="en-US" sz="2400" dirty="0" err="1"/>
              <a:t>dequeued</a:t>
            </a:r>
            <a:r>
              <a:rPr lang="en-US" sz="2400" dirty="0"/>
              <a:t> first.</a:t>
            </a:r>
          </a:p>
          <a:p>
            <a:pPr lvl="1"/>
            <a:r>
              <a:rPr lang="en-US" sz="2400" b="1" dirty="0"/>
              <a:t>Descending priority queue</a:t>
            </a:r>
            <a:r>
              <a:rPr lang="en-US" sz="2400" dirty="0"/>
              <a:t> → highest priority </a:t>
            </a:r>
            <a:r>
              <a:rPr lang="en-US" sz="2400" dirty="0" err="1"/>
              <a:t>dequeued</a:t>
            </a:r>
            <a:r>
              <a:rPr lang="en-US" sz="2400" dirty="0"/>
              <a:t> first.</a:t>
            </a:r>
          </a:p>
          <a:p>
            <a:r>
              <a:rPr lang="en-US" sz="2400" dirty="0"/>
              <a:t>Can be implemented using </a:t>
            </a:r>
            <a:r>
              <a:rPr lang="en-US" sz="2400" b="1" dirty="0"/>
              <a:t>arrays, linked lists, or heaps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2DE-94AF-4FA6-AC91-F6E133F1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BDBE0-A5DB-2C0C-EAD8-679E0833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E280-9E74-593A-97BB-AA83D2BF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C7D976-CEDB-D82A-7AEB-C4287BDEA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D196369-5E80-F50C-6B80-49FCB1043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26" y="1065923"/>
            <a:ext cx="10724206" cy="4720670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0A58D6-0AEC-35D7-0B18-4C3ABB1DFA36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5072BE33-7B7A-7B46-8781-424CBA011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9057124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9A45468-42E3-31D5-0DCF-A4828F31DA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1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to Tree and Types of Tree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  <a:p>
            <a:pPr algn="ctr"/>
            <a:endParaRPr lang="en-US" sz="4000" dirty="0">
              <a:solidFill>
                <a:schemeClr val="tx2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2368708"/>
            <a:ext cx="10353675" cy="294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3023</TotalTime>
  <Words>1297</Words>
  <Application>Microsoft Office PowerPoint</Application>
  <PresentationFormat>Widescreen</PresentationFormat>
  <Paragraphs>256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  Double Ended queue and Priority Queue   Session No.: 31 Course Name: Data Strucutres Course Code: R1UC308B   Instructor Name: Akhilesh Tripathi Duration: 50 mins Date of Conduction of Class: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Concept and Definition for (LO-1)  </vt:lpstr>
      <vt:lpstr>Concept and Definition for (LO-1)  </vt:lpstr>
      <vt:lpstr>Concept and Definition for (LO-1)  </vt:lpstr>
      <vt:lpstr>Concept and Definition for (LO-1)  </vt:lpstr>
      <vt:lpstr>Concept and Definition for (LO-2) </vt:lpstr>
      <vt:lpstr>Concept and Definition for (LO-2)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119</cp:revision>
  <dcterms:created xsi:type="dcterms:W3CDTF">2024-08-22T06:33:55Z</dcterms:created>
  <dcterms:modified xsi:type="dcterms:W3CDTF">2025-12-10T14:23:51Z</dcterms:modified>
</cp:coreProperties>
</file>