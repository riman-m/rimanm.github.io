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embeddedFontLs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eorgia" panose="02040502050405020303" pitchFamily="18" charset="0"/>
      <p:regular r:id="rId25"/>
      <p:bold r:id="rId26"/>
      <p:italic r:id="rId27"/>
      <p:boldItalic r:id="rId28"/>
    </p:embeddedFont>
    <p:embeddedFont>
      <p:font typeface="Play" panose="020B0604020202020204" charset="0"/>
      <p:regular r:id="rId29"/>
      <p:bold r:id="rId30"/>
    </p:embeddedFont>
    <p:embeddedFont>
      <p:font typeface="Tahoma" panose="020B0604030504040204" pitchFamily="34" charset="0"/>
      <p:regular r:id="rId31"/>
      <p:bold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3" roundtripDataSignature="AMtx7mikbsI3uFuPCF0vILOUuFyAWfHY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4DAE57B-FEC1-496C-BA55-FDD75FCEE52B}">
  <a:tblStyle styleId="{84DAE57B-FEC1-496C-BA55-FDD75FCEE52B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21" Type="http://schemas.openxmlformats.org/officeDocument/2006/relationships/font" Target="fonts/font1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1" descr="A blue and purple dot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5200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/>
          <p:nvPr/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33000">
                <a:srgbClr val="000000">
                  <a:alpha val="63921"/>
                </a:srgbClr>
              </a:gs>
              <a:gs pos="58000">
                <a:schemeClr val="dk1"/>
              </a:gs>
              <a:gs pos="100000">
                <a:schemeClr val="dk1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>
            <a:spLocks noGrp="1"/>
          </p:cNvSpPr>
          <p:nvPr>
            <p:ph type="ctrTitle"/>
          </p:nvPr>
        </p:nvSpPr>
        <p:spPr>
          <a:xfrm>
            <a:off x="477981" y="1122362"/>
            <a:ext cx="8366216" cy="4909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Times New Roman"/>
              <a:buNone/>
            </a:pPr>
            <a:r>
              <a:rPr lang="en-IN" sz="49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Constructing Binary Tree</a:t>
            </a:r>
            <a:br>
              <a:rPr lang="en-IN" sz="49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49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Given Tree Traversal</a:t>
            </a:r>
            <a:br>
              <a:rPr lang="en-IN" dirty="0">
                <a:solidFill>
                  <a:schemeClr val="lt1"/>
                </a:solidFill>
              </a:rPr>
            </a:br>
            <a:br>
              <a:rPr lang="en-IN" sz="54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br>
              <a:rPr lang="en-IN" sz="4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br>
              <a:rPr lang="en-IN" sz="4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IN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Session No.: 35</a:t>
            </a:r>
            <a:br>
              <a:rPr lang="en-IN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IN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Course Name: Data Structures</a:t>
            </a:r>
            <a:br>
              <a:rPr lang="en-IN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IN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Course Code: </a:t>
            </a:r>
            <a:r>
              <a:rPr lang="en-IN" sz="1800" b="1" i="0" u="none" strike="noStrik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R1UC308B </a:t>
            </a:r>
            <a:r>
              <a:rPr lang="en-IN" sz="1800" b="0" i="0" u="none" strike="noStrik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br>
              <a:rPr lang="en-IN" sz="1800" b="0" i="0" u="none" strike="noStrik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Instructor Name: </a:t>
            </a:r>
            <a:r>
              <a:rPr lang="en-IN" sz="1800" b="1" dirty="0" err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Akhilrsh</a:t>
            </a:r>
            <a:r>
              <a:rPr lang="en-IN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 Tripathi</a:t>
            </a:r>
            <a:br>
              <a:rPr lang="en-IN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IN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Duration: 50 mins</a:t>
            </a:r>
            <a:br>
              <a:rPr lang="en-IN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IN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Date of Conduction of Class: 8 Dec 2025</a:t>
            </a:r>
            <a:endParaRPr sz="4800" b="1" dirty="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2" name="Google Shape;92;p1"/>
          <p:cNvSpPr/>
          <p:nvPr/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95" name="Google Shape;95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</a:t>
            </a:fld>
            <a:endParaRPr/>
          </a:p>
        </p:txBody>
      </p:sp>
      <p:pic>
        <p:nvPicPr>
          <p:cNvPr id="96" name="Google Shape;96;p1" descr="A blue circle with text and words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58565" y="176753"/>
            <a:ext cx="1190469" cy="1190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932" y="3174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103" name="Google Shape;103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  <p:pic>
        <p:nvPicPr>
          <p:cNvPr id="104" name="Google Shape;104;p2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 txBox="1"/>
          <p:nvPr/>
        </p:nvSpPr>
        <p:spPr>
          <a:xfrm>
            <a:off x="822739" y="1354784"/>
            <a:ext cx="108105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Prerequisite:</a:t>
            </a:r>
            <a:r>
              <a:rPr lang="en-IN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What are the three main tree traversals? 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How does </a:t>
            </a:r>
            <a:r>
              <a:rPr lang="en-IN" sz="2000">
                <a:solidFill>
                  <a:schemeClr val="dk1"/>
                </a:solidFill>
              </a:rPr>
              <a:t>in-order</a:t>
            </a:r>
            <a:r>
              <a:rPr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differ from </a:t>
            </a:r>
            <a:r>
              <a:rPr lang="en-IN" sz="2000">
                <a:solidFill>
                  <a:schemeClr val="dk1"/>
                </a:solidFill>
              </a:rPr>
              <a:t>pre-order/post-order?</a:t>
            </a:r>
            <a:r>
              <a:rPr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"/>
          <p:cNvSpPr txBox="1"/>
          <p:nvPr/>
        </p:nvSpPr>
        <p:spPr>
          <a:xfrm flipH="1">
            <a:off x="10659361" y="1080898"/>
            <a:ext cx="107314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[1-mins]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113" name="Google Shape;113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  <p:pic>
        <p:nvPicPr>
          <p:cNvPr id="114" name="Google Shape;114;p3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 txBox="1"/>
          <p:nvPr/>
        </p:nvSpPr>
        <p:spPr>
          <a:xfrm>
            <a:off x="822739" y="821384"/>
            <a:ext cx="1037319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Pre-Class Assessment</a:t>
            </a:r>
            <a:endParaRPr dirty="0"/>
          </a:p>
        </p:txBody>
      </p:sp>
      <p:sp>
        <p:nvSpPr>
          <p:cNvPr id="116" name="Google Shape;116;p3"/>
          <p:cNvSpPr/>
          <p:nvPr/>
        </p:nvSpPr>
        <p:spPr>
          <a:xfrm>
            <a:off x="10648330" y="1095420"/>
            <a:ext cx="117669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[4-mins]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904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screenshot of a web page&#10;&#10;AI-generated content may be incorrect.">
            <a:extLst>
              <a:ext uri="{FF2B5EF4-FFF2-40B4-BE49-F238E27FC236}">
                <a16:creationId xmlns:a16="http://schemas.microsoft.com/office/drawing/2014/main" id="{12A79D49-124E-99B2-5869-6E752B6E73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557" y="1939848"/>
            <a:ext cx="10420886" cy="29783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124" name="Google Shape;12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  <p:pic>
        <p:nvPicPr>
          <p:cNvPr id="125" name="Google Shape;125;p4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4"/>
          <p:cNvSpPr/>
          <p:nvPr/>
        </p:nvSpPr>
        <p:spPr>
          <a:xfrm>
            <a:off x="10608271" y="1095420"/>
            <a:ext cx="11753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[10-mins]</a:t>
            </a:r>
            <a:endParaRPr/>
          </a:p>
        </p:txBody>
      </p:sp>
      <p:pic>
        <p:nvPicPr>
          <p:cNvPr id="127" name="Google Shape;127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4"/>
          <p:cNvSpPr txBox="1"/>
          <p:nvPr/>
        </p:nvSpPr>
        <p:spPr>
          <a:xfrm>
            <a:off x="1497724" y="1750001"/>
            <a:ext cx="7705396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would we ever need to rebuild a tree structure from only its visiting order?</a:t>
            </a:r>
            <a:endParaRPr sz="3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134" name="Google Shape;134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  <p:pic>
        <p:nvPicPr>
          <p:cNvPr id="135" name="Google Shape;135;p5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7" name="Google Shape;137;p5"/>
          <p:cNvGraphicFramePr/>
          <p:nvPr/>
        </p:nvGraphicFramePr>
        <p:xfrm>
          <a:off x="507125" y="1230261"/>
          <a:ext cx="10515600" cy="3255000"/>
        </p:xfrm>
        <a:graphic>
          <a:graphicData uri="http://schemas.openxmlformats.org/drawingml/2006/table">
            <a:tbl>
              <a:tblPr firstRow="1" firstCol="1" bandRow="1">
                <a:noFill/>
                <a:tableStyleId>{84DAE57B-FEC1-496C-BA55-FDD75FCEE52B}</a:tableStyleId>
              </a:tblPr>
              <a:tblGrid>
                <a:gridCol w="959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50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strike="noStrike" cap="none"/>
                        <a:t>S.No.</a:t>
                      </a:r>
                      <a:endParaRPr sz="2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strike="noStrike" cap="none"/>
                        <a:t>Application Area</a:t>
                      </a:r>
                      <a:endParaRPr sz="2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strike="noStrike" cap="none"/>
                        <a:t>Why Tree Reconstruction is Needed</a:t>
                      </a:r>
                      <a:endParaRPr sz="2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7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strike="noStrike" cap="none"/>
                        <a:t>1</a:t>
                      </a:r>
                      <a:endParaRPr sz="2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strike="noStrike" cap="none"/>
                        <a:t>Data Recovery &amp; Restoration</a:t>
                      </a:r>
                      <a:endParaRPr sz="2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strike="noStrike" cap="none"/>
                        <a:t>To bring back a lost or damaged tree structure when only its visiting order is available.</a:t>
                      </a:r>
                      <a:endParaRPr sz="2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7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strike="noStrike" cap="none"/>
                        <a:t>2</a:t>
                      </a:r>
                      <a:endParaRPr sz="2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strike="noStrike" cap="none"/>
                        <a:t>Compiler Design &amp; Expression Evaluation</a:t>
                      </a:r>
                      <a:endParaRPr sz="2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strike="noStrike" cap="none"/>
                        <a:t>To rebuild expression trees from stored sequences for further processing.</a:t>
                      </a:r>
                      <a:endParaRPr sz="2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7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mbria"/>
                        <a:buNone/>
                      </a:pPr>
                      <a:r>
                        <a:rPr lang="en-IN" sz="20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</a:t>
                      </a:r>
                      <a:endParaRPr sz="2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strike="noStrike" cap="none"/>
                        <a:t>Data Storage &amp; Transmission</a:t>
                      </a:r>
                      <a:endParaRPr sz="2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strike="noStrike" cap="none"/>
                        <a:t>To restore a tree that was saved as a sequence for saving space or sending data.</a:t>
                      </a:r>
                      <a:endParaRPr sz="2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 txBox="1">
            <a:spLocks noGrp="1"/>
          </p:cNvSpPr>
          <p:nvPr>
            <p:ph type="title"/>
          </p:nvPr>
        </p:nvSpPr>
        <p:spPr>
          <a:xfrm>
            <a:off x="3890330" y="483460"/>
            <a:ext cx="5017695" cy="113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ahoma"/>
              <a:buNone/>
            </a:pPr>
            <a:r>
              <a:rPr lang="en-IN" sz="3600">
                <a:latin typeface="Tahoma"/>
                <a:ea typeface="Tahoma"/>
                <a:cs typeface="Tahoma"/>
                <a:sym typeface="Tahoma"/>
              </a:rPr>
              <a:t>Learning Outcomes</a:t>
            </a:r>
            <a:endParaRPr/>
          </a:p>
        </p:txBody>
      </p:sp>
      <p:sp>
        <p:nvSpPr>
          <p:cNvPr id="143" name="Google Shape;1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144" name="Google Shape;1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  <p:pic>
        <p:nvPicPr>
          <p:cNvPr id="145" name="Google Shape;145;p6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6"/>
          <p:cNvSpPr txBox="1">
            <a:spLocks noGrp="1"/>
          </p:cNvSpPr>
          <p:nvPr>
            <p:ph type="body" idx="1"/>
          </p:nvPr>
        </p:nvSpPr>
        <p:spPr>
          <a:xfrm>
            <a:off x="375532" y="1435255"/>
            <a:ext cx="108204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 b="1" u="sng">
                <a:latin typeface="Tahoma"/>
                <a:ea typeface="Tahoma"/>
                <a:cs typeface="Tahoma"/>
                <a:sym typeface="Tahoma"/>
              </a:rPr>
              <a:t>By the end of this session, You will be able to:</a:t>
            </a:r>
            <a:endParaRPr/>
          </a:p>
        </p:txBody>
      </p:sp>
      <p:grpSp>
        <p:nvGrpSpPr>
          <p:cNvPr id="147" name="Google Shape;147;p6"/>
          <p:cNvGrpSpPr/>
          <p:nvPr/>
        </p:nvGrpSpPr>
        <p:grpSpPr>
          <a:xfrm>
            <a:off x="297092" y="2287442"/>
            <a:ext cx="10927829" cy="3686077"/>
            <a:chOff x="0" y="1663"/>
            <a:chExt cx="10927829" cy="3686077"/>
          </a:xfrm>
        </p:grpSpPr>
        <p:sp>
          <p:nvSpPr>
            <p:cNvPr id="148" name="Google Shape;148;p6"/>
            <p:cNvSpPr/>
            <p:nvPr/>
          </p:nvSpPr>
          <p:spPr>
            <a:xfrm>
              <a:off x="0" y="2226751"/>
              <a:ext cx="10927829" cy="1460989"/>
            </a:xfrm>
            <a:prstGeom prst="rect">
              <a:avLst/>
            </a:prstGeom>
            <a:solidFill>
              <a:srgbClr val="E9713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6"/>
            <p:cNvSpPr txBox="1"/>
            <p:nvPr/>
          </p:nvSpPr>
          <p:spPr>
            <a:xfrm>
              <a:off x="0" y="2226751"/>
              <a:ext cx="10927829" cy="14609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6025" tIns="256025" rIns="256025" bIns="2560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600"/>
                <a:buFont typeface="Arial"/>
                <a:buNone/>
              </a:pPr>
              <a:r>
                <a:rPr lang="en-IN" sz="3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Apply algorithms to reconstruct binary trees from given traversal pairs.</a:t>
              </a:r>
              <a:endParaRPr/>
            </a:p>
          </p:txBody>
        </p:sp>
        <p:sp>
          <p:nvSpPr>
            <p:cNvPr id="150" name="Google Shape;150;p6"/>
            <p:cNvSpPr/>
            <p:nvPr/>
          </p:nvSpPr>
          <p:spPr>
            <a:xfrm rot="10800000">
              <a:off x="0" y="1663"/>
              <a:ext cx="10927829" cy="2247002"/>
            </a:xfrm>
            <a:prstGeom prst="upArrowCallout">
              <a:avLst>
                <a:gd name="adj1" fmla="val 25000"/>
                <a:gd name="adj2" fmla="val 25000"/>
                <a:gd name="adj3" fmla="val 25000"/>
                <a:gd name="adj4" fmla="val 64977"/>
              </a:avLst>
            </a:prstGeom>
            <a:solidFill>
              <a:srgbClr val="186923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6"/>
            <p:cNvSpPr txBox="1"/>
            <p:nvPr/>
          </p:nvSpPr>
          <p:spPr>
            <a:xfrm>
              <a:off x="0" y="1663"/>
              <a:ext cx="10927829" cy="14600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6025" tIns="256025" rIns="256025" bIns="2560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600"/>
                <a:buFont typeface="Arial"/>
                <a:buNone/>
              </a:pPr>
              <a:r>
                <a:rPr lang="en-IN" sz="3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Recall the definitions and basic steps of </a:t>
              </a:r>
              <a:r>
                <a:rPr lang="en-IN" sz="3600">
                  <a:solidFill>
                    <a:schemeClr val="lt1"/>
                  </a:solidFill>
                </a:rPr>
                <a:t>in-order,</a:t>
              </a:r>
              <a:r>
                <a:rPr lang="en-IN" sz="3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IN" sz="3600">
                  <a:solidFill>
                    <a:schemeClr val="lt1"/>
                  </a:solidFill>
                </a:rPr>
                <a:t>pre-order,</a:t>
              </a:r>
              <a:r>
                <a:rPr lang="en-IN" sz="3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and </a:t>
              </a:r>
              <a:r>
                <a:rPr lang="en-IN" sz="3600">
                  <a:solidFill>
                    <a:schemeClr val="lt1"/>
                  </a:solidFill>
                </a:rPr>
                <a:t>post-order</a:t>
              </a:r>
              <a:r>
                <a:rPr lang="en-IN" sz="3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traversal.</a:t>
              </a:r>
              <a:endParaRPr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52" name="Google Shape;152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158" name="Google Shape;15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7</a:t>
            </a:fld>
            <a:endParaRPr/>
          </a:p>
        </p:txBody>
      </p:sp>
      <p:pic>
        <p:nvPicPr>
          <p:cNvPr id="159" name="Google Shape;159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7"/>
          <p:cNvSpPr txBox="1"/>
          <p:nvPr/>
        </p:nvSpPr>
        <p:spPr>
          <a:xfrm>
            <a:off x="727756" y="1219889"/>
            <a:ext cx="10468176" cy="409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Session Outline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IN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Opening Question and Activity-1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IN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Concepts and Definitions :</a:t>
            </a: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N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Constructing Binary Tree from Given Tree Traversal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IN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IN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Activity-2 : Problem Solving 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IN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Reinforce learning through an interactive Wooflash/Wooclap tools.</a:t>
            </a:r>
            <a:endParaRPr/>
          </a:p>
        </p:txBody>
      </p:sp>
      <p:pic>
        <p:nvPicPr>
          <p:cNvPr id="161" name="Google Shape;161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41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7" name="Google Shape;167;p8"/>
          <p:cNvGrpSpPr/>
          <p:nvPr/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68" name="Google Shape;168;p8"/>
            <p:cNvSpPr/>
            <p:nvPr/>
          </p:nvSpPr>
          <p:spPr>
            <a:xfrm>
              <a:off x="0" y="0"/>
              <a:ext cx="6018714" cy="6858000"/>
            </a:xfrm>
            <a:custGeom>
              <a:avLst/>
              <a:gdLst/>
              <a:ahLst/>
              <a:cxnLst/>
              <a:rect l="l" t="t" r="r" b="b"/>
              <a:pathLst>
                <a:path w="6018714" h="6858000" extrusionOk="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8"/>
            <p:cNvSpPr/>
            <p:nvPr/>
          </p:nvSpPr>
          <p:spPr>
            <a:xfrm>
              <a:off x="0" y="38834"/>
              <a:ext cx="6015920" cy="6819166"/>
            </a:xfrm>
            <a:custGeom>
              <a:avLst/>
              <a:gdLst/>
              <a:ahLst/>
              <a:cxnLst/>
              <a:rect l="l" t="t" r="r" b="b"/>
              <a:pathLst>
                <a:path w="6015920" h="6819166" extrusionOk="0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8"/>
            <p:cNvSpPr/>
            <p:nvPr/>
          </p:nvSpPr>
          <p:spPr>
            <a:xfrm>
              <a:off x="0" y="89880"/>
              <a:ext cx="5997097" cy="6768121"/>
            </a:xfrm>
            <a:custGeom>
              <a:avLst/>
              <a:gdLst/>
              <a:ahLst/>
              <a:cxnLst/>
              <a:rect l="l" t="t" r="r" b="b"/>
              <a:pathLst>
                <a:path w="5997097" h="6768121" extrusionOk="0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8"/>
            <p:cNvSpPr/>
            <p:nvPr/>
          </p:nvSpPr>
          <p:spPr>
            <a:xfrm>
              <a:off x="0" y="726"/>
              <a:ext cx="6423049" cy="6857275"/>
            </a:xfrm>
            <a:custGeom>
              <a:avLst/>
              <a:gdLst/>
              <a:ahLst/>
              <a:cxnLst/>
              <a:rect l="l" t="t" r="r" b="b"/>
              <a:pathLst>
                <a:path w="6423049" h="6857275" extrusionOk="0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8"/>
            <p:cNvSpPr/>
            <p:nvPr/>
          </p:nvSpPr>
          <p:spPr>
            <a:xfrm>
              <a:off x="0" y="726"/>
              <a:ext cx="6158587" cy="6857275"/>
            </a:xfrm>
            <a:custGeom>
              <a:avLst/>
              <a:gdLst/>
              <a:ahLst/>
              <a:cxnLst/>
              <a:rect l="l" t="t" r="r" b="b"/>
              <a:pathLst>
                <a:path w="6158587" h="6857275" extrusionOk="0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3" name="Google Shape;17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GSCALE full form and date</a:t>
            </a:r>
            <a:endParaRPr/>
          </a:p>
        </p:txBody>
      </p:sp>
      <p:sp>
        <p:nvSpPr>
          <p:cNvPr id="174" name="Google Shape;17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  <p:pic>
        <p:nvPicPr>
          <p:cNvPr id="175" name="Google Shape;175;p8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8"/>
          <p:cNvSpPr txBox="1"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lang="en-IN" sz="2800" b="1">
                <a:latin typeface="Tahoma"/>
                <a:ea typeface="Tahoma"/>
                <a:cs typeface="Tahoma"/>
                <a:sym typeface="Tahoma"/>
              </a:rPr>
              <a:t>Concept and Definition  </a:t>
            </a:r>
            <a:endParaRPr sz="2800" b="1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77" name="Google Shape;177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8"/>
          <p:cNvSpPr txBox="1"/>
          <p:nvPr/>
        </p:nvSpPr>
        <p:spPr>
          <a:xfrm>
            <a:off x="10622280" y="1066476"/>
            <a:ext cx="11887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[15-mins]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8"/>
          <p:cNvSpPr txBox="1"/>
          <p:nvPr/>
        </p:nvSpPr>
        <p:spPr>
          <a:xfrm>
            <a:off x="0" y="1166842"/>
            <a:ext cx="11248868" cy="4524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Constructing Binary Tree 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▶ Construct Binary Tree from Pre-order and In-order Traversal 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▶ Construct Binary Tree from Post-order and In-order Traversal 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▶ Construct Full Binary Tree from Pre-order and Post-order Traversal 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▶ Construction from in-order and pre/post-order is very simple: </a:t>
            </a:r>
            <a:endParaRPr/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 out the root node from pre-order/post-order. </a:t>
            </a:r>
            <a:endParaRPr/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Locate that node in the in-order. </a:t>
            </a:r>
            <a:endParaRPr/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Nodes in the left of root node in Step 2 are the in the left part of the root and nodes in the right of the root node are in the right part of the root node. </a:t>
            </a:r>
            <a:endParaRPr/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Make two groups of all nodes of the step 3 in post/pre-order. </a:t>
            </a:r>
            <a:endParaRPr/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Apply these steps recursively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5" name="Google Shape;185;p9"/>
          <p:cNvGrpSpPr/>
          <p:nvPr/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86" name="Google Shape;186;p9"/>
            <p:cNvSpPr/>
            <p:nvPr/>
          </p:nvSpPr>
          <p:spPr>
            <a:xfrm>
              <a:off x="0" y="0"/>
              <a:ext cx="6018714" cy="6858000"/>
            </a:xfrm>
            <a:custGeom>
              <a:avLst/>
              <a:gdLst/>
              <a:ahLst/>
              <a:cxnLst/>
              <a:rect l="l" t="t" r="r" b="b"/>
              <a:pathLst>
                <a:path w="6018714" h="6858000" extrusionOk="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9"/>
            <p:cNvSpPr/>
            <p:nvPr/>
          </p:nvSpPr>
          <p:spPr>
            <a:xfrm>
              <a:off x="0" y="38834"/>
              <a:ext cx="6015920" cy="6819166"/>
            </a:xfrm>
            <a:custGeom>
              <a:avLst/>
              <a:gdLst/>
              <a:ahLst/>
              <a:cxnLst/>
              <a:rect l="l" t="t" r="r" b="b"/>
              <a:pathLst>
                <a:path w="6015920" h="6819166" extrusionOk="0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9"/>
            <p:cNvSpPr/>
            <p:nvPr/>
          </p:nvSpPr>
          <p:spPr>
            <a:xfrm>
              <a:off x="0" y="89880"/>
              <a:ext cx="5997097" cy="6768121"/>
            </a:xfrm>
            <a:custGeom>
              <a:avLst/>
              <a:gdLst/>
              <a:ahLst/>
              <a:cxnLst/>
              <a:rect l="l" t="t" r="r" b="b"/>
              <a:pathLst>
                <a:path w="5997097" h="6768121" extrusionOk="0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9"/>
            <p:cNvSpPr/>
            <p:nvPr/>
          </p:nvSpPr>
          <p:spPr>
            <a:xfrm>
              <a:off x="0" y="726"/>
              <a:ext cx="6423049" cy="6857275"/>
            </a:xfrm>
            <a:custGeom>
              <a:avLst/>
              <a:gdLst/>
              <a:ahLst/>
              <a:cxnLst/>
              <a:rect l="l" t="t" r="r" b="b"/>
              <a:pathLst>
                <a:path w="6423049" h="6857275" extrusionOk="0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9"/>
            <p:cNvSpPr/>
            <p:nvPr/>
          </p:nvSpPr>
          <p:spPr>
            <a:xfrm>
              <a:off x="0" y="726"/>
              <a:ext cx="6158587" cy="6857275"/>
            </a:xfrm>
            <a:custGeom>
              <a:avLst/>
              <a:gdLst/>
              <a:ahLst/>
              <a:cxnLst/>
              <a:rect l="l" t="t" r="r" b="b"/>
              <a:pathLst>
                <a:path w="6158587" h="6857275" extrusionOk="0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1" name="Google Shape;19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GSCALE full form and date</a:t>
            </a:r>
            <a:endParaRPr/>
          </a:p>
        </p:txBody>
      </p:sp>
      <p:sp>
        <p:nvSpPr>
          <p:cNvPr id="192" name="Google Shape;19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  <p:pic>
        <p:nvPicPr>
          <p:cNvPr id="193" name="Google Shape;193;p9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9"/>
          <p:cNvSpPr txBox="1"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lang="en-IN" sz="2800" b="1">
                <a:latin typeface="Tahoma"/>
                <a:ea typeface="Tahoma"/>
                <a:cs typeface="Tahoma"/>
                <a:sym typeface="Tahoma"/>
              </a:rPr>
              <a:t>Concept and Definition</a:t>
            </a:r>
            <a:endParaRPr sz="2800" b="1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95" name="Google Shape;195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1076" y="1112004"/>
            <a:ext cx="11302222" cy="51078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2" name="Google Shape;202;p10"/>
          <p:cNvGrpSpPr/>
          <p:nvPr/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203" name="Google Shape;203;p10"/>
            <p:cNvSpPr/>
            <p:nvPr/>
          </p:nvSpPr>
          <p:spPr>
            <a:xfrm>
              <a:off x="0" y="0"/>
              <a:ext cx="6018714" cy="6858000"/>
            </a:xfrm>
            <a:custGeom>
              <a:avLst/>
              <a:gdLst/>
              <a:ahLst/>
              <a:cxnLst/>
              <a:rect l="l" t="t" r="r" b="b"/>
              <a:pathLst>
                <a:path w="6018714" h="6858000" extrusionOk="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10"/>
            <p:cNvSpPr/>
            <p:nvPr/>
          </p:nvSpPr>
          <p:spPr>
            <a:xfrm>
              <a:off x="0" y="38834"/>
              <a:ext cx="6015920" cy="6819166"/>
            </a:xfrm>
            <a:custGeom>
              <a:avLst/>
              <a:gdLst/>
              <a:ahLst/>
              <a:cxnLst/>
              <a:rect l="l" t="t" r="r" b="b"/>
              <a:pathLst>
                <a:path w="6015920" h="6819166" extrusionOk="0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10"/>
            <p:cNvSpPr/>
            <p:nvPr/>
          </p:nvSpPr>
          <p:spPr>
            <a:xfrm>
              <a:off x="0" y="89880"/>
              <a:ext cx="5997097" cy="6768121"/>
            </a:xfrm>
            <a:custGeom>
              <a:avLst/>
              <a:gdLst/>
              <a:ahLst/>
              <a:cxnLst/>
              <a:rect l="l" t="t" r="r" b="b"/>
              <a:pathLst>
                <a:path w="5997097" h="6768121" extrusionOk="0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10"/>
            <p:cNvSpPr/>
            <p:nvPr/>
          </p:nvSpPr>
          <p:spPr>
            <a:xfrm>
              <a:off x="0" y="726"/>
              <a:ext cx="6423049" cy="6857275"/>
            </a:xfrm>
            <a:custGeom>
              <a:avLst/>
              <a:gdLst/>
              <a:ahLst/>
              <a:cxnLst/>
              <a:rect l="l" t="t" r="r" b="b"/>
              <a:pathLst>
                <a:path w="6423049" h="6857275" extrusionOk="0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10"/>
            <p:cNvSpPr/>
            <p:nvPr/>
          </p:nvSpPr>
          <p:spPr>
            <a:xfrm>
              <a:off x="0" y="726"/>
              <a:ext cx="6158587" cy="6857275"/>
            </a:xfrm>
            <a:custGeom>
              <a:avLst/>
              <a:gdLst/>
              <a:ahLst/>
              <a:cxnLst/>
              <a:rect l="l" t="t" r="r" b="b"/>
              <a:pathLst>
                <a:path w="6158587" h="6857275" extrusionOk="0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8" name="Google Shape;20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GSCALE full form and date</a:t>
            </a:r>
            <a:endParaRPr/>
          </a:p>
        </p:txBody>
      </p:sp>
      <p:sp>
        <p:nvSpPr>
          <p:cNvPr id="209" name="Google Shape;20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  <p:pic>
        <p:nvPicPr>
          <p:cNvPr id="210" name="Google Shape;210;p10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0"/>
          <p:cNvSpPr txBox="1"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lang="en-IN" sz="2800" b="1">
                <a:latin typeface="Tahoma"/>
                <a:ea typeface="Tahoma"/>
                <a:cs typeface="Tahoma"/>
                <a:sym typeface="Tahoma"/>
              </a:rPr>
              <a:t>Concept and Definition</a:t>
            </a:r>
            <a:endParaRPr sz="2800" b="1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12" name="Google Shape;212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2248" y="1112004"/>
            <a:ext cx="11225049" cy="52443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9" name="Google Shape;219;p11"/>
          <p:cNvGrpSpPr/>
          <p:nvPr/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220" name="Google Shape;220;p11"/>
            <p:cNvSpPr/>
            <p:nvPr/>
          </p:nvSpPr>
          <p:spPr>
            <a:xfrm>
              <a:off x="0" y="0"/>
              <a:ext cx="6018714" cy="6858000"/>
            </a:xfrm>
            <a:custGeom>
              <a:avLst/>
              <a:gdLst/>
              <a:ahLst/>
              <a:cxnLst/>
              <a:rect l="l" t="t" r="r" b="b"/>
              <a:pathLst>
                <a:path w="6018714" h="6858000" extrusionOk="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11"/>
            <p:cNvSpPr/>
            <p:nvPr/>
          </p:nvSpPr>
          <p:spPr>
            <a:xfrm>
              <a:off x="0" y="38834"/>
              <a:ext cx="6015920" cy="6819166"/>
            </a:xfrm>
            <a:custGeom>
              <a:avLst/>
              <a:gdLst/>
              <a:ahLst/>
              <a:cxnLst/>
              <a:rect l="l" t="t" r="r" b="b"/>
              <a:pathLst>
                <a:path w="6015920" h="6819166" extrusionOk="0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11"/>
            <p:cNvSpPr/>
            <p:nvPr/>
          </p:nvSpPr>
          <p:spPr>
            <a:xfrm>
              <a:off x="0" y="89880"/>
              <a:ext cx="5997097" cy="6768121"/>
            </a:xfrm>
            <a:custGeom>
              <a:avLst/>
              <a:gdLst/>
              <a:ahLst/>
              <a:cxnLst/>
              <a:rect l="l" t="t" r="r" b="b"/>
              <a:pathLst>
                <a:path w="5997097" h="6768121" extrusionOk="0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1"/>
            <p:cNvSpPr/>
            <p:nvPr/>
          </p:nvSpPr>
          <p:spPr>
            <a:xfrm>
              <a:off x="0" y="726"/>
              <a:ext cx="6423049" cy="6857275"/>
            </a:xfrm>
            <a:custGeom>
              <a:avLst/>
              <a:gdLst/>
              <a:ahLst/>
              <a:cxnLst/>
              <a:rect l="l" t="t" r="r" b="b"/>
              <a:pathLst>
                <a:path w="6423049" h="6857275" extrusionOk="0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11"/>
            <p:cNvSpPr/>
            <p:nvPr/>
          </p:nvSpPr>
          <p:spPr>
            <a:xfrm>
              <a:off x="0" y="726"/>
              <a:ext cx="6158587" cy="6857275"/>
            </a:xfrm>
            <a:custGeom>
              <a:avLst/>
              <a:gdLst/>
              <a:ahLst/>
              <a:cxnLst/>
              <a:rect l="l" t="t" r="r" b="b"/>
              <a:pathLst>
                <a:path w="6158587" h="6857275" extrusionOk="0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5" name="Google Shape;225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GSCALE full form and date</a:t>
            </a:r>
            <a:endParaRPr/>
          </a:p>
        </p:txBody>
      </p:sp>
      <p:sp>
        <p:nvSpPr>
          <p:cNvPr id="226" name="Google Shape;226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  <p:pic>
        <p:nvPicPr>
          <p:cNvPr id="227" name="Google Shape;227;p11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1"/>
          <p:cNvSpPr txBox="1"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lang="en-IN" sz="2800" b="1">
                <a:latin typeface="Tahoma"/>
                <a:ea typeface="Tahoma"/>
                <a:cs typeface="Tahoma"/>
                <a:sym typeface="Tahoma"/>
              </a:rPr>
              <a:t>Concept and Definition</a:t>
            </a:r>
            <a:endParaRPr sz="2800" b="1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29" name="Google Shape;229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932" y="1192398"/>
            <a:ext cx="11703440" cy="50535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236" name="Google Shape;236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12</a:t>
            </a:fld>
            <a:endParaRPr/>
          </a:p>
        </p:txBody>
      </p:sp>
      <p:pic>
        <p:nvPicPr>
          <p:cNvPr id="237" name="Google Shape;237;p12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2"/>
          <p:cNvSpPr/>
          <p:nvPr/>
        </p:nvSpPr>
        <p:spPr>
          <a:xfrm>
            <a:off x="10608271" y="1095420"/>
            <a:ext cx="11753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[10-mins]</a:t>
            </a:r>
            <a:endParaRPr/>
          </a:p>
        </p:txBody>
      </p:sp>
      <p:pic>
        <p:nvPicPr>
          <p:cNvPr id="239" name="Google Shape;239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2"/>
          <p:cNvSpPr txBox="1"/>
          <p:nvPr/>
        </p:nvSpPr>
        <p:spPr>
          <a:xfrm>
            <a:off x="3761668" y="760220"/>
            <a:ext cx="6680173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Activity-2</a:t>
            </a:r>
            <a:endParaRPr/>
          </a:p>
        </p:txBody>
      </p:sp>
      <p:sp>
        <p:nvSpPr>
          <p:cNvPr id="241" name="Google Shape;241;p12"/>
          <p:cNvSpPr txBox="1"/>
          <p:nvPr/>
        </p:nvSpPr>
        <p:spPr>
          <a:xfrm>
            <a:off x="636702" y="1464752"/>
            <a:ext cx="10918595" cy="4852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IN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Set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IN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Construct from Pre-order and In-order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Pre-order:</a:t>
            </a: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 N P Q R S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In-order:</a:t>
            </a: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 N Q M S R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lang="en-IN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2) Construct from Post-order and In-order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Post-order:</a:t>
            </a: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X Y Z W V U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In-order:</a:t>
            </a: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X W Y U Z V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lang="en-IN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3) Construct Full Binary Tree from Pre-order and Post-order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Pre-order:</a:t>
            </a: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 L M N O P Q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Post-order:</a:t>
            </a: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 N L P Q O K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247" name="Google Shape;24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13</a:t>
            </a:fld>
            <a:endParaRPr/>
          </a:p>
        </p:txBody>
      </p:sp>
      <p:pic>
        <p:nvPicPr>
          <p:cNvPr id="248" name="Google Shape;248;p13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3"/>
          <p:cNvSpPr/>
          <p:nvPr/>
        </p:nvSpPr>
        <p:spPr>
          <a:xfrm>
            <a:off x="10608271" y="1095420"/>
            <a:ext cx="11753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[10-mins]</a:t>
            </a:r>
            <a:endParaRPr/>
          </a:p>
        </p:txBody>
      </p:sp>
      <p:pic>
        <p:nvPicPr>
          <p:cNvPr id="250" name="Google Shape;250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3"/>
          <p:cNvSpPr txBox="1"/>
          <p:nvPr/>
        </p:nvSpPr>
        <p:spPr>
          <a:xfrm>
            <a:off x="3761668" y="760220"/>
            <a:ext cx="6680173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Activity-2 Solution</a:t>
            </a:r>
            <a:endParaRPr/>
          </a:p>
        </p:txBody>
      </p:sp>
      <p:sp>
        <p:nvSpPr>
          <p:cNvPr id="252" name="Google Shape;252;p13"/>
          <p:cNvSpPr txBox="1"/>
          <p:nvPr/>
        </p:nvSpPr>
        <p:spPr>
          <a:xfrm>
            <a:off x="636702" y="1464752"/>
            <a:ext cx="10918595" cy="4852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IN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Set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IN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Construct from Pre-order and In-order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Pre-order:</a:t>
            </a: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 N P Q R S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In-order:</a:t>
            </a: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 N Q M S R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lang="en-IN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2) Construct from Post-order and In-order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Post-order:</a:t>
            </a: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X Y Z W V U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In-order:</a:t>
            </a: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X W Y U Z V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lang="en-IN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3) Construct Full Binary Tree from Pre-order and Post-order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Pre-order:</a:t>
            </a: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 L M N O P Q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Post-order:</a:t>
            </a: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 N L P Q O K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53" name="Google Shape;253;p13"/>
          <p:cNvSpPr txBox="1"/>
          <p:nvPr/>
        </p:nvSpPr>
        <p:spPr>
          <a:xfrm>
            <a:off x="6873764" y="1792152"/>
            <a:ext cx="2849617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M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/      \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N       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/ \       /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P   Q   S</a:t>
            </a:r>
            <a:endParaRPr/>
          </a:p>
        </p:txBody>
      </p:sp>
      <p:sp>
        <p:nvSpPr>
          <p:cNvPr id="254" name="Google Shape;254;p13"/>
          <p:cNvSpPr txBox="1"/>
          <p:nvPr/>
        </p:nvSpPr>
        <p:spPr>
          <a:xfrm>
            <a:off x="8610601" y="3269480"/>
            <a:ext cx="14478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U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/       \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W        V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/ \       /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X   Y   Z</a:t>
            </a:r>
            <a:endParaRPr/>
          </a:p>
        </p:txBody>
      </p:sp>
      <p:sp>
        <p:nvSpPr>
          <p:cNvPr id="255" name="Google Shape;255;p13"/>
          <p:cNvSpPr txBox="1"/>
          <p:nvPr/>
        </p:nvSpPr>
        <p:spPr>
          <a:xfrm>
            <a:off x="7429500" y="4887130"/>
            <a:ext cx="14478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K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/       \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L         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/ \         / \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M   N   P   Q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261" name="Google Shape;26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14</a:t>
            </a:fld>
            <a:endParaRPr/>
          </a:p>
        </p:txBody>
      </p:sp>
      <p:pic>
        <p:nvPicPr>
          <p:cNvPr id="262" name="Google Shape;262;p14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4"/>
          <p:cNvSpPr txBox="1"/>
          <p:nvPr/>
        </p:nvSpPr>
        <p:spPr>
          <a:xfrm>
            <a:off x="822739" y="821384"/>
            <a:ext cx="1037319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Post-Class Assessment</a:t>
            </a:r>
            <a:endParaRPr dirty="0"/>
          </a:p>
        </p:txBody>
      </p:sp>
      <p:sp>
        <p:nvSpPr>
          <p:cNvPr id="264" name="Google Shape;264;p14"/>
          <p:cNvSpPr/>
          <p:nvPr/>
        </p:nvSpPr>
        <p:spPr>
          <a:xfrm>
            <a:off x="10648330" y="1095420"/>
            <a:ext cx="117669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[04-mins]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5" name="Google Shape;265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904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screenshot of a qr code&#10;&#10;AI-generated content may be incorrect.">
            <a:extLst>
              <a:ext uri="{FF2B5EF4-FFF2-40B4-BE49-F238E27FC236}">
                <a16:creationId xmlns:a16="http://schemas.microsoft.com/office/drawing/2014/main" id="{3728F5AA-D98C-2B0E-50FC-EE2A8A2C2E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4743" y="1768389"/>
            <a:ext cx="8109857" cy="405092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272" name="Google Shape;27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15</a:t>
            </a:fld>
            <a:endParaRPr/>
          </a:p>
        </p:txBody>
      </p:sp>
      <p:pic>
        <p:nvPicPr>
          <p:cNvPr id="273" name="Google Shape;273;p15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5"/>
          <p:cNvSpPr txBox="1"/>
          <p:nvPr/>
        </p:nvSpPr>
        <p:spPr>
          <a:xfrm>
            <a:off x="822739" y="821384"/>
            <a:ext cx="1037319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Summary</a:t>
            </a:r>
            <a:endParaRPr/>
          </a:p>
        </p:txBody>
      </p:sp>
      <p:sp>
        <p:nvSpPr>
          <p:cNvPr id="275" name="Google Shape;275;p15"/>
          <p:cNvSpPr/>
          <p:nvPr/>
        </p:nvSpPr>
        <p:spPr>
          <a:xfrm>
            <a:off x="10671589" y="1051486"/>
            <a:ext cx="10486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[3-mins]</a:t>
            </a:r>
            <a:endParaRPr/>
          </a:p>
        </p:txBody>
      </p:sp>
      <p:pic>
        <p:nvPicPr>
          <p:cNvPr id="276" name="Google Shape;276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53359" y="1758815"/>
            <a:ext cx="8305495" cy="3340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283" name="Google Shape;28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16</a:t>
            </a:fld>
            <a:endParaRPr/>
          </a:p>
        </p:txBody>
      </p:sp>
      <p:pic>
        <p:nvPicPr>
          <p:cNvPr id="284" name="Google Shape;284;p16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6"/>
          <p:cNvSpPr txBox="1">
            <a:spLocks noGrp="1"/>
          </p:cNvSpPr>
          <p:nvPr>
            <p:ph type="body" idx="1"/>
          </p:nvPr>
        </p:nvSpPr>
        <p:spPr>
          <a:xfrm>
            <a:off x="350806" y="1468524"/>
            <a:ext cx="10820400" cy="532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 b="1">
                <a:latin typeface="Tahoma"/>
                <a:ea typeface="Tahoma"/>
                <a:cs typeface="Tahoma"/>
                <a:sym typeface="Tahoma"/>
              </a:rPr>
              <a:t>Ensure attainment of LO’s in alignment to the learning activities: 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200" b="1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6" name="Google Shape;286;p16"/>
          <p:cNvSpPr/>
          <p:nvPr/>
        </p:nvSpPr>
        <p:spPr>
          <a:xfrm>
            <a:off x="10671589" y="1065923"/>
            <a:ext cx="10486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[2-mins]</a:t>
            </a:r>
            <a:endParaRPr/>
          </a:p>
        </p:txBody>
      </p:sp>
      <p:pic>
        <p:nvPicPr>
          <p:cNvPr id="287" name="Google Shape;287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8" name="Google Shape;288;p16"/>
          <p:cNvGrpSpPr/>
          <p:nvPr/>
        </p:nvGrpSpPr>
        <p:grpSpPr>
          <a:xfrm>
            <a:off x="297092" y="2287442"/>
            <a:ext cx="10927829" cy="3686077"/>
            <a:chOff x="0" y="1663"/>
            <a:chExt cx="10927829" cy="3686077"/>
          </a:xfrm>
        </p:grpSpPr>
        <p:sp>
          <p:nvSpPr>
            <p:cNvPr id="289" name="Google Shape;289;p16"/>
            <p:cNvSpPr/>
            <p:nvPr/>
          </p:nvSpPr>
          <p:spPr>
            <a:xfrm>
              <a:off x="0" y="2226751"/>
              <a:ext cx="10927829" cy="1460989"/>
            </a:xfrm>
            <a:prstGeom prst="rect">
              <a:avLst/>
            </a:prstGeom>
            <a:solidFill>
              <a:srgbClr val="E9713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6"/>
            <p:cNvSpPr txBox="1"/>
            <p:nvPr/>
          </p:nvSpPr>
          <p:spPr>
            <a:xfrm>
              <a:off x="0" y="2226751"/>
              <a:ext cx="10927829" cy="14609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6025" tIns="256025" rIns="256025" bIns="2560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600"/>
                <a:buFont typeface="Arial"/>
                <a:buNone/>
              </a:pPr>
              <a:r>
                <a:rPr lang="en-IN" sz="3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Apply algorithms to reconstruct binary trees from given traversal pairs.</a:t>
              </a:r>
              <a:endParaRPr/>
            </a:p>
          </p:txBody>
        </p:sp>
        <p:sp>
          <p:nvSpPr>
            <p:cNvPr id="291" name="Google Shape;291;p16"/>
            <p:cNvSpPr/>
            <p:nvPr/>
          </p:nvSpPr>
          <p:spPr>
            <a:xfrm rot="10800000">
              <a:off x="0" y="1663"/>
              <a:ext cx="10927829" cy="2247002"/>
            </a:xfrm>
            <a:prstGeom prst="upArrowCallout">
              <a:avLst>
                <a:gd name="adj1" fmla="val 25000"/>
                <a:gd name="adj2" fmla="val 25000"/>
                <a:gd name="adj3" fmla="val 25000"/>
                <a:gd name="adj4" fmla="val 64977"/>
              </a:avLst>
            </a:prstGeom>
            <a:solidFill>
              <a:srgbClr val="186923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6"/>
            <p:cNvSpPr txBox="1"/>
            <p:nvPr/>
          </p:nvSpPr>
          <p:spPr>
            <a:xfrm>
              <a:off x="0" y="1663"/>
              <a:ext cx="10927829" cy="14600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6025" tIns="256025" rIns="256025" bIns="2560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600"/>
                <a:buFont typeface="Arial"/>
                <a:buNone/>
              </a:pPr>
              <a:r>
                <a:rPr lang="en-IN" sz="3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Recall the definitions and basic steps of In-order, Pre-order, and Post-order traversal.</a:t>
              </a:r>
              <a:endParaRPr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298" name="Google Shape;298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17</a:t>
            </a:fld>
            <a:endParaRPr/>
          </a:p>
        </p:txBody>
      </p:sp>
      <p:pic>
        <p:nvPicPr>
          <p:cNvPr id="299" name="Google Shape;299;p1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7"/>
          <p:cNvSpPr/>
          <p:nvPr/>
        </p:nvSpPr>
        <p:spPr>
          <a:xfrm>
            <a:off x="10722885" y="1022415"/>
            <a:ext cx="94609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[1-min]</a:t>
            </a:r>
            <a:endParaRPr/>
          </a:p>
        </p:txBody>
      </p:sp>
      <p:pic>
        <p:nvPicPr>
          <p:cNvPr id="301" name="Google Shape;301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650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7"/>
          <p:cNvSpPr/>
          <p:nvPr/>
        </p:nvSpPr>
        <p:spPr>
          <a:xfrm>
            <a:off x="852566" y="1697335"/>
            <a:ext cx="990600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Next Session: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BST Operation: Searching, Insertion</a:t>
            </a:r>
            <a:endParaRPr sz="3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308" name="Google Shape;308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18</a:t>
            </a:fld>
            <a:endParaRPr/>
          </a:p>
        </p:txBody>
      </p:sp>
      <p:pic>
        <p:nvPicPr>
          <p:cNvPr id="309" name="Google Shape;309;p18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650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8"/>
          <p:cNvSpPr txBox="1"/>
          <p:nvPr/>
        </p:nvSpPr>
        <p:spPr>
          <a:xfrm>
            <a:off x="674913" y="1071593"/>
            <a:ext cx="4805996" cy="1297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Play"/>
              <a:buNone/>
            </a:pPr>
            <a:r>
              <a:rPr lang="en-IN" sz="28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Review and Reflection from students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740</Words>
  <Application>Microsoft Office PowerPoint</Application>
  <PresentationFormat>Widescreen</PresentationFormat>
  <Paragraphs>140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Times New Roman</vt:lpstr>
      <vt:lpstr>Cambria</vt:lpstr>
      <vt:lpstr>Georgia</vt:lpstr>
      <vt:lpstr>Calibri</vt:lpstr>
      <vt:lpstr>Arial</vt:lpstr>
      <vt:lpstr>Play</vt:lpstr>
      <vt:lpstr>Tahoma</vt:lpstr>
      <vt:lpstr>Office Theme</vt:lpstr>
      <vt:lpstr>Constructing Binary Tree From Given Tree Traversal    Session No.: 35 Course Name: Data Structures Course Code: R1UC308B   Instructor Name: Akhilrsh Tripathi Duration: 50 mins Date of Conduction of Class: 8 Dec 2025</vt:lpstr>
      <vt:lpstr>PowerPoint Presentation</vt:lpstr>
      <vt:lpstr>PowerPoint Presentation</vt:lpstr>
      <vt:lpstr>PowerPoint Presentation</vt:lpstr>
      <vt:lpstr>PowerPoint Presentation</vt:lpstr>
      <vt:lpstr>Learning Outcomes</vt:lpstr>
      <vt:lpstr>PowerPoint Presentation</vt:lpstr>
      <vt:lpstr>Concept and Definition  </vt:lpstr>
      <vt:lpstr>Concept and Definition</vt:lpstr>
      <vt:lpstr>Concept and Definition</vt:lpstr>
      <vt:lpstr>Concept and Definition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Deepak Gupta</dc:creator>
  <cp:lastModifiedBy>akhilesh tripathi</cp:lastModifiedBy>
  <cp:revision>3</cp:revision>
  <dcterms:created xsi:type="dcterms:W3CDTF">2024-08-22T06:33:55Z</dcterms:created>
  <dcterms:modified xsi:type="dcterms:W3CDTF">2026-01-03T10:24:44Z</dcterms:modified>
</cp:coreProperties>
</file>