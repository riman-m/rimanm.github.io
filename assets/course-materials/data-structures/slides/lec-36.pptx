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Play" panose="020B0604020202020204" charset="0"/>
      <p:regular r:id="rId32"/>
      <p:bold r:id="rId33"/>
    </p:embeddedFont>
    <p:embeddedFont>
      <p:font typeface="Tahoma" panose="020B0604030504040204" pitchFamily="3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u0I/C05WGHgVZ1l9n+NUdaWlW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en-IN" dirty="0">
                <a:solidFill>
                  <a:schemeClr val="lt1"/>
                </a:solidFill>
              </a:rPr>
              <a:t>BST Operations: Searching, Insertion</a:t>
            </a:r>
            <a:br>
              <a:rPr lang="en-IN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36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Structures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IN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IN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IN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Akhilesh Tripathi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 05 Dec 2025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5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Pre-Requisite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What is a BT?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What are the different operations that can be performed on any data structure?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 flipH="1">
            <a:off x="10659361" y="1080898"/>
            <a:ext cx="10731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14" name="Google Shape;114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822739" y="821384"/>
            <a:ext cx="1037319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Pre-Class Assessment</a:t>
            </a:r>
            <a:endParaRPr dirty="0"/>
          </a:p>
        </p:txBody>
      </p:sp>
      <p:sp>
        <p:nvSpPr>
          <p:cNvPr id="116" name="Google Shape;116;p3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[4-mins]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E9134AC-B9C3-82E1-DD9D-D1FA8F2B4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03" y="2035103"/>
            <a:ext cx="10560593" cy="35057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5" name="Google Shape;125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54506" y="1833058"/>
            <a:ext cx="1147879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“Have you ever used price filters while shopping online?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you think the website quickly finds products within your selected price range, such as ₹500 to ₹1000, without checking each product one by one?”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 solution table wise.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523702" y="1280086"/>
            <a:ext cx="10234800" cy="28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is-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price &lt; 500 → 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skip left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go 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price &gt; 1000 → 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skip right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go </a:t>
            </a:r>
            <a:r>
              <a:rPr lang="en-IN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to handle/implement  this idea we can use BST (Binary Search Tree )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IN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46" name="Google Shape;146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grpSp>
        <p:nvGrpSpPr>
          <p:cNvPr id="148" name="Google Shape;148;p6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149" name="Google Shape;149;p6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 the step-by-step procedure of searching and inserting nodes in a BST</a:t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Define  a Binary Search Tree and explain how it is constructed using given data.</a:t>
              </a:r>
              <a:endParaRPr/>
            </a:p>
          </p:txBody>
        </p:sp>
      </p:grpSp>
      <p:pic>
        <p:nvPicPr>
          <p:cNvPr id="153" name="Google Shape;15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59" name="Google Shape;15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60" name="Google Shape;160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727756" y="1219889"/>
            <a:ext cx="10468176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Opening Question and Activity-1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Concepts and Definitions :BST and associated operations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of BST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 : Problem Solving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Reinforce learning through an interactive Wooflash/Wooclap tools.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68" name="Google Shape;16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69" name="Google Shape;169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 txBox="1"/>
          <p:nvPr/>
        </p:nvSpPr>
        <p:spPr>
          <a:xfrm>
            <a:off x="493746" y="1708107"/>
            <a:ext cx="63573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binary Search Tree is special kind of tree that satisfy the following conditions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value of inserted node is bigger than the parent node then it will be right subtree.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value of inserted node is smaller than the parent node then it will be left subtree.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tree is known as binary search tree or ordered binary tree.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used for searching an element.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2821577" y="821384"/>
            <a:ext cx="552994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Tree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25825" y="1928492"/>
            <a:ext cx="5034376" cy="35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79" name="Google Shape;17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80" name="Google Shape;180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461661" y="2166946"/>
            <a:ext cx="944062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2701353" y="887852"/>
            <a:ext cx="5529943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Tree Operation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91" name="Google Shape;191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197" name="Google Shape;19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98" name="Google Shape;198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714" y="1289372"/>
            <a:ext cx="9512969" cy="337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03527" y="4322964"/>
            <a:ext cx="8366115" cy="82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11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10" name="Google Shape;210;p11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216" name="Google Shape;2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217" name="Google Shape;217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highlight>
                  <a:srgbClr val="FFFF00"/>
                </a:highlight>
                <a:latin typeface="Tahoma"/>
                <a:ea typeface="Tahoma"/>
                <a:cs typeface="Tahoma"/>
                <a:sym typeface="Tahoma"/>
              </a:rPr>
              <a:t>Insertion Operation</a:t>
            </a:r>
            <a:endParaRPr sz="2800" b="1">
              <a:highlight>
                <a:srgbClr val="FFFF00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 txBox="1"/>
          <p:nvPr/>
        </p:nvSpPr>
        <p:spPr>
          <a:xfrm>
            <a:off x="10880770" y="1066476"/>
            <a:ext cx="1188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[15-mins]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104932" y="910959"/>
            <a:ext cx="1087654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</a:pPr>
            <a:r>
              <a:rPr lang="en-IN" sz="20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Construct a Binary Search Tree by </a:t>
            </a:r>
            <a:r>
              <a:rPr lang="en-IN" sz="2000" b="1">
                <a:solidFill>
                  <a:srgbClr val="FF0000"/>
                </a:solidFill>
                <a:highlight>
                  <a:srgbClr val="FFFF00"/>
                </a:highlight>
                <a:latin typeface="Cambria"/>
                <a:ea typeface="Cambria"/>
                <a:cs typeface="Cambria"/>
                <a:sym typeface="Cambria"/>
              </a:rPr>
              <a:t>INSERTING </a:t>
            </a:r>
            <a:r>
              <a:rPr lang="en-IN" sz="20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following data.- 45, 15, 79, 90, 10, 55, 12, 20, 50</a:t>
            </a:r>
            <a:endParaRPr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2" name="Google Shape;22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385" y="1577153"/>
            <a:ext cx="10876547" cy="487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12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29" name="Google Shape;229;p12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235" name="Google Shape;2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36" name="Google Shape;236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642" y="1211387"/>
            <a:ext cx="10132924" cy="514496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highlight>
                  <a:srgbClr val="FFFF00"/>
                </a:highlight>
                <a:latin typeface="Tahoma"/>
                <a:ea typeface="Tahoma"/>
                <a:cs typeface="Tahoma"/>
                <a:sym typeface="Tahoma"/>
              </a:rPr>
              <a:t>Insertion Operation</a:t>
            </a:r>
            <a:endParaRPr sz="2800" b="1">
              <a:highlight>
                <a:srgbClr val="FFFF00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13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47" name="Google Shape;247;p13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254" name="Google Shape;254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IN" sz="2800" b="1">
                <a:latin typeface="Tahoma"/>
                <a:ea typeface="Tahoma"/>
                <a:cs typeface="Tahoma"/>
                <a:sym typeface="Tahoma"/>
              </a:rPr>
              <a:t>Concept and Definition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8082" y="1415443"/>
            <a:ext cx="10090484" cy="313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IN" sz="3600"/>
              <a:t>Example of searching in BST</a:t>
            </a:r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 we have to search 12 than go to left sub tree</a:t>
            </a:r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65" name="Google Shape;26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66" name="Google Shape;266;p14" descr="A diagram of a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3730" y="2563989"/>
            <a:ext cx="4997798" cy="284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966" y="208906"/>
            <a:ext cx="2215421" cy="61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4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75" name="Google Shape;275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[10-mins]</a:t>
            </a:r>
            <a:endParaRPr/>
          </a:p>
        </p:txBody>
      </p:sp>
      <p:pic>
        <p:nvPicPr>
          <p:cNvPr id="277" name="Google Shape;27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5"/>
          <p:cNvSpPr txBox="1"/>
          <p:nvPr/>
        </p:nvSpPr>
        <p:spPr>
          <a:xfrm>
            <a:off x="3761668" y="760220"/>
            <a:ext cx="66801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104932" y="1464752"/>
            <a:ext cx="11248868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 are given the following sequence of integers to </a:t>
            </a:r>
            <a:r>
              <a:rPr lang="en-IN" sz="24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insert into a BST in the given order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50, 30, 20, 40, 70, 60, 80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IN" sz="24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Perform following tasks: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IN" sz="24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Construct the BST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by inserting the elements one by one. Draw the tree after all insertions.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IN" sz="24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Search Operation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Search for 40 → Does it exist in the BST? Show the path traversed.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IN" sz="24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Insertion Operation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Insert the element 65 into the BST. Redraw the BST after insertion.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85" name="Google Shape;28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86" name="Google Shape;286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6"/>
          <p:cNvSpPr txBox="1"/>
          <p:nvPr/>
        </p:nvSpPr>
        <p:spPr>
          <a:xfrm>
            <a:off x="3761668" y="760220"/>
            <a:ext cx="66801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Activity-2 _Solution</a:t>
            </a:r>
            <a:endParaRPr/>
          </a:p>
        </p:txBody>
      </p:sp>
      <p:pic>
        <p:nvPicPr>
          <p:cNvPr id="289" name="Google Shape;28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357" y="1827858"/>
            <a:ext cx="3572224" cy="3102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3985" y="1827858"/>
            <a:ext cx="3572224" cy="3102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96" name="Google Shape;29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97" name="Google Shape;297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7"/>
          <p:cNvSpPr txBox="1"/>
          <p:nvPr/>
        </p:nvSpPr>
        <p:spPr>
          <a:xfrm>
            <a:off x="822739" y="821384"/>
            <a:ext cx="1037319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Post-Class Assessment</a:t>
            </a:r>
          </a:p>
        </p:txBody>
      </p:sp>
      <p:sp>
        <p:nvSpPr>
          <p:cNvPr id="299" name="Google Shape;299;p17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[04-mins]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qr code on a screen&#10;&#10;AI-generated content may be incorrect.">
            <a:extLst>
              <a:ext uri="{FF2B5EF4-FFF2-40B4-BE49-F238E27FC236}">
                <a16:creationId xmlns:a16="http://schemas.microsoft.com/office/drawing/2014/main" id="{08ED506F-8A42-AA75-82D0-FE8FC205D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657" y="1704886"/>
            <a:ext cx="8958943" cy="42387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308" name="Google Shape;308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8"/>
          <p:cNvSpPr txBox="1"/>
          <p:nvPr/>
        </p:nvSpPr>
        <p:spPr>
          <a:xfrm>
            <a:off x="822739" y="821384"/>
            <a:ext cx="103731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[3-mins]</a:t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726" y="1351284"/>
            <a:ext cx="5400138" cy="2730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0138" y="1513151"/>
            <a:ext cx="4458086" cy="2333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71537" y="4467106"/>
            <a:ext cx="5009826" cy="1889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pic>
        <p:nvPicPr>
          <p:cNvPr id="321" name="Google Shape;321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>
            <a:spLocks noGrp="1"/>
          </p:cNvSpPr>
          <p:nvPr>
            <p:ph type="body" idx="1"/>
          </p:nvPr>
        </p:nvSpPr>
        <p:spPr>
          <a:xfrm>
            <a:off x="350806" y="1468524"/>
            <a:ext cx="10820400" cy="53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pic>
        <p:nvPicPr>
          <p:cNvPr id="324" name="Google Shape;32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p19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9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 the step-by-step procedure of searching and inserting nodes in a BST</a:t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9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Define  a Binary Search Tree and explain how it is constructed using given data.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pic>
        <p:nvPicPr>
          <p:cNvPr id="336" name="Google Shape;336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/>
          </a:p>
        </p:txBody>
      </p:sp>
      <p:pic>
        <p:nvPicPr>
          <p:cNvPr id="338" name="Google Shape;33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0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BST Operation : Deletion, Threaded Binary Trees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45" name="Google Shape;34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pic>
        <p:nvPicPr>
          <p:cNvPr id="346" name="Google Shape;346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1"/>
          <p:cNvSpPr txBox="1"/>
          <p:nvPr/>
        </p:nvSpPr>
        <p:spPr>
          <a:xfrm>
            <a:off x="674913" y="1071593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IN" sz="28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634</Words>
  <Application>Microsoft Office PowerPoint</Application>
  <PresentationFormat>Widescreen</PresentationFormat>
  <Paragraphs>117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Play</vt:lpstr>
      <vt:lpstr>Tahoma</vt:lpstr>
      <vt:lpstr>Times New Roman</vt:lpstr>
      <vt:lpstr>Cambria</vt:lpstr>
      <vt:lpstr>Georgia</vt:lpstr>
      <vt:lpstr>Calibri</vt:lpstr>
      <vt:lpstr>Office Theme</vt:lpstr>
      <vt:lpstr>BST Operations: Searching, Insertion   Session No.: 36 Course Name: Data Structures Course Code: R1UC308B   Instructor Name: Akhilesh Tripathi Duration: 50 mins Date of Conduction of Class: 05 Dec 2025</vt:lpstr>
      <vt:lpstr>PowerPoint Presentation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PowerPoint Presentation</vt:lpstr>
      <vt:lpstr>Concept and Definition</vt:lpstr>
      <vt:lpstr>Insertion Operation</vt:lpstr>
      <vt:lpstr>Insertion Operation</vt:lpstr>
      <vt:lpstr>Concept and Definition</vt:lpstr>
      <vt:lpstr>Example of searching in BST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4</cp:revision>
  <dcterms:created xsi:type="dcterms:W3CDTF">2024-08-22T06:33:55Z</dcterms:created>
  <dcterms:modified xsi:type="dcterms:W3CDTF">2026-01-05T06:53:45Z</dcterms:modified>
</cp:coreProperties>
</file>