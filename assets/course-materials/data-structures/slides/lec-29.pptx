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03" r:id="rId10"/>
    <p:sldId id="304" r:id="rId11"/>
    <p:sldId id="295" r:id="rId12"/>
    <p:sldId id="298" r:id="rId13"/>
    <p:sldId id="305" r:id="rId14"/>
    <p:sldId id="306" r:id="rId15"/>
    <p:sldId id="308" r:id="rId16"/>
    <p:sldId id="307" r:id="rId17"/>
    <p:sldId id="309" r:id="rId18"/>
    <p:sldId id="262" r:id="rId19"/>
    <p:sldId id="289" r:id="rId20"/>
    <p:sldId id="288" r:id="rId21"/>
    <p:sldId id="3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Explain the need of Circular Queue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r>
            <a:rPr lang="en-US" sz="3600" dirty="0"/>
            <a:t>Illustrate the logical structure and working principle of a Circular queue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Illustrate the logical structure and working principle of a Circular queue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Explain the need of Circular Queue</a:t>
          </a:r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4298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Circular Queue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29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Conduction: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Students must have knowledge of C/C++ programming language.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Queue and its operation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FF0ADCE-DE3B-BA2C-E694-F5FDF0E6B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970" y="2009774"/>
            <a:ext cx="6672943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What is Circular Queue?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981440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Introduction to Circular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800" dirty="0"/>
              <a:t>Need of Circular Queue</a:t>
            </a:r>
            <a:endParaRPr lang="en-US" sz="28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Operations of Circular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Applications of </a:t>
            </a:r>
            <a:r>
              <a:rPr lang="en-IN" sz="2800" dirty="0"/>
              <a:t>Circular</a:t>
            </a:r>
            <a:r>
              <a:rPr lang="en-US" sz="2800" dirty="0"/>
              <a:t> Queue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3600" b="1" dirty="0"/>
                <a:t>Trace</a:t>
              </a:r>
              <a:r>
                <a:rPr lang="en-US" sz="3600" dirty="0"/>
                <a:t> changes in </a:t>
              </a:r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Circular </a:t>
              </a:r>
              <a:r>
                <a:rPr lang="en-US" sz="3600" dirty="0"/>
                <a:t>queue contents and pointers after each operation?</a:t>
              </a:r>
            </a:p>
            <a:p>
              <a:pPr algn="ctr"/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333500"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 Structures: Circular Queue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(LO-28)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/>
              <a:t>What 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</a:t>
            </a:r>
            <a:r>
              <a:rPr lang="en-US" sz="2800" dirty="0"/>
              <a:t>Queue?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A circular queue is a type of queue in which the last position is connected back to the first position to make a circle. It is also known as a Ring Buffer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It has mainly 2 pointers to perform operations: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for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for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It overcomes the limitation of Linear Queue (wasted space).</a:t>
            </a:r>
          </a:p>
          <a:p>
            <a:pPr lvl="0"/>
            <a:r>
              <a:rPr lang="en-US" sz="2800" dirty="0"/>
              <a:t>	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Need of Queue: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utilization of memory</a:t>
            </a:r>
          </a:p>
          <a:p>
            <a:pPr marL="342900" indent="-3429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wasted space in arrays</a:t>
            </a:r>
          </a:p>
          <a:p>
            <a:pPr marL="342900" indent="-3429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buffering and scheduling</a:t>
            </a:r>
          </a:p>
          <a:p>
            <a:pPr marL="342900" indent="-3429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Common in operating systems and computer networks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Implementation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an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the maximum number of 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that the queue can hold.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variables (size, capacity, and front.) 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enqueue an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x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queue, do the following:</a:t>
            </a:r>
          </a:p>
          <a:p>
            <a:pPr lvl="1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== capacity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(queue is full), display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"Queue is full".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full: calculate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= (front + size) % capacity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at the rear index.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by 1.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dequeue an element from the queue, do the following:</a:t>
            </a:r>
          </a:p>
          <a:p>
            <a:pPr lvl="1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== 0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empty), display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"Queue is empty".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empty: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 at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index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front = (front + 1) % capacity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Also,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by 1 and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return the removed element.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266FDA-D995-346B-296F-823F9A02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188" y="1006840"/>
            <a:ext cx="7377034" cy="5344839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Applications of Circular Queue:</a:t>
            </a:r>
          </a:p>
          <a:p>
            <a:pPr marL="0" indent="0">
              <a:buNone/>
            </a:pPr>
            <a:r>
              <a:rPr lang="en-US" sz="2400" b="1" dirty="0"/>
              <a:t>Circular Queue </a:t>
            </a:r>
            <a:r>
              <a:rPr lang="en-US" sz="2400" dirty="0"/>
              <a:t>are used in various fields such as: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- CPU scheduling</a:t>
            </a:r>
          </a:p>
          <a:p>
            <a:r>
              <a:rPr lang="en-US" sz="2400" dirty="0"/>
              <a:t>- Memory management</a:t>
            </a:r>
          </a:p>
          <a:p>
            <a:r>
              <a:rPr lang="en-US" sz="2400" dirty="0"/>
              <a:t>- Network buffer handling</a:t>
            </a:r>
          </a:p>
          <a:p>
            <a:r>
              <a:rPr lang="en-US" sz="2400" dirty="0"/>
              <a:t>- Printer job scheduling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37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7F9EA1-76B3-B8C1-C10F-1E4DB95DBB6D}"/>
              </a:ext>
            </a:extLst>
          </p:cNvPr>
          <p:cNvSpPr txBox="1"/>
          <p:nvPr/>
        </p:nvSpPr>
        <p:spPr>
          <a:xfrm>
            <a:off x="495300" y="1024524"/>
            <a:ext cx="11430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dirty="0"/>
              <a:t>▶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Circular Queue :</a:t>
            </a:r>
          </a:p>
          <a:p>
            <a:pPr fontAlgn="base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Adds an element to the end (rear) of the Circular queue. If the Circular queue is full, an overflow error occurs.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Removes the element from the front of the Circular queue. If the Circular  queue is empty, an underflow error occurs.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Peek/Front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element at the front without removing it.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number of elements in the Circular queue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true if the Circular queue is empty, otherwise false.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true if the Circular queue is full, otherwise false.</a:t>
            </a:r>
          </a:p>
          <a:p>
            <a:pPr fontAlgn="base"/>
            <a:endParaRPr lang="en-US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38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54DE-A4BF-C056-D4B1-B23024B4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CDCA6-22B9-C1F2-6532-D3883B60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0026C-9357-78AC-B5E9-22B9ED37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E71E9DF-E8A5-3BDE-787D-FCCFD48A64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CF6B324-C5B3-F2B8-C918-6AB68B3C29AD}"/>
              </a:ext>
            </a:extLst>
          </p:cNvPr>
          <p:cNvSpPr txBox="1"/>
          <p:nvPr/>
        </p:nvSpPr>
        <p:spPr>
          <a:xfrm>
            <a:off x="495300" y="1024524"/>
            <a:ext cx="11430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dirty="0"/>
              <a:t>▶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Circular Queue :</a:t>
            </a:r>
          </a:p>
          <a:p>
            <a:pPr fontAlgn="base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Adds an element to the end (rear) of the Circular queue. If the Circular queue is full, an overflow error occurs.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ENQUEUE(item):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(front == (rear + 1) % size):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print "Queue Full"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(front == -1):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front = 0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rear = 0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queue[rear] = item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rear = (rear + 1) % size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queue[rear] = item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66C07E-A5FD-FA7A-EC4C-DBA594E41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3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26A9C-C193-C8C4-393C-914D3534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3DE62-3B79-74A0-6AA0-3FBA808B2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2B003-DD34-1D3D-2B53-F17F7331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A0CF0F5-6BC4-88F9-9453-AE0AF43CBF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1E94EC-ABDE-0FE3-937D-EA354444538D}"/>
              </a:ext>
            </a:extLst>
          </p:cNvPr>
          <p:cNvSpPr txBox="1"/>
          <p:nvPr/>
        </p:nvSpPr>
        <p:spPr>
          <a:xfrm>
            <a:off x="495300" y="1024524"/>
            <a:ext cx="10788585" cy="750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dirty="0"/>
              <a:t>▶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Circular Queue 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Removes the element from the front of the Circular queue. If the Circular  queue is empty, an underflow error occurs.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DEQUEUE():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print "Queue Empty"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front == rear: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item = queue[front]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front = -1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rear = -1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item = queue[front]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front = (front + 1) % size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item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6361CE-9BFC-7FD6-278A-40DB4C6A2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31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70852-A1DE-0948-7BA0-B116ABFE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5B257-33E1-227C-5486-DB5394EF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8D58F-04E2-6898-5BE9-21B4C960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4B6CF8B-B17D-8F1C-615A-D6EF821E8F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93BDCE4-00B8-6431-BB63-4CAF46CA8B94}"/>
              </a:ext>
            </a:extLst>
          </p:cNvPr>
          <p:cNvSpPr txBox="1"/>
          <p:nvPr/>
        </p:nvSpPr>
        <p:spPr>
          <a:xfrm>
            <a:off x="495300" y="1024524"/>
            <a:ext cx="11430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dirty="0"/>
              <a:t>▶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Circular Queue :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Peek/Front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element at the front without removing it.</a:t>
            </a:r>
          </a:p>
          <a:p>
            <a:pPr fontAlgn="base"/>
            <a:r>
              <a:rPr lang="en-US" dirty="0"/>
              <a:t> </a:t>
            </a:r>
          </a:p>
          <a:p>
            <a:pPr fontAlgn="base"/>
            <a:r>
              <a:rPr lang="en-US" dirty="0"/>
              <a:t>PEEK():</a:t>
            </a:r>
          </a:p>
          <a:p>
            <a:pPr fontAlgn="base"/>
            <a:r>
              <a:rPr lang="en-US" dirty="0"/>
              <a:t>    if front == -1:</a:t>
            </a:r>
          </a:p>
          <a:p>
            <a:pPr fontAlgn="base"/>
            <a:r>
              <a:rPr lang="en-US" dirty="0"/>
              <a:t>         print "Queue Empty"</a:t>
            </a:r>
          </a:p>
          <a:p>
            <a:pPr fontAlgn="base"/>
            <a:r>
              <a:rPr lang="en-US" dirty="0"/>
              <a:t>         return -1</a:t>
            </a:r>
          </a:p>
          <a:p>
            <a:pPr fontAlgn="base"/>
            <a:r>
              <a:rPr lang="en-US" dirty="0"/>
              <a:t>    else:</a:t>
            </a:r>
          </a:p>
          <a:p>
            <a:pPr fontAlgn="base"/>
            <a:r>
              <a:rPr lang="en-US" dirty="0"/>
              <a:t>         return queue[front]</a:t>
            </a:r>
          </a:p>
          <a:p>
            <a:pPr fontAlgn="base"/>
            <a:endParaRPr lang="en-US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ADC32A-DE2F-F535-3A28-4579C7D08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73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B51B-0C46-E8E2-81C0-E49FCE25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9E634-FC46-BFDC-C4CD-6F6FE1DA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8E663-049B-8342-C532-4D3CA959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F5BCA70-BAC8-04F4-8298-884DC9922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F2E52A8-D4C2-2287-77AB-AC80B02BE69F}"/>
              </a:ext>
            </a:extLst>
          </p:cNvPr>
          <p:cNvSpPr txBox="1"/>
          <p:nvPr/>
        </p:nvSpPr>
        <p:spPr>
          <a:xfrm>
            <a:off x="495300" y="1024524"/>
            <a:ext cx="114300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dirty="0"/>
              <a:t>▶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Circular Queue :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true if the Circular queue is empty, otherwise false.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true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false</a:t>
            </a:r>
          </a:p>
          <a:p>
            <a:pPr fontAlgn="base"/>
            <a:endParaRPr lang="en-US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58BFA8-CFB2-093E-21BD-EE48E7FE6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9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552A-9608-59D4-C5FF-A639BCFD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9FAFE-B3D9-892C-2F39-C9A531D4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48C85-6E59-772B-05EA-746BDEBA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6FB0BCF-2A1C-661C-02F4-D9498C73DC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67136EA-3F87-5AD2-ABCD-E35FFFAC7DF5}"/>
              </a:ext>
            </a:extLst>
          </p:cNvPr>
          <p:cNvSpPr txBox="1"/>
          <p:nvPr/>
        </p:nvSpPr>
        <p:spPr>
          <a:xfrm>
            <a:off x="495300" y="1024524"/>
            <a:ext cx="11430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dirty="0"/>
              <a:t>▶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Circular Queue :</a:t>
            </a:r>
          </a:p>
          <a:p>
            <a:pPr fontAlgn="base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 true if the Circular queue is full, otherwise false.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(rear + 1) % size: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true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false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45D9D4-0B69-38E1-9EDE-6E7643ED3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9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BBCF98-7194-A5B3-66D3-440169D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36879-2E50-808F-68A7-FB01CEB9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16" name="Picture 1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20737F5-4AA9-BC02-8957-C9DB2C2DF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E1C1E-F10A-E4F4-6797-225812D669BF}"/>
              </a:ext>
            </a:extLst>
          </p:cNvPr>
          <p:cNvSpPr txBox="1"/>
          <p:nvPr/>
        </p:nvSpPr>
        <p:spPr>
          <a:xfrm>
            <a:off x="997008" y="1057424"/>
            <a:ext cx="1019892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▶ Pen paper Activity:</a:t>
            </a:r>
          </a:p>
          <a:p>
            <a:endParaRPr lang="en-US" sz="2800" dirty="0"/>
          </a:p>
          <a:p>
            <a:pPr fontAlgn="base"/>
            <a:r>
              <a:rPr lang="en-US" sz="2800" dirty="0"/>
              <a:t>Q.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 circular queue of capacity (n – 1) elements is implemented with an array of n elements. Assume that the insertion and deletion operation are carried out using REAR and FRONT as array index variables, respectively. Initially, REAR = FRONT = 0. The conditions to detect queue full and queue empty are.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with example.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800" dirty="0"/>
          </a:p>
          <a:p>
            <a:endParaRPr lang="pt-BR" sz="2800" dirty="0"/>
          </a:p>
          <a:p>
            <a:endParaRPr lang="en-US" sz="2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F30B37-CCC7-0336-47F3-389A9B528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795" y="3714750"/>
            <a:ext cx="2562583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67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7F9EA1-76B3-B8C1-C10F-1E4DB95DBB6D}"/>
              </a:ext>
            </a:extLst>
          </p:cNvPr>
          <p:cNvSpPr txBox="1"/>
          <p:nvPr/>
        </p:nvSpPr>
        <p:spPr>
          <a:xfrm>
            <a:off x="838200" y="1043574"/>
            <a:ext cx="1061085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time and space complexity</a:t>
            </a:r>
            <a:r>
              <a:rPr lang="en-US" sz="2800" dirty="0"/>
              <a:t> :-</a:t>
            </a:r>
          </a:p>
          <a:p>
            <a:r>
              <a:rPr lang="en-US" sz="2400" b="1" dirty="0"/>
              <a:t>time complexity:</a:t>
            </a:r>
            <a:endParaRPr lang="en-US" sz="2400" dirty="0"/>
          </a:p>
          <a:p>
            <a:r>
              <a:rPr lang="pt-BR" sz="2400" b="1" dirty="0"/>
              <a:t>Enqueue</a:t>
            </a:r>
            <a:r>
              <a:rPr lang="pt-BR" sz="2400" dirty="0"/>
              <a:t>: O(1) </a:t>
            </a:r>
            <a:r>
              <a:rPr lang="en-US" sz="2400" dirty="0"/>
              <a:t>because in a circular queue with fixed array we don’t shift elements</a:t>
            </a:r>
            <a:endParaRPr lang="pt-BR" sz="2400" dirty="0"/>
          </a:p>
          <a:p>
            <a:r>
              <a:rPr lang="pt-BR" sz="2400" b="1" dirty="0"/>
              <a:t>Dequeue</a:t>
            </a:r>
            <a:r>
              <a:rPr lang="pt-BR" sz="2400" dirty="0"/>
              <a:t>: O(1) </a:t>
            </a:r>
            <a:r>
              <a:rPr lang="en-US" sz="2400" dirty="0"/>
              <a:t>Still constant time since no shifting is done.</a:t>
            </a:r>
            <a:endParaRPr lang="pt-BR" sz="2400" dirty="0"/>
          </a:p>
          <a:p>
            <a:r>
              <a:rPr lang="pt-BR" sz="2400" b="1" dirty="0"/>
              <a:t>Display</a:t>
            </a:r>
            <a:r>
              <a:rPr lang="pt-BR" sz="2400" dirty="0"/>
              <a:t>: O(n) </a:t>
            </a:r>
            <a:r>
              <a:rPr lang="en-US" sz="2400" dirty="0"/>
              <a:t>Printing all elements in the queue.</a:t>
            </a:r>
          </a:p>
          <a:p>
            <a:endParaRPr lang="en-US" sz="2400" dirty="0"/>
          </a:p>
          <a:p>
            <a:r>
              <a:rPr lang="en-US" sz="2400" b="1" dirty="0"/>
              <a:t>Space Complexity</a:t>
            </a:r>
            <a:r>
              <a:rPr lang="en-US" sz="2400" dirty="0"/>
              <a:t>: Array Storage: O(n) → Where n is the maximum queue size (fixed at initialization). </a:t>
            </a:r>
          </a:p>
          <a:p>
            <a:r>
              <a:rPr lang="en-US" sz="2400" dirty="0"/>
              <a:t>Pointers (front, rear): O(1) → Only two integer variables.</a:t>
            </a:r>
          </a:p>
          <a:p>
            <a:endParaRPr lang="en-US" sz="2400" dirty="0"/>
          </a:p>
          <a:p>
            <a:r>
              <a:rPr lang="en-US" sz="2400" dirty="0"/>
              <a:t> So total space complexity: </a:t>
            </a:r>
            <a:r>
              <a:rPr lang="en-US" sz="2400" b="1" dirty="0"/>
              <a:t>O(n).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19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27B5FB0-6D87-90E1-0525-781BAD9C1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571" y="2111829"/>
            <a:ext cx="4996543" cy="316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Array and linked implementation of queues.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3062</TotalTime>
  <Words>1216</Words>
  <Application>Microsoft Office PowerPoint</Application>
  <PresentationFormat>Widescreen</PresentationFormat>
  <Paragraphs>203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Wingdings</vt:lpstr>
      <vt:lpstr>Office Theme</vt:lpstr>
      <vt:lpstr>Circular Queue   Session No.: 29 Course Name: Data Strucutres Course Code: R1UC308B   Instructor Name: Akhilesh Tripathi Duration: 50 mins Date of Conduction: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(LO-28) </vt:lpstr>
      <vt:lpstr>Concept and Definition for (LO-1)   </vt:lpstr>
      <vt:lpstr>Concept and Definition for (LO-1)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153</cp:revision>
  <dcterms:created xsi:type="dcterms:W3CDTF">2024-08-22T06:33:55Z</dcterms:created>
  <dcterms:modified xsi:type="dcterms:W3CDTF">2025-12-04T00:57:19Z</dcterms:modified>
</cp:coreProperties>
</file>