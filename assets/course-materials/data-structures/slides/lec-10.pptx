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303" r:id="rId10"/>
    <p:sldId id="307" r:id="rId11"/>
    <p:sldId id="304" r:id="rId12"/>
    <p:sldId id="296" r:id="rId13"/>
    <p:sldId id="295" r:id="rId14"/>
    <p:sldId id="308" r:id="rId15"/>
    <p:sldId id="298" r:id="rId16"/>
    <p:sldId id="309" r:id="rId17"/>
    <p:sldId id="311" r:id="rId18"/>
    <p:sldId id="312" r:id="rId19"/>
    <p:sldId id="310" r:id="rId20"/>
    <p:sldId id="306" r:id="rId21"/>
    <p:sldId id="313" r:id="rId22"/>
    <p:sldId id="314" r:id="rId23"/>
    <p:sldId id="315" r:id="rId24"/>
    <p:sldId id="288" r:id="rId25"/>
    <p:sldId id="299" r:id="rId26"/>
    <p:sldId id="300" r:id="rId27"/>
    <p:sldId id="301" r:id="rId28"/>
    <p:sldId id="30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A6957E8-CA1F-400C-B032-568780BB4475}">
      <dgm:prSet custT="1"/>
      <dgm:spPr/>
      <dgm:t>
        <a:bodyPr/>
        <a:lstStyle/>
        <a:p>
          <a:pPr>
            <a:buNone/>
          </a:pPr>
          <a:r>
            <a:rPr lang="en-US" sz="2800" dirty="0"/>
            <a:t>Apply iterative and recursive approaches to solve computational problems such as factorial and Fibonacci series.</a:t>
          </a:r>
          <a:endParaRPr lang="en-IN" sz="2800" dirty="0"/>
        </a:p>
      </dgm:t>
    </dgm:pt>
    <dgm:pt modelId="{BFD78813-BAA2-4C77-A58D-9BD0398C70D5}" type="parTrans" cxnId="{8212952A-B128-47EC-8B7F-2E0C1F77A409}">
      <dgm:prSet/>
      <dgm:spPr/>
      <dgm:t>
        <a:bodyPr/>
        <a:lstStyle/>
        <a:p>
          <a:endParaRPr lang="en-IN"/>
        </a:p>
      </dgm:t>
    </dgm:pt>
    <dgm:pt modelId="{55CC6868-F54A-464F-B864-617C3BFF1855}" type="sibTrans" cxnId="{8212952A-B128-47EC-8B7F-2E0C1F77A409}">
      <dgm:prSet/>
      <dgm:spPr/>
      <dgm:t>
        <a:bodyPr/>
        <a:lstStyle/>
        <a:p>
          <a:endParaRPr lang="en-IN"/>
        </a:p>
      </dgm:t>
    </dgm:pt>
    <dgm:pt modelId="{390ED9AC-AA6C-4033-8AF2-DBADB1E27CC3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Analyze and compare the efficiency of iteration and recursion in terms of time and space complexity for given problems.</a:t>
          </a:r>
          <a:endParaRPr lang="en-IN" sz="3600" dirty="0"/>
        </a:p>
      </dgm:t>
    </dgm:pt>
    <dgm:pt modelId="{2C5B61DA-4240-4F91-9326-106CD1E1C406}" type="parTrans" cxnId="{4B001DF7-9A71-492F-AEDD-D1E5191499C7}">
      <dgm:prSet/>
      <dgm:spPr/>
      <dgm:t>
        <a:bodyPr/>
        <a:lstStyle/>
        <a:p>
          <a:endParaRPr lang="en-IN"/>
        </a:p>
      </dgm:t>
    </dgm:pt>
    <dgm:pt modelId="{D3433462-92B2-40C5-8177-3A0891214CFE}" type="sibTrans" cxnId="{4B001DF7-9A71-492F-AEDD-D1E5191499C7}">
      <dgm:prSet/>
      <dgm:spPr/>
      <dgm:t>
        <a:bodyPr/>
        <a:lstStyle/>
        <a:p>
          <a:endParaRPr lang="en-IN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CFB6375B-3716-49AA-BEF6-02EBF12C65F6}" type="pres">
      <dgm:prSet presAssocID="{390ED9AC-AA6C-4033-8AF2-DBADB1E27CC3}" presName="boxAndChildren" presStyleCnt="0"/>
      <dgm:spPr/>
    </dgm:pt>
    <dgm:pt modelId="{F32A891A-2CF4-4574-88C0-18F5911582CE}" type="pres">
      <dgm:prSet presAssocID="{390ED9AC-AA6C-4033-8AF2-DBADB1E27CC3}" presName="parentTextBox" presStyleLbl="node1" presStyleIdx="0" presStyleCnt="2"/>
      <dgm:spPr/>
    </dgm:pt>
    <dgm:pt modelId="{7F42727F-B441-4D0C-94CB-3ADAA1D661CA}" type="pres">
      <dgm:prSet presAssocID="{55CC6868-F54A-464F-B864-617C3BFF1855}" presName="sp" presStyleCnt="0"/>
      <dgm:spPr/>
    </dgm:pt>
    <dgm:pt modelId="{FF00F4F5-914C-42DE-A47F-5C2FBE66100A}" type="pres">
      <dgm:prSet presAssocID="{BA6957E8-CA1F-400C-B032-568780BB4475}" presName="arrowAndChildren" presStyleCnt="0"/>
      <dgm:spPr/>
    </dgm:pt>
    <dgm:pt modelId="{8ED15053-65BD-4B5C-921B-9D8F113D77EF}" type="pres">
      <dgm:prSet presAssocID="{BA6957E8-CA1F-400C-B032-568780BB4475}" presName="parentTextArrow" presStyleLbl="node1" presStyleIdx="1" presStyleCnt="2"/>
      <dgm:spPr/>
    </dgm:pt>
  </dgm:ptLst>
  <dgm:cxnLst>
    <dgm:cxn modelId="{8212952A-B128-47EC-8B7F-2E0C1F77A409}" srcId="{B7ED251F-A7A3-4D25-B004-4241BE03EDC3}" destId="{BA6957E8-CA1F-400C-B032-568780BB4475}" srcOrd="0" destOrd="0" parTransId="{BFD78813-BAA2-4C77-A58D-9BD0398C70D5}" sibTransId="{55CC6868-F54A-464F-B864-617C3BFF1855}"/>
    <dgm:cxn modelId="{1DE69A36-7A03-48BB-B052-29BD102FCA74}" type="presOf" srcId="{BA6957E8-CA1F-400C-B032-568780BB4475}" destId="{8ED15053-65BD-4B5C-921B-9D8F113D77EF}" srcOrd="0" destOrd="0" presId="urn:microsoft.com/office/officeart/2005/8/layout/process4"/>
    <dgm:cxn modelId="{9E505E53-C557-481B-BE49-8CFDDD93D175}" type="presOf" srcId="{390ED9AC-AA6C-4033-8AF2-DBADB1E27CC3}" destId="{F32A891A-2CF4-4574-88C0-18F5911582CE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4B001DF7-9A71-492F-AEDD-D1E5191499C7}" srcId="{B7ED251F-A7A3-4D25-B004-4241BE03EDC3}" destId="{390ED9AC-AA6C-4033-8AF2-DBADB1E27CC3}" srcOrd="1" destOrd="0" parTransId="{2C5B61DA-4240-4F91-9326-106CD1E1C406}" sibTransId="{D3433462-92B2-40C5-8177-3A0891214CFE}"/>
    <dgm:cxn modelId="{4C35F06D-5DF0-433E-92B4-3C44D47AB857}" type="presParOf" srcId="{BCA40D55-9F97-4CA4-8859-68C842EAE88F}" destId="{CFB6375B-3716-49AA-BEF6-02EBF12C65F6}" srcOrd="0" destOrd="0" presId="urn:microsoft.com/office/officeart/2005/8/layout/process4"/>
    <dgm:cxn modelId="{333A19A8-150A-4159-9ADC-0508B6876D6F}" type="presParOf" srcId="{CFB6375B-3716-49AA-BEF6-02EBF12C65F6}" destId="{F32A891A-2CF4-4574-88C0-18F5911582CE}" srcOrd="0" destOrd="0" presId="urn:microsoft.com/office/officeart/2005/8/layout/process4"/>
    <dgm:cxn modelId="{EAA1D015-333B-43A2-9D71-5736C2C3A2DB}" type="presParOf" srcId="{BCA40D55-9F97-4CA4-8859-68C842EAE88F}" destId="{7F42727F-B441-4D0C-94CB-3ADAA1D661CA}" srcOrd="1" destOrd="0" presId="urn:microsoft.com/office/officeart/2005/8/layout/process4"/>
    <dgm:cxn modelId="{46E15762-EB05-4FAD-9D0F-7D16AE786643}" type="presParOf" srcId="{BCA40D55-9F97-4CA4-8859-68C842EAE88F}" destId="{FF00F4F5-914C-42DE-A47F-5C2FBE66100A}" srcOrd="2" destOrd="0" presId="urn:microsoft.com/office/officeart/2005/8/layout/process4"/>
    <dgm:cxn modelId="{0966C416-CF61-4287-8B7F-69A751733EE3}" type="presParOf" srcId="{FF00F4F5-914C-42DE-A47F-5C2FBE66100A}" destId="{8ED15053-65BD-4B5C-921B-9D8F113D77E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A891A-2CF4-4574-88C0-18F5911582CE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Analyze and compare the efficiency of iteration and recursion in terms of time and space complexity for given problems.</a:t>
          </a:r>
          <a:endParaRPr lang="en-IN" sz="3600" kern="1200" dirty="0"/>
        </a:p>
      </dsp:txBody>
      <dsp:txXfrm>
        <a:off x="0" y="2226751"/>
        <a:ext cx="10927829" cy="1460989"/>
      </dsp:txXfrm>
    </dsp:sp>
    <dsp:sp modelId="{8ED15053-65BD-4B5C-921B-9D8F113D77EF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Apply iterative and recursive approaches to solve computational problems such as factorial and Fibonacci series.</a:t>
          </a:r>
          <a:endParaRPr lang="en-IN" sz="28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94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Problem solving using iteration and recursion with examples such as Factorial or Fibonacci numbers </a:t>
            </a: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10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Structures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b="1" dirty="0"/>
          </a:p>
          <a:p>
            <a:r>
              <a:rPr lang="en-US" sz="2800" b="1" dirty="0"/>
              <a:t>Students must have knowledge  Recursion and Iteration in C/C++ programming language.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0AA9F5-AE2B-B7B5-31CD-FE1A17963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79" y="1892220"/>
            <a:ext cx="10554242" cy="344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D35F4FC-BE42-7A56-A9AF-9F02311F0A54}"/>
              </a:ext>
            </a:extLst>
          </p:cNvPr>
          <p:cNvSpPr txBox="1"/>
          <p:nvPr/>
        </p:nvSpPr>
        <p:spPr>
          <a:xfrm>
            <a:off x="1220491" y="4036282"/>
            <a:ext cx="992278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iteration and recursion can be used to repeat a set of instructions. Explain the difference between the two implementations.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7410514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Introduction to Iteration and Recursion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Solving Factorial with Iteration (Loop-based approach)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Solving Factorial with Recursive Approach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Solving </a:t>
            </a:r>
            <a:r>
              <a:rPr lang="en-IN" sz="2800" dirty="0"/>
              <a:t>Fibonacci</a:t>
            </a:r>
            <a:r>
              <a:rPr lang="en-US" sz="2800" dirty="0"/>
              <a:t> with Iteration (Loop-based approach)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Solving </a:t>
            </a:r>
            <a:r>
              <a:rPr lang="en-IN" sz="2800" dirty="0"/>
              <a:t>Fibonacci</a:t>
            </a:r>
            <a:r>
              <a:rPr lang="en-US" sz="2800" dirty="0"/>
              <a:t> with Recursive Approach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8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04932" y="3581578"/>
            <a:ext cx="6015649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4400" dirty="0"/>
                <a:t>What is Iteration?</a:t>
              </a:r>
            </a:p>
            <a:p>
              <a:pPr algn="ctr"/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15549" y="3581578"/>
            <a:ext cx="5217750" cy="2231566"/>
            <a:chOff x="5758250" y="2062546"/>
            <a:chExt cx="4320000" cy="1753990"/>
          </a:xfrm>
        </p:grpSpPr>
        <p:sp>
          <p:nvSpPr>
            <p:cNvPr id="18" name="Rectangle 1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1333500"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2475" y="3771900"/>
            <a:ext cx="50038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What is Recursion?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dirty="0"/>
              <a:t>factorial problem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What is Factorial?</a:t>
            </a:r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The factorial of a non-negative integer n, written as n!, is the product of all positive integers less than or equal to n.</a:t>
            </a:r>
          </a:p>
          <a:p>
            <a:pPr lvl="0"/>
            <a:r>
              <a:rPr lang="en-US" sz="2800" dirty="0"/>
              <a:t>Formula:      𝑛!=𝑛×(𝑛−1)×(𝑛−2)×⋯×2×1</a:t>
            </a:r>
          </a:p>
          <a:p>
            <a:pPr lvl="0"/>
            <a:r>
              <a:rPr lang="en-US" sz="2800" dirty="0"/>
              <a:t>Example:5! = 5 × 4 × 3 × 2 × 1 = 120</a:t>
            </a:r>
          </a:p>
          <a:p>
            <a:pPr lvl="0"/>
            <a:r>
              <a:rPr lang="en-US" sz="2800" dirty="0"/>
              <a:t>0! = 1 (this is defined as a rule in mathematics).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/>
              <a:t>Solving Factorial with Iteration (Loop-based approach)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56190"/>
            <a:ext cx="10795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72582A-73C6-DBBE-E7ED-C76A8363673B}"/>
              </a:ext>
            </a:extLst>
          </p:cNvPr>
          <p:cNvSpPr txBox="1"/>
          <p:nvPr/>
        </p:nvSpPr>
        <p:spPr>
          <a:xfrm>
            <a:off x="1189643" y="1915936"/>
            <a:ext cx="931820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Algorithm (steps):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Read integer n (assume n ≥ 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Set result =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For </a:t>
            </a:r>
            <a:r>
              <a:rPr lang="en-US" sz="2800" dirty="0" err="1"/>
              <a:t>i</a:t>
            </a:r>
            <a:r>
              <a:rPr lang="en-US" sz="2800" dirty="0"/>
              <a:t> from 1 to n, do result = result * </a:t>
            </a:r>
            <a:r>
              <a:rPr lang="en-US" sz="2800" dirty="0" err="1"/>
              <a:t>i</a:t>
            </a:r>
            <a:r>
              <a:rPr lang="en-US" sz="2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Output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If n is 0 or 1, the loop does nothing and result stays 1.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9A71-2232-8DE3-0175-09F3F03A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674" y="974804"/>
            <a:ext cx="10515600" cy="1325563"/>
          </a:xfrm>
        </p:spPr>
        <p:txBody>
          <a:bodyPr/>
          <a:lstStyle/>
          <a:p>
            <a:r>
              <a:rPr lang="en-US" dirty="0"/>
              <a:t>Implementation in C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15C44-CBA9-A3FA-441D-DC5F8855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40C80-F96B-9B1F-7321-70DD2D55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6E11F-318F-7D39-8973-B4ADC6DCB240}"/>
              </a:ext>
            </a:extLst>
          </p:cNvPr>
          <p:cNvSpPr txBox="1"/>
          <p:nvPr/>
        </p:nvSpPr>
        <p:spPr>
          <a:xfrm>
            <a:off x="1565328" y="2250867"/>
            <a:ext cx="775044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endParaRPr lang="en-US" sz="2400" dirty="0"/>
          </a:p>
          <a:p>
            <a:r>
              <a:rPr lang="en-US" sz="2400" dirty="0"/>
              <a:t>int main() {</a:t>
            </a:r>
          </a:p>
          <a:p>
            <a:r>
              <a:rPr lang="en-US" sz="2400" dirty="0"/>
              <a:t>    int n = 5;</a:t>
            </a:r>
          </a:p>
          <a:p>
            <a:r>
              <a:rPr lang="en-US" sz="2400" dirty="0"/>
              <a:t>    int result = 1;</a:t>
            </a:r>
          </a:p>
          <a:p>
            <a:r>
              <a:rPr lang="en-US" sz="2400" dirty="0"/>
              <a:t>    for (int </a:t>
            </a:r>
            <a:r>
              <a:rPr lang="en-US" sz="2400" dirty="0" err="1"/>
              <a:t>i</a:t>
            </a:r>
            <a:r>
              <a:rPr lang="en-US" sz="2400" dirty="0"/>
              <a:t> = 1; </a:t>
            </a:r>
            <a:r>
              <a:rPr lang="en-US" sz="2400" dirty="0" err="1"/>
              <a:t>i</a:t>
            </a:r>
            <a:r>
              <a:rPr lang="en-US" sz="2400" dirty="0"/>
              <a:t> &lt;= n; </a:t>
            </a:r>
            <a:r>
              <a:rPr lang="en-US" sz="2400" dirty="0" err="1"/>
              <a:t>i</a:t>
            </a:r>
            <a:r>
              <a:rPr lang="en-US" sz="2400" dirty="0"/>
              <a:t>++) {</a:t>
            </a:r>
          </a:p>
          <a:p>
            <a:r>
              <a:rPr lang="en-US" sz="2400" dirty="0"/>
              <a:t>        result = result * </a:t>
            </a:r>
            <a:r>
              <a:rPr lang="en-US" sz="2400" dirty="0" err="1"/>
              <a:t>i</a:t>
            </a:r>
            <a:r>
              <a:rPr lang="en-US" sz="2400" dirty="0"/>
              <a:t>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    printf("Factorial of %d = %d\n", n, result); // Output: 120</a:t>
            </a:r>
          </a:p>
          <a:p>
            <a:r>
              <a:rPr lang="en-US" sz="2400" dirty="0"/>
              <a:t>    return 0;</a:t>
            </a:r>
          </a:p>
          <a:p>
            <a:r>
              <a:rPr lang="en-US" sz="2400" dirty="0"/>
              <a:t>}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8327E87-CD8A-5BE4-CDDF-7BF4D183DD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268" y="-72241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463342-530D-0B8B-75C1-D6A62147F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39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/>
              <a:t>Recursive Approach (Function calls itself)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256190"/>
            <a:ext cx="10795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algn="just">
              <a:buAutoNum type="arabicPeriod"/>
            </a:pP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A1B922-8F03-7301-1D24-6E9995890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288" y="1591453"/>
            <a:ext cx="947608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 case: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factorial(0) = 1, factorial(1)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case: factorial(n) = n * factorial(n - 1) for n ≥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(steps):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compute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factorial(n), check: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 == 0 or n == 1, return 1.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return n * factorial(n - 1).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answer is what the top call returns.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1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9D3E8A-FBB7-5910-0391-5402725D49F4}"/>
              </a:ext>
            </a:extLst>
          </p:cNvPr>
          <p:cNvSpPr txBox="1"/>
          <p:nvPr/>
        </p:nvSpPr>
        <p:spPr>
          <a:xfrm>
            <a:off x="4280275" y="535121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Call trace for n = 5:</a:t>
            </a:r>
            <a:endParaRPr lang="en-IN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A51B9A-ADB7-203E-1CF6-6AA5F6DC7B6F}"/>
              </a:ext>
            </a:extLst>
          </p:cNvPr>
          <p:cNvSpPr txBox="1"/>
          <p:nvPr/>
        </p:nvSpPr>
        <p:spPr>
          <a:xfrm>
            <a:off x="390057" y="1235841"/>
            <a:ext cx="1080587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factorial(5)→ needs 5 * factorial(4)</a:t>
            </a:r>
          </a:p>
          <a:p>
            <a:r>
              <a:rPr lang="en-US" sz="3200" dirty="0"/>
              <a:t>→ needs 4 * factorial(3)</a:t>
            </a:r>
          </a:p>
          <a:p>
            <a:r>
              <a:rPr lang="en-US" sz="3200" dirty="0"/>
              <a:t>→ needs 3 * factorial(2)</a:t>
            </a:r>
          </a:p>
          <a:p>
            <a:r>
              <a:rPr lang="en-US" sz="3200" dirty="0"/>
              <a:t>→ needs 2 * factorial(1)</a:t>
            </a:r>
          </a:p>
          <a:p>
            <a:r>
              <a:rPr lang="en-US" sz="3200" dirty="0"/>
              <a:t>→ factorial(1) hits base case → returns 1</a:t>
            </a:r>
          </a:p>
          <a:p>
            <a:r>
              <a:rPr lang="en-US" sz="3200" dirty="0"/>
              <a:t>Unwinding (returns back up):</a:t>
            </a:r>
          </a:p>
          <a:p>
            <a:r>
              <a:rPr lang="en-US" sz="3200" dirty="0"/>
              <a:t>factorial(2) = 2 * 1 = 2</a:t>
            </a:r>
          </a:p>
          <a:p>
            <a:r>
              <a:rPr lang="en-US" sz="3200" dirty="0"/>
              <a:t>factorial(3) = 3 * 2 = 6</a:t>
            </a:r>
          </a:p>
          <a:p>
            <a:r>
              <a:rPr lang="en-US" sz="3200" dirty="0"/>
              <a:t>factorial(4) = 4 * 6 = 24</a:t>
            </a:r>
          </a:p>
          <a:p>
            <a:r>
              <a:rPr lang="en-US" sz="3200" dirty="0"/>
              <a:t>factorial(5) = 5 * 24 = 120 </a:t>
            </a:r>
          </a:p>
          <a:p>
            <a:r>
              <a:rPr lang="en-US" sz="3200" dirty="0"/>
              <a:t>Answer: 5! = 120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83576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B266FDA-D995-346B-296F-823F9A02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188" y="1006840"/>
            <a:ext cx="7377034" cy="5344839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#include &lt;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stdio.h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 factorial(int n) {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if (n == 0 || n == 1) {   // base case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return 1;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return n * factorial(n - 1); // recursive step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 main() {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int n = 5;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printf("Factorial of %d = %d\n", n, factorial(n)); // Output: 120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return 0;</a:t>
            </a:r>
          </a:p>
          <a:p>
            <a:pPr marL="0" indent="0">
              <a:buNone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0A1C63-EA40-78BC-586E-CF1A25055011}"/>
              </a:ext>
            </a:extLst>
          </p:cNvPr>
          <p:cNvSpPr txBox="1"/>
          <p:nvPr/>
        </p:nvSpPr>
        <p:spPr>
          <a:xfrm>
            <a:off x="4280275" y="523853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325537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566D1-27E9-CB67-243E-0D115BD1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21F3B-B7D6-6A58-6982-17326822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E5425-5224-3B71-FA65-6D515E704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F607D85-DF14-6BC2-865C-F3CAC92380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97C45AF-AE64-2D69-8462-C67AA27EA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3EEA8-CF5A-D136-63DB-73EAE1DA76B1}"/>
              </a:ext>
            </a:extLst>
          </p:cNvPr>
          <p:cNvSpPr txBox="1"/>
          <p:nvPr/>
        </p:nvSpPr>
        <p:spPr>
          <a:xfrm>
            <a:off x="838200" y="1065690"/>
            <a:ext cx="1079509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/>
              <a:t>What is the Fibonacci sequence?</a:t>
            </a:r>
          </a:p>
          <a:p>
            <a:pPr lvl="0"/>
            <a:r>
              <a:rPr lang="en-US" sz="2800" dirty="0"/>
              <a:t>The Fibonacci sequence is a series of numbers where: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 first two numbers are defined as:𝐹(0)=0,  𝐹(1)=1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Every other number is the sum of the two before it : 𝐹(𝑛)=𝐹(𝑛−1)+𝐹(𝑛−2),𝑛≥2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lvl="0"/>
            <a:r>
              <a:rPr lang="en-US" sz="2800" dirty="0"/>
              <a:t>Example sequence: 0, 1, 1, 2, 3, 5, 8, 13, …</a:t>
            </a:r>
          </a:p>
          <a:p>
            <a:pPr lvl="0"/>
            <a:r>
              <a:rPr lang="en-US" sz="2800" dirty="0"/>
              <a:t>So:</a:t>
            </a:r>
          </a:p>
          <a:p>
            <a:pPr lvl="0"/>
            <a:r>
              <a:rPr lang="en-US" sz="2800" dirty="0"/>
              <a:t>F(2) = 1</a:t>
            </a:r>
          </a:p>
          <a:p>
            <a:pPr lvl="0"/>
            <a:r>
              <a:rPr lang="en-US" sz="2800" dirty="0"/>
              <a:t>F(3) = 2</a:t>
            </a:r>
          </a:p>
          <a:p>
            <a:pPr lvl="0"/>
            <a:r>
              <a:rPr lang="en-US" sz="2800" dirty="0"/>
              <a:t>F(6) = 8</a:t>
            </a:r>
            <a:endParaRPr lang="en-IN" sz="2800" dirty="0"/>
          </a:p>
          <a:p>
            <a:pPr lvl="0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CB8EEB-59E8-78C2-A5FF-D1DB31203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37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122-5237-96FA-E5EA-C89A45A7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F7F2-CAC8-D70D-6289-DEEA31E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CF1F-B2E6-F735-7199-3E1E228D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CB20B91-9F94-50B7-4E6E-B9875040D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7F9EA1-76B3-B8C1-C10F-1E4DB95DBB6D}"/>
              </a:ext>
            </a:extLst>
          </p:cNvPr>
          <p:cNvSpPr txBox="1"/>
          <p:nvPr/>
        </p:nvSpPr>
        <p:spPr>
          <a:xfrm>
            <a:off x="558702" y="1008152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Iterative Approach (Loop-based)</a:t>
            </a:r>
            <a:endParaRPr lang="en-US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70805F-7D6E-6F8A-A78E-E6ABD5166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715" y="1487019"/>
            <a:ext cx="791188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 (steps):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 integer </a:t>
            </a:r>
            <a:r>
              <a:rPr lang="en-US" altLang="en-US" sz="3200" dirty="0">
                <a:latin typeface="Arial" panose="020B0604020202020204" pitchFamily="34" charset="0"/>
              </a:rPr>
              <a:t>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If n == 0, return 0. If n == 1, return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Initialize a = 0, b =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For </a:t>
            </a:r>
            <a:r>
              <a:rPr lang="en-US" altLang="en-US" sz="3200" dirty="0" err="1">
                <a:latin typeface="Arial" panose="020B0604020202020204" pitchFamily="34" charset="0"/>
              </a:rPr>
              <a:t>i</a:t>
            </a:r>
            <a:r>
              <a:rPr lang="en-US" altLang="en-US" sz="3200" dirty="0">
                <a:latin typeface="Arial" panose="020B0604020202020204" pitchFamily="34" charset="0"/>
              </a:rPr>
              <a:t> from 2 to 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c = a + b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Update a = b, b = 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n-US" altLang="en-US" sz="3200" dirty="0">
                <a:latin typeface="Arial" panose="020B0604020202020204" pitchFamily="34" charset="0"/>
              </a:rPr>
              <a:t>Return b as the result.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1AD1A-D90D-5240-D7F2-CC4669CC3E56}"/>
              </a:ext>
            </a:extLst>
          </p:cNvPr>
          <p:cNvSpPr txBox="1"/>
          <p:nvPr/>
        </p:nvSpPr>
        <p:spPr>
          <a:xfrm>
            <a:off x="8146641" y="5370981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Dry run for n = 6: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738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E44EA-193F-3A0A-ED7A-44CECC2F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819A0-12D5-8145-8FE6-D1268C65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D5540-9E18-FFF3-996E-CDEFDFDAAAE5}"/>
              </a:ext>
            </a:extLst>
          </p:cNvPr>
          <p:cNvSpPr txBox="1"/>
          <p:nvPr/>
        </p:nvSpPr>
        <p:spPr>
          <a:xfrm>
            <a:off x="558702" y="1305341"/>
            <a:ext cx="485807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#include &lt;</a:t>
            </a:r>
            <a:r>
              <a:rPr lang="en-IN" sz="2000" dirty="0" err="1"/>
              <a:t>stdio.h</a:t>
            </a:r>
            <a:r>
              <a:rPr lang="en-IN" sz="2000" dirty="0"/>
              <a:t>&gt;</a:t>
            </a:r>
          </a:p>
          <a:p>
            <a:r>
              <a:rPr lang="en-IN" sz="2000" dirty="0"/>
              <a:t>// Iterative Fibonacci function</a:t>
            </a:r>
          </a:p>
          <a:p>
            <a:r>
              <a:rPr lang="en-IN" sz="2000" dirty="0"/>
              <a:t>int </a:t>
            </a:r>
            <a:r>
              <a:rPr lang="en-IN" sz="2000" dirty="0" err="1"/>
              <a:t>fib_iter</a:t>
            </a:r>
            <a:r>
              <a:rPr lang="en-IN" sz="2000" dirty="0"/>
              <a:t>(int n) {</a:t>
            </a:r>
          </a:p>
          <a:p>
            <a:r>
              <a:rPr lang="en-IN" sz="2000" dirty="0"/>
              <a:t>    if (n == 0) return 0;   // base case</a:t>
            </a:r>
          </a:p>
          <a:p>
            <a:r>
              <a:rPr lang="en-IN" sz="2000" dirty="0"/>
              <a:t>    if (n == 1) return 1;   // base case</a:t>
            </a:r>
          </a:p>
          <a:p>
            <a:endParaRPr lang="en-IN" sz="2000" dirty="0"/>
          </a:p>
          <a:p>
            <a:r>
              <a:rPr lang="en-IN" sz="2000" dirty="0"/>
              <a:t>    int a = 0, b = 1, c;</a:t>
            </a:r>
          </a:p>
          <a:p>
            <a:r>
              <a:rPr lang="en-IN" sz="2000" dirty="0"/>
              <a:t>    for (int </a:t>
            </a:r>
            <a:r>
              <a:rPr lang="en-IN" sz="2000" dirty="0" err="1"/>
              <a:t>i</a:t>
            </a:r>
            <a:r>
              <a:rPr lang="en-IN" sz="2000" dirty="0"/>
              <a:t> = 2; </a:t>
            </a:r>
            <a:r>
              <a:rPr lang="en-IN" sz="2000" dirty="0" err="1"/>
              <a:t>i</a:t>
            </a:r>
            <a:r>
              <a:rPr lang="en-IN" sz="2000" dirty="0"/>
              <a:t> &lt;= n; </a:t>
            </a:r>
            <a:r>
              <a:rPr lang="en-IN" sz="2000" dirty="0" err="1"/>
              <a:t>i</a:t>
            </a:r>
            <a:r>
              <a:rPr lang="en-IN" sz="2000" dirty="0"/>
              <a:t>++) {</a:t>
            </a:r>
          </a:p>
          <a:p>
            <a:r>
              <a:rPr lang="en-IN" sz="2000" dirty="0"/>
              <a:t>        c = a + b;   // next Fibonacci number</a:t>
            </a:r>
          </a:p>
          <a:p>
            <a:r>
              <a:rPr lang="en-IN" sz="2000" dirty="0"/>
              <a:t>        a = b;       // shift values</a:t>
            </a:r>
          </a:p>
          <a:p>
            <a:r>
              <a:rPr lang="en-IN" sz="2000" dirty="0"/>
              <a:t>        b = c;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    return b;   // final result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18EFB13-D082-56D7-22BF-4D435166D9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8235CC-E77C-62D1-781E-445E8AFF7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E8C934-2DFF-87F9-2E1B-C6F9212274EF}"/>
              </a:ext>
            </a:extLst>
          </p:cNvPr>
          <p:cNvSpPr txBox="1"/>
          <p:nvPr/>
        </p:nvSpPr>
        <p:spPr>
          <a:xfrm>
            <a:off x="5935851" y="1403089"/>
            <a:ext cx="62561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int main() {</a:t>
            </a:r>
          </a:p>
          <a:p>
            <a:r>
              <a:rPr lang="en-IN" sz="2000" dirty="0"/>
              <a:t>    int n = 6;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printf</a:t>
            </a:r>
            <a:r>
              <a:rPr lang="en-IN" sz="2000" dirty="0"/>
              <a:t>("Fibonacci(%d) using iteration = %d\n", n, </a:t>
            </a:r>
            <a:r>
              <a:rPr lang="en-IN" sz="2000" dirty="0" err="1"/>
              <a:t>fib_iter</a:t>
            </a:r>
            <a:r>
              <a:rPr lang="en-IN" sz="2000" dirty="0"/>
              <a:t>(n)); </a:t>
            </a:r>
          </a:p>
          <a:p>
            <a:r>
              <a:rPr lang="en-IN" sz="2000" dirty="0"/>
              <a:t>    return 0;</a:t>
            </a:r>
          </a:p>
          <a:p>
            <a:r>
              <a:rPr lang="en-IN" sz="2000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808A18-EC81-3D98-54CF-DB11DD4B188D}"/>
              </a:ext>
            </a:extLst>
          </p:cNvPr>
          <p:cNvSpPr txBox="1"/>
          <p:nvPr/>
        </p:nvSpPr>
        <p:spPr>
          <a:xfrm>
            <a:off x="4038600" y="585744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Iterative Fibonacci C implementation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68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716A43-F1D5-EFA0-05CB-E013F8EA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D111A-E0FE-258D-5FA9-916426F8F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B9D06C3-0D45-4D77-C7D5-47E23BD290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1829E4-B6C6-8F4A-5984-5DEA7E90B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9885DD-21C2-53F1-255A-89C805368229}"/>
              </a:ext>
            </a:extLst>
          </p:cNvPr>
          <p:cNvSpPr txBox="1"/>
          <p:nvPr/>
        </p:nvSpPr>
        <p:spPr>
          <a:xfrm>
            <a:off x="3591732" y="956040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Recursive Approach (Function calling itself)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1536F91-8185-E6C9-EC1D-4B1C807DF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390" y="1381365"/>
            <a:ext cx="994991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cases: </a:t>
            </a:r>
            <a:r>
              <a:rPr lang="en-US" altLang="en-US" sz="2800" dirty="0">
                <a:latin typeface="Arial" panose="020B0604020202020204" pitchFamily="34" charset="0"/>
              </a:rPr>
              <a:t>Fib(0) = 0, Fib(1) =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Recursive case: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Fib(n)=Fib(n−1)+Fib(n−2)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Algorithm (steps):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If n == 0, return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If n == 1, return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Otherwise, return Fib(n-1) + Fib(n-2).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Call trace for Fib(5):</a:t>
            </a:r>
          </a:p>
        </p:txBody>
      </p:sp>
    </p:spTree>
    <p:extLst>
      <p:ext uri="{BB962C8B-B14F-4D97-AF65-F5344CB8AC3E}">
        <p14:creationId xmlns:p14="http://schemas.microsoft.com/office/powerpoint/2010/main" val="3392806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BF4476-B4CC-46C5-F7C4-249EA2F2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7FFD79-0F08-6E13-E861-485206899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3C52FB-6CB2-7A61-F5E6-4560C01FF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11" name="Picture 10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60D16DB-6C7D-D1BC-1DBC-65861BBA82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9489C9-A73B-D8E6-4DD5-11346CE17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10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D2C647-741B-AD16-B595-3D89B767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C4C65-63DD-97A5-1980-7E0CDEF7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B7F65-4429-4E0C-3086-1A4AFC6F313C}"/>
              </a:ext>
            </a:extLst>
          </p:cNvPr>
          <p:cNvSpPr txBox="1"/>
          <p:nvPr/>
        </p:nvSpPr>
        <p:spPr>
          <a:xfrm>
            <a:off x="1235991" y="1991142"/>
            <a:ext cx="609858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// Recursive Fibonacci function</a:t>
            </a:r>
          </a:p>
          <a:p>
            <a:r>
              <a:rPr lang="en-IN" dirty="0"/>
              <a:t>int </a:t>
            </a:r>
            <a:r>
              <a:rPr lang="en-IN" dirty="0" err="1"/>
              <a:t>fib_rec</a:t>
            </a:r>
            <a:r>
              <a:rPr lang="en-IN" dirty="0"/>
              <a:t>(int n) {</a:t>
            </a:r>
          </a:p>
          <a:p>
            <a:r>
              <a:rPr lang="en-IN" dirty="0"/>
              <a:t>    if (n == 0) return 0;   // base case</a:t>
            </a:r>
          </a:p>
          <a:p>
            <a:r>
              <a:rPr lang="en-IN" dirty="0"/>
              <a:t>    if (n == 1) return 1;   // base case</a:t>
            </a:r>
          </a:p>
          <a:p>
            <a:r>
              <a:rPr lang="en-IN" dirty="0"/>
              <a:t>    return </a:t>
            </a:r>
            <a:r>
              <a:rPr lang="en-IN" dirty="0" err="1"/>
              <a:t>fib_rec</a:t>
            </a:r>
            <a:r>
              <a:rPr lang="en-IN" dirty="0"/>
              <a:t>(n - 1) + </a:t>
            </a:r>
            <a:r>
              <a:rPr lang="en-IN" dirty="0" err="1"/>
              <a:t>fib_rec</a:t>
            </a:r>
            <a:r>
              <a:rPr lang="en-IN" dirty="0"/>
              <a:t>(n - 2); // recursive step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int main() {</a:t>
            </a:r>
          </a:p>
          <a:p>
            <a:r>
              <a:rPr lang="en-IN" dirty="0"/>
              <a:t>    int n = 6;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("Fibonacci(%d) using recursion = %d\n", n, </a:t>
            </a:r>
            <a:r>
              <a:rPr lang="en-IN" dirty="0" err="1"/>
              <a:t>fib_rec</a:t>
            </a:r>
            <a:r>
              <a:rPr lang="en-IN" dirty="0"/>
              <a:t>(n));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A43992E-8F99-96EA-9E70-EC5A06303C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B40A9A-2E56-2AB6-0C74-DAC3C537B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7B321A-ACC4-270E-82C5-AD26AADD8814}"/>
              </a:ext>
            </a:extLst>
          </p:cNvPr>
          <p:cNvSpPr txBox="1"/>
          <p:nvPr/>
        </p:nvSpPr>
        <p:spPr>
          <a:xfrm>
            <a:off x="3374756" y="1066476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Recursive Fibonacci C implementation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9532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122-5237-96FA-E5EA-C89A45A7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F7F2-CAC8-D70D-6289-DEEA31E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CF1F-B2E6-F735-7199-3E1E228D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CB20B91-9F94-50B7-4E6E-B9875040D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E7F9EA1-76B3-B8C1-C10F-1E4DB95DBB6D}"/>
              </a:ext>
            </a:extLst>
          </p:cNvPr>
          <p:cNvSpPr txBox="1"/>
          <p:nvPr/>
        </p:nvSpPr>
        <p:spPr>
          <a:xfrm>
            <a:off x="838200" y="1043574"/>
            <a:ext cx="10610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Time complexity</a:t>
            </a:r>
            <a:r>
              <a:rPr lang="en-US" sz="2800" dirty="0"/>
              <a:t> and </a:t>
            </a:r>
            <a:r>
              <a:rPr lang="en-US" sz="2800" b="1" dirty="0"/>
              <a:t>Space complexity</a:t>
            </a:r>
            <a:r>
              <a:rPr lang="en-US" sz="28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46981C-3CBB-6E47-50B6-EB84F0D8A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39" y="1591693"/>
            <a:ext cx="9500461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Factorial (n!)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Iterative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Algorithm: Use a loop from 1 to n, multiplying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Time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O(n) (we perform n multiplications).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Space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O(1) (only a few variables are used regardless of 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Recursive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Algorithm: fact(n) = n * fact(n-1), with base case fact(0)=1.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Time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O(n) (one call per number until n reaches 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Space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O(n) (because each recursive call is stored in the call stack until base case).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Conclusion (Factorial): Both iterative and recursive methods take O(n) time, but recursion uses O(n) space, while iteration is more space-efficient.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F5844-A103-DA05-CFA0-DE60B77C72E5}"/>
              </a:ext>
            </a:extLst>
          </p:cNvPr>
          <p:cNvSpPr txBox="1"/>
          <p:nvPr/>
        </p:nvSpPr>
        <p:spPr>
          <a:xfrm>
            <a:off x="4280275" y="341882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097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55B5-BAC9-0B3A-4E43-47DAFF95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2796B-36F3-C2D9-4798-7B7C66EB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5E0FE-AF06-D80D-C3FE-AFC51C01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AAD1026-F1D2-DFB1-125E-278BD61C3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B0B5700-824E-4937-DECE-FA38E81213F4}"/>
              </a:ext>
            </a:extLst>
          </p:cNvPr>
          <p:cNvSpPr txBox="1"/>
          <p:nvPr/>
        </p:nvSpPr>
        <p:spPr>
          <a:xfrm>
            <a:off x="838200" y="1043574"/>
            <a:ext cx="10610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Time complexity</a:t>
            </a:r>
            <a:r>
              <a:rPr lang="en-US" sz="2800" dirty="0"/>
              <a:t> and </a:t>
            </a:r>
            <a:r>
              <a:rPr lang="en-US" sz="2800" b="1" dirty="0"/>
              <a:t>Space complexity</a:t>
            </a:r>
            <a:r>
              <a:rPr lang="en-US" sz="28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6C7E15-5AD3-FDCC-E142-B801DAB34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0E2CD02-42AE-DFAB-0727-40D1F19F7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94" y="1654328"/>
            <a:ext cx="920599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Fibonacci (n-</a:t>
            </a:r>
            <a:r>
              <a:rPr lang="en-US" altLang="en-US" b="1" dirty="0" err="1">
                <a:latin typeface="Arial" panose="020B0604020202020204" pitchFamily="34" charset="0"/>
              </a:rPr>
              <a:t>th</a:t>
            </a:r>
            <a:r>
              <a:rPr lang="en-US" altLang="en-US" b="1" dirty="0">
                <a:latin typeface="Arial" panose="020B0604020202020204" pitchFamily="34" charset="0"/>
              </a:rPr>
              <a:t> term)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Iterative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Algorithm: Start from Fib(0) and Fib(1), iteratively compute up to Fib(n).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Time Complexity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O(n) (we compute each Fibonacci number once).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Space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O(1) (only store the last two values at a time).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Naive Recursive Approach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Algorithm: fib(n) = fib(n-1) + fib(n-2) with base cases Fib(0)=0, Fib(1)=1.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Time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O(2^n) (each call branches into two calls, massive repetition).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Space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O(n) (maximum depth of recursion stack is 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936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986543-C22F-5ECE-75FE-447D9950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E7926-172F-334B-75A8-7ADB01D0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8075F-90BE-E0F1-313A-E7C55D918439}"/>
              </a:ext>
            </a:extLst>
          </p:cNvPr>
          <p:cNvSpPr txBox="1"/>
          <p:nvPr/>
        </p:nvSpPr>
        <p:spPr>
          <a:xfrm>
            <a:off x="1162373" y="1260532"/>
            <a:ext cx="95624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Recursive with </a:t>
            </a:r>
            <a:r>
              <a:rPr lang="en-US" altLang="en-US" b="1" dirty="0" err="1">
                <a:latin typeface="Arial" panose="020B0604020202020204" pitchFamily="34" charset="0"/>
              </a:rPr>
              <a:t>Memoization</a:t>
            </a:r>
            <a:r>
              <a:rPr lang="en-US" altLang="en-US" b="1" dirty="0">
                <a:latin typeface="Arial" panose="020B0604020202020204" pitchFamily="34" charset="0"/>
              </a:rPr>
              <a:t> (Dynamic Programming)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Algorithm: Store already computed Fibonacci values in an array or hash.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Time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O(n) (each Fibonacci number computed only once).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Space Complexity: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O(n) (to store results + call stack).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Conclusion (Fibonacci):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Iterative is the most efficient: O(n) time and O(1)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Naive recursion is very inefficient: O(2^n) time, O(n)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Recursion with </a:t>
            </a:r>
            <a:r>
              <a:rPr lang="en-US" altLang="en-US" dirty="0" err="1">
                <a:latin typeface="Arial" panose="020B0604020202020204" pitchFamily="34" charset="0"/>
              </a:rPr>
              <a:t>memoization</a:t>
            </a:r>
            <a:r>
              <a:rPr lang="en-US" altLang="en-US" dirty="0">
                <a:latin typeface="Arial" panose="020B0604020202020204" pitchFamily="34" charset="0"/>
              </a:rPr>
              <a:t> improves time to O(n), but still uses O(n) space.</a:t>
            </a:r>
          </a:p>
        </p:txBody>
      </p:sp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E5CA495-B896-878E-2B53-FA2B73AE86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085" y="136525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47D07E-D809-650F-C1AF-DE7066537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51" y="160583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33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F16F63-3EF3-810E-EEFE-4A0955177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7998D-37F8-AAB8-5ECB-7FD0AE5F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23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5071AB-74E9-5CF1-A2D9-C1723D30109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7632528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992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565427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861930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13478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Space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114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Factorial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656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Factorial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Recursive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but higher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082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Fibonacci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575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Fibonacci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Recursive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O(2^n)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inefficient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62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Fibonacci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Rec. + Memo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Good 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52386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77764D8-8DEB-414B-648D-9F549E720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722" y="1791049"/>
            <a:ext cx="10515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Comparison Table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A19A47E-4D18-6F1B-0976-7CBF24B711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085" y="136525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7E20E9-B7C5-9B53-EDA7-782B932F1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51" y="160583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90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24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974609-66D8-00D5-0790-EB5CC3F55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914" y="1685835"/>
            <a:ext cx="8001000" cy="427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396A0E-ADB9-59F9-9433-698081EC9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10" y="2073297"/>
            <a:ext cx="5334973" cy="30009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C30A87-9D50-5C22-0181-E05AE5546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6911" y="1926218"/>
            <a:ext cx="4416889" cy="248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26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076886"/>
            <a:ext cx="10820400" cy="5323913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8DC289E-ACE1-FFD8-BBE0-4F38A90FB959}"/>
              </a:ext>
            </a:extLst>
          </p:cNvPr>
          <p:cNvGrpSpPr/>
          <p:nvPr/>
        </p:nvGrpSpPr>
        <p:grpSpPr>
          <a:xfrm>
            <a:off x="530274" y="4718099"/>
            <a:ext cx="10927829" cy="1460989"/>
            <a:chOff x="0" y="2226751"/>
            <a:chExt cx="10927829" cy="14609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56FF24-EC92-1200-A920-4C27C00B2A0B}"/>
                </a:ext>
              </a:extLst>
            </p:cNvPr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3B84B0-0997-2486-27D0-E5D0B9A4241A}"/>
                </a:ext>
              </a:extLst>
            </p:cNvPr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tabLst>
                  <a:tab pos="5994400" algn="l"/>
                </a:tabLst>
              </a:pPr>
              <a:r>
                <a:rPr lang="en-US" sz="3600" kern="1200" dirty="0"/>
                <a:t>Analyze and compare the efficiency of iteration and recursion in terms of time and space complexity for given problems.</a:t>
              </a:r>
              <a:endParaRPr lang="en-IN" sz="3600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EA0AD6-9CF8-0830-E2C5-0FBA1EA25105}"/>
              </a:ext>
            </a:extLst>
          </p:cNvPr>
          <p:cNvGrpSpPr/>
          <p:nvPr/>
        </p:nvGrpSpPr>
        <p:grpSpPr>
          <a:xfrm>
            <a:off x="530274" y="2493011"/>
            <a:ext cx="10927829" cy="2247002"/>
            <a:chOff x="0" y="1663"/>
            <a:chExt cx="10927829" cy="2247002"/>
          </a:xfrm>
        </p:grpSpPr>
        <p:sp>
          <p:nvSpPr>
            <p:cNvPr id="8" name="Callout: Up Arrow 7">
              <a:extLst>
                <a:ext uri="{FF2B5EF4-FFF2-40B4-BE49-F238E27FC236}">
                  <a16:creationId xmlns:a16="http://schemas.microsoft.com/office/drawing/2014/main" id="{4CE7E633-6E8E-C067-C5D3-D2E90E228F22}"/>
                </a:ext>
              </a:extLst>
            </p:cNvPr>
            <p:cNvSpPr/>
            <p:nvPr/>
          </p:nvSpPr>
          <p:spPr>
            <a:xfrm rot="10800000">
              <a:off x="0" y="1663"/>
              <a:ext cx="10927829" cy="2247002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6443614"/>
                <a:satOff val="-18493"/>
                <a:lumOff val="-29609"/>
                <a:alphaOff val="0"/>
              </a:schemeClr>
            </a:fillRef>
            <a:effectRef idx="0">
              <a:schemeClr val="accent2">
                <a:hueOff val="6443614"/>
                <a:satOff val="-18493"/>
                <a:lumOff val="-29609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Callout: Up Arrow 6">
              <a:extLst>
                <a:ext uri="{FF2B5EF4-FFF2-40B4-BE49-F238E27FC236}">
                  <a16:creationId xmlns:a16="http://schemas.microsoft.com/office/drawing/2014/main" id="{897DA25D-32E3-111B-7DCA-1BB9A7C91A9E}"/>
                </a:ext>
              </a:extLst>
            </p:cNvPr>
            <p:cNvSpPr txBox="1"/>
            <p:nvPr/>
          </p:nvSpPr>
          <p:spPr>
            <a:xfrm rot="21600000">
              <a:off x="0" y="1663"/>
              <a:ext cx="10927829" cy="14600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99136" tIns="199136" rIns="199136" bIns="199136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Apply iterative and recursive approaches to solve computational problems such as factorial and Fibonacci series.</a:t>
              </a:r>
              <a:endParaRPr lang="en-IN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79080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r>
              <a:rPr lang="en-US" sz="3200" dirty="0"/>
              <a:t>Hanoi towers. Trade-offs between iteration and recursion. 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3112</TotalTime>
  <Words>1921</Words>
  <Application>Microsoft Office PowerPoint</Application>
  <PresentationFormat>Widescreen</PresentationFormat>
  <Paragraphs>306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Problem solving using iteration and recursion with examples such as Factorial or Fibonacci numbers   Session No.: 10 Course Name: Data Structures Course Code: R1UC308B   Instructor Name: Akhilesh Tripathi Duration: 50 mins Date of Conduction of Class: 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Concept and Definition for (LO-1)   Solving Factorial with Iteration (Loop-based approach)</vt:lpstr>
      <vt:lpstr>Implementation in C</vt:lpstr>
      <vt:lpstr>Concept and Definition for (LO-1)   Recursive Approach (Function calls itself)</vt:lpstr>
      <vt:lpstr>PowerPoint Presentation</vt:lpstr>
      <vt:lpstr>PowerPoint Presentation</vt:lpstr>
      <vt:lpstr>Concept and Definition for (LO-1)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106</cp:revision>
  <dcterms:created xsi:type="dcterms:W3CDTF">2024-08-22T06:33:55Z</dcterms:created>
  <dcterms:modified xsi:type="dcterms:W3CDTF">2025-09-20T13:15:37Z</dcterms:modified>
</cp:coreProperties>
</file>