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260" r:id="rId9"/>
    <p:sldId id="317" r:id="rId10"/>
    <p:sldId id="318" r:id="rId11"/>
    <p:sldId id="308" r:id="rId12"/>
    <p:sldId id="313" r:id="rId13"/>
    <p:sldId id="319" r:id="rId14"/>
    <p:sldId id="316" r:id="rId15"/>
    <p:sldId id="320" r:id="rId16"/>
    <p:sldId id="321" r:id="rId17"/>
    <p:sldId id="322" r:id="rId18"/>
    <p:sldId id="323" r:id="rId19"/>
    <p:sldId id="288" r:id="rId20"/>
    <p:sldId id="299" r:id="rId21"/>
    <p:sldId id="310" r:id="rId22"/>
    <p:sldId id="301" r:id="rId23"/>
    <p:sldId id="30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545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962"/>
    </p:cViewPr>
  </p:sorterViewPr>
  <p:notesViewPr>
    <p:cSldViewPr snapToGrid="0">
      <p:cViewPr varScale="1">
        <p:scale>
          <a:sx n="55" d="100"/>
          <a:sy n="55" d="100"/>
        </p:scale>
        <p:origin x="-2808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  <pc:spChg chg="mod">
          <ac:chgData name="Dr. Anupam Kumar Sharma" userId="550e56936179f404" providerId="LiveId" clId="{A3230177-DABA-49D4-AB5C-04BB74AFD6EE}" dt="2025-02-08T06:23:49.386" v="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  <pc:spChg chg="mod">
          <ac:chgData name="Dr. Anupam Kumar Sharma" userId="550e56936179f404" providerId="LiveId" clId="{A3230177-DABA-49D4-AB5C-04BB74AFD6EE}" dt="2025-02-08T06:24:43.247" v="62" actId="20577"/>
          <ac:spMkLst>
            <pc:docMk/>
            <pc:sldMk cId="1311328748" sldId="284"/>
            <ac:spMk id="10" creationId="{A92BCC8A-DA75-739D-5118-196EB9E2238A}"/>
          </ac:spMkLst>
        </pc:spChg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b="1" dirty="0"/>
            <a:t>To explain the hierarchical structure and properties of trees</a:t>
          </a:r>
          <a:endParaRPr lang="en-US" sz="3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b="1" dirty="0"/>
            <a:t>To differentiate between various types of trees and identify their applications</a:t>
          </a:r>
          <a:endParaRPr lang="en-US" sz="3600" dirty="0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b="1" dirty="0"/>
            <a:t>To explain the hierarchical structure and properties of trees</a:t>
          </a:r>
          <a:endParaRPr lang="en-US" sz="3600" dirty="0"/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b="1" dirty="0"/>
            <a:t>To differentiate between various types of trees and identify their applications</a:t>
          </a:r>
          <a:endParaRPr lang="en-US" sz="3600" dirty="0"/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b="1" kern="1200" dirty="0"/>
            <a:t>To differentiate between various types of trees and identify their applications</a:t>
          </a:r>
          <a:endParaRPr lang="en-US" sz="360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To explain the hierarchical structure and properties of trees</a:t>
          </a:r>
          <a:endParaRPr lang="en-US" sz="3600" kern="1200" dirty="0"/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b="1" kern="1200" dirty="0"/>
            <a:t>To differentiate between various types of trees and identify their applications</a:t>
          </a:r>
          <a:endParaRPr lang="en-US" sz="3600" kern="1200" dirty="0"/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To explain the hierarchical structure and properties of trees</a:t>
          </a:r>
          <a:endParaRPr lang="en-US" sz="3600" kern="1200" dirty="0"/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527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287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287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287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DA65-C0BF-315C-F293-BFD0FCE7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6C31F-886D-8E46-5C5C-3D302F3B4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FF963-8CA0-9BB7-7DD7-677E3ACD2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D6ED-727B-BDE1-4AEC-47266E04D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8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DA65-C0BF-315C-F293-BFD0FCE7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6C31F-886D-8E46-5C5C-3D302F3B4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FF963-8CA0-9BB7-7DD7-677E3ACD2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D6ED-727B-BDE1-4AEC-47266E04D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8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ADA65-C0BF-315C-F293-BFD0FCE73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D6C31F-886D-8E46-5C5C-3D302F3B4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FF963-8CA0-9BB7-7DD7-677E3ACD2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D6ED-727B-BDE1-4AEC-47266E04D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8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b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Trees: Introduction of Tree and their types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32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Strucutres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r>
              <a:rPr lang="en-US" sz="2800" b="1" dirty="0"/>
              <a:t>Pre-Requisite : </a:t>
            </a:r>
          </a:p>
          <a:p>
            <a:endParaRPr lang="en-US" sz="2800" b="1" dirty="0"/>
          </a:p>
          <a:p>
            <a:r>
              <a:rPr lang="en-US" sz="2800" b="1" dirty="0"/>
              <a:t>Students must have knowledge of linear data structure.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9" name="Picture 8" descr="A screenshot of a web page&#10;&#10;AI-generated content may be incorrect.">
            <a:extLst>
              <a:ext uri="{FF2B5EF4-FFF2-40B4-BE49-F238E27FC236}">
                <a16:creationId xmlns:a16="http://schemas.microsoft.com/office/drawing/2014/main" id="{835C9434-B106-A387-B1B8-1F2159D6D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8" y="1962074"/>
            <a:ext cx="10789204" cy="380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  <a:p>
              <a:pPr algn="ctr"/>
              <a:r>
                <a:rPr lang="en-US" sz="3600" dirty="0"/>
                <a:t>What is non linear data structure?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348535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Introduction to tree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Properties of tree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Types of tree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104932" y="3581578"/>
            <a:ext cx="6015649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32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What is difference between linear data structure and non linear data structure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415549" y="3581578"/>
            <a:ext cx="5217750" cy="2231566"/>
            <a:chOff x="5758250" y="2062546"/>
            <a:chExt cx="4320000" cy="1753990"/>
          </a:xfrm>
        </p:grpSpPr>
        <p:sp>
          <p:nvSpPr>
            <p:cNvPr id="18" name="Rectangle 1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 defTabSz="1333500">
                <a:spcBef>
                  <a:spcPct val="0"/>
                </a:spcBef>
                <a:spcAft>
                  <a:spcPct val="35000"/>
                </a:spcAft>
              </a:pPr>
              <a:endParaRPr lang="en-US" sz="32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22475" y="3771900"/>
            <a:ext cx="50038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What is the advantage of tree over linear data structure 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1641" y="2052735"/>
            <a:ext cx="979714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r>
              <a:rPr lang="en-US" sz="3600" b="1" dirty="0"/>
              <a:t>INTRDUCTION TO TREE</a:t>
            </a:r>
          </a:p>
          <a:p>
            <a:r>
              <a:rPr lang="en-US" sz="2800" dirty="0"/>
              <a:t>▶ Tree data structure is a hierarchical structure that is used to represent and organize data in a way that is easy to navigate and search. </a:t>
            </a:r>
          </a:p>
          <a:p>
            <a:r>
              <a:rPr lang="en-US" sz="2800" dirty="0"/>
              <a:t>▶ It is a collection of nodes that are connected by edges and has a hierarchical relationship between the nodes.</a:t>
            </a:r>
          </a:p>
          <a:p>
            <a:r>
              <a:rPr lang="en-US" sz="2800" dirty="0"/>
              <a:t> ▶ The topmost node of the tree is called the root, and the nodes below it are called the child nodes.</a:t>
            </a:r>
          </a:p>
        </p:txBody>
      </p:sp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8499" y="1065691"/>
            <a:ext cx="1045028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r>
              <a:rPr lang="en-US" sz="3600" b="1" dirty="0"/>
              <a:t>INTRDUCTION TO TREE</a:t>
            </a:r>
          </a:p>
          <a:p>
            <a:r>
              <a:rPr lang="en-US" sz="3200" dirty="0"/>
              <a:t>▶ The node which is an immediate predecessor of a node is called the parent node of that node. </a:t>
            </a:r>
          </a:p>
          <a:p>
            <a:r>
              <a:rPr lang="en-US" sz="3200" dirty="0"/>
              <a:t>▶ Each node can have multiple child nodes, and these child nodes can also have their own child nodes, forming a recursive structure. </a:t>
            </a:r>
          </a:p>
          <a:p>
            <a:r>
              <a:rPr lang="en-US" sz="3200" dirty="0"/>
              <a:t>▶ The node which is the immediate successor of a node is called the child node of that node. </a:t>
            </a:r>
          </a:p>
          <a:p>
            <a:r>
              <a:rPr lang="en-US" sz="3200" dirty="0"/>
              <a:t>▶ Tree is considered a non-linear data structure.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220071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1641" y="2052735"/>
            <a:ext cx="9797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r>
              <a:rPr lang="en-US" sz="3600" b="1" dirty="0"/>
              <a:t>INTRDUCTION TO TREE</a:t>
            </a:r>
          </a:p>
          <a:p>
            <a:endParaRPr lang="en-US" sz="36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68" y="2652899"/>
            <a:ext cx="9732198" cy="4205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8233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C2617-F3D3-DB72-F9BA-0D63EA196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81D794-83DF-2485-37EB-08AA39E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25E28-5DD4-9D3E-FEDA-7A1B905D4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A81A86-B11C-30BD-14B0-355036E25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877B39-0000-F5DA-3E3E-CFD52819A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3BD95F-7131-9436-E5A7-9EAACAA90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290D5A-0C00-4AA1-9112-BCDE7DC2F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782F5B-2C9E-15A9-90AD-0442654D5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CD707-AFB2-F98B-8F40-C91AE9B9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AD5F1-F0CF-A880-A60A-01FBF9BB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3CABA1B-DCE6-923C-062D-2EF83B2ED0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0015444-7029-6B15-BE29-97276097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7E0C1A-55D7-603F-9723-7F169AD03F96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C7D6C9-28A1-8AB9-0AA3-A6003AC02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3142" y="1138346"/>
            <a:ext cx="1129004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Basic Terminology of Trees</a:t>
            </a:r>
          </a:p>
          <a:p>
            <a:r>
              <a:rPr lang="en-US" sz="2400" b="1" dirty="0"/>
              <a:t>Node</a:t>
            </a:r>
            <a:r>
              <a:rPr lang="en-US" sz="2400" dirty="0"/>
              <a:t>: An element in a tree, which contains data and possibly references to child nodes.</a:t>
            </a:r>
          </a:p>
          <a:p>
            <a:r>
              <a:rPr lang="en-US" sz="2400" b="1" dirty="0"/>
              <a:t>Edge</a:t>
            </a:r>
            <a:r>
              <a:rPr lang="en-US" sz="2400" dirty="0"/>
              <a:t>: A connection between two nodes, representing the relationship between them.</a:t>
            </a:r>
          </a:p>
          <a:p>
            <a:r>
              <a:rPr lang="en-US" sz="2400" b="1" dirty="0"/>
              <a:t>Root</a:t>
            </a:r>
            <a:r>
              <a:rPr lang="en-US" sz="2400" dirty="0"/>
              <a:t>: The topmost node in the tree, which serves as the starting point.</a:t>
            </a:r>
          </a:p>
          <a:p>
            <a:r>
              <a:rPr lang="en-US" sz="2400" b="1" dirty="0"/>
              <a:t>Parent Node</a:t>
            </a:r>
            <a:r>
              <a:rPr lang="en-US" sz="2400" dirty="0"/>
              <a:t>: A node that has one or more child nodes.</a:t>
            </a:r>
          </a:p>
          <a:p>
            <a:r>
              <a:rPr lang="en-US" sz="2400" b="1" dirty="0"/>
              <a:t>Child Node</a:t>
            </a:r>
            <a:r>
              <a:rPr lang="en-US" sz="2400" dirty="0"/>
              <a:t>: A node that is a descendant of another node.</a:t>
            </a:r>
          </a:p>
          <a:p>
            <a:r>
              <a:rPr lang="en-US" sz="2400" b="1" dirty="0"/>
              <a:t>Leaf Node</a:t>
            </a:r>
            <a:r>
              <a:rPr lang="en-US" sz="2400" dirty="0"/>
              <a:t>: A node that does not have any children (also called terminal nodes).</a:t>
            </a:r>
          </a:p>
          <a:p>
            <a:r>
              <a:rPr lang="en-US" sz="2400" b="1" dirty="0"/>
              <a:t>Subtree</a:t>
            </a:r>
            <a:r>
              <a:rPr lang="en-US" sz="2400" dirty="0"/>
              <a:t>: A tree formed from any node and its descendants.</a:t>
            </a:r>
          </a:p>
          <a:p>
            <a:r>
              <a:rPr lang="en-US" sz="2400" b="1" dirty="0"/>
              <a:t>Path</a:t>
            </a:r>
            <a:r>
              <a:rPr lang="en-US" sz="2400" dirty="0"/>
              <a:t>: A sequence of nodes and edges from one node to another.</a:t>
            </a:r>
          </a:p>
          <a:p>
            <a:r>
              <a:rPr lang="en-US" sz="2400" b="1" dirty="0"/>
              <a:t>Level</a:t>
            </a:r>
            <a:r>
              <a:rPr lang="en-US" sz="2400" dirty="0"/>
              <a:t>: The level of a node is its distance from the root. The root is at level 0.</a:t>
            </a:r>
          </a:p>
          <a:p>
            <a:r>
              <a:rPr lang="en-US" sz="24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636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C2617-F3D3-DB72-F9BA-0D63EA196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81D794-83DF-2485-37EB-08AA39E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25E28-5DD4-9D3E-FEDA-7A1B905D4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A81A86-B11C-30BD-14B0-355036E25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877B39-0000-F5DA-3E3E-CFD52819A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3BD95F-7131-9436-E5A7-9EAACAA90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290D5A-0C00-4AA1-9112-BCDE7DC2F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782F5B-2C9E-15A9-90AD-0442654D5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CD707-AFB2-F98B-8F40-C91AE9B9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AD5F1-F0CF-A880-A60A-01FBF9BB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3CABA1B-DCE6-923C-062D-2EF83B2ED0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0015444-7029-6B15-BE29-97276097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7E0C1A-55D7-603F-9723-7F169AD03F96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C7D6C9-28A1-8AB9-0AA3-A6003AC02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02" y="1647825"/>
            <a:ext cx="7557795" cy="4249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8960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C2617-F3D3-DB72-F9BA-0D63EA196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981D794-83DF-2485-37EB-08AA39E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25E28-5DD4-9D3E-FEDA-7A1B905D4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1A81A86-B11C-30BD-14B0-355036E25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F877B39-0000-F5DA-3E3E-CFD52819A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3BD95F-7131-9436-E5A7-9EAACAA90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290D5A-0C00-4AA1-9112-BCDE7DC2F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D7782F5B-2C9E-15A9-90AD-0442654D5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CD707-AFB2-F98B-8F40-C91AE9B9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AD5F1-F0CF-A880-A60A-01FBF9BB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3CABA1B-DCE6-923C-062D-2EF83B2ED0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0015444-7029-6B15-BE29-97276097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</a:t>
            </a:r>
            <a:b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7E0C1A-55D7-603F-9723-7F169AD03F96}"/>
              </a:ext>
            </a:extLst>
          </p:cNvPr>
          <p:cNvSpPr txBox="1"/>
          <p:nvPr/>
        </p:nvSpPr>
        <p:spPr>
          <a:xfrm>
            <a:off x="838200" y="1065690"/>
            <a:ext cx="10795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</a:t>
            </a:r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C7D6C9-28A1-8AB9-0AA3-A6003AC02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98580" y="1376295"/>
            <a:ext cx="11681927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/>
              <a:t>Properties of Tree Data Structure:</a:t>
            </a:r>
          </a:p>
          <a:p>
            <a:pPr fontAlgn="base"/>
            <a:r>
              <a:rPr lang="en-US" sz="2400" b="1" dirty="0"/>
              <a:t>Number of edges: </a:t>
            </a:r>
            <a:r>
              <a:rPr lang="en-US" sz="2400" dirty="0"/>
              <a:t>An edge can be defined as the connection between two nodes. If a tree has N nodes then it will have (N-1) edges. There is only one path from each node to any other node of the tree.</a:t>
            </a:r>
          </a:p>
          <a:p>
            <a:pPr fontAlgn="base"/>
            <a:r>
              <a:rPr lang="en-US" sz="2400" b="1" dirty="0"/>
              <a:t>Depth of a node:</a:t>
            </a:r>
            <a:r>
              <a:rPr lang="en-US" sz="2400" dirty="0"/>
              <a:t> The depth of a node is defined as the length of the path from the root to that node. Each edge adds 1 unit of length to the path. So, it can also be defined as the number of edges in the path from the root of the tree to the node.</a:t>
            </a:r>
          </a:p>
          <a:p>
            <a:pPr fontAlgn="base"/>
            <a:r>
              <a:rPr lang="en-US" sz="2400" b="1" dirty="0"/>
              <a:t>Height of a node:</a:t>
            </a:r>
            <a:r>
              <a:rPr lang="en-US" sz="2400" dirty="0"/>
              <a:t> The height of a node can be defined as the length of the longest path from the node to a leaf node of the tree.</a:t>
            </a:r>
          </a:p>
          <a:p>
            <a:pPr fontAlgn="base"/>
            <a:r>
              <a:rPr lang="en-US" sz="2400" b="1" dirty="0"/>
              <a:t>Height of the Tree:</a:t>
            </a:r>
            <a:r>
              <a:rPr lang="en-US" sz="2400" dirty="0"/>
              <a:t> The height of a tree is the length of the longest path from the root of the tree to a leaf node of the tree.</a:t>
            </a:r>
          </a:p>
          <a:p>
            <a:pPr fontAlgn="base"/>
            <a:r>
              <a:rPr lang="en-US" sz="2400" b="1" dirty="0"/>
              <a:t>Degree of a Node:</a:t>
            </a:r>
            <a:r>
              <a:rPr lang="en-US" sz="2400" dirty="0"/>
              <a:t> The total count of subtrees attached to that node is called the degree of the node. The degree of a leaf node must be </a:t>
            </a:r>
            <a:r>
              <a:rPr lang="en-US" sz="2400" b="1" dirty="0"/>
              <a:t>0</a:t>
            </a:r>
            <a:r>
              <a:rPr lang="en-US" sz="2400" dirty="0"/>
              <a:t>. The degree of a tree is the maximum degree of a node among all the nodes in the tree</a:t>
            </a:r>
            <a:r>
              <a:rPr lang="en-US" dirty="0"/>
              <a:t>.</a:t>
            </a:r>
          </a:p>
          <a:p>
            <a:pPr fontAlgn="base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38432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593538" cy="74023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8" y="167321"/>
            <a:ext cx="3795634" cy="740238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0B8683A-49DA-73E8-6992-C0F337CF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18" y="-1669375"/>
            <a:ext cx="11438480" cy="7540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4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/>
              <a:t>Types of Trees:</a:t>
            </a:r>
          </a:p>
          <a:p>
            <a:r>
              <a:rPr lang="en-US" sz="3200" b="1" dirty="0"/>
              <a:t>Binary Tree</a:t>
            </a:r>
          </a:p>
          <a:p>
            <a:r>
              <a:rPr lang="en-US" sz="3200" dirty="0"/>
              <a:t>A </a:t>
            </a:r>
            <a:r>
              <a:rPr lang="en-US" sz="3200" b="1" dirty="0"/>
              <a:t>binary tree</a:t>
            </a:r>
            <a:r>
              <a:rPr lang="en-US" sz="3200" dirty="0"/>
              <a:t> is a tree where each node has at most </a:t>
            </a:r>
            <a:r>
              <a:rPr lang="en-US" sz="3200" b="1" dirty="0"/>
              <a:t>two children</a:t>
            </a:r>
            <a:r>
              <a:rPr lang="en-US" sz="3200" dirty="0"/>
              <a:t>. These children are typically referred to as the </a:t>
            </a:r>
            <a:r>
              <a:rPr lang="en-US" sz="3200" b="1" dirty="0"/>
              <a:t>left</a:t>
            </a:r>
            <a:r>
              <a:rPr lang="en-US" sz="3200" dirty="0"/>
              <a:t> and </a:t>
            </a:r>
            <a:r>
              <a:rPr lang="en-US" sz="3200" b="1" dirty="0"/>
              <a:t>right</a:t>
            </a:r>
            <a:r>
              <a:rPr lang="en-US" sz="3200" dirty="0"/>
              <a:t> children.</a:t>
            </a:r>
          </a:p>
          <a:p>
            <a:r>
              <a:rPr lang="en-US" sz="3200" b="1" dirty="0"/>
              <a:t>Binary Tree Properties:</a:t>
            </a:r>
          </a:p>
          <a:p>
            <a:r>
              <a:rPr lang="en-US" sz="3200" dirty="0"/>
              <a:t>Each node has at most two children.</a:t>
            </a:r>
          </a:p>
          <a:p>
            <a:r>
              <a:rPr lang="en-US" sz="3200" dirty="0"/>
              <a:t>Left child comes before right child.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27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593538" cy="74023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8" y="167321"/>
            <a:ext cx="3795634" cy="740238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0B8683A-49DA-73E8-6992-C0F337CF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18" y="-1115375"/>
            <a:ext cx="11438480" cy="64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/>
              <a:t>Types of Trees: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 (BST)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tree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which the nodes follow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 property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subtree of a node contains only nodes with values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than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node's value.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subtree of a node contains only nodes with values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than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node's value.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searching, insertion, and deletion.</a:t>
            </a:r>
          </a:p>
          <a:p>
            <a:endParaRPr 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6563" y="3862873"/>
            <a:ext cx="4273421" cy="2537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9842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593538" cy="74023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8" y="167321"/>
            <a:ext cx="3795634" cy="740238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0B8683A-49DA-73E8-6992-C0F337CF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18" y="-992264"/>
            <a:ext cx="11438480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/>
              <a:t>Types of Trees:</a:t>
            </a:r>
          </a:p>
          <a:p>
            <a:r>
              <a:rPr lang="en-US" sz="3200" b="1" dirty="0"/>
              <a:t>Complete Binary Tree</a:t>
            </a:r>
          </a:p>
          <a:p>
            <a:r>
              <a:rPr lang="en-US" sz="3200" dirty="0"/>
              <a:t>A </a:t>
            </a:r>
            <a:r>
              <a:rPr lang="en-US" sz="3200" b="1" dirty="0"/>
              <a:t>complete binary tree</a:t>
            </a:r>
            <a:r>
              <a:rPr lang="en-US" sz="3200" dirty="0"/>
              <a:t> is a binary tree where all the levels, except possibly the last, are </a:t>
            </a:r>
            <a:r>
              <a:rPr lang="en-US" sz="3200" b="1" dirty="0"/>
              <a:t>completely filled</a:t>
            </a:r>
            <a:r>
              <a:rPr lang="en-US" sz="3200" dirty="0"/>
              <a:t>, and the nodes are as far left as possible.</a:t>
            </a:r>
          </a:p>
          <a:p>
            <a:r>
              <a:rPr lang="en-US" sz="3200" b="1" dirty="0"/>
              <a:t>Example: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443" y="4149936"/>
            <a:ext cx="3620386" cy="2101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7406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593538" cy="74023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8" y="167321"/>
            <a:ext cx="3795634" cy="740238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0B8683A-49DA-73E8-6992-C0F337CF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18" y="-746042"/>
            <a:ext cx="1143848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/>
              <a:t>Types of Trees:</a:t>
            </a:r>
          </a:p>
          <a:p>
            <a:r>
              <a:rPr lang="en-US" sz="3200" b="1" dirty="0"/>
              <a:t>Full Binary Tree</a:t>
            </a:r>
          </a:p>
          <a:p>
            <a:r>
              <a:rPr lang="en-US" sz="3200" dirty="0"/>
              <a:t>A </a:t>
            </a:r>
            <a:r>
              <a:rPr lang="en-US" sz="3200" b="1" dirty="0"/>
              <a:t>full binary tree</a:t>
            </a:r>
            <a:r>
              <a:rPr lang="en-US" sz="3200" dirty="0"/>
              <a:t> is a binary tree where every node has </a:t>
            </a:r>
            <a:r>
              <a:rPr lang="en-US" sz="3200" b="1" dirty="0"/>
              <a:t>either 0 or 2 children</a:t>
            </a:r>
            <a:r>
              <a:rPr lang="en-US" sz="3200" dirty="0"/>
              <a:t> (no node has only one child).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293" y="3937518"/>
            <a:ext cx="5579515" cy="235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3113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593538" cy="74023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(LO-2)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8" y="167321"/>
            <a:ext cx="3795634" cy="740238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0B8683A-49DA-73E8-6992-C0F337CF0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18" y="-1730926"/>
            <a:ext cx="11438480" cy="7663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b="1" dirty="0"/>
              <a:t>Types of Trees:</a:t>
            </a:r>
          </a:p>
          <a:p>
            <a:r>
              <a:rPr lang="en-US" sz="3200" b="1" dirty="0"/>
              <a:t>AVL Tree (Self-Balancing Binary Search Tree)</a:t>
            </a:r>
          </a:p>
          <a:p>
            <a:r>
              <a:rPr lang="en-US" sz="3200" dirty="0"/>
              <a:t>An </a:t>
            </a:r>
            <a:r>
              <a:rPr lang="en-US" sz="3200" b="1" dirty="0"/>
              <a:t>AVL tree</a:t>
            </a:r>
            <a:r>
              <a:rPr lang="en-US" sz="3200" dirty="0"/>
              <a:t> is a binary search tree where the </a:t>
            </a:r>
            <a:r>
              <a:rPr lang="en-US" sz="3200" b="1" dirty="0"/>
              <a:t>balance factor</a:t>
            </a:r>
            <a:r>
              <a:rPr lang="en-US" sz="3200" dirty="0"/>
              <a:t> of every node is at most 1, meaning the heights of the left and right subtrees of any node differ by no more than 1.</a:t>
            </a:r>
          </a:p>
          <a:p>
            <a:r>
              <a:rPr lang="en-US" sz="3200" b="1" dirty="0"/>
              <a:t>Self-balancing</a:t>
            </a:r>
            <a:r>
              <a:rPr lang="en-US" sz="3200" dirty="0"/>
              <a:t>: Automatically re-balances the tree when nodes are inserted or deleted, ensuring efficient operations.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 b="1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108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Woo Flash Quiz</a:t>
            </a:r>
          </a:p>
          <a:p>
            <a:pPr algn="ctr"/>
            <a:endParaRPr lang="en-IN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6" name="Picture 5" descr="A screenshot of a qr code&#10;&#10;AI-generated content may be incorrect.">
            <a:extLst>
              <a:ext uri="{FF2B5EF4-FFF2-40B4-BE49-F238E27FC236}">
                <a16:creationId xmlns:a16="http://schemas.microsoft.com/office/drawing/2014/main" id="{FC510462-0D07-71F6-65E9-DEA1B06F5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514" y="1730287"/>
            <a:ext cx="8577943" cy="422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980607" y="1051486"/>
            <a:ext cx="10373193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918" y="1707050"/>
            <a:ext cx="1144035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 </a:t>
            </a:r>
            <a:r>
              <a:rPr lang="en-US" sz="3600" b="1" dirty="0"/>
              <a:t>tree</a:t>
            </a:r>
            <a:r>
              <a:rPr lang="en-US" sz="3600" dirty="0"/>
              <a:t> is a hierarchical data structure with nodes connected by edges. It consists of a root node, parent-child relationships, and leaf nodes.</a:t>
            </a:r>
          </a:p>
          <a:p>
            <a:r>
              <a:rPr lang="en-US" sz="3600" b="1" dirty="0"/>
              <a:t>Types of Trees:</a:t>
            </a:r>
            <a:endParaRPr lang="en-US" sz="3600" dirty="0"/>
          </a:p>
          <a:p>
            <a:r>
              <a:rPr lang="en-US" sz="3600" b="1" dirty="0"/>
              <a:t>Binary Tree</a:t>
            </a:r>
            <a:r>
              <a:rPr lang="en-US" sz="3600" dirty="0"/>
              <a:t>: Each node has at most two children.</a:t>
            </a:r>
          </a:p>
          <a:p>
            <a:r>
              <a:rPr lang="en-US" sz="3600" b="1" dirty="0"/>
              <a:t>Binary Search Tree (BST)</a:t>
            </a:r>
            <a:r>
              <a:rPr lang="en-US" sz="3600" dirty="0"/>
              <a:t>: Left child &lt; parent &lt; right child.</a:t>
            </a:r>
          </a:p>
          <a:p>
            <a:r>
              <a:rPr lang="en-US" sz="3600" b="1" dirty="0"/>
              <a:t>Applications</a:t>
            </a:r>
            <a:r>
              <a:rPr lang="en-US" sz="3600" dirty="0"/>
              <a:t>: Searching, Sorting, Memory Management, Decision Making, Network Routing.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892DE-94AF-4FA6-AC91-F6E133F13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BDBE0-A5DB-2C0C-EAD8-679E0833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BE280-9E74-593A-97BB-AA83D2BF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21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4C7D976-CEDB-D82A-7AEB-C4287BDEA6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D196369-5E80-F50C-6B80-49FCB1043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726" y="1065923"/>
            <a:ext cx="10724206" cy="4720670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u="sng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0A58D6-0AEC-35D7-0B18-4C3ABB1DFA36}"/>
              </a:ext>
            </a:extLst>
          </p:cNvPr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5072BE33-7B7A-7B46-8781-424CBA0118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0160811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C9A45468-42E3-31D5-0DCF-A4828F31DA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19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Binary Tree and Its array and linked list representation, Strict Binary Tree, Complete Binary Tree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  <a:p>
            <a:pPr algn="ctr"/>
            <a:endParaRPr lang="en-US" sz="4000" dirty="0">
              <a:solidFill>
                <a:schemeClr val="tx2"/>
              </a:solidFill>
            </a:endParaRPr>
          </a:p>
          <a:p>
            <a:pPr algn="ctr"/>
            <a:endParaRPr lang="en-US" sz="4000" dirty="0">
              <a:solidFill>
                <a:schemeClr val="tx2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649" y="2368708"/>
            <a:ext cx="5243804" cy="4125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3163</TotalTime>
  <Words>1289</Words>
  <Application>Microsoft Office PowerPoint</Application>
  <PresentationFormat>Widescreen</PresentationFormat>
  <Paragraphs>209</Paragraphs>
  <Slides>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Office Theme</vt:lpstr>
      <vt:lpstr>  Trees: Introduction of Tree and their types   Session No.: 32 Course Name: Data Strucutres Course Code: R1UC308B   Instructor Name: Akhilesh Tripathi Duration: 50 mins Date of Conduction of Class: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(LO-1) </vt:lpstr>
      <vt:lpstr>Concept and Definition for (LO-1) </vt:lpstr>
      <vt:lpstr>Concept and Definition for (LO-1) </vt:lpstr>
      <vt:lpstr>Concept and Definition for (LO-1)  </vt:lpstr>
      <vt:lpstr>Concept and Definition for (LO-1)  </vt:lpstr>
      <vt:lpstr>Concept and Definition for (LO-1)  </vt:lpstr>
      <vt:lpstr>Concept and Definition for (LO-2) </vt:lpstr>
      <vt:lpstr>Concept and Definition for (LO-2) </vt:lpstr>
      <vt:lpstr>Concept and Definition for (LO-2) </vt:lpstr>
      <vt:lpstr>Concept and Definition for (LO-2) </vt:lpstr>
      <vt:lpstr>Concept and Definition for (LO-2)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134</cp:revision>
  <dcterms:created xsi:type="dcterms:W3CDTF">2024-08-22T06:33:55Z</dcterms:created>
  <dcterms:modified xsi:type="dcterms:W3CDTF">2025-12-10T14:37:50Z</dcterms:modified>
</cp:coreProperties>
</file>