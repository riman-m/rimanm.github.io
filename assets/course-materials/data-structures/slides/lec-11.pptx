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303" r:id="rId10"/>
    <p:sldId id="307" r:id="rId11"/>
    <p:sldId id="304" r:id="rId12"/>
    <p:sldId id="296" r:id="rId13"/>
    <p:sldId id="295" r:id="rId14"/>
    <p:sldId id="310" r:id="rId15"/>
    <p:sldId id="308" r:id="rId16"/>
    <p:sldId id="298" r:id="rId17"/>
    <p:sldId id="309" r:id="rId18"/>
    <p:sldId id="288" r:id="rId19"/>
    <p:sldId id="299" r:id="rId20"/>
    <p:sldId id="311" r:id="rId21"/>
    <p:sldId id="301" r:id="rId22"/>
    <p:sldId id="30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38D2E0-CE30-4B8E-8EBD-B58B40840A3A}">
      <dgm:prSet custT="1"/>
      <dgm:spPr/>
      <dgm:t>
        <a:bodyPr/>
        <a:lstStyle/>
        <a:p>
          <a:pPr>
            <a:buNone/>
          </a:pPr>
          <a:r>
            <a:rPr lang="en-US" sz="2800" dirty="0"/>
            <a:t>understand the recursive nature of the Tower of Hanoi problem, implement its solution in C using recursion</a:t>
          </a:r>
          <a:endParaRPr lang="en-IN" sz="2800" dirty="0"/>
        </a:p>
      </dgm:t>
    </dgm:pt>
    <dgm:pt modelId="{FA494118-3CC2-486A-8C92-178F0737938D}" type="parTrans" cxnId="{D5DD407C-059A-40BE-8CA6-246F7B95059B}">
      <dgm:prSet/>
      <dgm:spPr/>
      <dgm:t>
        <a:bodyPr/>
        <a:lstStyle/>
        <a:p>
          <a:endParaRPr lang="en-IN"/>
        </a:p>
      </dgm:t>
    </dgm:pt>
    <dgm:pt modelId="{E0C98239-2C08-47FE-B67B-80BBEC34DDD3}" type="sibTrans" cxnId="{D5DD407C-059A-40BE-8CA6-246F7B95059B}">
      <dgm:prSet/>
      <dgm:spPr/>
      <dgm:t>
        <a:bodyPr/>
        <a:lstStyle/>
        <a:p>
          <a:endParaRPr lang="en-IN"/>
        </a:p>
      </dgm:t>
    </dgm:pt>
    <dgm:pt modelId="{05E52D68-3176-48F8-A253-1E2194724279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Analyze and compare the trade-offs between iteration and recursion in problem solving."</a:t>
          </a:r>
          <a:endParaRPr lang="en-IN" sz="3600" dirty="0"/>
        </a:p>
      </dgm:t>
    </dgm:pt>
    <dgm:pt modelId="{C02BC8C0-25E3-4C02-8AC9-E3A232CCE32E}" type="parTrans" cxnId="{2075DC49-48CA-4112-B246-C11E62988EA5}">
      <dgm:prSet/>
      <dgm:spPr/>
      <dgm:t>
        <a:bodyPr/>
        <a:lstStyle/>
        <a:p>
          <a:endParaRPr lang="en-IN"/>
        </a:p>
      </dgm:t>
    </dgm:pt>
    <dgm:pt modelId="{16FA2FF3-C375-40CF-AF5E-08526590A43D}" type="sibTrans" cxnId="{2075DC49-48CA-4112-B246-C11E62988EA5}">
      <dgm:prSet/>
      <dgm:spPr/>
      <dgm:t>
        <a:bodyPr/>
        <a:lstStyle/>
        <a:p>
          <a:endParaRPr lang="en-IN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8A00B8C4-124C-4BBC-82EF-B6C3891D8101}" type="pres">
      <dgm:prSet presAssocID="{05E52D68-3176-48F8-A253-1E2194724279}" presName="boxAndChildren" presStyleCnt="0"/>
      <dgm:spPr/>
    </dgm:pt>
    <dgm:pt modelId="{33A050D5-97C8-412B-9B8F-B26C8F757B7E}" type="pres">
      <dgm:prSet presAssocID="{05E52D68-3176-48F8-A253-1E2194724279}" presName="parentTextBox" presStyleLbl="node1" presStyleIdx="0" presStyleCnt="2"/>
      <dgm:spPr/>
    </dgm:pt>
    <dgm:pt modelId="{D9E7C99D-CD0A-4EF3-825B-E9D5A24B2895}" type="pres">
      <dgm:prSet presAssocID="{E0C98239-2C08-47FE-B67B-80BBEC34DDD3}" presName="sp" presStyleCnt="0"/>
      <dgm:spPr/>
    </dgm:pt>
    <dgm:pt modelId="{D9F278CF-D1AB-4E2D-A1A2-4B43DAB4CAC1}" type="pres">
      <dgm:prSet presAssocID="{7D38D2E0-CE30-4B8E-8EBD-B58B40840A3A}" presName="arrowAndChildren" presStyleCnt="0"/>
      <dgm:spPr/>
    </dgm:pt>
    <dgm:pt modelId="{A9E5CEDE-BC6A-43F2-A45B-53186C6B8E6E}" type="pres">
      <dgm:prSet presAssocID="{7D38D2E0-CE30-4B8E-8EBD-B58B40840A3A}" presName="parentTextArrow" presStyleLbl="node1" presStyleIdx="1" presStyleCnt="2"/>
      <dgm:spPr/>
    </dgm:pt>
  </dgm:ptLst>
  <dgm:cxnLst>
    <dgm:cxn modelId="{2075DC49-48CA-4112-B246-C11E62988EA5}" srcId="{B7ED251F-A7A3-4D25-B004-4241BE03EDC3}" destId="{05E52D68-3176-48F8-A253-1E2194724279}" srcOrd="1" destOrd="0" parTransId="{C02BC8C0-25E3-4C02-8AC9-E3A232CCE32E}" sibTransId="{16FA2FF3-C375-40CF-AF5E-08526590A43D}"/>
    <dgm:cxn modelId="{D5DD407C-059A-40BE-8CA6-246F7B95059B}" srcId="{B7ED251F-A7A3-4D25-B004-4241BE03EDC3}" destId="{7D38D2E0-CE30-4B8E-8EBD-B58B40840A3A}" srcOrd="0" destOrd="0" parTransId="{FA494118-3CC2-486A-8C92-178F0737938D}" sibTransId="{E0C98239-2C08-47FE-B67B-80BBEC34DDD3}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919838A1-8BBA-4087-8F31-36172B94441C}" type="presOf" srcId="{7D38D2E0-CE30-4B8E-8EBD-B58B40840A3A}" destId="{A9E5CEDE-BC6A-43F2-A45B-53186C6B8E6E}" srcOrd="0" destOrd="0" presId="urn:microsoft.com/office/officeart/2005/8/layout/process4"/>
    <dgm:cxn modelId="{891B7BB3-3248-44DD-81A9-31EB06388E44}" type="presOf" srcId="{05E52D68-3176-48F8-A253-1E2194724279}" destId="{33A050D5-97C8-412B-9B8F-B26C8F757B7E}" srcOrd="0" destOrd="0" presId="urn:microsoft.com/office/officeart/2005/8/layout/process4"/>
    <dgm:cxn modelId="{A2C57113-713C-4A87-8B9F-84FA56656862}" type="presParOf" srcId="{BCA40D55-9F97-4CA4-8859-68C842EAE88F}" destId="{8A00B8C4-124C-4BBC-82EF-B6C3891D8101}" srcOrd="0" destOrd="0" presId="urn:microsoft.com/office/officeart/2005/8/layout/process4"/>
    <dgm:cxn modelId="{7BFA7D03-D72B-4103-87FE-267B416D2C47}" type="presParOf" srcId="{8A00B8C4-124C-4BBC-82EF-B6C3891D8101}" destId="{33A050D5-97C8-412B-9B8F-B26C8F757B7E}" srcOrd="0" destOrd="0" presId="urn:microsoft.com/office/officeart/2005/8/layout/process4"/>
    <dgm:cxn modelId="{BD5F377B-F2CA-409D-A865-A0007EBD6ADC}" type="presParOf" srcId="{BCA40D55-9F97-4CA4-8859-68C842EAE88F}" destId="{D9E7C99D-CD0A-4EF3-825B-E9D5A24B2895}" srcOrd="1" destOrd="0" presId="urn:microsoft.com/office/officeart/2005/8/layout/process4"/>
    <dgm:cxn modelId="{692289CD-F3BE-4D34-B3E8-299C4DC375D9}" type="presParOf" srcId="{BCA40D55-9F97-4CA4-8859-68C842EAE88F}" destId="{D9F278CF-D1AB-4E2D-A1A2-4B43DAB4CAC1}" srcOrd="2" destOrd="0" presId="urn:microsoft.com/office/officeart/2005/8/layout/process4"/>
    <dgm:cxn modelId="{22614DE8-5A9B-46F2-968E-3A7329089A72}" type="presParOf" srcId="{D9F278CF-D1AB-4E2D-A1A2-4B43DAB4CAC1}" destId="{A9E5CEDE-BC6A-43F2-A45B-53186C6B8E6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38D2E0-CE30-4B8E-8EBD-B58B40840A3A}">
      <dgm:prSet custT="1"/>
      <dgm:spPr/>
      <dgm:t>
        <a:bodyPr/>
        <a:lstStyle/>
        <a:p>
          <a:pPr>
            <a:buNone/>
          </a:pPr>
          <a:r>
            <a:rPr lang="en-US" sz="2800" dirty="0"/>
            <a:t>understand the recursive nature of the Tower of Hanoi problem, implement its solution in C using recursion</a:t>
          </a:r>
          <a:endParaRPr lang="en-IN" sz="2800" dirty="0"/>
        </a:p>
      </dgm:t>
    </dgm:pt>
    <dgm:pt modelId="{FA494118-3CC2-486A-8C92-178F0737938D}" type="parTrans" cxnId="{D5DD407C-059A-40BE-8CA6-246F7B95059B}">
      <dgm:prSet/>
      <dgm:spPr/>
      <dgm:t>
        <a:bodyPr/>
        <a:lstStyle/>
        <a:p>
          <a:endParaRPr lang="en-IN"/>
        </a:p>
      </dgm:t>
    </dgm:pt>
    <dgm:pt modelId="{E0C98239-2C08-47FE-B67B-80BBEC34DDD3}" type="sibTrans" cxnId="{D5DD407C-059A-40BE-8CA6-246F7B95059B}">
      <dgm:prSet/>
      <dgm:spPr/>
      <dgm:t>
        <a:bodyPr/>
        <a:lstStyle/>
        <a:p>
          <a:endParaRPr lang="en-IN"/>
        </a:p>
      </dgm:t>
    </dgm:pt>
    <dgm:pt modelId="{05E52D68-3176-48F8-A253-1E2194724279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Analyze and compare the trade-offs between iteration and recursion in problem solving."</a:t>
          </a:r>
          <a:endParaRPr lang="en-IN" sz="3600" dirty="0"/>
        </a:p>
      </dgm:t>
    </dgm:pt>
    <dgm:pt modelId="{C02BC8C0-25E3-4C02-8AC9-E3A232CCE32E}" type="parTrans" cxnId="{2075DC49-48CA-4112-B246-C11E62988EA5}">
      <dgm:prSet/>
      <dgm:spPr/>
      <dgm:t>
        <a:bodyPr/>
        <a:lstStyle/>
        <a:p>
          <a:endParaRPr lang="en-IN"/>
        </a:p>
      </dgm:t>
    </dgm:pt>
    <dgm:pt modelId="{16FA2FF3-C375-40CF-AF5E-08526590A43D}" type="sibTrans" cxnId="{2075DC49-48CA-4112-B246-C11E62988EA5}">
      <dgm:prSet/>
      <dgm:spPr/>
      <dgm:t>
        <a:bodyPr/>
        <a:lstStyle/>
        <a:p>
          <a:endParaRPr lang="en-IN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8A00B8C4-124C-4BBC-82EF-B6C3891D8101}" type="pres">
      <dgm:prSet presAssocID="{05E52D68-3176-48F8-A253-1E2194724279}" presName="boxAndChildren" presStyleCnt="0"/>
      <dgm:spPr/>
    </dgm:pt>
    <dgm:pt modelId="{33A050D5-97C8-412B-9B8F-B26C8F757B7E}" type="pres">
      <dgm:prSet presAssocID="{05E52D68-3176-48F8-A253-1E2194724279}" presName="parentTextBox" presStyleLbl="node1" presStyleIdx="0" presStyleCnt="2"/>
      <dgm:spPr/>
    </dgm:pt>
    <dgm:pt modelId="{D9E7C99D-CD0A-4EF3-825B-E9D5A24B2895}" type="pres">
      <dgm:prSet presAssocID="{E0C98239-2C08-47FE-B67B-80BBEC34DDD3}" presName="sp" presStyleCnt="0"/>
      <dgm:spPr/>
    </dgm:pt>
    <dgm:pt modelId="{D9F278CF-D1AB-4E2D-A1A2-4B43DAB4CAC1}" type="pres">
      <dgm:prSet presAssocID="{7D38D2E0-CE30-4B8E-8EBD-B58B40840A3A}" presName="arrowAndChildren" presStyleCnt="0"/>
      <dgm:spPr/>
    </dgm:pt>
    <dgm:pt modelId="{A9E5CEDE-BC6A-43F2-A45B-53186C6B8E6E}" type="pres">
      <dgm:prSet presAssocID="{7D38D2E0-CE30-4B8E-8EBD-B58B40840A3A}" presName="parentTextArrow" presStyleLbl="node1" presStyleIdx="1" presStyleCnt="2"/>
      <dgm:spPr/>
    </dgm:pt>
  </dgm:ptLst>
  <dgm:cxnLst>
    <dgm:cxn modelId="{2075DC49-48CA-4112-B246-C11E62988EA5}" srcId="{B7ED251F-A7A3-4D25-B004-4241BE03EDC3}" destId="{05E52D68-3176-48F8-A253-1E2194724279}" srcOrd="1" destOrd="0" parTransId="{C02BC8C0-25E3-4C02-8AC9-E3A232CCE32E}" sibTransId="{16FA2FF3-C375-40CF-AF5E-08526590A43D}"/>
    <dgm:cxn modelId="{D5DD407C-059A-40BE-8CA6-246F7B95059B}" srcId="{B7ED251F-A7A3-4D25-B004-4241BE03EDC3}" destId="{7D38D2E0-CE30-4B8E-8EBD-B58B40840A3A}" srcOrd="0" destOrd="0" parTransId="{FA494118-3CC2-486A-8C92-178F0737938D}" sibTransId="{E0C98239-2C08-47FE-B67B-80BBEC34DDD3}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919838A1-8BBA-4087-8F31-36172B94441C}" type="presOf" srcId="{7D38D2E0-CE30-4B8E-8EBD-B58B40840A3A}" destId="{A9E5CEDE-BC6A-43F2-A45B-53186C6B8E6E}" srcOrd="0" destOrd="0" presId="urn:microsoft.com/office/officeart/2005/8/layout/process4"/>
    <dgm:cxn modelId="{891B7BB3-3248-44DD-81A9-31EB06388E44}" type="presOf" srcId="{05E52D68-3176-48F8-A253-1E2194724279}" destId="{33A050D5-97C8-412B-9B8F-B26C8F757B7E}" srcOrd="0" destOrd="0" presId="urn:microsoft.com/office/officeart/2005/8/layout/process4"/>
    <dgm:cxn modelId="{A2C57113-713C-4A87-8B9F-84FA56656862}" type="presParOf" srcId="{BCA40D55-9F97-4CA4-8859-68C842EAE88F}" destId="{8A00B8C4-124C-4BBC-82EF-B6C3891D8101}" srcOrd="0" destOrd="0" presId="urn:microsoft.com/office/officeart/2005/8/layout/process4"/>
    <dgm:cxn modelId="{7BFA7D03-D72B-4103-87FE-267B416D2C47}" type="presParOf" srcId="{8A00B8C4-124C-4BBC-82EF-B6C3891D8101}" destId="{33A050D5-97C8-412B-9B8F-B26C8F757B7E}" srcOrd="0" destOrd="0" presId="urn:microsoft.com/office/officeart/2005/8/layout/process4"/>
    <dgm:cxn modelId="{BD5F377B-F2CA-409D-A865-A0007EBD6ADC}" type="presParOf" srcId="{BCA40D55-9F97-4CA4-8859-68C842EAE88F}" destId="{D9E7C99D-CD0A-4EF3-825B-E9D5A24B2895}" srcOrd="1" destOrd="0" presId="urn:microsoft.com/office/officeart/2005/8/layout/process4"/>
    <dgm:cxn modelId="{692289CD-F3BE-4D34-B3E8-299C4DC375D9}" type="presParOf" srcId="{BCA40D55-9F97-4CA4-8859-68C842EAE88F}" destId="{D9F278CF-D1AB-4E2D-A1A2-4B43DAB4CAC1}" srcOrd="2" destOrd="0" presId="urn:microsoft.com/office/officeart/2005/8/layout/process4"/>
    <dgm:cxn modelId="{22614DE8-5A9B-46F2-968E-3A7329089A72}" type="presParOf" srcId="{D9F278CF-D1AB-4E2D-A1A2-4B43DAB4CAC1}" destId="{A9E5CEDE-BC6A-43F2-A45B-53186C6B8E6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050D5-97C8-412B-9B8F-B26C8F757B7E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Analyze and compare the trade-offs between iteration and recursion in problem solving."</a:t>
          </a:r>
          <a:endParaRPr lang="en-IN" sz="3600" kern="1200" dirty="0"/>
        </a:p>
      </dsp:txBody>
      <dsp:txXfrm>
        <a:off x="0" y="2226751"/>
        <a:ext cx="10927829" cy="1460989"/>
      </dsp:txXfrm>
    </dsp:sp>
    <dsp:sp modelId="{A9E5CEDE-BC6A-43F2-A45B-53186C6B8E6E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understand the recursive nature of the Tower of Hanoi problem, implement its solution in C using recursion</a:t>
          </a:r>
          <a:endParaRPr lang="en-IN" sz="2800" kern="1200" dirty="0"/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050D5-97C8-412B-9B8F-B26C8F757B7E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Analyze and compare the trade-offs between iteration and recursion in problem solving."</a:t>
          </a:r>
          <a:endParaRPr lang="en-IN" sz="3600" kern="1200" dirty="0"/>
        </a:p>
      </dsp:txBody>
      <dsp:txXfrm>
        <a:off x="0" y="2226751"/>
        <a:ext cx="10927829" cy="1460989"/>
      </dsp:txXfrm>
    </dsp:sp>
    <dsp:sp modelId="{A9E5CEDE-BC6A-43F2-A45B-53186C6B8E6E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understand the recursive nature of the Tower of Hanoi problem, implement its solution in C using recursion</a:t>
          </a:r>
          <a:endParaRPr lang="en-IN" sz="2800" kern="1200" dirty="0"/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94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gif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Hanoi towers. </a:t>
            </a:r>
            <a:b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Trade-offs between iteration and recursion.</a:t>
            </a: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11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Structures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endParaRPr lang="en-US" sz="2800" b="1" dirty="0"/>
          </a:p>
          <a:p>
            <a:r>
              <a:rPr lang="en-US" sz="2800" b="1" dirty="0"/>
              <a:t>Students must have knowledge  Recursion and Iteration in C/C++ programming language.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3AD4FA-64E4-68BC-BCAE-FC8DBF27C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99" y="1943023"/>
            <a:ext cx="10713001" cy="381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D35F4FC-BE42-7A56-A9AF-9F02311F0A54}"/>
              </a:ext>
            </a:extLst>
          </p:cNvPr>
          <p:cNvSpPr txBox="1"/>
          <p:nvPr/>
        </p:nvSpPr>
        <p:spPr>
          <a:xfrm>
            <a:off x="1019013" y="3662276"/>
            <a:ext cx="992278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Suppose you have three rods and three disks of different sizes stacked on one rod. You must move all the disks to another rod, moving only one disk at a time, and never placing a larger disk on top of a smaller one. How many moves do you think it will take?”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880837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sz="2800" dirty="0"/>
              <a:t>Tower of Hanoi problem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Trade-off Between Iteration and Recursion</a:t>
            </a:r>
            <a:endParaRPr lang="en-IN" sz="2800" b="1" dirty="0"/>
          </a:p>
          <a:p>
            <a:pPr marL="342900" indent="-342900">
              <a:buFont typeface="Arial" pitchFamily="34" charset="0"/>
              <a:buChar char="•"/>
            </a:pPr>
            <a:endParaRPr lang="en-US" sz="28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104932" y="3581578"/>
            <a:ext cx="6015649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4400" dirty="0"/>
                <a:t>What is Tower of Hanoi?</a:t>
              </a:r>
            </a:p>
            <a:p>
              <a:pPr algn="ctr"/>
              <a:endPara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15549" y="3581578"/>
            <a:ext cx="5217750" cy="2231566"/>
            <a:chOff x="5758250" y="2062546"/>
            <a:chExt cx="4320000" cy="1753990"/>
          </a:xfrm>
        </p:grpSpPr>
        <p:sp>
          <p:nvSpPr>
            <p:cNvPr id="18" name="Rectangle 1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1333500"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22475" y="3771900"/>
            <a:ext cx="50038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What is Recursive solution of TOH?</a:t>
            </a: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800" b="1" dirty="0"/>
              <a:t>Tower of Hanoi problem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6B58B3-3FB6-EC33-3B03-F5FF50018555}"/>
              </a:ext>
            </a:extLst>
          </p:cNvPr>
          <p:cNvSpPr txBox="1"/>
          <p:nvPr/>
        </p:nvSpPr>
        <p:spPr>
          <a:xfrm>
            <a:off x="838200" y="1724714"/>
            <a:ext cx="103825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The Problem Statement</a:t>
            </a:r>
          </a:p>
          <a:p>
            <a:pPr>
              <a:buNone/>
            </a:pPr>
            <a:r>
              <a:rPr lang="en-US" sz="2400" dirty="0"/>
              <a:t>You are given: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Three rods (pegs):</a:t>
            </a:r>
            <a:r>
              <a:rPr lang="en-US" sz="2400" dirty="0"/>
              <a:t> usually named </a:t>
            </a:r>
            <a:r>
              <a:rPr lang="en-US" sz="2400" b="1" dirty="0"/>
              <a:t>Source (A)</a:t>
            </a:r>
            <a:r>
              <a:rPr lang="en-US" sz="2400" dirty="0"/>
              <a:t>, </a:t>
            </a:r>
            <a:r>
              <a:rPr lang="en-US" sz="2400" b="1" dirty="0"/>
              <a:t>Auxiliary (B)</a:t>
            </a:r>
            <a:r>
              <a:rPr lang="en-US" sz="2400" dirty="0"/>
              <a:t>, and </a:t>
            </a:r>
            <a:r>
              <a:rPr lang="en-US" sz="2400" b="1" dirty="0"/>
              <a:t>Destination (C)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n disks</a:t>
            </a:r>
            <a:r>
              <a:rPr lang="en-US" sz="2400" dirty="0"/>
              <a:t> of different sizes, stacked on the source rod in decreasing size (largest at the bottom, smallest at the top).</a:t>
            </a:r>
          </a:p>
          <a:p>
            <a:pPr>
              <a:buNone/>
            </a:pPr>
            <a:r>
              <a:rPr lang="en-US" sz="2400" b="1" dirty="0"/>
              <a:t>Objective:</a:t>
            </a:r>
            <a:br>
              <a:rPr lang="en-US" sz="2400" dirty="0"/>
            </a:br>
            <a:r>
              <a:rPr lang="en-US" sz="2400" dirty="0"/>
              <a:t>Move all the disks from the source rod (</a:t>
            </a:r>
            <a:r>
              <a:rPr lang="en-US" sz="2400" b="1" dirty="0"/>
              <a:t>A</a:t>
            </a:r>
            <a:r>
              <a:rPr lang="en-US" sz="2400" dirty="0"/>
              <a:t>) to the destination rod (</a:t>
            </a:r>
            <a:r>
              <a:rPr lang="en-US" sz="2400" b="1" dirty="0"/>
              <a:t>C</a:t>
            </a:r>
            <a:r>
              <a:rPr lang="en-US" sz="2400" dirty="0"/>
              <a:t>) following these rules: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Only </a:t>
            </a:r>
            <a:r>
              <a:rPr lang="en-US" sz="2400" b="1" dirty="0"/>
              <a:t>one disk</a:t>
            </a:r>
            <a:r>
              <a:rPr lang="en-US" sz="2400" dirty="0"/>
              <a:t> can be moved at a time.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 disk can only be moved if it is the </a:t>
            </a:r>
            <a:r>
              <a:rPr lang="en-US" sz="2400" b="1" dirty="0"/>
              <a:t>top disk</a:t>
            </a:r>
            <a:r>
              <a:rPr lang="en-US" sz="2400" dirty="0"/>
              <a:t> on a rod.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No larger disk can be placed on top of a smaller disk.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Disk Simulation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256190"/>
            <a:ext cx="10795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E2A8E8-0FF4-F1DF-8561-3A783A6F92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562" y="1529467"/>
            <a:ext cx="7508802" cy="42204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17B995C-3FDD-0A75-A1C1-442347878E19}"/>
              </a:ext>
            </a:extLst>
          </p:cNvPr>
          <p:cNvSpPr txBox="1"/>
          <p:nvPr/>
        </p:nvSpPr>
        <p:spPr>
          <a:xfrm>
            <a:off x="6873049" y="1699023"/>
            <a:ext cx="618382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Example: Tower of Hanoi with 3 disks</a:t>
            </a:r>
          </a:p>
          <a:p>
            <a:pPr>
              <a:buNone/>
            </a:pPr>
            <a:r>
              <a:rPr lang="en-IN" dirty="0"/>
              <a:t>We want to move all 3 disks from </a:t>
            </a:r>
            <a:r>
              <a:rPr lang="en-IN" b="1" dirty="0"/>
              <a:t>Source → Destination</a:t>
            </a:r>
            <a:r>
              <a:rPr lang="en-IN" dirty="0"/>
              <a:t>, using </a:t>
            </a:r>
            <a:r>
              <a:rPr lang="en-IN" b="1" dirty="0"/>
              <a:t>Auxiliary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b="1" dirty="0"/>
              <a:t>Steps: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Move disk 1 from </a:t>
            </a:r>
            <a:r>
              <a:rPr lang="en-IN" b="1" dirty="0"/>
              <a:t>Source → Destination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Move disk 2 from </a:t>
            </a:r>
            <a:r>
              <a:rPr lang="en-IN" b="1" dirty="0"/>
              <a:t>Source → Auxiliary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Move disk 1 from </a:t>
            </a:r>
            <a:r>
              <a:rPr lang="en-IN" b="1" dirty="0"/>
              <a:t>Destination → Auxiliary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Move disk 3 from </a:t>
            </a:r>
            <a:r>
              <a:rPr lang="en-IN" b="1" dirty="0"/>
              <a:t>Source → Destination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Move disk 1 from </a:t>
            </a:r>
            <a:r>
              <a:rPr lang="en-IN" b="1" dirty="0"/>
              <a:t>Auxiliary → Source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Move disk 2 from </a:t>
            </a:r>
            <a:r>
              <a:rPr lang="en-IN" b="1" dirty="0"/>
              <a:t>Auxiliary → Destination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Move disk 1 from </a:t>
            </a:r>
            <a:r>
              <a:rPr lang="en-IN" b="1" dirty="0"/>
              <a:t>Source → Destination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658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D9A71-2232-8DE3-0175-09F3F03A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674" y="974804"/>
            <a:ext cx="10515600" cy="1325563"/>
          </a:xfrm>
        </p:spPr>
        <p:txBody>
          <a:bodyPr/>
          <a:lstStyle/>
          <a:p>
            <a:r>
              <a:rPr lang="en-IN" dirty="0"/>
              <a:t>Recursive Idea (with Source, Destination, Auxiliary)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15C44-CBA9-A3FA-441D-DC5F88552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40C80-F96B-9B1F-7321-70DD2D55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8327E87-CD8A-5BE4-CDDF-7BF4D183DD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268" y="-72241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463342-530D-0B8B-75C1-D6A62147F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95634" cy="740238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1FF8A39A-9D6A-D50C-E39A-A55396F58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848" y="2472680"/>
            <a:ext cx="1030243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To move n disks from Source → Destination using Auxiliary: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Move the top n-1 disks from Source → Auxiliary (using Destination as helper).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Move the remaining largest disk (nth) from Source → Destination.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Move the n-1 disks from Auxiliary → Destination (using Source as helper).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939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2800" dirty="0"/>
              <a:t>Recursive Algorithm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256190"/>
            <a:ext cx="10795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just">
              <a:buAutoNum type="arabicPeriod"/>
            </a:pP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C40C2FD8-E601-5941-E01C-8CC5EB6BB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79410"/>
            <a:ext cx="1004161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  <a:r>
              <a:rPr lang="en-US" altLang="en-US" sz="2400" dirty="0">
                <a:latin typeface="Arial" panose="020B0604020202020204" pitchFamily="34" charset="0"/>
              </a:rPr>
              <a:t>n &gt; 0 then: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a. Recursive Call: Move top n-1 disks from Source → Auxiliary, using Destination as helper.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b. Move: Print "Move disk n from Source → Destination".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c. Recursive Call: Move top n-1 disks from Auxiliary → Destination, using Source as helper.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If n == 0, do nothing (base case).</a:t>
            </a:r>
          </a:p>
        </p:txBody>
      </p:sp>
    </p:spTree>
    <p:extLst>
      <p:ext uri="{BB962C8B-B14F-4D97-AF65-F5344CB8AC3E}">
        <p14:creationId xmlns:p14="http://schemas.microsoft.com/office/powerpoint/2010/main" val="2096714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9D3E8A-FBB7-5910-0391-5402725D49F4}"/>
              </a:ext>
            </a:extLst>
          </p:cNvPr>
          <p:cNvSpPr txBox="1"/>
          <p:nvPr/>
        </p:nvSpPr>
        <p:spPr>
          <a:xfrm>
            <a:off x="4280275" y="535121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Call trace for 3 Disk:</a:t>
            </a:r>
            <a:endParaRPr lang="en-IN" sz="28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CE6C63-9F07-68A6-06B8-A1B7E96A3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66912"/>
            <a:ext cx="12192000" cy="438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76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0A1C63-EA40-78BC-586E-CF1A25055011}"/>
              </a:ext>
            </a:extLst>
          </p:cNvPr>
          <p:cNvSpPr txBox="1"/>
          <p:nvPr/>
        </p:nvSpPr>
        <p:spPr>
          <a:xfrm>
            <a:off x="4280275" y="523853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DE9F2-C819-FBE2-4E66-B0DA3374EEC1}"/>
              </a:ext>
            </a:extLst>
          </p:cNvPr>
          <p:cNvSpPr txBox="1"/>
          <p:nvPr/>
        </p:nvSpPr>
        <p:spPr>
          <a:xfrm>
            <a:off x="104932" y="1152874"/>
            <a:ext cx="609858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// Recursive function for Tower of Hanoi</a:t>
            </a:r>
          </a:p>
          <a:p>
            <a:r>
              <a:rPr lang="en-IN" dirty="0"/>
              <a:t>void TOH(int n, char Source, char Auxiliary, char Destination) {</a:t>
            </a:r>
          </a:p>
          <a:p>
            <a:r>
              <a:rPr lang="en-IN" dirty="0"/>
              <a:t>    if (n &gt; 0) {</a:t>
            </a:r>
          </a:p>
          <a:p>
            <a:r>
              <a:rPr lang="en-IN" dirty="0"/>
              <a:t>        // Step 1: Move n-1 disks from Source → Auxiliary</a:t>
            </a:r>
          </a:p>
          <a:p>
            <a:r>
              <a:rPr lang="en-IN" dirty="0"/>
              <a:t>        TOH(n - 1, Source, Destination, Auxiliary);</a:t>
            </a:r>
          </a:p>
          <a:p>
            <a:endParaRPr lang="en-IN" dirty="0"/>
          </a:p>
          <a:p>
            <a:r>
              <a:rPr lang="en-IN" dirty="0"/>
              <a:t>        // Step 2: Move the nth (largest) disk from Source → Destination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("Move disk %d from %c to %c\n", n, Source, Destination);</a:t>
            </a:r>
          </a:p>
          <a:p>
            <a:endParaRPr lang="en-IN" dirty="0"/>
          </a:p>
          <a:p>
            <a:r>
              <a:rPr lang="en-IN" dirty="0"/>
              <a:t>        // Step 3: Move n-1 disks from Auxiliary → Destination</a:t>
            </a:r>
          </a:p>
          <a:p>
            <a:r>
              <a:rPr lang="en-IN" dirty="0"/>
              <a:t>        TOH(n - 1, Auxiliary, Source, Destination);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// Base case (n == 0): do nothing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C9FAD-3D69-41A6-689B-80038ED67C60}"/>
              </a:ext>
            </a:extLst>
          </p:cNvPr>
          <p:cNvSpPr txBox="1"/>
          <p:nvPr/>
        </p:nvSpPr>
        <p:spPr>
          <a:xfrm>
            <a:off x="6203514" y="1630954"/>
            <a:ext cx="609858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main() {</a:t>
            </a:r>
          </a:p>
          <a:p>
            <a:r>
              <a:rPr lang="en-IN" dirty="0"/>
              <a:t>    int n;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number of disks: ");</a:t>
            </a:r>
          </a:p>
          <a:p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("%d", &amp;n);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nThe</a:t>
            </a:r>
            <a:r>
              <a:rPr lang="en-IN" dirty="0"/>
              <a:t> sequence of moves in Tower of Hanoi are:\n\n");</a:t>
            </a:r>
          </a:p>
          <a:p>
            <a:r>
              <a:rPr lang="en-IN" dirty="0"/>
              <a:t>    TOH(n, 'S', 'A', 'D');  // S = Source, A = Auxiliary, D = Destination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nTotal</a:t>
            </a:r>
            <a:r>
              <a:rPr lang="en-IN" dirty="0"/>
              <a:t> moves required = %d\n", (1 &lt;&lt; n) - 1); // 2^n - 1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5537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CD520-DA84-18C5-5968-2E1DD9898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98" y="40197"/>
            <a:ext cx="6430505" cy="1325563"/>
          </a:xfrm>
        </p:spPr>
        <p:txBody>
          <a:bodyPr/>
          <a:lstStyle/>
          <a:p>
            <a:r>
              <a:rPr lang="en-IN" dirty="0"/>
              <a:t>Time &amp; Space Complexity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8E3C0-8224-0C2D-F603-0A3DC0D1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8D931-8332-76BC-6A81-80E6C6F11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5026C7F-27D7-85E5-EA8C-F32F8A97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766" y="1073777"/>
            <a:ext cx="1157723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For n disks, the recursive solution works as follows: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To move n disks: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Move n-1 disks → recursive call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Move the largest disk → 1 step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Move n-1 disks again → recursive 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This gives the recurrence: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T(n)=2T(n−1)+1T(n)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B54F620-1F1D-FF4B-5E7D-37AEA16F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438" y="3551638"/>
            <a:ext cx="55225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Solve the recurrence: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T(1)=1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T(2)=2T(1)+1=3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T(3)=2T(2)+1=7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In general: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T(n)=2n−1T(n) = 2^n - 1T(n)=2n−1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So, Time Complexity = O(2^n) (exponential).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AE5B30F-54BF-C6D5-6D78-70C0481CC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3400" y="3429000"/>
            <a:ext cx="473989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 Complexity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Each recursive call is stored on the function call stack.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Maximum depth of recursion = n (since we reduce disks one by one until 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Space Complexity=O(n) </a:t>
            </a:r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408C749-A200-B8DA-CC39-3F70996C27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FEDCA3-8776-7D95-D6D8-50E0F14C9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52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566D1-27E9-CB67-243E-0D115BD1A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21F3B-B7D6-6A58-6982-17326822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E5425-5224-3B71-FA65-6D515E704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F607D85-DF14-6BC2-865C-F3CAC92380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97C45AF-AE64-2D69-8462-C67AA27EA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dirty="0"/>
              <a:t>Trade-off Between Iteration and Recursion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3EEA8-CF5A-D136-63DB-73EAE1DA76B1}"/>
              </a:ext>
            </a:extLst>
          </p:cNvPr>
          <p:cNvSpPr txBox="1"/>
          <p:nvPr/>
        </p:nvSpPr>
        <p:spPr>
          <a:xfrm>
            <a:off x="838200" y="1065690"/>
            <a:ext cx="10795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FCB8EEB-59E8-78C2-A5FF-D1DB31203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BE6B955-3CE0-D5AB-E90B-401CA4BCFBD0}"/>
              </a:ext>
            </a:extLst>
          </p:cNvPr>
          <p:cNvSpPr txBox="1"/>
          <p:nvPr/>
        </p:nvSpPr>
        <p:spPr>
          <a:xfrm>
            <a:off x="712922" y="1447715"/>
            <a:ext cx="1004564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Memory Usage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Recursion: Uses the call stack to remember previous states. Each recursive call consumes stack memory (function parameters, return address, local variables).Risk: For large input, recursion can cause stack overflow.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Iteration: Uses loops and explicit data structures (like arrays, stacks, or queues if needed). Memory use is predictable and usually smaller.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</a:t>
            </a:r>
            <a:r>
              <a:rPr lang="en-US" b="1" dirty="0"/>
              <a:t>Ease of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Recursion: Very natural for problems that are inherently recursive (Tower of Hanoi, factorial, Fibonacci, tree traversals). Code is usually shorter and closer to the mathematical definition.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Iteration: Sometimes less intuitive for recursive problems. Code may become longer and harder to follow (e.g., iterative Tower of Hanoi requires bitwise logic or stack simulation).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3. </a:t>
            </a:r>
            <a:r>
              <a:rPr lang="en-US" b="1" dirty="0"/>
              <a:t>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Recursion: Each recursive call has overhead (function call setup, return address storage, etc.).May be slower in practice.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Iteration: Generally faster, since it avoids repeated function calls and stack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937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7122-5237-96FA-E5EA-C89A45A7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F7F2-CAC8-D70D-6289-DEEA31EE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CF1F-B2E6-F735-7199-3E1E228D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CB20B91-9F94-50B7-4E6E-B9875040D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B6F09D-3052-D0E9-35AA-C0D2C0552C0E}"/>
              </a:ext>
            </a:extLst>
          </p:cNvPr>
          <p:cNvSpPr txBox="1"/>
          <p:nvPr/>
        </p:nvSpPr>
        <p:spPr>
          <a:xfrm>
            <a:off x="619932" y="1600477"/>
            <a:ext cx="1013863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4. Termination &amp; Base Case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Recursion: Requires a base case to stop; otherwise, infinite recursion leads to stack overflow.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Iteration: Requires a loop condition to stop; otherwise, an infinite loop (but does not overflow the call stack).</a:t>
            </a:r>
          </a:p>
          <a:p>
            <a:endParaRPr lang="en-US" sz="2000" dirty="0"/>
          </a:p>
          <a:p>
            <a:r>
              <a:rPr lang="en-US" sz="2000" b="1" dirty="0"/>
              <a:t>5. Flexibility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Recursion: Better for problems with divide-and-conquer or self-similar subproblems (e.g., Tower of Hanoi, quicksort, </a:t>
            </a:r>
            <a:r>
              <a:rPr lang="en-US" sz="2000" dirty="0" err="1"/>
              <a:t>mergesort</a:t>
            </a:r>
            <a:r>
              <a:rPr lang="en-US" sz="2000" dirty="0"/>
              <a:t>, binary trees).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Iteration: Better for problems with repeated, sequential steps (e.g., searching, sorting arrays, summing numbers, matrix operations).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62738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E44EA-193F-3A0A-ED7A-44CECC2F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819A0-12D5-8145-8FE6-D1268C65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18EFB13-D082-56D7-22BF-4D435166D9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8235CC-E77C-62D1-781E-445E8AFF7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808A18-EC81-3D98-54CF-DB11DD4B188D}"/>
              </a:ext>
            </a:extLst>
          </p:cNvPr>
          <p:cNvSpPr txBox="1"/>
          <p:nvPr/>
        </p:nvSpPr>
        <p:spPr>
          <a:xfrm>
            <a:off x="4038600" y="585744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Summary Table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28707E-5F5F-168E-19EC-D5F552A28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970911"/>
              </p:ext>
            </p:extLst>
          </p:nvPr>
        </p:nvGraphicFramePr>
        <p:xfrm>
          <a:off x="838200" y="2492534"/>
          <a:ext cx="10515600" cy="3017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6775738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395289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201594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Recursion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Iteration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39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Memory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call stack (risk of overflow)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less memory (stack not needed)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699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Code simplicity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Short, elegant for self-similar problems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Longer, harder for recursive problems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894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Performance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Slower (function call overhead)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Faster (no function call overhead)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590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Debugging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Harder (stack traces can be deep)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208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Best for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Divide-and-conquer, recursive 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Repetitive tasks, linear problems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625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68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8B9F8F-79F8-26B7-F5C0-5398BE661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695360"/>
            <a:ext cx="9514114" cy="456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105266-5FEE-F428-3755-4E2B12783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56" y="1509564"/>
            <a:ext cx="6436223" cy="362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C5154-DB88-C0BC-1481-41C16CCC8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B4B9480-3A68-73C7-2595-E0403770A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0F75B9-7116-F9A0-E3B0-169F072F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ACFD2-11D8-6B25-F187-552088C6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DB7E30F-C668-EDA8-B165-8069B395B3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76F0075-D8C7-DD6E-1029-0E7A69B6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5F9D9B-00BB-C66C-D4D2-FEBA4427B074}"/>
              </a:ext>
            </a:extLst>
          </p:cNvPr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A546EFDA-C507-3AAB-A3A4-6DFDB99E5A8B}"/>
              </a:ext>
            </a:extLst>
          </p:cNvPr>
          <p:cNvGraphicFramePr/>
          <p:nvPr/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89DB2EAB-F4A4-B75B-2767-9EC3008B49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05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/>
          </a:p>
          <a:p>
            <a:r>
              <a:rPr lang="en-US" sz="3200" dirty="0"/>
              <a:t>Linear search, Binary Search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3251</TotalTime>
  <Words>1500</Words>
  <Application>Microsoft Office PowerPoint</Application>
  <PresentationFormat>Widescreen</PresentationFormat>
  <Paragraphs>201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Office Theme</vt:lpstr>
      <vt:lpstr>Hanoi towers.  Trade-offs between iteration and recursion.  Session No.: 11 Course Name: Data Structures Course Code: R1UC308B   Instructor Name: Akhilesh Tripathi Duration: 50 mins Date of Conduction of Class: 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(LO-1) </vt:lpstr>
      <vt:lpstr>Concept and Definition for (LO-1)   3 Disk Simulation</vt:lpstr>
      <vt:lpstr>Recursive Idea (with Source, Destination, Auxiliary)</vt:lpstr>
      <vt:lpstr>Concept and Definition for (LO-1)   Recursive Algorithm</vt:lpstr>
      <vt:lpstr>PowerPoint Presentation</vt:lpstr>
      <vt:lpstr>PowerPoint Presentation</vt:lpstr>
      <vt:lpstr>Time &amp; Space Complexity </vt:lpstr>
      <vt:lpstr>Concept and Definition for (LO-2) Trade-off Between Iteration and Recursion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115</cp:revision>
  <dcterms:created xsi:type="dcterms:W3CDTF">2024-08-22T06:33:55Z</dcterms:created>
  <dcterms:modified xsi:type="dcterms:W3CDTF">2025-09-24T13:56:24Z</dcterms:modified>
</cp:coreProperties>
</file>